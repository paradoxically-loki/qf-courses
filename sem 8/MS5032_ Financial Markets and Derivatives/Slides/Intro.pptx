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8" r:id="rId3"/>
    <p:sldId id="279" r:id="rId4"/>
    <p:sldId id="327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257" r:id="rId14"/>
    <p:sldId id="328" r:id="rId15"/>
    <p:sldId id="259" r:id="rId16"/>
    <p:sldId id="260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2BEA4E-03B2-4EB1-8ACC-E924535D18F9}" type="datetimeFigureOut">
              <a:rPr lang="en-US" smtClean="0"/>
              <a:pPr/>
              <a:t>1/24/2025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43AED2-B433-45E8-9659-FA02D2F6314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28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2D547D-310A-4F00-91FA-17AF6D30AE98}" type="datetimeFigureOut">
              <a:rPr lang="en-US" smtClean="0"/>
              <a:pPr/>
              <a:t>1/24/2025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86F761-9B2D-4215-BBED-3C5689184B3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630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86F761-9B2D-4215-BBED-3C5689184B3D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828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4E38D-FD93-44FD-91CD-2B79A57BD0B0}" type="datetime1">
              <a:rPr lang="en-US" smtClean="0"/>
              <a:pPr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F5123-E2E5-4C93-A068-E079E7E95B3A}" type="datetime1">
              <a:rPr lang="en-US" smtClean="0"/>
              <a:pPr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1023B-0B23-4ED0-A27D-8A54A4978334}" type="datetime1">
              <a:rPr lang="en-US" smtClean="0"/>
              <a:pPr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33BF-91F2-48AE-89C0-94229314A826}" type="datetime1">
              <a:rPr lang="en-US" smtClean="0"/>
              <a:pPr/>
              <a:t>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698B-1882-4387-BCD0-5414D64CA9BD}" type="datetime1">
              <a:rPr lang="en-US" smtClean="0"/>
              <a:pPr/>
              <a:t>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376D8-A0D3-43D5-988E-325813C0ADE3}" type="datetime1">
              <a:rPr lang="en-US" smtClean="0"/>
              <a:pPr/>
              <a:t>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8BF3-1BBB-4CDE-ABD6-43EDF158C09D}" type="datetime1">
              <a:rPr lang="en-US" smtClean="0"/>
              <a:pPr/>
              <a:t>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EE9DB-155F-4F99-B6BA-81518C9F2A65}" type="datetime1">
              <a:rPr lang="en-US" smtClean="0"/>
              <a:pPr/>
              <a:t>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4715-97D8-45BF-94CE-256144ACC425}" type="datetime1">
              <a:rPr lang="en-US" smtClean="0"/>
              <a:pPr/>
              <a:t>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0885-76D4-4B0F-B90E-EFE9230F1CA3}" type="datetime1">
              <a:rPr lang="en-US" smtClean="0"/>
              <a:pPr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6BF3-CA8E-4CDF-AB1B-C9137E8FEDDA}" type="datetime1">
              <a:rPr lang="en-US" smtClean="0"/>
              <a:pPr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29C8DC-7BCC-4745-9D0C-93394DCE8816}" type="datetime1">
              <a:rPr lang="en-US" smtClean="0"/>
              <a:pPr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Financial Markets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What are financial  markets?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dirty="0"/>
          </a:p>
          <a:p>
            <a:pPr lvl="1"/>
            <a:r>
              <a:rPr lang="en-US" dirty="0"/>
              <a:t>Buyers and sellers trade in instruments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957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91312"/>
          </a:xfrm>
        </p:spPr>
        <p:txBody>
          <a:bodyPr>
            <a:normAutofit fontScale="90000"/>
          </a:bodyPr>
          <a:lstStyle/>
          <a:p>
            <a:r>
              <a:rPr lang="en-US" dirty="0"/>
              <a:t>Major Stock Exchanges across the countries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693920"/>
          </a:xfrm>
        </p:spPr>
        <p:txBody>
          <a:bodyPr>
            <a:normAutofit fontScale="92500" lnSpcReduction="20000"/>
          </a:bodyPr>
          <a:lstStyle/>
          <a:p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US</a:t>
            </a:r>
          </a:p>
          <a:p>
            <a:pPr lvl="1"/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New York Stock Exchange 		</a:t>
            </a:r>
          </a:p>
          <a:p>
            <a:pPr lvl="1"/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American Stock Exchange 		</a:t>
            </a:r>
          </a:p>
          <a:p>
            <a:pPr lvl="1"/>
            <a:r>
              <a:rPr lang="en-US" sz="1900" dirty="0" err="1">
                <a:latin typeface="Times New Roman" pitchFamily="18" charset="0"/>
                <a:cs typeface="Times New Roman" pitchFamily="18" charset="0"/>
              </a:rPr>
              <a:t>Nasdaq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i="1" dirty="0">
                <a:latin typeface="Times New Roman" pitchFamily="18" charset="0"/>
                <a:cs typeface="Times New Roman" pitchFamily="18" charset="0"/>
              </a:rPr>
              <a:t>					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Europe;</a:t>
            </a:r>
          </a:p>
          <a:p>
            <a:pPr lvl="1">
              <a:lnSpc>
                <a:spcPct val="80000"/>
              </a:lnSpc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London Stock Exchange (LSE)</a:t>
            </a:r>
          </a:p>
          <a:p>
            <a:pPr lvl="1">
              <a:lnSpc>
                <a:spcPct val="80000"/>
              </a:lnSpc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Euro Next (Paris/Netherlands/Belgium)</a:t>
            </a:r>
          </a:p>
          <a:p>
            <a:pPr lvl="1">
              <a:lnSpc>
                <a:spcPct val="80000"/>
              </a:lnSpc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Deutsche </a:t>
            </a:r>
            <a:r>
              <a:rPr lang="en-US" sz="1900" dirty="0" err="1">
                <a:latin typeface="Times New Roman" pitchFamily="18" charset="0"/>
                <a:cs typeface="Times New Roman" pitchFamily="18" charset="0"/>
              </a:rPr>
              <a:t>Borse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 (DB)</a:t>
            </a:r>
          </a:p>
          <a:p>
            <a:pPr lvl="1">
              <a:lnSpc>
                <a:spcPct val="80000"/>
              </a:lnSpc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Swiss Stock Exchange (also </a:t>
            </a:r>
            <a:r>
              <a:rPr lang="en-US" sz="1900" dirty="0" err="1">
                <a:latin typeface="Times New Roman" pitchFamily="18" charset="0"/>
                <a:cs typeface="Times New Roman" pitchFamily="18" charset="0"/>
              </a:rPr>
              <a:t>Virt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-X)</a:t>
            </a:r>
          </a:p>
          <a:p>
            <a:pPr lvl="1">
              <a:lnSpc>
                <a:spcPct val="80000"/>
              </a:lnSpc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Stockholm/Copenhagen/Helsinki/Oslo (OM)</a:t>
            </a:r>
          </a:p>
          <a:p>
            <a:pPr>
              <a:lnSpc>
                <a:spcPct val="80000"/>
              </a:lnSpc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Asia:</a:t>
            </a:r>
          </a:p>
          <a:p>
            <a:pPr lvl="1">
              <a:lnSpc>
                <a:spcPct val="80000"/>
              </a:lnSpc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Tokyo Stock Exchange (TSE)</a:t>
            </a:r>
          </a:p>
          <a:p>
            <a:pPr lvl="1">
              <a:lnSpc>
                <a:spcPct val="80000"/>
              </a:lnSpc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Taiwan Stock Exchange</a:t>
            </a:r>
          </a:p>
          <a:p>
            <a:pPr lvl="1">
              <a:lnSpc>
                <a:spcPct val="80000"/>
              </a:lnSpc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Korean Stock Exchange</a:t>
            </a:r>
          </a:p>
          <a:p>
            <a:pPr lvl="1">
              <a:lnSpc>
                <a:spcPct val="80000"/>
              </a:lnSpc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Australian Stock Exchange (ASX)</a:t>
            </a:r>
          </a:p>
          <a:p>
            <a:pPr lvl="1">
              <a:lnSpc>
                <a:spcPct val="80000"/>
              </a:lnSpc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Hong Kong Stock Exchange</a:t>
            </a:r>
          </a:p>
          <a:p>
            <a:pPr lvl="1">
              <a:lnSpc>
                <a:spcPct val="80000"/>
              </a:lnSpc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Shanghai Stock exchange</a:t>
            </a:r>
          </a:p>
          <a:p>
            <a:pPr>
              <a:lnSpc>
                <a:spcPct val="80000"/>
              </a:lnSpc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North America</a:t>
            </a:r>
          </a:p>
          <a:p>
            <a:pPr lvl="1">
              <a:lnSpc>
                <a:spcPct val="80000"/>
              </a:lnSpc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Toronto Stock Exchange (TSX)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Major Indices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US</a:t>
            </a:r>
          </a:p>
          <a:p>
            <a:pPr lvl="1"/>
            <a:r>
              <a:rPr lang="en-US" dirty="0"/>
              <a:t>S&amp;P 500</a:t>
            </a:r>
          </a:p>
          <a:p>
            <a:pPr lvl="1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Nasdaq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Composite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Dow Jones</a:t>
            </a:r>
            <a:endParaRPr lang="en-US" dirty="0"/>
          </a:p>
          <a:p>
            <a:r>
              <a:rPr lang="en-US" dirty="0"/>
              <a:t>Europe</a:t>
            </a:r>
          </a:p>
          <a:p>
            <a:pPr lvl="1"/>
            <a:r>
              <a:rPr lang="en-US" dirty="0"/>
              <a:t>DAX (Germany)</a:t>
            </a:r>
          </a:p>
          <a:p>
            <a:pPr lvl="1"/>
            <a:r>
              <a:rPr lang="en-US" dirty="0"/>
              <a:t>FTSE100 (UK)</a:t>
            </a:r>
          </a:p>
          <a:p>
            <a:pPr lvl="1"/>
            <a:r>
              <a:rPr lang="en-US" dirty="0"/>
              <a:t>CAC 40 (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Euro Next ,Paris)</a:t>
            </a:r>
          </a:p>
          <a:p>
            <a:pPr lvl="1"/>
            <a:r>
              <a:rPr lang="en-US" dirty="0"/>
              <a:t>IBEX35</a:t>
            </a:r>
            <a:r>
              <a:rPr lang="en-IN" dirty="0"/>
              <a:t> (Spain's stock exchange)</a:t>
            </a:r>
            <a:endParaRPr lang="en-US" dirty="0"/>
          </a:p>
          <a:p>
            <a:r>
              <a:rPr lang="en-US" dirty="0"/>
              <a:t>Asia</a:t>
            </a:r>
          </a:p>
          <a:p>
            <a:pPr lvl="1"/>
            <a:r>
              <a:rPr lang="en-US" dirty="0"/>
              <a:t>Hang </a:t>
            </a:r>
            <a:r>
              <a:rPr lang="en-US" dirty="0" err="1"/>
              <a:t>Seng</a:t>
            </a:r>
            <a:endParaRPr lang="en-US" dirty="0"/>
          </a:p>
          <a:p>
            <a:pPr lvl="1"/>
            <a:r>
              <a:rPr lang="en-US" dirty="0"/>
              <a:t>Nikkei 225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971800"/>
            <a:ext cx="7772400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n-US"/>
              <a:t>Players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sides of the trading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Buy side</a:t>
            </a:r>
          </a:p>
          <a:p>
            <a:r>
              <a:rPr lang="en-US" dirty="0"/>
              <a:t>Sell Side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pitchFamily="18" charset="0"/>
              </a:rPr>
              <a:t>Buy-side players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Investors</a:t>
            </a:r>
          </a:p>
          <a:p>
            <a:r>
              <a:rPr lang="en-US" dirty="0"/>
              <a:t>Borrowers</a:t>
            </a:r>
          </a:p>
          <a:p>
            <a:r>
              <a:rPr lang="en-US" dirty="0"/>
              <a:t>Hedgers</a:t>
            </a:r>
          </a:p>
          <a:p>
            <a:endParaRPr lang="en-US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Buy side Analyst ..?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/>
                </a:solidFill>
                <a:latin typeface="Times New Roman" pitchFamily="18" charset="0"/>
              </a:rPr>
              <a:t>Sell-side players</a:t>
            </a:r>
            <a:br>
              <a:rPr lang="en-US" dirty="0">
                <a:solidFill>
                  <a:schemeClr val="tx2"/>
                </a:solidFill>
                <a:latin typeface="Times New Roman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Char char="•"/>
            </a:pPr>
            <a:r>
              <a:rPr lang="en-US" sz="2800" i="1" dirty="0">
                <a:solidFill>
                  <a:srgbClr val="000000"/>
                </a:solidFill>
                <a:latin typeface="Times New Roman" pitchFamily="18" charset="0"/>
              </a:rPr>
              <a:t>Dealers</a:t>
            </a:r>
            <a:r>
              <a:rPr lang="en-US" sz="2800" dirty="0">
                <a:solidFill>
                  <a:srgbClr val="000000"/>
                </a:solidFill>
                <a:latin typeface="Times New Roman" pitchFamily="18" charset="0"/>
              </a:rPr>
              <a:t> trade for their own accounts.</a:t>
            </a:r>
          </a:p>
          <a:p>
            <a:pPr lvl="1">
              <a:lnSpc>
                <a:spcPct val="90000"/>
              </a:lnSpc>
              <a:buFontTx/>
              <a:buChar char="–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</a:rPr>
              <a:t>Day Traders</a:t>
            </a:r>
          </a:p>
          <a:p>
            <a:pPr lvl="1">
              <a:lnSpc>
                <a:spcPct val="90000"/>
              </a:lnSpc>
              <a:buFontTx/>
              <a:buChar char="–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</a:rPr>
              <a:t>Scalpers..( want to take advantage of small price moves)</a:t>
            </a:r>
          </a:p>
          <a:p>
            <a:pPr lvl="1">
              <a:lnSpc>
                <a:spcPct val="90000"/>
              </a:lnSpc>
              <a:buNone/>
            </a:pPr>
            <a:endParaRPr lang="en-US" sz="2400" dirty="0">
              <a:solidFill>
                <a:srgbClr val="000000"/>
              </a:solidFill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Char char="•"/>
            </a:pPr>
            <a:r>
              <a:rPr lang="en-US" sz="2800" i="1" dirty="0">
                <a:solidFill>
                  <a:srgbClr val="000000"/>
                </a:solidFill>
                <a:latin typeface="Times New Roman" pitchFamily="18" charset="0"/>
              </a:rPr>
              <a:t>Brokers</a:t>
            </a:r>
            <a:r>
              <a:rPr lang="en-US" sz="2800" dirty="0">
                <a:solidFill>
                  <a:srgbClr val="000000"/>
                </a:solidFill>
                <a:latin typeface="Times New Roman" pitchFamily="18" charset="0"/>
              </a:rPr>
              <a:t> trade for other people’s accounts. </a:t>
            </a:r>
          </a:p>
          <a:p>
            <a:pPr lvl="1">
              <a:lnSpc>
                <a:spcPct val="90000"/>
              </a:lnSpc>
              <a:buFontTx/>
              <a:buChar char="–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</a:rPr>
              <a:t>Retail and institutional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US" sz="2800" i="1" dirty="0">
                <a:solidFill>
                  <a:srgbClr val="000000"/>
                </a:solidFill>
                <a:latin typeface="Times New Roman" pitchFamily="18" charset="0"/>
              </a:rPr>
              <a:t>Broker-dealers</a:t>
            </a:r>
            <a:r>
              <a:rPr lang="en-US" sz="2800" dirty="0">
                <a:solidFill>
                  <a:srgbClr val="000000"/>
                </a:solidFill>
                <a:latin typeface="Times New Roman" pitchFamily="18" charset="0"/>
              </a:rPr>
              <a:t> do both.</a:t>
            </a:r>
          </a:p>
          <a:p>
            <a:pPr lvl="1">
              <a:lnSpc>
                <a:spcPct val="90000"/>
              </a:lnSpc>
              <a:buFontTx/>
              <a:buChar char="–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</a:rPr>
              <a:t>Specialists</a:t>
            </a:r>
          </a:p>
          <a:p>
            <a:pPr lvl="1">
              <a:lnSpc>
                <a:spcPct val="90000"/>
              </a:lnSpc>
              <a:buFontTx/>
              <a:buChar char="–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</a:rPr>
              <a:t>Wire houses</a:t>
            </a:r>
          </a:p>
          <a:p>
            <a:r>
              <a:rPr lang="en-US" b="1" dirty="0">
                <a:solidFill>
                  <a:srgbClr val="FF0000"/>
                </a:solidFill>
              </a:rPr>
              <a:t>Sell side Analyst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/>
                </a:solidFill>
                <a:latin typeface="Times New Roman" pitchFamily="18" charset="0"/>
              </a:rPr>
              <a:t> Facilitators</a:t>
            </a:r>
            <a:br>
              <a:rPr lang="en-US" dirty="0">
                <a:solidFill>
                  <a:schemeClr val="tx2"/>
                </a:solidFill>
                <a:latin typeface="Times New Roman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Char char="•"/>
            </a:pPr>
            <a:r>
              <a:rPr lang="en-US" sz="2800" i="1" dirty="0">
                <a:solidFill>
                  <a:srgbClr val="000000"/>
                </a:solidFill>
                <a:latin typeface="Times New Roman" pitchFamily="18" charset="0"/>
              </a:rPr>
              <a:t>Exchanges</a:t>
            </a:r>
            <a:r>
              <a:rPr lang="en-US" sz="2800" dirty="0">
                <a:solidFill>
                  <a:srgbClr val="000000"/>
                </a:solidFill>
                <a:latin typeface="Times New Roman" pitchFamily="18" charset="0"/>
              </a:rPr>
              <a:t> provide systems that help traders arrange their trades. </a:t>
            </a:r>
          </a:p>
          <a:p>
            <a:pPr>
              <a:buFontTx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itchFamily="18" charset="0"/>
              </a:rPr>
              <a:t>Clearing firms/members clear and settle trades</a:t>
            </a:r>
          </a:p>
          <a:p>
            <a:pPr lvl="1">
              <a:buFontTx/>
              <a:buChar char="–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</a:rPr>
              <a:t>E.g., Bear Sterns.</a:t>
            </a:r>
          </a:p>
          <a:p>
            <a:pPr>
              <a:buFontTx/>
              <a:buChar char="•"/>
            </a:pPr>
            <a:r>
              <a:rPr lang="en-US" sz="2800" i="1" dirty="0">
                <a:solidFill>
                  <a:srgbClr val="000000"/>
                </a:solidFill>
                <a:latin typeface="Times New Roman" pitchFamily="18" charset="0"/>
              </a:rPr>
              <a:t>Clearing houses</a:t>
            </a:r>
            <a:r>
              <a:rPr lang="en-US" sz="2800" dirty="0">
                <a:solidFill>
                  <a:srgbClr val="000000"/>
                </a:solidFill>
                <a:latin typeface="Times New Roman" pitchFamily="18" charset="0"/>
              </a:rPr>
              <a:t> help settle trades and guarantee that traders will perform. ( NSCCL for equity and CCIL for Debt markets) </a:t>
            </a:r>
          </a:p>
          <a:p>
            <a:pPr>
              <a:buFontTx/>
              <a:buChar char="•"/>
            </a:pPr>
            <a:r>
              <a:rPr lang="en-US" sz="2800" i="1" dirty="0">
                <a:solidFill>
                  <a:srgbClr val="000000"/>
                </a:solidFill>
                <a:latin typeface="Times New Roman" pitchFamily="18" charset="0"/>
              </a:rPr>
              <a:t>Depositories</a:t>
            </a:r>
            <a:r>
              <a:rPr lang="en-US" sz="2800" dirty="0">
                <a:solidFill>
                  <a:srgbClr val="000000"/>
                </a:solidFill>
                <a:latin typeface="Times New Roman" pitchFamily="18" charset="0"/>
              </a:rPr>
              <a:t> and </a:t>
            </a:r>
            <a:r>
              <a:rPr lang="en-US" sz="2800" i="1" dirty="0">
                <a:solidFill>
                  <a:srgbClr val="000000"/>
                </a:solidFill>
                <a:latin typeface="Times New Roman" pitchFamily="18" charset="0"/>
              </a:rPr>
              <a:t>custodians</a:t>
            </a:r>
            <a:r>
              <a:rPr lang="en-US" sz="2800" dirty="0">
                <a:solidFill>
                  <a:srgbClr val="000000"/>
                </a:solidFill>
                <a:latin typeface="Times New Roman" pitchFamily="18" charset="0"/>
              </a:rPr>
              <a:t> hold securities – They are clearing members but not trading members (NSDL and CDSL)</a:t>
            </a:r>
          </a:p>
          <a:p>
            <a:pPr>
              <a:buFontTx/>
              <a:buChar char="•"/>
            </a:pPr>
            <a:endParaRPr lang="en-US" sz="2800" dirty="0">
              <a:solidFill>
                <a:srgbClr val="000000"/>
              </a:solidFill>
              <a:latin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Facilitators..contd.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two depositories and approximately 288 DPs are registered with SEBI at present. The two Depositories are: </a:t>
            </a:r>
          </a:p>
          <a:p>
            <a:r>
              <a:rPr lang="en-US" dirty="0"/>
              <a:t>National Securities Depository Limited (NSDL for NSE)</a:t>
            </a:r>
          </a:p>
          <a:p>
            <a:r>
              <a:rPr lang="en-US" dirty="0"/>
              <a:t>Central Depository Services (I) Limited (CDSL for BSE)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Players: Motives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Investors :use the markets to move the money from present to future</a:t>
            </a:r>
          </a:p>
          <a:p>
            <a:r>
              <a:rPr lang="en-US" dirty="0"/>
              <a:t>Borrowers : use the markets to move the future money to present</a:t>
            </a:r>
          </a:p>
          <a:p>
            <a:r>
              <a:rPr lang="en-US" dirty="0"/>
              <a:t>Hedgers: Trade to manage the financial risks</a:t>
            </a:r>
          </a:p>
          <a:p>
            <a:r>
              <a:rPr lang="en-US" dirty="0"/>
              <a:t>Dealers/Brokers: Trade one asset for another they value more</a:t>
            </a:r>
          </a:p>
          <a:p>
            <a:r>
              <a:rPr lang="en-US" dirty="0"/>
              <a:t>Gamblers ; Trade to entertain themselves</a:t>
            </a:r>
          </a:p>
          <a:p>
            <a:r>
              <a:rPr lang="en-US" dirty="0"/>
              <a:t>Bluffers : Trade to fool and profit from uninformed investors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typical set of relationships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sponsor owns funds.</a:t>
            </a:r>
          </a:p>
          <a:p>
            <a:r>
              <a:rPr lang="en-US" dirty="0"/>
              <a:t>An investment manager(AMC) makes portfolio decisions.</a:t>
            </a:r>
          </a:p>
          <a:p>
            <a:r>
              <a:rPr lang="en-US" dirty="0"/>
              <a:t>A broker implements trade decisions. </a:t>
            </a:r>
          </a:p>
          <a:p>
            <a:r>
              <a:rPr lang="en-US" dirty="0"/>
              <a:t>A dealer supplies liquidity. </a:t>
            </a:r>
          </a:p>
          <a:p>
            <a:r>
              <a:rPr lang="en-US" dirty="0"/>
              <a:t>A clearing house guarantees the trade.</a:t>
            </a:r>
          </a:p>
          <a:p>
            <a:r>
              <a:rPr lang="en-US" dirty="0"/>
              <a:t>A depository holds the security.</a:t>
            </a:r>
          </a:p>
          <a:p>
            <a:r>
              <a:rPr lang="en-US" dirty="0"/>
              <a:t>Consultants advise everyone.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trade transaction</a:t>
            </a:r>
            <a:endParaRPr lang="en-IN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828800" y="1828800"/>
            <a:ext cx="5791200" cy="3962399"/>
          </a:xfr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Clearing and settlement process:</a:t>
            </a:r>
            <a:br>
              <a:rPr lang="en-US" dirty="0"/>
            </a:br>
            <a:r>
              <a:rPr lang="en-US" dirty="0"/>
              <a:t> Core Functions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Trade Recording</a:t>
            </a:r>
          </a:p>
          <a:p>
            <a:r>
              <a:rPr lang="en-US" dirty="0"/>
              <a:t>Trade Confirmation</a:t>
            </a:r>
          </a:p>
          <a:p>
            <a:r>
              <a:rPr lang="en-US" dirty="0"/>
              <a:t>Determination of obligations</a:t>
            </a:r>
          </a:p>
          <a:p>
            <a:r>
              <a:rPr lang="en-US" dirty="0"/>
              <a:t>Pay-in of funds and securities</a:t>
            </a:r>
          </a:p>
          <a:p>
            <a:r>
              <a:rPr lang="en-US" dirty="0"/>
              <a:t>Pay out of funds and securities</a:t>
            </a:r>
          </a:p>
          <a:p>
            <a:r>
              <a:rPr lang="en-US" dirty="0"/>
              <a:t>Risk Management</a:t>
            </a: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Settlement Process</a:t>
            </a:r>
            <a:endParaRPr lang="en-IN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524000" y="2472531"/>
            <a:ext cx="6096000" cy="331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Settlement Process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IN" dirty="0"/>
              <a:t>(1) Trade details from Exchange to NSCCL (real-time and end of day trade file).</a:t>
            </a:r>
          </a:p>
          <a:p>
            <a:pPr>
              <a:buNone/>
            </a:pPr>
            <a:r>
              <a:rPr lang="en-IN" dirty="0"/>
              <a:t>(2) NSCCL notifies the consummated trade details to CMs/custodians who affirm back. Based</a:t>
            </a:r>
          </a:p>
          <a:p>
            <a:pPr>
              <a:buNone/>
            </a:pPr>
            <a:r>
              <a:rPr lang="en-IN" dirty="0"/>
              <a:t>on the affirmation, NSCCL applies multilateral netting and determines obligations.</a:t>
            </a:r>
          </a:p>
          <a:p>
            <a:pPr>
              <a:buNone/>
            </a:pPr>
            <a:r>
              <a:rPr lang="en-IN" dirty="0"/>
              <a:t>(3) Download of obligation and pay-in advice of funds/securities.</a:t>
            </a:r>
          </a:p>
          <a:p>
            <a:pPr>
              <a:buNone/>
            </a:pPr>
            <a:r>
              <a:rPr lang="en-IN" dirty="0"/>
              <a:t>(4) Instructions to clearing banks to make funds available by pay-in time.</a:t>
            </a:r>
          </a:p>
          <a:p>
            <a:pPr>
              <a:buNone/>
            </a:pPr>
            <a:r>
              <a:rPr lang="en-IN" dirty="0"/>
              <a:t>(5) Instructions to depositories to make securities available by pay-in-time.</a:t>
            </a:r>
          </a:p>
          <a:p>
            <a:pPr>
              <a:buNone/>
            </a:pPr>
            <a:r>
              <a:rPr lang="en-IN" dirty="0"/>
              <a:t>(6) Pay-in of securities (NSCCL advises depository to debit pool account of custodians/CMs</a:t>
            </a:r>
          </a:p>
          <a:p>
            <a:pPr>
              <a:buNone/>
            </a:pPr>
            <a:r>
              <a:rPr lang="en-IN" dirty="0"/>
              <a:t>and credit its account and depository does it).</a:t>
            </a:r>
          </a:p>
          <a:p>
            <a:pPr>
              <a:buNone/>
            </a:pPr>
            <a:r>
              <a:rPr lang="en-IN" dirty="0"/>
              <a:t>(7) Pay-in of funds (NSCCL advises Clearing Banks to debit account of custodians/CMs and</a:t>
            </a:r>
          </a:p>
          <a:p>
            <a:pPr>
              <a:buNone/>
            </a:pPr>
            <a:r>
              <a:rPr lang="en-IN" dirty="0"/>
              <a:t>credit its account and clearing bank does it).</a:t>
            </a:r>
          </a:p>
          <a:p>
            <a:pPr>
              <a:buNone/>
            </a:pPr>
            <a:r>
              <a:rPr lang="en-IN" dirty="0"/>
              <a:t>(8) Pay-out of securities (NSCCL advises depository to credit pool account of custodians/</a:t>
            </a:r>
          </a:p>
          <a:p>
            <a:pPr>
              <a:buNone/>
            </a:pPr>
            <a:r>
              <a:rPr lang="en-IN" dirty="0"/>
              <a:t>CMs and debit its account and depository does it).</a:t>
            </a:r>
          </a:p>
          <a:p>
            <a:pPr>
              <a:buNone/>
            </a:pPr>
            <a:r>
              <a:rPr lang="en-IN" dirty="0"/>
              <a:t>(9) Pay-out of funds (NSCCL advises Clearing Banks to credit account of custodians/CMs</a:t>
            </a:r>
          </a:p>
          <a:p>
            <a:pPr>
              <a:buNone/>
            </a:pPr>
            <a:r>
              <a:rPr lang="en-IN" dirty="0"/>
              <a:t>and debit its account and clearing bank does it).</a:t>
            </a:r>
          </a:p>
          <a:p>
            <a:pPr>
              <a:buNone/>
            </a:pPr>
            <a:r>
              <a:rPr lang="en-IN" dirty="0"/>
              <a:t>(10) Depository informs custodians/CMs through DPs.</a:t>
            </a:r>
          </a:p>
          <a:p>
            <a:pPr>
              <a:buNone/>
            </a:pPr>
            <a:r>
              <a:rPr lang="en-IN" dirty="0"/>
              <a:t>(11) Clearing Banks inform custodians/CMs.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701</Words>
  <Application>Microsoft Office PowerPoint</Application>
  <PresentationFormat>On-screen Show (4:3)</PresentationFormat>
  <Paragraphs>112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Financial Markets</vt:lpstr>
      <vt:lpstr> What are financial  markets? </vt:lpstr>
      <vt:lpstr>Major Stock Exchanges across the countries</vt:lpstr>
      <vt:lpstr>Major Indices </vt:lpstr>
      <vt:lpstr>Players</vt:lpstr>
      <vt:lpstr>Two sides of the trading industry</vt:lpstr>
      <vt:lpstr>Buy-side players</vt:lpstr>
      <vt:lpstr>Sell-side players </vt:lpstr>
      <vt:lpstr> Facilitators </vt:lpstr>
      <vt:lpstr>Facilitators..contd.</vt:lpstr>
      <vt:lpstr>Players: Motives</vt:lpstr>
      <vt:lpstr>A typical set of relationships </vt:lpstr>
      <vt:lpstr>Typical trade transaction</vt:lpstr>
      <vt:lpstr>Clearing and settlement process:  Core Functions</vt:lpstr>
      <vt:lpstr>Settlement Process</vt:lpstr>
      <vt:lpstr>Settlement Process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Markets</dc:title>
  <dc:creator>Krishna Prasanna</dc:creator>
  <cp:lastModifiedBy>DELL</cp:lastModifiedBy>
  <cp:revision>41</cp:revision>
  <dcterms:created xsi:type="dcterms:W3CDTF">2006-08-16T00:00:00Z</dcterms:created>
  <dcterms:modified xsi:type="dcterms:W3CDTF">2025-01-24T05:55:15Z</dcterms:modified>
</cp:coreProperties>
</file>