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7" r:id="rId2"/>
    <p:sldId id="259" r:id="rId3"/>
    <p:sldId id="260" r:id="rId4"/>
    <p:sldId id="261" r:id="rId5"/>
    <p:sldId id="262" r:id="rId6"/>
    <p:sldId id="285" r:id="rId7"/>
    <p:sldId id="286" r:id="rId8"/>
    <p:sldId id="263" r:id="rId9"/>
    <p:sldId id="264" r:id="rId10"/>
    <p:sldId id="265" r:id="rId11"/>
    <p:sldId id="270" r:id="rId12"/>
    <p:sldId id="271" r:id="rId13"/>
    <p:sldId id="272" r:id="rId14"/>
    <p:sldId id="274" r:id="rId15"/>
    <p:sldId id="275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591" autoAdjust="0"/>
  </p:normalViewPr>
  <p:slideViewPr>
    <p:cSldViewPr>
      <p:cViewPr varScale="1">
        <p:scale>
          <a:sx n="107" d="100"/>
          <a:sy n="107" d="100"/>
        </p:scale>
        <p:origin x="17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E3D7B-0126-4DE5-A2DA-28F44AFCDCDE}" type="datetimeFigureOut">
              <a:rPr lang="en-US" smtClean="0"/>
              <a:pPr/>
              <a:t>3/13/2026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8A8EBC-9A12-4194-94E6-F8C0BFA8E6F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030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9C3944-F5F0-43D6-9522-E0DCA95ED991}" type="slidenum">
              <a:rPr lang="en-US" altLang="zh-TW" smtClean="0"/>
              <a:pPr/>
              <a:t>6</a:t>
            </a:fld>
            <a:endParaRPr lang="en-US" altLang="zh-TW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630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B8F299-EA5F-48B6-B666-BB817394FFD2}" type="slidenum">
              <a:rPr lang="en-US" altLang="zh-TW" smtClean="0"/>
              <a:pPr/>
              <a:t>7</a:t>
            </a:fld>
            <a:endParaRPr lang="en-US" altLang="zh-TW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612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4116EC-EAA8-405E-92FA-9CFC0254C94D}" type="slidenum">
              <a:rPr lang="en-US" altLang="zh-TW" smtClean="0"/>
              <a:pPr/>
              <a:t>11</a:t>
            </a:fld>
            <a:endParaRPr lang="en-US" altLang="zh-TW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102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CF50C3-929D-45C4-B2D8-E2AC7FA9BC18}" type="slidenum">
              <a:rPr lang="en-US" altLang="zh-TW" smtClean="0"/>
              <a:pPr/>
              <a:t>12</a:t>
            </a:fld>
            <a:endParaRPr lang="en-US" altLang="zh-TW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357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2498DD-C2E9-4261-8273-8EF1CF758D78}" type="slidenum">
              <a:rPr lang="en-US" altLang="zh-TW" smtClean="0"/>
              <a:pPr/>
              <a:t>13</a:t>
            </a:fld>
            <a:endParaRPr lang="en-US" altLang="zh-TW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751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B91DDB-9681-40FC-B018-AD1434DB8498}" type="slidenum">
              <a:rPr lang="en-US" altLang="zh-TW" smtClean="0"/>
              <a:pPr/>
              <a:t>14</a:t>
            </a:fld>
            <a:endParaRPr lang="en-US" altLang="zh-TW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4194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CA7138-98C2-43CF-880C-CB663E50ED92}" type="slidenum">
              <a:rPr lang="en-US" altLang="zh-TW" smtClean="0"/>
              <a:pPr/>
              <a:t>15</a:t>
            </a:fld>
            <a:endParaRPr lang="en-US" altLang="zh-TW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85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4A615D-45F1-433B-BC99-79085AFD0E2B}" type="slidenum">
              <a:rPr lang="en-US" altLang="zh-TW" smtClean="0"/>
              <a:pPr/>
              <a:t>16</a:t>
            </a:fld>
            <a:endParaRPr lang="en-US" altLang="zh-TW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073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DCADE2-00A7-4A9A-92B9-D6D8AB044357}" type="slidenum">
              <a:rPr lang="en-US" altLang="zh-TW" smtClean="0"/>
              <a:pPr/>
              <a:t>17</a:t>
            </a:fld>
            <a:endParaRPr lang="en-US" altLang="zh-TW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82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DF20D8-00BB-47FC-AA91-495B24746E37}" type="slidenum">
              <a:rPr lang="en-US" altLang="zh-TW" smtClean="0"/>
              <a:pPr/>
              <a:t>18</a:t>
            </a:fld>
            <a:endParaRPr lang="en-US" altLang="zh-TW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020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5992B5-E39C-44BA-B34C-8469141B0A8F}" type="slidenum">
              <a:rPr lang="en-US" altLang="zh-TW" smtClean="0"/>
              <a:pPr/>
              <a:t>19</a:t>
            </a:fld>
            <a:endParaRPr lang="en-US" altLang="zh-TW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69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8D080B-D907-448B-919F-F92523ACDA0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to Measure Market Risk : VAR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VAR is the maximum loss over a target horizon such that there is a low, </a:t>
            </a:r>
            <a:r>
              <a:rPr lang="en-US" i="1" dirty="0" err="1"/>
              <a:t>prespecified</a:t>
            </a:r>
            <a:r>
              <a:rPr lang="en-US" i="1" dirty="0"/>
              <a:t> probability that the actual loss will be larger.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Market Risk of a portfolio:</a:t>
            </a:r>
            <a:br>
              <a:rPr lang="en-US" sz="4000" dirty="0"/>
            </a:br>
            <a:r>
              <a:rPr lang="en-US" sz="4000" dirty="0"/>
              <a:t> Value at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Market risk is primarily measured with VAR. </a:t>
            </a:r>
          </a:p>
          <a:p>
            <a:r>
              <a:rPr lang="en-US" dirty="0"/>
              <a:t>VAR is a statistical measure of downside risk </a:t>
            </a:r>
          </a:p>
          <a:p>
            <a:r>
              <a:rPr lang="en-US" dirty="0"/>
              <a:t>VAR measures the </a:t>
            </a:r>
            <a:r>
              <a:rPr lang="en-US" b="1" dirty="0">
                <a:solidFill>
                  <a:srgbClr val="FF0000"/>
                </a:solidFill>
              </a:rPr>
              <a:t>total</a:t>
            </a:r>
            <a:r>
              <a:rPr lang="en-US" dirty="0"/>
              <a:t>  portfolio risk, taking  into account</a:t>
            </a:r>
          </a:p>
          <a:p>
            <a:pPr lvl="1"/>
            <a:r>
              <a:rPr lang="en-US" dirty="0"/>
              <a:t> Portfolio diversification and </a:t>
            </a:r>
          </a:p>
          <a:p>
            <a:pPr lvl="1"/>
            <a:r>
              <a:rPr lang="en-US" dirty="0"/>
              <a:t>leverage.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Risk: Value at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Primarily developed for financial institutions</a:t>
            </a:r>
          </a:p>
          <a:p>
            <a:r>
              <a:rPr lang="en-US" dirty="0"/>
              <a:t>Now extensively used by all corporations to measure EAR /Cash flows at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C=95 % </a:t>
            </a:r>
          </a:p>
          <a:p>
            <a:r>
              <a:rPr lang="en-US" dirty="0"/>
              <a:t>Left tail probability p =1-c  =1.645</a:t>
            </a:r>
          </a:p>
          <a:p>
            <a:r>
              <a:rPr lang="en-US" dirty="0"/>
              <a:t>C=99% :P= 2.32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VALUE AT RISK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47050" cy="3484563"/>
          </a:xfrm>
        </p:spPr>
        <p:txBody>
          <a:bodyPr/>
          <a:lstStyle/>
          <a:p>
            <a:pPr eaLnBrk="1" hangingPunct="1"/>
            <a:r>
              <a:rPr lang="en-US" altLang="zh-TW" sz="2800"/>
              <a:t>A common assumption is that movements in the market have a Normal probability distribution, meaning there is a 1% chance that losses will be greater than 2.32 standard deviations. </a:t>
            </a:r>
          </a:p>
          <a:p>
            <a:pPr eaLnBrk="1" hangingPunct="1"/>
            <a:r>
              <a:rPr lang="en-US" altLang="zh-TW" sz="2800"/>
              <a:t>Assuming a Normal distribution, 99% VaR can be defined as follows:</a:t>
            </a:r>
          </a:p>
          <a:p>
            <a:pPr eaLnBrk="1" hangingPunct="1"/>
            <a:endParaRPr lang="en-US" altLang="zh-TW" sz="2800"/>
          </a:p>
        </p:txBody>
      </p:sp>
      <p:pic>
        <p:nvPicPr>
          <p:cNvPr id="7172" name="Picture 6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908175" y="4221163"/>
            <a:ext cx="4038600" cy="1206500"/>
          </a:xfrm>
          <a:noFill/>
        </p:spPr>
      </p:pic>
      <p:sp>
        <p:nvSpPr>
          <p:cNvPr id="7173" name="Text Box 8"/>
          <p:cNvSpPr txBox="1">
            <a:spLocks noChangeArrowheads="1"/>
          </p:cNvSpPr>
          <p:nvPr/>
        </p:nvSpPr>
        <p:spPr bwMode="auto">
          <a:xfrm>
            <a:off x="6300788" y="4437063"/>
            <a:ext cx="2303462" cy="92551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/>
              <a:t> standard deviation of the portfolio's value </a:t>
            </a:r>
          </a:p>
        </p:txBody>
      </p:sp>
      <p:sp>
        <p:nvSpPr>
          <p:cNvPr id="7174" name="Oval 9"/>
          <p:cNvSpPr>
            <a:spLocks noChangeArrowheads="1"/>
          </p:cNvSpPr>
          <p:nvPr/>
        </p:nvSpPr>
        <p:spPr bwMode="auto">
          <a:xfrm>
            <a:off x="4427538" y="4652963"/>
            <a:ext cx="720725" cy="576262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175" name="Line 10"/>
          <p:cNvSpPr>
            <a:spLocks noChangeShapeType="1"/>
          </p:cNvSpPr>
          <p:nvPr/>
        </p:nvSpPr>
        <p:spPr bwMode="auto">
          <a:xfrm flipV="1">
            <a:off x="5148263" y="4797425"/>
            <a:ext cx="1008062" cy="714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176" name="Text Box 11"/>
          <p:cNvSpPr txBox="1">
            <a:spLocks noChangeArrowheads="1"/>
          </p:cNvSpPr>
          <p:nvPr/>
        </p:nvSpPr>
        <p:spPr bwMode="auto">
          <a:xfrm>
            <a:off x="539750" y="5661025"/>
            <a:ext cx="7993063" cy="925513"/>
          </a:xfrm>
          <a:prstGeom prst="rect">
            <a:avLst/>
          </a:prstGeom>
          <a:noFill/>
          <a:ln w="9525">
            <a:solidFill>
              <a:srgbClr val="FFCC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/>
              <a:t>The subscript T in the VaR expression refers to the time period over which the standard deviation of returns is calculated. VaR can be calculated for any time horizon. For trading operations, a one-day horizon is typically used. </a:t>
            </a:r>
          </a:p>
        </p:txBody>
      </p:sp>
      <p:sp>
        <p:nvSpPr>
          <p:cNvPr id="7177" name="Oval 12"/>
          <p:cNvSpPr>
            <a:spLocks noChangeArrowheads="1"/>
          </p:cNvSpPr>
          <p:nvPr/>
        </p:nvSpPr>
        <p:spPr bwMode="auto">
          <a:xfrm>
            <a:off x="4716463" y="4868863"/>
            <a:ext cx="287337" cy="360362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178" name="Line 13"/>
          <p:cNvSpPr>
            <a:spLocks noChangeShapeType="1"/>
          </p:cNvSpPr>
          <p:nvPr/>
        </p:nvSpPr>
        <p:spPr bwMode="auto">
          <a:xfrm flipH="1">
            <a:off x="3779838" y="5157788"/>
            <a:ext cx="936625" cy="5032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VALUE AT RISK</a:t>
            </a:r>
          </a:p>
        </p:txBody>
      </p:sp>
      <p:pic>
        <p:nvPicPr>
          <p:cNvPr id="8195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574675" y="1600200"/>
            <a:ext cx="7993063" cy="4525963"/>
          </a:xfrm>
          <a:noFill/>
        </p:spPr>
      </p:pic>
      <p:sp>
        <p:nvSpPr>
          <p:cNvPr id="8196" name="Text Box 9"/>
          <p:cNvSpPr txBox="1">
            <a:spLocks noChangeArrowheads="1"/>
          </p:cNvSpPr>
          <p:nvPr/>
        </p:nvSpPr>
        <p:spPr bwMode="auto">
          <a:xfrm>
            <a:off x="4787900" y="2492375"/>
            <a:ext cx="3960813" cy="38163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2200"/>
              <a:t>For an example of a VaR statement, consider an equity portfolio with a daily standard deviation of $10 million. Using the assumption of a Normal distribution, the 99% confidence interval VaR is $23 million. We would expect that the losses would be greater than $23 million on 1% of trading days per year.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VAR: Caveats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VAR does not describe the worst loss.</a:t>
            </a:r>
          </a:p>
          <a:p>
            <a:r>
              <a:rPr lang="en-US" i="1" dirty="0"/>
              <a:t>VAR does not describe the losses in the left tail.</a:t>
            </a:r>
          </a:p>
          <a:p>
            <a:r>
              <a:rPr lang="en-US" i="1" dirty="0"/>
              <a:t>VAR is measured with some error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Var measurement : 3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Historical simulation method</a:t>
            </a:r>
          </a:p>
          <a:p>
            <a:r>
              <a:rPr lang="en-US" dirty="0"/>
              <a:t>Monte Carlo Method</a:t>
            </a:r>
          </a:p>
          <a:p>
            <a:r>
              <a:rPr lang="en-US" dirty="0"/>
              <a:t>Parametric </a:t>
            </a:r>
            <a:r>
              <a:rPr lang="en-US" dirty="0" err="1"/>
              <a:t>Var</a:t>
            </a:r>
            <a:r>
              <a:rPr lang="en-US" dirty="0"/>
              <a:t> or also referred as Risk Metrics method </a:t>
            </a:r>
          </a:p>
          <a:p>
            <a:pPr lvl="1"/>
            <a:r>
              <a:rPr lang="en-US" dirty="0" err="1"/>
              <a:t>Var</a:t>
            </a:r>
            <a:r>
              <a:rPr lang="en-US" dirty="0"/>
              <a:t> =</a:t>
            </a:r>
            <a:r>
              <a:rPr lang="el-GR" dirty="0"/>
              <a:t>α</a:t>
            </a:r>
            <a:r>
              <a:rPr lang="en-US" dirty="0"/>
              <a:t>*SD (</a:t>
            </a:r>
            <a:r>
              <a:rPr lang="en-US" dirty="0" err="1"/>
              <a:t>Rp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Historical Simulation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The entire distribution</a:t>
            </a:r>
          </a:p>
          <a:p>
            <a:r>
              <a:rPr lang="en-US" i="1" dirty="0"/>
              <a:t>The conditional VAR:</a:t>
            </a:r>
            <a:r>
              <a:rPr lang="en-US" dirty="0"/>
              <a:t>A related concept is the expected (average) value of the loss when it exceeds VAR. This ratio is also called ,</a:t>
            </a:r>
            <a:r>
              <a:rPr lang="en-US" b="1" dirty="0"/>
              <a:t> expected shortfall, tail conditional expectation ,conditional loss  or expected tail loss .</a:t>
            </a:r>
            <a:r>
              <a:rPr lang="en-US" dirty="0"/>
              <a:t>It tells us how much we could lose if we are “hit” beyond VAR.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VaR for Bonds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For a bond, VaR can be approximated by multiplying the dollar duration by the "worst-case" daily interest move. This gives the value change in the "worst case."</a:t>
            </a:r>
          </a:p>
          <a:p>
            <a:pPr eaLnBrk="1" hangingPunct="1"/>
            <a:endParaRPr lang="en-US" altLang="zh-TW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VaR for Bonds</a:t>
            </a:r>
          </a:p>
        </p:txBody>
      </p:sp>
      <p:pic>
        <p:nvPicPr>
          <p:cNvPr id="17411" name="Picture 4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68313" y="1989138"/>
            <a:ext cx="7856537" cy="1957387"/>
          </a:xfrm>
          <a:noFill/>
        </p:spPr>
      </p:pic>
      <p:pic>
        <p:nvPicPr>
          <p:cNvPr id="17412" name="Picture 7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900113" y="4437063"/>
            <a:ext cx="4422775" cy="1193800"/>
          </a:xfrm>
          <a:noFill/>
        </p:spPr>
      </p:pic>
      <p:sp>
        <p:nvSpPr>
          <p:cNvPr id="17413" name="Oval 11"/>
          <p:cNvSpPr>
            <a:spLocks noChangeArrowheads="1"/>
          </p:cNvSpPr>
          <p:nvPr/>
        </p:nvSpPr>
        <p:spPr bwMode="auto">
          <a:xfrm>
            <a:off x="3995738" y="2997200"/>
            <a:ext cx="1368425" cy="720725"/>
          </a:xfrm>
          <a:prstGeom prst="ellipse">
            <a:avLst/>
          </a:prstGeom>
          <a:noFill/>
          <a:ln w="9525">
            <a:solidFill>
              <a:srgbClr val="FF0000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7414" name="Text Box 12"/>
          <p:cNvSpPr txBox="1">
            <a:spLocks noChangeArrowheads="1"/>
          </p:cNvSpPr>
          <p:nvPr/>
        </p:nvSpPr>
        <p:spPr bwMode="auto">
          <a:xfrm>
            <a:off x="4932363" y="1268413"/>
            <a:ext cx="3419475" cy="6508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/>
              <a:t> the "worst-case" daily interest move for 1% chance in one day</a:t>
            </a:r>
          </a:p>
        </p:txBody>
      </p:sp>
      <p:sp>
        <p:nvSpPr>
          <p:cNvPr id="17415" name="Line 13"/>
          <p:cNvSpPr>
            <a:spLocks noChangeShapeType="1"/>
          </p:cNvSpPr>
          <p:nvPr/>
        </p:nvSpPr>
        <p:spPr bwMode="auto">
          <a:xfrm flipV="1">
            <a:off x="5219700" y="1916113"/>
            <a:ext cx="1008063" cy="1152525"/>
          </a:xfrm>
          <a:prstGeom prst="line">
            <a:avLst/>
          </a:prstGeom>
          <a:noFill/>
          <a:ln w="9525">
            <a:solidFill>
              <a:srgbClr val="FF0000"/>
            </a:solidFill>
            <a:prstDash val="lg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7416" name="Oval 14"/>
          <p:cNvSpPr>
            <a:spLocks noChangeArrowheads="1"/>
          </p:cNvSpPr>
          <p:nvPr/>
        </p:nvSpPr>
        <p:spPr bwMode="auto">
          <a:xfrm>
            <a:off x="3563938" y="4581525"/>
            <a:ext cx="1152525" cy="72072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17417" name="Line 15"/>
          <p:cNvSpPr>
            <a:spLocks noChangeShapeType="1"/>
          </p:cNvSpPr>
          <p:nvPr/>
        </p:nvSpPr>
        <p:spPr bwMode="auto">
          <a:xfrm flipH="1">
            <a:off x="4500563" y="3789363"/>
            <a:ext cx="287337" cy="863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7418" name="Text Box 16"/>
          <p:cNvSpPr txBox="1">
            <a:spLocks noChangeArrowheads="1"/>
          </p:cNvSpPr>
          <p:nvPr/>
        </p:nvSpPr>
        <p:spPr bwMode="auto">
          <a:xfrm>
            <a:off x="5148263" y="4076700"/>
            <a:ext cx="3744912" cy="17494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/>
              <a:t>If we assume that interest-rate movements have a Normal probability distribution, then the 1% worst case will correspond to2.32 standard deviations of the daily rate movements</a:t>
            </a:r>
          </a:p>
        </p:txBody>
      </p:sp>
      <p:sp>
        <p:nvSpPr>
          <p:cNvPr id="17419" name="Line 17"/>
          <p:cNvSpPr>
            <a:spLocks noChangeShapeType="1"/>
          </p:cNvSpPr>
          <p:nvPr/>
        </p:nvSpPr>
        <p:spPr bwMode="auto">
          <a:xfrm>
            <a:off x="4643438" y="4364038"/>
            <a:ext cx="433387" cy="144462"/>
          </a:xfrm>
          <a:prstGeom prst="line">
            <a:avLst/>
          </a:prstGeom>
          <a:noFill/>
          <a:ln w="9525">
            <a:solidFill>
              <a:srgbClr val="FF0000"/>
            </a:solidFill>
            <a:prstDash val="lg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VaR for Bonds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As an example. If the duration is 7 years (time duration in term of year), the current price is $100 (the dollar duration is 7X100), and the daily standard deviation in the absolute level of interest rates is 0.2%, then the </a:t>
            </a:r>
            <a:r>
              <a:rPr lang="en-US" altLang="zh-TW" sz="2400" dirty="0" err="1"/>
              <a:t>VaR</a:t>
            </a:r>
            <a:r>
              <a:rPr lang="en-US" altLang="zh-TW" sz="2400" dirty="0"/>
              <a:t> is approximately $3.24: </a:t>
            </a:r>
          </a:p>
          <a:p>
            <a:pPr eaLnBrk="1" hangingPunct="1">
              <a:lnSpc>
                <a:spcPct val="90000"/>
              </a:lnSpc>
            </a:pPr>
            <a:endParaRPr lang="en-US" altLang="zh-TW" sz="24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dirty="0"/>
              <a:t>    </a:t>
            </a:r>
            <a:r>
              <a:rPr lang="en-US" altLang="zh-TW" sz="2400" dirty="0" err="1"/>
              <a:t>VaR</a:t>
            </a:r>
            <a:r>
              <a:rPr lang="en-US" altLang="zh-TW" sz="2400" dirty="0"/>
              <a:t> = $100 x 7 x 0.2 x 2.32 = $3.24</a:t>
            </a:r>
          </a:p>
          <a:p>
            <a:pPr eaLnBrk="1" hangingPunct="1">
              <a:lnSpc>
                <a:spcPct val="90000"/>
              </a:lnSpc>
            </a:pPr>
            <a:endParaRPr lang="en-US" altLang="zh-TW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The approximations that we made here were as follows: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the changes in the rate is Normally distributed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dirty="0"/>
              <a:t>The change in the price can be well-approximated by the linear measure of duration.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VaR for Options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A simple approximation of the </a:t>
            </a:r>
            <a:r>
              <a:rPr lang="en-US" altLang="zh-TW" dirty="0" err="1"/>
              <a:t>VaR</a:t>
            </a:r>
            <a:r>
              <a:rPr lang="en-US" altLang="zh-TW" dirty="0"/>
              <a:t> to an option can be obtained using the linear sensitivities</a:t>
            </a:r>
          </a:p>
          <a:p>
            <a:pPr eaLnBrk="1" hangingPunct="1"/>
            <a:r>
              <a:rPr lang="en-US" altLang="zh-TW" dirty="0"/>
              <a:t>The standard deviation of the option price caused by changes in the stock price is simply the standard deviation of the stock price multiplied by delta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VaR for Options</a:t>
            </a:r>
          </a:p>
        </p:txBody>
      </p:sp>
      <p:pic>
        <p:nvPicPr>
          <p:cNvPr id="21507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6013" y="2349500"/>
            <a:ext cx="4294187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8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71550" y="3716338"/>
            <a:ext cx="7705725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9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71550" y="5373688"/>
            <a:ext cx="6070600" cy="665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10" name="Text Box 7"/>
          <p:cNvSpPr txBox="1">
            <a:spLocks noChangeArrowheads="1"/>
          </p:cNvSpPr>
          <p:nvPr/>
        </p:nvSpPr>
        <p:spPr bwMode="auto">
          <a:xfrm>
            <a:off x="5148263" y="1412875"/>
            <a:ext cx="3168650" cy="92551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/>
              <a:t>The derivative of value of option with respect to the price of underlying stock</a:t>
            </a:r>
          </a:p>
        </p:txBody>
      </p:sp>
      <p:sp>
        <p:nvSpPr>
          <p:cNvPr id="21511" name="Oval 8"/>
          <p:cNvSpPr>
            <a:spLocks noChangeArrowheads="1"/>
          </p:cNvSpPr>
          <p:nvPr/>
        </p:nvSpPr>
        <p:spPr bwMode="auto">
          <a:xfrm>
            <a:off x="3708400" y="2420938"/>
            <a:ext cx="503238" cy="6477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1512" name="Line 9"/>
          <p:cNvSpPr>
            <a:spLocks noChangeShapeType="1"/>
          </p:cNvSpPr>
          <p:nvPr/>
        </p:nvSpPr>
        <p:spPr bwMode="auto">
          <a:xfrm flipV="1">
            <a:off x="4067175" y="1628775"/>
            <a:ext cx="1009650" cy="7921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1513" name="Oval 10"/>
          <p:cNvSpPr>
            <a:spLocks noChangeArrowheads="1"/>
          </p:cNvSpPr>
          <p:nvPr/>
        </p:nvSpPr>
        <p:spPr bwMode="auto">
          <a:xfrm>
            <a:off x="4427538" y="2565400"/>
            <a:ext cx="720725" cy="503238"/>
          </a:xfrm>
          <a:prstGeom prst="ellipse">
            <a:avLst/>
          </a:prstGeom>
          <a:noFill/>
          <a:ln w="9525">
            <a:solidFill>
              <a:srgbClr val="FF0000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1514" name="Text Box 11"/>
          <p:cNvSpPr txBox="1">
            <a:spLocks noChangeArrowheads="1"/>
          </p:cNvSpPr>
          <p:nvPr/>
        </p:nvSpPr>
        <p:spPr bwMode="auto">
          <a:xfrm>
            <a:off x="5508625" y="2636838"/>
            <a:ext cx="3311525" cy="6508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/>
              <a:t>The standard error of the underlying stock’s price </a:t>
            </a:r>
          </a:p>
        </p:txBody>
      </p:sp>
      <p:sp>
        <p:nvSpPr>
          <p:cNvPr id="21515" name="Line 12"/>
          <p:cNvSpPr>
            <a:spLocks noChangeShapeType="1"/>
          </p:cNvSpPr>
          <p:nvPr/>
        </p:nvSpPr>
        <p:spPr bwMode="auto">
          <a:xfrm>
            <a:off x="5219700" y="2852738"/>
            <a:ext cx="360363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lg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1516" name="Oval 13"/>
          <p:cNvSpPr>
            <a:spLocks noChangeArrowheads="1"/>
          </p:cNvSpPr>
          <p:nvPr/>
        </p:nvSpPr>
        <p:spPr bwMode="auto">
          <a:xfrm>
            <a:off x="5580063" y="3716338"/>
            <a:ext cx="576262" cy="1008062"/>
          </a:xfrm>
          <a:prstGeom prst="ellipse">
            <a:avLst/>
          </a:prstGeom>
          <a:noFill/>
          <a:ln w="9525">
            <a:solidFill>
              <a:srgbClr val="FF0000"/>
            </a:solidFill>
            <a:prstDash val="lgDash"/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1517" name="Text Box 14"/>
          <p:cNvSpPr txBox="1">
            <a:spLocks noChangeArrowheads="1"/>
          </p:cNvSpPr>
          <p:nvPr/>
        </p:nvSpPr>
        <p:spPr bwMode="auto">
          <a:xfrm>
            <a:off x="6191250" y="4941888"/>
            <a:ext cx="2952750" cy="37623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/>
              <a:t>The second derivative  </a:t>
            </a:r>
          </a:p>
        </p:txBody>
      </p:sp>
      <p:sp>
        <p:nvSpPr>
          <p:cNvPr id="21518" name="Line 15"/>
          <p:cNvSpPr>
            <a:spLocks noChangeShapeType="1"/>
          </p:cNvSpPr>
          <p:nvPr/>
        </p:nvSpPr>
        <p:spPr bwMode="auto">
          <a:xfrm>
            <a:off x="6084888" y="4508500"/>
            <a:ext cx="719137" cy="433388"/>
          </a:xfrm>
          <a:prstGeom prst="line">
            <a:avLst/>
          </a:prstGeom>
          <a:noFill/>
          <a:ln w="9525">
            <a:solidFill>
              <a:srgbClr val="FF0000"/>
            </a:solidFill>
            <a:prstDash val="lg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1519" name="Text Box 16"/>
          <p:cNvSpPr txBox="1">
            <a:spLocks noChangeArrowheads="1"/>
          </p:cNvSpPr>
          <p:nvPr/>
        </p:nvSpPr>
        <p:spPr bwMode="auto">
          <a:xfrm>
            <a:off x="3419475" y="6207125"/>
            <a:ext cx="5040313" cy="6508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/>
              <a:t>The pricing function for a option, for example, the Black-Scholes equations</a:t>
            </a:r>
          </a:p>
        </p:txBody>
      </p:sp>
      <p:sp>
        <p:nvSpPr>
          <p:cNvPr id="21520" name="Line 17"/>
          <p:cNvSpPr>
            <a:spLocks noChangeShapeType="1"/>
          </p:cNvSpPr>
          <p:nvPr/>
        </p:nvSpPr>
        <p:spPr bwMode="auto">
          <a:xfrm>
            <a:off x="2916238" y="6021388"/>
            <a:ext cx="503237" cy="431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1521" name="Oval 18"/>
          <p:cNvSpPr>
            <a:spLocks noChangeArrowheads="1"/>
          </p:cNvSpPr>
          <p:nvPr/>
        </p:nvSpPr>
        <p:spPr bwMode="auto">
          <a:xfrm>
            <a:off x="2555875" y="5445125"/>
            <a:ext cx="431800" cy="649288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General Considerations in Using VaR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147050" cy="2908300"/>
          </a:xfrm>
        </p:spPr>
        <p:txBody>
          <a:bodyPr/>
          <a:lstStyle/>
          <a:p>
            <a:pPr eaLnBrk="1" hangingPunct="1"/>
            <a:r>
              <a:rPr lang="en-US" altLang="zh-TW" sz="2800"/>
              <a:t>In some cases, we may wish to know the VaR for the potential losses over multiple days. </a:t>
            </a:r>
          </a:p>
          <a:p>
            <a:pPr eaLnBrk="1" hangingPunct="1"/>
            <a:r>
              <a:rPr lang="en-US" altLang="zh-TW" sz="2800"/>
              <a:t>A reasonable approximation to the multi day VaR is that it is equal to the one-day VaR multiplied by the square root of the number of days:</a:t>
            </a:r>
          </a:p>
        </p:txBody>
      </p:sp>
      <p:pic>
        <p:nvPicPr>
          <p:cNvPr id="23556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547813" y="4797425"/>
            <a:ext cx="4491037" cy="666750"/>
          </a:xfr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General Considerations in Using VaR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/>
              <a:t>This relationship requires the following assumptions: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/>
              <a:t>1. Changes in market factors are Normally distributed.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/>
              <a:t>2. The one-day VaR is constant over the time period.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/>
              <a:t>3. There is no serial correlation. Serial correlation is present if the results on one day are not independent of the results on a previous day.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General Considerations in Using VaR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/>
              <a:t>In general, for trading operations it is safe to assume that if the term VaR is used without a specified time, it means one-day VaR.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/>
              <a:t>the term VaR is also used to refer to the potential loss from asset liability management, in which case a monthly or yearly horizon is used.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/>
              <a:t>Also, the term "credit VaR" is sometimes used to describe the loss distribution from a credit portfolio. This is quite different from the VaR used for trading portfolios.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/>
              <a:t>General Considerations in Using VaR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The major limitation of VaR is that it describes what happens on bad days rather than terrible days </a:t>
            </a:r>
          </a:p>
          <a:p>
            <a:pPr eaLnBrk="1" hangingPunct="1"/>
            <a:r>
              <a:rPr lang="en-US" altLang="zh-TW"/>
              <a:t>VaR is therefore good for avoiding bad days, but to avoid terrible days you still need stress and scenario tests.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testing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you compute VAR , you come the actual data of the forward period to understand whether one day loss suffered exceeds </a:t>
            </a:r>
            <a:r>
              <a:rPr lang="en-US"/>
              <a:t>one estimated VAR or not</a:t>
            </a:r>
            <a:endParaRPr lang="en-I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Helps to assess how changes in Market (</a:t>
            </a:r>
            <a:r>
              <a:rPr lang="en-US" dirty="0" err="1"/>
              <a:t>eg.interest</a:t>
            </a:r>
            <a:r>
              <a:rPr lang="en-US" dirty="0"/>
              <a:t> rates, exchange rates etc.)could effect the value of the portfolio</a:t>
            </a:r>
            <a:endParaRPr lang="en-I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changing risk factor to a number of alternative values as insensitivity analysis</a:t>
            </a:r>
          </a:p>
          <a:p>
            <a:pPr lvl="1"/>
            <a:r>
              <a:rPr lang="en-US" dirty="0"/>
              <a:t>Different  limited  scenarios are created (using expert judgment)  for which simultaneous consequent changes are reported</a:t>
            </a:r>
            <a:endParaRPr lang="en-I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 Testing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examines the impact of extreme values of market changes up on the portfolio value</a:t>
            </a:r>
            <a:endParaRPr lang="en-I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311</TotalTime>
  <Words>1050</Words>
  <Application>Microsoft Office PowerPoint</Application>
  <PresentationFormat>On-screen Show (4:3)</PresentationFormat>
  <Paragraphs>91</Paragraphs>
  <Slides>23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微軟正黑體</vt:lpstr>
      <vt:lpstr>新細明體</vt:lpstr>
      <vt:lpstr>Calibri</vt:lpstr>
      <vt:lpstr>Constantia</vt:lpstr>
      <vt:lpstr>Wingdings 2</vt:lpstr>
      <vt:lpstr>Flow</vt:lpstr>
      <vt:lpstr>How to Measure Market Risk : VAR</vt:lpstr>
      <vt:lpstr>VAR</vt:lpstr>
      <vt:lpstr>Market Risk of a portfolio:  Value at Risk</vt:lpstr>
      <vt:lpstr>Market Risk: Value at Risk</vt:lpstr>
      <vt:lpstr>Confidence level</vt:lpstr>
      <vt:lpstr>VALUE AT RISK</vt:lpstr>
      <vt:lpstr>VALUE AT RISK</vt:lpstr>
      <vt:lpstr>VAR: Caveats</vt:lpstr>
      <vt:lpstr>Var measurement : 3 approaches</vt:lpstr>
      <vt:lpstr>Historical Simulation</vt:lpstr>
      <vt:lpstr>VaR for Bonds</vt:lpstr>
      <vt:lpstr>VaR for Bonds</vt:lpstr>
      <vt:lpstr>VaR for Bonds</vt:lpstr>
      <vt:lpstr>VaR for Options</vt:lpstr>
      <vt:lpstr>VaR for Options</vt:lpstr>
      <vt:lpstr>General Considerations in Using VaR</vt:lpstr>
      <vt:lpstr>General Considerations in Using VaR</vt:lpstr>
      <vt:lpstr>General Considerations in Using VaR</vt:lpstr>
      <vt:lpstr>General Considerations in Using VaR</vt:lpstr>
      <vt:lpstr>Back testing</vt:lpstr>
      <vt:lpstr>Sensitivity Analysis</vt:lpstr>
      <vt:lpstr>Scenario Analysis</vt:lpstr>
      <vt:lpstr>Stress Testing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Measure Market Risk : VAR</dc:title>
  <dc:creator>Krishna Prasanna</dc:creator>
  <cp:lastModifiedBy>DELL</cp:lastModifiedBy>
  <cp:revision>22</cp:revision>
  <dcterms:created xsi:type="dcterms:W3CDTF">2006-08-16T00:00:00Z</dcterms:created>
  <dcterms:modified xsi:type="dcterms:W3CDTF">2026-03-13T06:46:35Z</dcterms:modified>
</cp:coreProperties>
</file>