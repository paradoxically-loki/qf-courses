
<file path=[Content_Types].xml><?xml version="1.0" encoding="utf-8"?>
<Types xmlns="http://schemas.openxmlformats.org/package/2006/content-types">
  <Default Extension="bin" ContentType="application/vnd.openxmlformats-officedocument.oleObject"/>
  <Default Extension="emf" ContentType="image/x-emf"/>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82" r:id="rId2"/>
    <p:sldId id="283" r:id="rId3"/>
    <p:sldId id="277" r:id="rId4"/>
    <p:sldId id="278" r:id="rId5"/>
    <p:sldId id="279" r:id="rId6"/>
    <p:sldId id="280" r:id="rId7"/>
    <p:sldId id="281" r:id="rId8"/>
    <p:sldId id="267" r:id="rId9"/>
    <p:sldId id="257" r:id="rId10"/>
    <p:sldId id="274" r:id="rId11"/>
    <p:sldId id="275" r:id="rId12"/>
    <p:sldId id="272" r:id="rId13"/>
    <p:sldId id="273" r:id="rId14"/>
    <p:sldId id="258" r:id="rId15"/>
    <p:sldId id="259" r:id="rId16"/>
    <p:sldId id="261" r:id="rId17"/>
    <p:sldId id="263" r:id="rId18"/>
    <p:sldId id="264" r:id="rId19"/>
    <p:sldId id="265" r:id="rId20"/>
    <p:sldId id="266" r:id="rId21"/>
    <p:sldId id="262" r:id="rId22"/>
    <p:sldId id="284" r:id="rId23"/>
    <p:sldId id="285" r:id="rId24"/>
    <p:sldId id="286" r:id="rId25"/>
    <p:sldId id="287" r:id="rId26"/>
    <p:sldId id="288" r:id="rId27"/>
    <p:sldId id="289" r:id="rId28"/>
    <p:sldId id="269" r:id="rId2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7" d="100"/>
          <a:sy n="107" d="100"/>
        </p:scale>
        <p:origin x="1734" y="11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4FBC53D-D8CE-41B9-8B80-E334BFB612DB}" type="datetimeFigureOut">
              <a:rPr lang="en-US" smtClean="0"/>
              <a:pPr/>
              <a:t>2/13/2026</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A6AF170-DD83-41CE-B45C-42E56DD71833}" type="slidenum">
              <a:rPr lang="en-IN" smtClean="0"/>
              <a:pPr/>
              <a:t>‹#›</a:t>
            </a:fld>
            <a:endParaRPr lang="en-IN"/>
          </a:p>
        </p:txBody>
      </p:sp>
    </p:spTree>
    <p:extLst>
      <p:ext uri="{BB962C8B-B14F-4D97-AF65-F5344CB8AC3E}">
        <p14:creationId xmlns:p14="http://schemas.microsoft.com/office/powerpoint/2010/main" val="19227075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ChangeArrowheads="1"/>
          </p:cNvSpPr>
          <p:nvPr/>
        </p:nvSpPr>
        <p:spPr bwMode="auto">
          <a:xfrm>
            <a:off x="3886200" y="0"/>
            <a:ext cx="2971800" cy="457200"/>
          </a:xfrm>
          <a:prstGeom prst="rect">
            <a:avLst/>
          </a:prstGeom>
          <a:noFill/>
          <a:ln w="12700">
            <a:noFill/>
            <a:miter lim="800000"/>
            <a:headEnd/>
            <a:tailEnd/>
          </a:ln>
        </p:spPr>
        <p:txBody>
          <a:bodyPr wrap="none" anchor="ctr"/>
          <a:lstStyle/>
          <a:p>
            <a:endParaRPr lang="en-US"/>
          </a:p>
        </p:txBody>
      </p:sp>
      <p:sp>
        <p:nvSpPr>
          <p:cNvPr id="53251" name="Rectangle 3"/>
          <p:cNvSpPr>
            <a:spLocks noChangeArrowheads="1"/>
          </p:cNvSpPr>
          <p:nvPr/>
        </p:nvSpPr>
        <p:spPr bwMode="auto">
          <a:xfrm>
            <a:off x="3886200" y="8686800"/>
            <a:ext cx="2971800" cy="457200"/>
          </a:xfrm>
          <a:prstGeom prst="rect">
            <a:avLst/>
          </a:prstGeom>
          <a:noFill/>
          <a:ln w="12700">
            <a:noFill/>
            <a:miter lim="800000"/>
            <a:headEnd/>
            <a:tailEnd/>
          </a:ln>
        </p:spPr>
        <p:txBody>
          <a:bodyPr lIns="19050" tIns="0" rIns="19050" bIns="0" anchor="b"/>
          <a:lstStyle/>
          <a:p>
            <a:pPr algn="r" defTabSz="762000" eaLnBrk="0" hangingPunct="0"/>
            <a:r>
              <a:rPr lang="en-US" sz="1000" i="1">
                <a:latin typeface="Times New Roman" pitchFamily="18" charset="0"/>
              </a:rPr>
              <a:t>10</a:t>
            </a:r>
          </a:p>
        </p:txBody>
      </p:sp>
      <p:sp>
        <p:nvSpPr>
          <p:cNvPr id="53252" name="Rectangle 4"/>
          <p:cNvSpPr>
            <a:spLocks noChangeArrowheads="1"/>
          </p:cNvSpPr>
          <p:nvPr/>
        </p:nvSpPr>
        <p:spPr bwMode="auto">
          <a:xfrm>
            <a:off x="0" y="8686800"/>
            <a:ext cx="2971800" cy="457200"/>
          </a:xfrm>
          <a:prstGeom prst="rect">
            <a:avLst/>
          </a:prstGeom>
          <a:noFill/>
          <a:ln w="12700">
            <a:noFill/>
            <a:miter lim="800000"/>
            <a:headEnd/>
            <a:tailEnd/>
          </a:ln>
        </p:spPr>
        <p:txBody>
          <a:bodyPr wrap="none" anchor="ctr"/>
          <a:lstStyle/>
          <a:p>
            <a:endParaRPr lang="en-US"/>
          </a:p>
        </p:txBody>
      </p:sp>
      <p:sp>
        <p:nvSpPr>
          <p:cNvPr id="53253" name="Rectangle 5"/>
          <p:cNvSpPr>
            <a:spLocks noChangeArrowheads="1"/>
          </p:cNvSpPr>
          <p:nvPr/>
        </p:nvSpPr>
        <p:spPr bwMode="auto">
          <a:xfrm>
            <a:off x="0" y="0"/>
            <a:ext cx="2971800" cy="457200"/>
          </a:xfrm>
          <a:prstGeom prst="rect">
            <a:avLst/>
          </a:prstGeom>
          <a:noFill/>
          <a:ln w="12700">
            <a:noFill/>
            <a:miter lim="800000"/>
            <a:headEnd/>
            <a:tailEnd/>
          </a:ln>
        </p:spPr>
        <p:txBody>
          <a:bodyPr wrap="none" anchor="ctr"/>
          <a:lstStyle/>
          <a:p>
            <a:endParaRPr lang="en-US"/>
          </a:p>
        </p:txBody>
      </p:sp>
      <p:sp>
        <p:nvSpPr>
          <p:cNvPr id="53254" name="Rectangle 6"/>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53255" name="Rectangle 7"/>
          <p:cNvSpPr>
            <a:spLocks noGrp="1" noChangeArrowheads="1"/>
          </p:cNvSpPr>
          <p:nvPr>
            <p:ph type="body" idx="1"/>
          </p:nvPr>
        </p:nvSpPr>
        <p:spPr>
          <a:noFill/>
          <a:ln/>
        </p:spPr>
        <p:txBody>
          <a:bodyPr lIns="90488" tIns="44450" rIns="90488" bIns="44450"/>
          <a:lstStyle/>
          <a:p>
            <a:pPr eaLnBrk="1" hangingPunct="1"/>
            <a:endParaRPr lang="en-US"/>
          </a:p>
        </p:txBody>
      </p:sp>
    </p:spTree>
    <p:extLst>
      <p:ext uri="{BB962C8B-B14F-4D97-AF65-F5344CB8AC3E}">
        <p14:creationId xmlns:p14="http://schemas.microsoft.com/office/powerpoint/2010/main" val="19469462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Rot="1" noChangeAspect="1" noChangeArrowheads="1" noTextEdit="1"/>
          </p:cNvSpPr>
          <p:nvPr>
            <p:ph type="sldImg"/>
          </p:nvPr>
        </p:nvSpPr>
        <p:spPr>
          <a:xfrm>
            <a:off x="1150938" y="692150"/>
            <a:ext cx="4556125" cy="3416300"/>
          </a:xfrm>
          <a:ln/>
        </p:spPr>
      </p:sp>
      <p:sp>
        <p:nvSpPr>
          <p:cNvPr id="37891"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4110701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TextEdit="1"/>
          </p:cNvSpPr>
          <p:nvPr>
            <p:ph type="sldImg"/>
          </p:nvPr>
        </p:nvSpPr>
        <p:spPr>
          <a:ln/>
        </p:spPr>
      </p:sp>
      <p:sp>
        <p:nvSpPr>
          <p:cNvPr id="56323" name="Notes Placeholder 2"/>
          <p:cNvSpPr>
            <a:spLocks noGrp="1"/>
          </p:cNvSpPr>
          <p:nvPr>
            <p:ph type="body" idx="1"/>
          </p:nvPr>
        </p:nvSpPr>
        <p:spPr>
          <a:noFill/>
          <a:ln/>
        </p:spPr>
        <p:txBody>
          <a:bodyPr/>
          <a:lstStyle/>
          <a:p>
            <a:endParaRPr lang="en-US"/>
          </a:p>
        </p:txBody>
      </p:sp>
      <p:sp>
        <p:nvSpPr>
          <p:cNvPr id="56324" name="Slide Number Placeholder 3"/>
          <p:cNvSpPr>
            <a:spLocks noGrp="1"/>
          </p:cNvSpPr>
          <p:nvPr>
            <p:ph type="sldNum" sz="quarter" idx="5"/>
          </p:nvPr>
        </p:nvSpPr>
        <p:spPr>
          <a:noFill/>
        </p:spPr>
        <p:txBody>
          <a:bodyPr/>
          <a:lstStyle/>
          <a:p>
            <a:fld id="{69C7D1F7-7DDC-44A4-84BF-D0FD9CF53D44}" type="slidenum">
              <a:rPr lang="en-US" smtClean="0"/>
              <a:pPr/>
              <a:t>10</a:t>
            </a:fld>
            <a:endParaRPr lang="en-US"/>
          </a:p>
        </p:txBody>
      </p:sp>
    </p:spTree>
    <p:extLst>
      <p:ext uri="{BB962C8B-B14F-4D97-AF65-F5344CB8AC3E}">
        <p14:creationId xmlns:p14="http://schemas.microsoft.com/office/powerpoint/2010/main" val="7944246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ChangeArrowheads="1"/>
          </p:cNvSpPr>
          <p:nvPr/>
        </p:nvSpPr>
        <p:spPr bwMode="auto">
          <a:xfrm>
            <a:off x="3886200" y="0"/>
            <a:ext cx="2971800" cy="457200"/>
          </a:xfrm>
          <a:prstGeom prst="rect">
            <a:avLst/>
          </a:prstGeom>
          <a:noFill/>
          <a:ln w="12700">
            <a:noFill/>
            <a:miter lim="800000"/>
            <a:headEnd/>
            <a:tailEnd/>
          </a:ln>
        </p:spPr>
        <p:txBody>
          <a:bodyPr wrap="none" anchor="ctr"/>
          <a:lstStyle/>
          <a:p>
            <a:endParaRPr lang="en-US"/>
          </a:p>
        </p:txBody>
      </p:sp>
      <p:sp>
        <p:nvSpPr>
          <p:cNvPr id="54275" name="Rectangle 3"/>
          <p:cNvSpPr>
            <a:spLocks noChangeArrowheads="1"/>
          </p:cNvSpPr>
          <p:nvPr/>
        </p:nvSpPr>
        <p:spPr bwMode="auto">
          <a:xfrm>
            <a:off x="3886200" y="8686800"/>
            <a:ext cx="2971800" cy="457200"/>
          </a:xfrm>
          <a:prstGeom prst="rect">
            <a:avLst/>
          </a:prstGeom>
          <a:noFill/>
          <a:ln w="12700">
            <a:noFill/>
            <a:miter lim="800000"/>
            <a:headEnd/>
            <a:tailEnd/>
          </a:ln>
        </p:spPr>
        <p:txBody>
          <a:bodyPr lIns="19050" tIns="0" rIns="19050" bIns="0" anchor="b"/>
          <a:lstStyle/>
          <a:p>
            <a:pPr algn="r" defTabSz="762000" eaLnBrk="0" hangingPunct="0"/>
            <a:r>
              <a:rPr lang="en-US" sz="1000" i="1">
                <a:latin typeface="Times New Roman" pitchFamily="18" charset="0"/>
              </a:rPr>
              <a:t>14</a:t>
            </a:r>
          </a:p>
        </p:txBody>
      </p:sp>
      <p:sp>
        <p:nvSpPr>
          <p:cNvPr id="54276" name="Rectangle 4"/>
          <p:cNvSpPr>
            <a:spLocks noChangeArrowheads="1"/>
          </p:cNvSpPr>
          <p:nvPr/>
        </p:nvSpPr>
        <p:spPr bwMode="auto">
          <a:xfrm>
            <a:off x="0" y="8686800"/>
            <a:ext cx="2971800" cy="457200"/>
          </a:xfrm>
          <a:prstGeom prst="rect">
            <a:avLst/>
          </a:prstGeom>
          <a:noFill/>
          <a:ln w="12700">
            <a:noFill/>
            <a:miter lim="800000"/>
            <a:headEnd/>
            <a:tailEnd/>
          </a:ln>
        </p:spPr>
        <p:txBody>
          <a:bodyPr wrap="none" anchor="ctr"/>
          <a:lstStyle/>
          <a:p>
            <a:endParaRPr lang="en-US"/>
          </a:p>
        </p:txBody>
      </p:sp>
      <p:sp>
        <p:nvSpPr>
          <p:cNvPr id="54277" name="Rectangle 5"/>
          <p:cNvSpPr>
            <a:spLocks noChangeArrowheads="1"/>
          </p:cNvSpPr>
          <p:nvPr/>
        </p:nvSpPr>
        <p:spPr bwMode="auto">
          <a:xfrm>
            <a:off x="0" y="0"/>
            <a:ext cx="2971800" cy="457200"/>
          </a:xfrm>
          <a:prstGeom prst="rect">
            <a:avLst/>
          </a:prstGeom>
          <a:noFill/>
          <a:ln w="12700">
            <a:noFill/>
            <a:miter lim="800000"/>
            <a:headEnd/>
            <a:tailEnd/>
          </a:ln>
        </p:spPr>
        <p:txBody>
          <a:bodyPr wrap="none" anchor="ctr"/>
          <a:lstStyle/>
          <a:p>
            <a:endParaRPr lang="en-US"/>
          </a:p>
        </p:txBody>
      </p:sp>
      <p:sp>
        <p:nvSpPr>
          <p:cNvPr id="54278" name="Rectangle 6"/>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54279" name="Rectangle 7"/>
          <p:cNvSpPr>
            <a:spLocks noGrp="1" noChangeArrowheads="1"/>
          </p:cNvSpPr>
          <p:nvPr>
            <p:ph type="body" idx="1"/>
          </p:nvPr>
        </p:nvSpPr>
        <p:spPr>
          <a:noFill/>
          <a:ln/>
        </p:spPr>
        <p:txBody>
          <a:bodyPr lIns="90488" tIns="44450" rIns="90488" bIns="44450"/>
          <a:lstStyle/>
          <a:p>
            <a:pPr eaLnBrk="1" hangingPunct="1"/>
            <a:endParaRPr lang="en-US"/>
          </a:p>
        </p:txBody>
      </p:sp>
    </p:spTree>
    <p:extLst>
      <p:ext uri="{BB962C8B-B14F-4D97-AF65-F5344CB8AC3E}">
        <p14:creationId xmlns:p14="http://schemas.microsoft.com/office/powerpoint/2010/main" val="37622621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ChangeArrowheads="1"/>
          </p:cNvSpPr>
          <p:nvPr/>
        </p:nvSpPr>
        <p:spPr bwMode="auto">
          <a:xfrm>
            <a:off x="3886200" y="0"/>
            <a:ext cx="2971800" cy="457200"/>
          </a:xfrm>
          <a:prstGeom prst="rect">
            <a:avLst/>
          </a:prstGeom>
          <a:noFill/>
          <a:ln w="12700">
            <a:noFill/>
            <a:miter lim="800000"/>
            <a:headEnd/>
            <a:tailEnd/>
          </a:ln>
        </p:spPr>
        <p:txBody>
          <a:bodyPr wrap="none" anchor="ctr"/>
          <a:lstStyle/>
          <a:p>
            <a:endParaRPr lang="en-US"/>
          </a:p>
        </p:txBody>
      </p:sp>
      <p:sp>
        <p:nvSpPr>
          <p:cNvPr id="55299" name="Rectangle 3"/>
          <p:cNvSpPr>
            <a:spLocks noChangeArrowheads="1"/>
          </p:cNvSpPr>
          <p:nvPr/>
        </p:nvSpPr>
        <p:spPr bwMode="auto">
          <a:xfrm>
            <a:off x="3886200" y="8686800"/>
            <a:ext cx="2971800" cy="457200"/>
          </a:xfrm>
          <a:prstGeom prst="rect">
            <a:avLst/>
          </a:prstGeom>
          <a:noFill/>
          <a:ln w="12700">
            <a:noFill/>
            <a:miter lim="800000"/>
            <a:headEnd/>
            <a:tailEnd/>
          </a:ln>
        </p:spPr>
        <p:txBody>
          <a:bodyPr lIns="19050" tIns="0" rIns="19050" bIns="0" anchor="b"/>
          <a:lstStyle/>
          <a:p>
            <a:pPr algn="r" defTabSz="762000" eaLnBrk="0" hangingPunct="0"/>
            <a:r>
              <a:rPr lang="en-US" sz="1000" i="1">
                <a:latin typeface="Times New Roman" pitchFamily="18" charset="0"/>
              </a:rPr>
              <a:t>15</a:t>
            </a:r>
          </a:p>
        </p:txBody>
      </p:sp>
      <p:sp>
        <p:nvSpPr>
          <p:cNvPr id="55300" name="Rectangle 4"/>
          <p:cNvSpPr>
            <a:spLocks noChangeArrowheads="1"/>
          </p:cNvSpPr>
          <p:nvPr/>
        </p:nvSpPr>
        <p:spPr bwMode="auto">
          <a:xfrm>
            <a:off x="0" y="8686800"/>
            <a:ext cx="2971800" cy="457200"/>
          </a:xfrm>
          <a:prstGeom prst="rect">
            <a:avLst/>
          </a:prstGeom>
          <a:noFill/>
          <a:ln w="12700">
            <a:noFill/>
            <a:miter lim="800000"/>
            <a:headEnd/>
            <a:tailEnd/>
          </a:ln>
        </p:spPr>
        <p:txBody>
          <a:bodyPr wrap="none" anchor="ctr"/>
          <a:lstStyle/>
          <a:p>
            <a:endParaRPr lang="en-US"/>
          </a:p>
        </p:txBody>
      </p:sp>
      <p:sp>
        <p:nvSpPr>
          <p:cNvPr id="55301" name="Rectangle 5"/>
          <p:cNvSpPr>
            <a:spLocks noChangeArrowheads="1"/>
          </p:cNvSpPr>
          <p:nvPr/>
        </p:nvSpPr>
        <p:spPr bwMode="auto">
          <a:xfrm>
            <a:off x="0" y="0"/>
            <a:ext cx="2971800" cy="457200"/>
          </a:xfrm>
          <a:prstGeom prst="rect">
            <a:avLst/>
          </a:prstGeom>
          <a:noFill/>
          <a:ln w="12700">
            <a:noFill/>
            <a:miter lim="800000"/>
            <a:headEnd/>
            <a:tailEnd/>
          </a:ln>
        </p:spPr>
        <p:txBody>
          <a:bodyPr wrap="none" anchor="ctr"/>
          <a:lstStyle/>
          <a:p>
            <a:endParaRPr lang="en-US"/>
          </a:p>
        </p:txBody>
      </p:sp>
      <p:sp>
        <p:nvSpPr>
          <p:cNvPr id="55302" name="Rectangle 6"/>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55303" name="Rectangle 7"/>
          <p:cNvSpPr>
            <a:spLocks noGrp="1" noChangeArrowheads="1"/>
          </p:cNvSpPr>
          <p:nvPr>
            <p:ph type="body" idx="1"/>
          </p:nvPr>
        </p:nvSpPr>
        <p:spPr>
          <a:noFill/>
          <a:ln/>
        </p:spPr>
        <p:txBody>
          <a:bodyPr lIns="90488" tIns="44450" rIns="90488" bIns="44450"/>
          <a:lstStyle/>
          <a:p>
            <a:pPr eaLnBrk="1" hangingPunct="1"/>
            <a:endParaRPr lang="en-US"/>
          </a:p>
        </p:txBody>
      </p:sp>
    </p:spTree>
    <p:extLst>
      <p:ext uri="{BB962C8B-B14F-4D97-AF65-F5344CB8AC3E}">
        <p14:creationId xmlns:p14="http://schemas.microsoft.com/office/powerpoint/2010/main" val="30561700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Rot="1" noChangeAspect="1" noChangeArrowheads="1" noTextEdit="1"/>
          </p:cNvSpPr>
          <p:nvPr>
            <p:ph type="sldImg"/>
          </p:nvPr>
        </p:nvSpPr>
        <p:spPr>
          <a:xfrm>
            <a:off x="1150938" y="692150"/>
            <a:ext cx="4556125" cy="3416300"/>
          </a:xfrm>
          <a:ln/>
        </p:spPr>
      </p:sp>
      <p:sp>
        <p:nvSpPr>
          <p:cNvPr id="38915"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6927487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Rot="1" noChangeAspect="1" noChangeArrowheads="1" noTextEdit="1"/>
          </p:cNvSpPr>
          <p:nvPr>
            <p:ph type="sldImg"/>
          </p:nvPr>
        </p:nvSpPr>
        <p:spPr>
          <a:xfrm>
            <a:off x="1150938" y="692150"/>
            <a:ext cx="4556125" cy="3416300"/>
          </a:xfrm>
          <a:ln/>
        </p:spPr>
      </p:sp>
      <p:sp>
        <p:nvSpPr>
          <p:cNvPr id="39939"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5015951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Rot="1" noChangeAspect="1" noChangeArrowheads="1" noTextEdit="1"/>
          </p:cNvSpPr>
          <p:nvPr>
            <p:ph type="sldImg"/>
          </p:nvPr>
        </p:nvSpPr>
        <p:spPr>
          <a:xfrm>
            <a:off x="1150938" y="692150"/>
            <a:ext cx="4556125" cy="3416300"/>
          </a:xfrm>
          <a:ln/>
        </p:spPr>
      </p:sp>
      <p:sp>
        <p:nvSpPr>
          <p:cNvPr id="41987"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7290504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xfrm>
            <a:off x="1150938" y="692150"/>
            <a:ext cx="4556125" cy="3416300"/>
          </a:xfrm>
          <a:ln/>
        </p:spPr>
      </p:sp>
      <p:sp>
        <p:nvSpPr>
          <p:cNvPr id="44035"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2047363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Rot="1" noChangeAspect="1" noChangeArrowheads="1" noTextEdit="1"/>
          </p:cNvSpPr>
          <p:nvPr>
            <p:ph type="sldImg"/>
          </p:nvPr>
        </p:nvSpPr>
        <p:spPr>
          <a:xfrm>
            <a:off x="1150938" y="692150"/>
            <a:ext cx="4556125" cy="3416300"/>
          </a:xfrm>
          <a:ln/>
        </p:spPr>
      </p:sp>
      <p:sp>
        <p:nvSpPr>
          <p:cNvPr id="45059"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6409159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Rot="1" noChangeAspect="1" noChangeArrowheads="1" noTextEdit="1"/>
          </p:cNvSpPr>
          <p:nvPr>
            <p:ph type="sldImg"/>
          </p:nvPr>
        </p:nvSpPr>
        <p:spPr>
          <a:xfrm>
            <a:off x="1150938" y="692150"/>
            <a:ext cx="4556125" cy="3416300"/>
          </a:xfrm>
          <a:ln/>
        </p:spPr>
      </p:sp>
      <p:sp>
        <p:nvSpPr>
          <p:cNvPr id="46083"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2394456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Rot="1" noChangeAspect="1" noChangeArrowheads="1" noTextEdit="1"/>
          </p:cNvSpPr>
          <p:nvPr>
            <p:ph type="sldImg"/>
          </p:nvPr>
        </p:nvSpPr>
        <p:spPr>
          <a:xfrm>
            <a:off x="1150938" y="692150"/>
            <a:ext cx="4556125" cy="3416300"/>
          </a:xfrm>
          <a:ln/>
        </p:spPr>
      </p:sp>
      <p:sp>
        <p:nvSpPr>
          <p:cNvPr id="47107"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42103897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3529E44C-319A-4D8B-9A38-EAB870BCF81B}"/>
              </a:ext>
            </a:extLst>
          </p:cNvPr>
          <p:cNvSpPr>
            <a:spLocks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Rectangle 3">
            <a:extLst>
              <a:ext uri="{FF2B5EF4-FFF2-40B4-BE49-F238E27FC236}">
                <a16:creationId xmlns:a16="http://schemas.microsoft.com/office/drawing/2014/main" id="{8795095A-4FD9-40A7-8E89-7A532395148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CA"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6148216E-69C5-4593-BAA9-53E67831BB27}"/>
              </a:ext>
            </a:extLst>
          </p:cNvPr>
          <p:cNvSpPr>
            <a:spLocks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05F37B2B-756E-43F5-8843-7717BDB781A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CA"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5CF9EC0E-0755-4D1B-AD27-4C8AFB40B5A4}"/>
              </a:ext>
            </a:extLst>
          </p:cNvPr>
          <p:cNvSpPr>
            <a:spLocks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795" name="Rectangle 3">
            <a:extLst>
              <a:ext uri="{FF2B5EF4-FFF2-40B4-BE49-F238E27FC236}">
                <a16:creationId xmlns:a16="http://schemas.microsoft.com/office/drawing/2014/main" id="{7AF29C6D-8BAD-4B54-9D80-0A64565C4AA6}"/>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CA"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0552ADA8-B612-4934-87AC-97E02E532BA3}"/>
              </a:ext>
            </a:extLst>
          </p:cNvPr>
          <p:cNvSpPr>
            <a:spLocks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Rectangle 3">
            <a:extLst>
              <a:ext uri="{FF2B5EF4-FFF2-40B4-BE49-F238E27FC236}">
                <a16:creationId xmlns:a16="http://schemas.microsoft.com/office/drawing/2014/main" id="{0516854A-6B00-4EFA-ACB8-49842C1BB9BC}"/>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CA"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75F41FE3-3574-4C1B-8BB4-2945DEB4C352}"/>
              </a:ext>
            </a:extLst>
          </p:cNvPr>
          <p:cNvSpPr>
            <a:spLocks noChangeArrowheads="1" noTextEdit="1"/>
          </p:cNvSpPr>
          <p:nvPr>
            <p:ph type="sldImg"/>
          </p:nvPr>
        </p:nvSpPr>
        <p:spPr bwMode="auto">
          <a:xfrm>
            <a:off x="1150938" y="692150"/>
            <a:ext cx="4556125" cy="34163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5843" name="Rectangle 3">
            <a:extLst>
              <a:ext uri="{FF2B5EF4-FFF2-40B4-BE49-F238E27FC236}">
                <a16:creationId xmlns:a16="http://schemas.microsoft.com/office/drawing/2014/main" id="{38F0AC45-93F7-405C-A956-D195D2BFCED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CA"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a:extLst>
              <a:ext uri="{FF2B5EF4-FFF2-40B4-BE49-F238E27FC236}">
                <a16:creationId xmlns:a16="http://schemas.microsoft.com/office/drawing/2014/main" id="{CAEDC089-3084-4CE5-92D4-6E4E62AF7E1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7" name="Notes Placeholder 2">
            <a:extLst>
              <a:ext uri="{FF2B5EF4-FFF2-40B4-BE49-F238E27FC236}">
                <a16:creationId xmlns:a16="http://schemas.microsoft.com/office/drawing/2014/main" id="{507811C0-A756-40A4-A00B-94842E4C1FA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p>
        </p:txBody>
      </p:sp>
      <p:sp>
        <p:nvSpPr>
          <p:cNvPr id="4" name="Slide Number Placeholder 3">
            <a:extLst>
              <a:ext uri="{FF2B5EF4-FFF2-40B4-BE49-F238E27FC236}">
                <a16:creationId xmlns:a16="http://schemas.microsoft.com/office/drawing/2014/main" id="{F2708637-7629-4977-9EE1-817E52B091B8}"/>
              </a:ext>
            </a:extLst>
          </p:cNvPr>
          <p:cNvSpPr>
            <a:spLocks noGrp="1"/>
          </p:cNvSpPr>
          <p:nvPr>
            <p:ph type="sldNum" sz="quarter" idx="5"/>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49FF761-3DE1-4F87-8D4F-5AF7774D9A1F}" type="slidenum">
              <a:rPr lang="en-US" altLang="en-US">
                <a:latin typeface="Calibri" panose="020F0502020204030204" pitchFamily="34" charset="0"/>
              </a:rPr>
              <a:pPr eaLnBrk="1" hangingPunct="1"/>
              <a:t>26</a:t>
            </a:fld>
            <a:endParaRPr lang="en-US" altLang="en-US">
              <a:latin typeface="Calibri" panose="020F0502020204030204"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1026">
            <a:extLst>
              <a:ext uri="{FF2B5EF4-FFF2-40B4-BE49-F238E27FC236}">
                <a16:creationId xmlns:a16="http://schemas.microsoft.com/office/drawing/2014/main" id="{0AB26B8E-5A06-4F4A-91D2-5415ADE85D7D}"/>
              </a:ext>
            </a:extLst>
          </p:cNvPr>
          <p:cNvSpPr>
            <a:spLocks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Rectangle 1027">
            <a:extLst>
              <a:ext uri="{FF2B5EF4-FFF2-40B4-BE49-F238E27FC236}">
                <a16:creationId xmlns:a16="http://schemas.microsoft.com/office/drawing/2014/main" id="{99758ABA-3E10-4256-8B59-71C0B50F9114}"/>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CA"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55011B9F-7B3A-48FD-9F9C-05573F086C47}"/>
              </a:ext>
            </a:extLst>
          </p:cNvPr>
          <p:cNvSpPr>
            <a:spLocks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5" name="Rectangle 3">
            <a:extLst>
              <a:ext uri="{FF2B5EF4-FFF2-40B4-BE49-F238E27FC236}">
                <a16:creationId xmlns:a16="http://schemas.microsoft.com/office/drawing/2014/main" id="{FBEFE758-CEF4-4B5B-8E57-0578CB07C1F4}"/>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CA"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3.wmf"/><Relationship Id="rId4" Type="http://schemas.openxmlformats.org/officeDocument/2006/relationships/oleObject" Target="../embeddings/oleObject1.bin"/></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4.wmf"/><Relationship Id="rId4" Type="http://schemas.openxmlformats.org/officeDocument/2006/relationships/oleObject" Target="../embeddings/oleObject2.bin"/></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lvl="6"/>
            <a:endParaRPr lang="en-US" dirty="0"/>
          </a:p>
          <a:p>
            <a:pPr lvl="6">
              <a:buNone/>
            </a:pPr>
            <a:endParaRPr lang="en-US" sz="4000" b="1" dirty="0"/>
          </a:p>
          <a:p>
            <a:pPr lvl="6">
              <a:buNone/>
            </a:pPr>
            <a:r>
              <a:rPr lang="en-IN" sz="4000" b="1" dirty="0"/>
              <a:t>Derivatives</a:t>
            </a:r>
            <a:endParaRPr lang="en-IN" sz="4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defRPr/>
            </a:pPr>
            <a:br>
              <a:rPr lang="en-IN" dirty="0"/>
            </a:br>
            <a:r>
              <a:rPr lang="en-IN" b="1" dirty="0"/>
              <a:t>Derivatives –an introduction</a:t>
            </a:r>
            <a:endParaRPr lang="en-IN" dirty="0"/>
          </a:p>
        </p:txBody>
      </p:sp>
      <p:sp>
        <p:nvSpPr>
          <p:cNvPr id="3" name="Content Placeholder 2"/>
          <p:cNvSpPr>
            <a:spLocks noGrp="1"/>
          </p:cNvSpPr>
          <p:nvPr>
            <p:ph idx="1"/>
          </p:nvPr>
        </p:nvSpPr>
        <p:spPr/>
        <p:txBody>
          <a:bodyPr>
            <a:normAutofit lnSpcReduction="10000"/>
          </a:bodyPr>
          <a:lstStyle/>
          <a:p>
            <a:pPr>
              <a:defRPr/>
            </a:pPr>
            <a:r>
              <a:rPr lang="en-IN" dirty="0"/>
              <a:t>Literally speaking, a derivative is something which is derived from something else</a:t>
            </a:r>
          </a:p>
          <a:p>
            <a:pPr>
              <a:defRPr/>
            </a:pPr>
            <a:r>
              <a:rPr lang="en-IN" dirty="0"/>
              <a:t>The value of a derivative is also said to be derived from the value of this “something else”</a:t>
            </a:r>
          </a:p>
          <a:p>
            <a:pPr>
              <a:defRPr/>
            </a:pPr>
            <a:r>
              <a:rPr lang="en-IN" dirty="0"/>
              <a:t>A simple example of a derivative is </a:t>
            </a:r>
            <a:r>
              <a:rPr lang="en-IN" i="1" dirty="0"/>
              <a:t>butter, which is a derivative of milk</a:t>
            </a:r>
          </a:p>
          <a:p>
            <a:pPr>
              <a:defRPr/>
            </a:pPr>
            <a:r>
              <a:rPr lang="en-IN" dirty="0"/>
              <a:t>The price of butter is derived from the price (hence the demand and supply) of milk</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defRPr/>
            </a:pPr>
            <a:br>
              <a:rPr lang="en-IN" dirty="0"/>
            </a:br>
            <a:r>
              <a:rPr lang="en-IN" b="1" dirty="0"/>
              <a:t>Derivatives –a formal definition</a:t>
            </a:r>
            <a:endParaRPr lang="en-IN" dirty="0"/>
          </a:p>
        </p:txBody>
      </p:sp>
      <p:sp>
        <p:nvSpPr>
          <p:cNvPr id="3" name="Content Placeholder 2"/>
          <p:cNvSpPr>
            <a:spLocks noGrp="1"/>
          </p:cNvSpPr>
          <p:nvPr>
            <p:ph idx="1"/>
          </p:nvPr>
        </p:nvSpPr>
        <p:spPr/>
        <p:txBody>
          <a:bodyPr>
            <a:normAutofit fontScale="77500" lnSpcReduction="20000"/>
          </a:bodyPr>
          <a:lstStyle/>
          <a:p>
            <a:pPr>
              <a:defRPr/>
            </a:pPr>
            <a:r>
              <a:rPr lang="en-IN" dirty="0"/>
              <a:t>Fundamentally, a derivative is an instrument which permits transfer of risk from one party to the other</a:t>
            </a:r>
          </a:p>
          <a:p>
            <a:pPr>
              <a:defRPr/>
            </a:pPr>
            <a:r>
              <a:rPr lang="en-IN" dirty="0"/>
              <a:t>Formally, a derivative is a contract between two parties that provides for a payoff from one party to the other based on (or “derived” from) the performance of an underlying</a:t>
            </a:r>
          </a:p>
          <a:p>
            <a:pPr>
              <a:defRPr/>
            </a:pPr>
            <a:r>
              <a:rPr lang="en-IN" dirty="0"/>
              <a:t>Underlying is generally an asset –either real (commodity derivative) or financial (financial derivative)</a:t>
            </a:r>
          </a:p>
          <a:p>
            <a:pPr>
              <a:defRPr/>
            </a:pPr>
            <a:r>
              <a:rPr lang="en-IN" dirty="0"/>
              <a:t>Underlying can also be an index, a reference rate, some other random element (e.g. weather) or even a derivative</a:t>
            </a:r>
          </a:p>
          <a:p>
            <a:pPr>
              <a:defRPr/>
            </a:pPr>
            <a:r>
              <a:rPr lang="en-IN" dirty="0"/>
              <a:t>When the underlying is foreign exchange →</a:t>
            </a:r>
            <a:r>
              <a:rPr lang="en-IN" b="1" dirty="0"/>
              <a:t>FX Derivative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defRPr/>
            </a:pPr>
            <a:r>
              <a:rPr lang="en-IN" b="1" dirty="0"/>
              <a:t>Types of Derivatives</a:t>
            </a:r>
            <a:br>
              <a:rPr lang="en-IN" dirty="0"/>
            </a:br>
            <a:endParaRPr lang="en-IN" dirty="0"/>
          </a:p>
        </p:txBody>
      </p:sp>
      <p:sp>
        <p:nvSpPr>
          <p:cNvPr id="3" name="Content Placeholder 2"/>
          <p:cNvSpPr>
            <a:spLocks noGrp="1"/>
          </p:cNvSpPr>
          <p:nvPr>
            <p:ph idx="1"/>
          </p:nvPr>
        </p:nvSpPr>
        <p:spPr/>
        <p:txBody>
          <a:bodyPr>
            <a:normAutofit fontScale="92500" lnSpcReduction="10000"/>
          </a:bodyPr>
          <a:lstStyle/>
          <a:p>
            <a:pPr>
              <a:defRPr/>
            </a:pPr>
            <a:r>
              <a:rPr lang="en-IN" dirty="0"/>
              <a:t>Derivatives are usually categorised in terms of</a:t>
            </a:r>
          </a:p>
          <a:p>
            <a:pPr lvl="1">
              <a:defRPr/>
            </a:pPr>
            <a:r>
              <a:rPr lang="en-IN" dirty="0"/>
              <a:t>Relationship between the underlying asset and the derivative –forwards &amp; futures, options, swaps</a:t>
            </a:r>
          </a:p>
          <a:p>
            <a:pPr lvl="1">
              <a:defRPr/>
            </a:pPr>
            <a:r>
              <a:rPr lang="en-IN" dirty="0"/>
              <a:t>Type of underlying asset –equity derivatives, foreign exchange derivatives, interest rate derivatives, commodity derivatives, credit derivatives</a:t>
            </a:r>
          </a:p>
          <a:p>
            <a:pPr lvl="1">
              <a:defRPr/>
            </a:pPr>
            <a:r>
              <a:rPr lang="en-IN" dirty="0"/>
              <a:t>Market in which they trade –exchange-traded and over-the-counter</a:t>
            </a:r>
          </a:p>
          <a:p>
            <a:pPr lvl="1">
              <a:defRPr/>
            </a:pPr>
            <a:r>
              <a:rPr lang="en-IN" dirty="0"/>
              <a:t>Pay-off profile –Linear and Non-linear</a:t>
            </a:r>
          </a:p>
          <a:p>
            <a:pPr lvl="1">
              <a:defRPr/>
            </a:pPr>
            <a:r>
              <a:rPr lang="en-IN" dirty="0"/>
              <a:t>Complexity –Plain Vanilla (simple and common) and Exotic (more complicated and specialised)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p:txBody>
          <a:bodyPr/>
          <a:lstStyle/>
          <a:p>
            <a:endParaRPr lang="en-IN" altLang="en-US"/>
          </a:p>
        </p:txBody>
      </p:sp>
      <p:sp>
        <p:nvSpPr>
          <p:cNvPr id="5123" name="Content Placeholder 2"/>
          <p:cNvSpPr>
            <a:spLocks noGrp="1"/>
          </p:cNvSpPr>
          <p:nvPr>
            <p:ph idx="1"/>
          </p:nvPr>
        </p:nvSpPr>
        <p:spPr/>
        <p:txBody>
          <a:bodyPr/>
          <a:lstStyle/>
          <a:p>
            <a:endParaRPr lang="en-IN" altLang="en-US"/>
          </a:p>
        </p:txBody>
      </p:sp>
      <p:pic>
        <p:nvPicPr>
          <p:cNvPr id="5124" name="Picture 2"/>
          <p:cNvPicPr>
            <a:picLocks noChangeAspect="1" noChangeArrowheads="1"/>
          </p:cNvPicPr>
          <p:nvPr/>
        </p:nvPicPr>
        <p:blipFill>
          <a:blip r:embed="rId2"/>
          <a:srcRect/>
          <a:stretch>
            <a:fillRect/>
          </a:stretch>
        </p:blipFill>
        <p:spPr bwMode="auto">
          <a:xfrm>
            <a:off x="838200" y="1371600"/>
            <a:ext cx="7543800" cy="4951413"/>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endParaRPr lang="en-IN" altLang="en-US"/>
          </a:p>
        </p:txBody>
      </p:sp>
      <p:pic>
        <p:nvPicPr>
          <p:cNvPr id="6147" name="Picture 2"/>
          <p:cNvPicPr>
            <a:picLocks noGrp="1" noChangeAspect="1" noChangeArrowheads="1"/>
          </p:cNvPicPr>
          <p:nvPr>
            <p:ph idx="1"/>
          </p:nvPr>
        </p:nvPicPr>
        <p:blipFill>
          <a:blip r:embed="rId2"/>
          <a:srcRect/>
          <a:stretch>
            <a:fillRect/>
          </a:stretch>
        </p:blipFill>
        <p:spPr>
          <a:xfrm>
            <a:off x="1557338" y="1600200"/>
            <a:ext cx="6029325" cy="4525963"/>
          </a:xfrm>
          <a:noFill/>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Forwards and Futures</a:t>
            </a:r>
            <a:endParaRPr lang="en-IN" dirty="0"/>
          </a:p>
        </p:txBody>
      </p:sp>
      <p:sp>
        <p:nvSpPr>
          <p:cNvPr id="3" name="Subtitle 2"/>
          <p:cNvSpPr>
            <a:spLocks noGrp="1"/>
          </p:cNvSpPr>
          <p:nvPr>
            <p:ph type="subTitle" idx="1"/>
          </p:nvPr>
        </p:nvSpPr>
        <p:spPr/>
        <p:txBody>
          <a:bodyPr/>
          <a:lstStyle/>
          <a:p>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2"/>
          <p:cNvSpPr>
            <a:spLocks noChangeArrowheads="1"/>
          </p:cNvSpPr>
          <p:nvPr/>
        </p:nvSpPr>
        <p:spPr bwMode="auto">
          <a:xfrm>
            <a:off x="685800" y="6248400"/>
            <a:ext cx="1905000" cy="457200"/>
          </a:xfrm>
          <a:prstGeom prst="rect">
            <a:avLst/>
          </a:prstGeom>
          <a:noFill/>
          <a:ln w="12700">
            <a:noFill/>
            <a:miter lim="800000"/>
            <a:headEnd/>
            <a:tailEnd/>
          </a:ln>
        </p:spPr>
        <p:txBody>
          <a:bodyPr wrap="none" anchor="ctr"/>
          <a:lstStyle/>
          <a:p>
            <a:endParaRPr lang="en-US"/>
          </a:p>
        </p:txBody>
      </p:sp>
      <p:sp>
        <p:nvSpPr>
          <p:cNvPr id="29700" name="Rectangle 3"/>
          <p:cNvSpPr>
            <a:spLocks noChangeArrowheads="1"/>
          </p:cNvSpPr>
          <p:nvPr/>
        </p:nvSpPr>
        <p:spPr bwMode="auto">
          <a:xfrm>
            <a:off x="3124200" y="6248400"/>
            <a:ext cx="2895600" cy="457200"/>
          </a:xfrm>
          <a:prstGeom prst="rect">
            <a:avLst/>
          </a:prstGeom>
          <a:noFill/>
          <a:ln w="12700">
            <a:noFill/>
            <a:miter lim="800000"/>
            <a:headEnd/>
            <a:tailEnd/>
          </a:ln>
        </p:spPr>
        <p:txBody>
          <a:bodyPr wrap="none" anchor="ctr"/>
          <a:lstStyle/>
          <a:p>
            <a:endParaRPr lang="en-US"/>
          </a:p>
        </p:txBody>
      </p:sp>
      <p:sp>
        <p:nvSpPr>
          <p:cNvPr id="29701" name="Rectangle 4"/>
          <p:cNvSpPr>
            <a:spLocks noGrp="1" noChangeArrowheads="1"/>
          </p:cNvSpPr>
          <p:nvPr>
            <p:ph type="title"/>
          </p:nvPr>
        </p:nvSpPr>
        <p:spPr>
          <a:noFill/>
        </p:spPr>
        <p:txBody>
          <a:bodyPr lIns="90488" tIns="44450" rIns="90488" bIns="44450" anchor="ctr"/>
          <a:lstStyle/>
          <a:p>
            <a:pPr eaLnBrk="1" hangingPunct="1"/>
            <a:r>
              <a:rPr lang="en-US"/>
              <a:t>Forward Contracts</a:t>
            </a:r>
          </a:p>
        </p:txBody>
      </p:sp>
      <p:sp>
        <p:nvSpPr>
          <p:cNvPr id="29702" name="Rectangle 5"/>
          <p:cNvSpPr>
            <a:spLocks noGrp="1" noChangeArrowheads="1"/>
          </p:cNvSpPr>
          <p:nvPr>
            <p:ph type="body" idx="1"/>
          </p:nvPr>
        </p:nvSpPr>
        <p:spPr>
          <a:xfrm>
            <a:off x="838200" y="1684338"/>
            <a:ext cx="6770688" cy="4114800"/>
          </a:xfrm>
          <a:noFill/>
        </p:spPr>
        <p:txBody>
          <a:bodyPr lIns="90488" tIns="44450" rIns="90488" bIns="44450"/>
          <a:lstStyle/>
          <a:p>
            <a:pPr eaLnBrk="1" hangingPunct="1"/>
            <a:r>
              <a:rPr lang="en-US" sz="2800"/>
              <a:t>A forward contract is an OTC agreement to buy or sell an asset at a certain time in the future for a certain price</a:t>
            </a:r>
          </a:p>
          <a:p>
            <a:pPr eaLnBrk="1" hangingPunct="1"/>
            <a:r>
              <a:rPr lang="en-US" sz="2800"/>
              <a:t>There is no daily settlement (but collateral may have to be posted)</a:t>
            </a:r>
            <a:r>
              <a:rPr lang="en-US" sz="2800" i="1"/>
              <a:t>. </a:t>
            </a:r>
            <a:r>
              <a:rPr lang="en-US" sz="2800"/>
              <a:t>At the end of the life of the contract one party buys the asset for the agreed price from the other party</a:t>
            </a:r>
          </a:p>
          <a:p>
            <a:pPr eaLnBrk="1" hangingPunct="1"/>
            <a:endParaRPr lang="en-US" sz="2800"/>
          </a:p>
          <a:p>
            <a:pPr eaLnBrk="1" hangingPunct="1"/>
            <a:endParaRPr lang="en-US" sz="2800"/>
          </a:p>
        </p:txBody>
      </p:sp>
      <p:sp>
        <p:nvSpPr>
          <p:cNvPr id="29703" name="Slide Number Placeholder 7"/>
          <p:cNvSpPr>
            <a:spLocks noGrp="1"/>
          </p:cNvSpPr>
          <p:nvPr>
            <p:ph type="sldNum" sz="quarter" idx="12"/>
          </p:nvPr>
        </p:nvSpPr>
        <p:spPr>
          <a:noFill/>
        </p:spPr>
        <p:txBody>
          <a:bodyPr/>
          <a:lstStyle/>
          <a:p>
            <a:fld id="{D19D8D9B-C9A4-48EE-84F2-4FED0CABB776}" type="slidenum">
              <a:rPr lang="en-US" altLang="en-US" smtClean="0"/>
              <a:pPr/>
              <a:t>8</a:t>
            </a:fld>
            <a:endParaRPr lang="en-US" altLang="en-US"/>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ooter Placeholder 4"/>
          <p:cNvSpPr>
            <a:spLocks noGrp="1"/>
          </p:cNvSpPr>
          <p:nvPr>
            <p:ph type="ftr" sz="quarter" idx="11"/>
          </p:nvPr>
        </p:nvSpPr>
        <p:spPr>
          <a:noFill/>
        </p:spPr>
        <p:txBody>
          <a:bodyPr/>
          <a:lstStyle/>
          <a:p>
            <a:endParaRPr lang="en-US" altLang="en-US" i="0" dirty="0"/>
          </a:p>
        </p:txBody>
      </p:sp>
      <p:sp>
        <p:nvSpPr>
          <p:cNvPr id="14339" name="Rectangle 2"/>
          <p:cNvSpPr>
            <a:spLocks noChangeArrowheads="1"/>
          </p:cNvSpPr>
          <p:nvPr/>
        </p:nvSpPr>
        <p:spPr bwMode="auto">
          <a:xfrm>
            <a:off x="685800" y="6248400"/>
            <a:ext cx="1905000" cy="457200"/>
          </a:xfrm>
          <a:prstGeom prst="rect">
            <a:avLst/>
          </a:prstGeom>
          <a:noFill/>
          <a:ln w="12700">
            <a:noFill/>
            <a:miter lim="800000"/>
            <a:headEnd/>
            <a:tailEnd/>
          </a:ln>
        </p:spPr>
        <p:txBody>
          <a:bodyPr wrap="none" anchor="ctr"/>
          <a:lstStyle/>
          <a:p>
            <a:endParaRPr lang="en-US"/>
          </a:p>
        </p:txBody>
      </p:sp>
      <p:sp>
        <p:nvSpPr>
          <p:cNvPr id="14340" name="Rectangle 3"/>
          <p:cNvSpPr>
            <a:spLocks noChangeArrowheads="1"/>
          </p:cNvSpPr>
          <p:nvPr/>
        </p:nvSpPr>
        <p:spPr bwMode="auto">
          <a:xfrm>
            <a:off x="3124200" y="6248400"/>
            <a:ext cx="2895600" cy="457200"/>
          </a:xfrm>
          <a:prstGeom prst="rect">
            <a:avLst/>
          </a:prstGeom>
          <a:noFill/>
          <a:ln w="12700">
            <a:noFill/>
            <a:miter lim="800000"/>
            <a:headEnd/>
            <a:tailEnd/>
          </a:ln>
        </p:spPr>
        <p:txBody>
          <a:bodyPr wrap="none" anchor="ctr"/>
          <a:lstStyle/>
          <a:p>
            <a:endParaRPr lang="en-US"/>
          </a:p>
        </p:txBody>
      </p:sp>
      <p:sp>
        <p:nvSpPr>
          <p:cNvPr id="14341" name="Rectangle 4"/>
          <p:cNvSpPr>
            <a:spLocks noGrp="1" noChangeArrowheads="1"/>
          </p:cNvSpPr>
          <p:nvPr>
            <p:ph type="title"/>
          </p:nvPr>
        </p:nvSpPr>
        <p:spPr>
          <a:noFill/>
        </p:spPr>
        <p:txBody>
          <a:bodyPr lIns="90488" tIns="44450" rIns="90488" bIns="44450" anchor="ctr"/>
          <a:lstStyle/>
          <a:p>
            <a:pPr eaLnBrk="1" hangingPunct="1"/>
            <a:r>
              <a:rPr lang="en-US"/>
              <a:t>Futures Contracts</a:t>
            </a:r>
          </a:p>
        </p:txBody>
      </p:sp>
      <p:sp>
        <p:nvSpPr>
          <p:cNvPr id="14342" name="Rectangle 5"/>
          <p:cNvSpPr>
            <a:spLocks noGrp="1" noChangeArrowheads="1"/>
          </p:cNvSpPr>
          <p:nvPr>
            <p:ph type="body" idx="1"/>
          </p:nvPr>
        </p:nvSpPr>
        <p:spPr>
          <a:xfrm>
            <a:off x="685800" y="1628775"/>
            <a:ext cx="8458200" cy="4467225"/>
          </a:xfrm>
          <a:noFill/>
        </p:spPr>
        <p:txBody>
          <a:bodyPr lIns="90488" tIns="44450" rIns="90488" bIns="44450"/>
          <a:lstStyle/>
          <a:p>
            <a:pPr eaLnBrk="1" hangingPunct="1"/>
            <a:r>
              <a:rPr lang="en-US" dirty="0"/>
              <a:t>Available on a wide range of underlying</a:t>
            </a:r>
          </a:p>
          <a:p>
            <a:pPr eaLnBrk="1" hangingPunct="1"/>
            <a:r>
              <a:rPr lang="en-US" dirty="0"/>
              <a:t>Exchange traded</a:t>
            </a:r>
          </a:p>
          <a:p>
            <a:pPr eaLnBrk="1" hangingPunct="1"/>
            <a:r>
              <a:rPr lang="en-US" dirty="0"/>
              <a:t>Specifications need to be defined:</a:t>
            </a:r>
          </a:p>
          <a:p>
            <a:pPr lvl="1" eaLnBrk="1" hangingPunct="1"/>
            <a:r>
              <a:rPr lang="en-US" dirty="0"/>
              <a:t>What can be delivered,</a:t>
            </a:r>
          </a:p>
          <a:p>
            <a:pPr lvl="1" eaLnBrk="1" hangingPunct="1"/>
            <a:r>
              <a:rPr lang="en-US" dirty="0"/>
              <a:t>Where it can be delivered, &amp; </a:t>
            </a:r>
          </a:p>
          <a:p>
            <a:pPr lvl="1" eaLnBrk="1" hangingPunct="1"/>
            <a:r>
              <a:rPr lang="en-US" dirty="0"/>
              <a:t>When it can be delivered</a:t>
            </a:r>
          </a:p>
          <a:p>
            <a:pPr eaLnBrk="1" hangingPunct="1"/>
            <a:r>
              <a:rPr lang="en-US" dirty="0"/>
              <a:t>Settled daily</a:t>
            </a:r>
          </a:p>
        </p:txBody>
      </p:sp>
      <p:sp>
        <p:nvSpPr>
          <p:cNvPr id="14343" name="Slide Number Placeholder 7"/>
          <p:cNvSpPr>
            <a:spLocks noGrp="1"/>
          </p:cNvSpPr>
          <p:nvPr>
            <p:ph type="sldNum" sz="quarter" idx="12"/>
          </p:nvPr>
        </p:nvSpPr>
        <p:spPr>
          <a:noFill/>
        </p:spPr>
        <p:txBody>
          <a:bodyPr/>
          <a:lstStyle/>
          <a:p>
            <a:fld id="{0C654993-933F-41C0-ACD1-AA43E1CE7F72}" type="slidenum">
              <a:rPr lang="en-US" altLang="en-US" smtClean="0"/>
              <a:pPr/>
              <a:t>9</a:t>
            </a:fld>
            <a:endParaRPr lang="en-US" altLang="en-US"/>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normAutofit fontScale="90000"/>
          </a:bodyPr>
          <a:lstStyle/>
          <a:p>
            <a:r>
              <a:rPr lang="en-US" dirty="0"/>
              <a:t>Forward Contracts </a:t>
            </a:r>
            <a:r>
              <a:rPr lang="en-US" dirty="0" err="1"/>
              <a:t>vs</a:t>
            </a:r>
            <a:r>
              <a:rPr lang="en-US" dirty="0"/>
              <a:t> Futures Contracts</a:t>
            </a:r>
            <a:endParaRPr lang="en-US" sz="2400" dirty="0"/>
          </a:p>
        </p:txBody>
      </p:sp>
      <p:graphicFrame>
        <p:nvGraphicFramePr>
          <p:cNvPr id="6" name="Content Placeholder 5"/>
          <p:cNvGraphicFramePr>
            <a:graphicFrameLocks noGrp="1"/>
          </p:cNvGraphicFramePr>
          <p:nvPr>
            <p:ph idx="1"/>
          </p:nvPr>
        </p:nvGraphicFramePr>
        <p:xfrm>
          <a:off x="571500" y="2071688"/>
          <a:ext cx="8229600" cy="2600655"/>
        </p:xfrm>
        <a:graphic>
          <a:graphicData uri="http://schemas.openxmlformats.org/drawingml/2006/table">
            <a:tbl>
              <a:tblPr firstRow="1" bandRow="1">
                <a:tableStyleId>{5940675A-B579-460E-94D1-54222C63F5DA}</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375615">
                <a:tc>
                  <a:txBody>
                    <a:bodyPr/>
                    <a:lstStyle/>
                    <a:p>
                      <a:r>
                        <a:rPr lang="en-US" b="1" i="1" dirty="0"/>
                        <a:t>Forward- OTC</a:t>
                      </a:r>
                    </a:p>
                  </a:txBody>
                  <a:tcPr/>
                </a:tc>
                <a:tc>
                  <a:txBody>
                    <a:bodyPr/>
                    <a:lstStyle/>
                    <a:p>
                      <a:r>
                        <a:rPr lang="en-US" b="1" i="1" dirty="0"/>
                        <a:t>Futures_ Exchange Traded</a:t>
                      </a:r>
                    </a:p>
                  </a:txBody>
                  <a:tcPr/>
                </a:tc>
                <a:extLst>
                  <a:ext uri="{0D108BD9-81ED-4DB2-BD59-A6C34878D82A}">
                    <a16:rowId xmlns:a16="http://schemas.microsoft.com/office/drawing/2014/main" val="10000"/>
                  </a:ext>
                </a:extLst>
              </a:tr>
              <a:tr h="370840">
                <a:tc>
                  <a:txBody>
                    <a:bodyPr/>
                    <a:lstStyle/>
                    <a:p>
                      <a:r>
                        <a:rPr lang="en-US" dirty="0"/>
                        <a:t>Private contract between two parties</a:t>
                      </a:r>
                    </a:p>
                  </a:txBody>
                  <a:tcPr/>
                </a:tc>
                <a:tc>
                  <a:txBody>
                    <a:bodyPr/>
                    <a:lstStyle/>
                    <a:p>
                      <a:r>
                        <a:rPr lang="en-US" dirty="0"/>
                        <a:t>Traded on an exchange</a:t>
                      </a:r>
                    </a:p>
                  </a:txBody>
                  <a:tcPr/>
                </a:tc>
                <a:extLst>
                  <a:ext uri="{0D108BD9-81ED-4DB2-BD59-A6C34878D82A}">
                    <a16:rowId xmlns:a16="http://schemas.microsoft.com/office/drawing/2014/main" val="10001"/>
                  </a:ext>
                </a:extLst>
              </a:tr>
              <a:tr h="370840">
                <a:tc>
                  <a:txBody>
                    <a:bodyPr/>
                    <a:lstStyle/>
                    <a:p>
                      <a:r>
                        <a:rPr lang="en-US" dirty="0"/>
                        <a:t>Not standardized</a:t>
                      </a:r>
                    </a:p>
                  </a:txBody>
                  <a:tcPr/>
                </a:tc>
                <a:tc>
                  <a:txBody>
                    <a:bodyPr/>
                    <a:lstStyle/>
                    <a:p>
                      <a:r>
                        <a:rPr lang="en-US" dirty="0"/>
                        <a:t>Standardized</a:t>
                      </a:r>
                    </a:p>
                  </a:txBody>
                  <a:tcPr/>
                </a:tc>
                <a:extLst>
                  <a:ext uri="{0D108BD9-81ED-4DB2-BD59-A6C34878D82A}">
                    <a16:rowId xmlns:a16="http://schemas.microsoft.com/office/drawing/2014/main" val="10002"/>
                  </a:ext>
                </a:extLst>
              </a:tr>
              <a:tr h="370840">
                <a:tc>
                  <a:txBody>
                    <a:bodyPr/>
                    <a:lstStyle/>
                    <a:p>
                      <a:r>
                        <a:rPr lang="en-US" dirty="0"/>
                        <a:t>Usually one specified delivery date</a:t>
                      </a:r>
                    </a:p>
                  </a:txBody>
                  <a:tcPr/>
                </a:tc>
                <a:tc>
                  <a:txBody>
                    <a:bodyPr/>
                    <a:lstStyle/>
                    <a:p>
                      <a:r>
                        <a:rPr lang="en-US" dirty="0"/>
                        <a:t>Range of delivery dates</a:t>
                      </a:r>
                    </a:p>
                  </a:txBody>
                  <a:tcPr/>
                </a:tc>
                <a:extLst>
                  <a:ext uri="{0D108BD9-81ED-4DB2-BD59-A6C34878D82A}">
                    <a16:rowId xmlns:a16="http://schemas.microsoft.com/office/drawing/2014/main" val="10003"/>
                  </a:ext>
                </a:extLst>
              </a:tr>
              <a:tr h="370840">
                <a:tc>
                  <a:txBody>
                    <a:bodyPr/>
                    <a:lstStyle/>
                    <a:p>
                      <a:r>
                        <a:rPr lang="en-US" dirty="0"/>
                        <a:t>Settled at end of contract</a:t>
                      </a:r>
                    </a:p>
                  </a:txBody>
                  <a:tcPr/>
                </a:tc>
                <a:tc>
                  <a:txBody>
                    <a:bodyPr/>
                    <a:lstStyle/>
                    <a:p>
                      <a:r>
                        <a:rPr lang="en-US" dirty="0"/>
                        <a:t>Settled daily</a:t>
                      </a:r>
                    </a:p>
                  </a:txBody>
                  <a:tcPr/>
                </a:tc>
                <a:extLst>
                  <a:ext uri="{0D108BD9-81ED-4DB2-BD59-A6C34878D82A}">
                    <a16:rowId xmlns:a16="http://schemas.microsoft.com/office/drawing/2014/main" val="10004"/>
                  </a:ext>
                </a:extLst>
              </a:tr>
              <a:tr h="370840">
                <a:tc>
                  <a:txBody>
                    <a:bodyPr/>
                    <a:lstStyle/>
                    <a:p>
                      <a:r>
                        <a:rPr lang="en-US" dirty="0"/>
                        <a:t>Delivery or final settlement usual</a:t>
                      </a:r>
                    </a:p>
                  </a:txBody>
                  <a:tcPr/>
                </a:tc>
                <a:tc>
                  <a:txBody>
                    <a:bodyPr/>
                    <a:lstStyle/>
                    <a:p>
                      <a:r>
                        <a:rPr lang="en-US" dirty="0"/>
                        <a:t>Usually closed out prior to maturity</a:t>
                      </a:r>
                    </a:p>
                  </a:txBody>
                  <a:tcPr/>
                </a:tc>
                <a:extLst>
                  <a:ext uri="{0D108BD9-81ED-4DB2-BD59-A6C34878D82A}">
                    <a16:rowId xmlns:a16="http://schemas.microsoft.com/office/drawing/2014/main" val="10005"/>
                  </a:ext>
                </a:extLst>
              </a:tr>
              <a:tr h="370840">
                <a:tc>
                  <a:txBody>
                    <a:bodyPr/>
                    <a:lstStyle/>
                    <a:p>
                      <a:r>
                        <a:rPr lang="en-US" dirty="0"/>
                        <a:t>Some credit risk</a:t>
                      </a:r>
                    </a:p>
                  </a:txBody>
                  <a:tcPr/>
                </a:tc>
                <a:tc>
                  <a:txBody>
                    <a:bodyPr/>
                    <a:lstStyle/>
                    <a:p>
                      <a:r>
                        <a:rPr lang="en-US" dirty="0"/>
                        <a:t>Virtually no credit risk</a:t>
                      </a:r>
                    </a:p>
                  </a:txBody>
                  <a:tcPr/>
                </a:tc>
                <a:extLst>
                  <a:ext uri="{0D108BD9-81ED-4DB2-BD59-A6C34878D82A}">
                    <a16:rowId xmlns:a16="http://schemas.microsoft.com/office/drawing/2014/main" val="10006"/>
                  </a:ext>
                </a:extLst>
              </a:tr>
            </a:tbl>
          </a:graphicData>
        </a:graphic>
      </p:graphicFrame>
      <p:sp>
        <p:nvSpPr>
          <p:cNvPr id="32798" name="Slide Number Placeholder 6"/>
          <p:cNvSpPr>
            <a:spLocks noGrp="1"/>
          </p:cNvSpPr>
          <p:nvPr>
            <p:ph type="sldNum" sz="quarter" idx="12"/>
          </p:nvPr>
        </p:nvSpPr>
        <p:spPr>
          <a:noFill/>
        </p:spPr>
        <p:txBody>
          <a:bodyPr/>
          <a:lstStyle/>
          <a:p>
            <a:fld id="{EDE209C7-5E28-4D6A-B23B-279E622DCBBD}" type="slidenum">
              <a:rPr lang="en-US" altLang="en-US" smtClean="0"/>
              <a:pPr/>
              <a:t>10</a:t>
            </a:fld>
            <a:endParaRPr lang="en-US"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India </a:t>
            </a:r>
            <a:endParaRPr lang="en-IN" dirty="0"/>
          </a:p>
        </p:txBody>
      </p:sp>
      <p:sp>
        <p:nvSpPr>
          <p:cNvPr id="3" name="Content Placeholder 2"/>
          <p:cNvSpPr>
            <a:spLocks noGrp="1"/>
          </p:cNvSpPr>
          <p:nvPr>
            <p:ph idx="1"/>
          </p:nvPr>
        </p:nvSpPr>
        <p:spPr/>
        <p:txBody>
          <a:bodyPr/>
          <a:lstStyle/>
          <a:p>
            <a:r>
              <a:rPr lang="en-US" dirty="0"/>
              <a:t>Equity Index futures</a:t>
            </a:r>
          </a:p>
          <a:p>
            <a:r>
              <a:rPr lang="en-US" dirty="0"/>
              <a:t>Single stock futures </a:t>
            </a:r>
          </a:p>
          <a:p>
            <a:r>
              <a:rPr lang="en-US" dirty="0"/>
              <a:t>Interest rate futures</a:t>
            </a:r>
          </a:p>
          <a:p>
            <a:r>
              <a:rPr lang="en-US" dirty="0"/>
              <a:t>Commodity futures</a:t>
            </a:r>
          </a:p>
          <a:p>
            <a:r>
              <a:rPr lang="en-US" dirty="0"/>
              <a:t>Currency futures</a:t>
            </a:r>
            <a:endParaRPr lang="en-IN"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2"/>
          <p:cNvSpPr>
            <a:spLocks noChangeArrowheads="1"/>
          </p:cNvSpPr>
          <p:nvPr/>
        </p:nvSpPr>
        <p:spPr bwMode="auto">
          <a:xfrm>
            <a:off x="685800" y="6248400"/>
            <a:ext cx="1905000" cy="457200"/>
          </a:xfrm>
          <a:prstGeom prst="rect">
            <a:avLst/>
          </a:prstGeom>
          <a:noFill/>
          <a:ln w="12700">
            <a:noFill/>
            <a:miter lim="800000"/>
            <a:headEnd/>
            <a:tailEnd/>
          </a:ln>
        </p:spPr>
        <p:txBody>
          <a:bodyPr wrap="none" anchor="ctr"/>
          <a:lstStyle/>
          <a:p>
            <a:endParaRPr lang="en-US"/>
          </a:p>
        </p:txBody>
      </p:sp>
      <p:sp>
        <p:nvSpPr>
          <p:cNvPr id="30724" name="Rectangle 3"/>
          <p:cNvSpPr>
            <a:spLocks noChangeArrowheads="1"/>
          </p:cNvSpPr>
          <p:nvPr/>
        </p:nvSpPr>
        <p:spPr bwMode="auto">
          <a:xfrm>
            <a:off x="3124200" y="6248400"/>
            <a:ext cx="2895600" cy="457200"/>
          </a:xfrm>
          <a:prstGeom prst="rect">
            <a:avLst/>
          </a:prstGeom>
          <a:noFill/>
          <a:ln w="12700">
            <a:noFill/>
            <a:miter lim="800000"/>
            <a:headEnd/>
            <a:tailEnd/>
          </a:ln>
        </p:spPr>
        <p:txBody>
          <a:bodyPr wrap="none" anchor="ctr"/>
          <a:lstStyle/>
          <a:p>
            <a:endParaRPr lang="en-US"/>
          </a:p>
        </p:txBody>
      </p:sp>
      <p:sp>
        <p:nvSpPr>
          <p:cNvPr id="30725" name="Rectangle 4"/>
          <p:cNvSpPr>
            <a:spLocks noGrp="1" noChangeArrowheads="1"/>
          </p:cNvSpPr>
          <p:nvPr>
            <p:ph type="title"/>
          </p:nvPr>
        </p:nvSpPr>
        <p:spPr>
          <a:xfrm>
            <a:off x="457200" y="122238"/>
            <a:ext cx="7542213" cy="1295400"/>
          </a:xfrm>
          <a:noFill/>
        </p:spPr>
        <p:txBody>
          <a:bodyPr lIns="90488" tIns="44450" rIns="90488" bIns="44450" anchor="ctr">
            <a:normAutofit fontScale="90000"/>
          </a:bodyPr>
          <a:lstStyle/>
          <a:p>
            <a:pPr eaLnBrk="1" hangingPunct="1"/>
            <a:r>
              <a:rPr lang="en-US"/>
              <a:t>Profit from a Long Forward or Futures Position</a:t>
            </a:r>
          </a:p>
        </p:txBody>
      </p:sp>
      <p:grpSp>
        <p:nvGrpSpPr>
          <p:cNvPr id="2" name="Group 5"/>
          <p:cNvGrpSpPr>
            <a:grpSpLocks/>
          </p:cNvGrpSpPr>
          <p:nvPr/>
        </p:nvGrpSpPr>
        <p:grpSpPr bwMode="auto">
          <a:xfrm>
            <a:off x="2187575" y="2112963"/>
            <a:ext cx="5600700" cy="3792537"/>
            <a:chOff x="1378" y="1331"/>
            <a:chExt cx="3528" cy="2389"/>
          </a:xfrm>
        </p:grpSpPr>
        <p:sp>
          <p:nvSpPr>
            <p:cNvPr id="30728" name="Line 6"/>
            <p:cNvSpPr>
              <a:spLocks noChangeShapeType="1"/>
            </p:cNvSpPr>
            <p:nvPr/>
          </p:nvSpPr>
          <p:spPr bwMode="auto">
            <a:xfrm>
              <a:off x="1378" y="1368"/>
              <a:ext cx="0" cy="2352"/>
            </a:xfrm>
            <a:prstGeom prst="line">
              <a:avLst/>
            </a:prstGeom>
            <a:noFill/>
            <a:ln w="12700">
              <a:solidFill>
                <a:schemeClr val="tx1"/>
              </a:solidFill>
              <a:round/>
              <a:headEnd type="triangle" w="med" len="med"/>
              <a:tailEnd/>
            </a:ln>
          </p:spPr>
          <p:txBody>
            <a:bodyPr/>
            <a:lstStyle/>
            <a:p>
              <a:endParaRPr lang="en-IN"/>
            </a:p>
          </p:txBody>
        </p:sp>
        <p:sp>
          <p:nvSpPr>
            <p:cNvPr id="30729" name="Line 7"/>
            <p:cNvSpPr>
              <a:spLocks noChangeShapeType="1"/>
            </p:cNvSpPr>
            <p:nvPr/>
          </p:nvSpPr>
          <p:spPr bwMode="auto">
            <a:xfrm>
              <a:off x="1378" y="2520"/>
              <a:ext cx="2400" cy="0"/>
            </a:xfrm>
            <a:prstGeom prst="line">
              <a:avLst/>
            </a:prstGeom>
            <a:noFill/>
            <a:ln w="12700">
              <a:solidFill>
                <a:schemeClr val="tx1"/>
              </a:solidFill>
              <a:round/>
              <a:headEnd/>
              <a:tailEnd type="triangle" w="med" len="med"/>
            </a:ln>
          </p:spPr>
          <p:txBody>
            <a:bodyPr/>
            <a:lstStyle/>
            <a:p>
              <a:endParaRPr lang="en-IN"/>
            </a:p>
          </p:txBody>
        </p:sp>
        <p:sp>
          <p:nvSpPr>
            <p:cNvPr id="30730" name="Line 8"/>
            <p:cNvSpPr>
              <a:spLocks noChangeShapeType="1"/>
            </p:cNvSpPr>
            <p:nvPr/>
          </p:nvSpPr>
          <p:spPr bwMode="auto">
            <a:xfrm flipV="1">
              <a:off x="1378" y="1440"/>
              <a:ext cx="2100" cy="2100"/>
            </a:xfrm>
            <a:prstGeom prst="line">
              <a:avLst/>
            </a:prstGeom>
            <a:noFill/>
            <a:ln w="50800">
              <a:solidFill>
                <a:schemeClr val="tx1"/>
              </a:solidFill>
              <a:round/>
              <a:headEnd/>
              <a:tailEnd/>
            </a:ln>
          </p:spPr>
          <p:txBody>
            <a:bodyPr/>
            <a:lstStyle/>
            <a:p>
              <a:endParaRPr lang="en-IN"/>
            </a:p>
          </p:txBody>
        </p:sp>
        <p:sp>
          <p:nvSpPr>
            <p:cNvPr id="30731" name="Rectangle 9"/>
            <p:cNvSpPr>
              <a:spLocks noChangeArrowheads="1"/>
            </p:cNvSpPr>
            <p:nvPr/>
          </p:nvSpPr>
          <p:spPr bwMode="auto">
            <a:xfrm>
              <a:off x="1397" y="1331"/>
              <a:ext cx="637" cy="325"/>
            </a:xfrm>
            <a:prstGeom prst="rect">
              <a:avLst/>
            </a:prstGeom>
            <a:noFill/>
            <a:ln w="12700">
              <a:noFill/>
              <a:miter lim="800000"/>
              <a:headEnd/>
              <a:tailEnd/>
            </a:ln>
          </p:spPr>
          <p:txBody>
            <a:bodyPr wrap="none" lIns="90488" tIns="44450" rIns="90488" bIns="44450">
              <a:spAutoFit/>
            </a:bodyPr>
            <a:lstStyle/>
            <a:p>
              <a:pPr eaLnBrk="0" hangingPunct="0"/>
              <a:r>
                <a:rPr lang="en-US" sz="2800"/>
                <a:t>Profit</a:t>
              </a:r>
            </a:p>
          </p:txBody>
        </p:sp>
        <p:sp>
          <p:nvSpPr>
            <p:cNvPr id="30732" name="Rectangle 10"/>
            <p:cNvSpPr>
              <a:spLocks noChangeArrowheads="1"/>
            </p:cNvSpPr>
            <p:nvPr/>
          </p:nvSpPr>
          <p:spPr bwMode="auto">
            <a:xfrm>
              <a:off x="2896" y="2230"/>
              <a:ext cx="2010" cy="632"/>
            </a:xfrm>
            <a:prstGeom prst="rect">
              <a:avLst/>
            </a:prstGeom>
            <a:noFill/>
            <a:ln w="12700">
              <a:noFill/>
              <a:miter lim="800000"/>
              <a:headEnd/>
              <a:tailEnd/>
            </a:ln>
          </p:spPr>
          <p:txBody>
            <a:bodyPr wrap="none" lIns="90488" tIns="44450" rIns="90488" bIns="44450">
              <a:spAutoFit/>
            </a:bodyPr>
            <a:lstStyle/>
            <a:p>
              <a:pPr eaLnBrk="0" hangingPunct="0"/>
              <a:r>
                <a:rPr lang="en-US" sz="2800"/>
                <a:t>Price of Underlying</a:t>
              </a:r>
              <a:endParaRPr lang="en-US" sz="3200"/>
            </a:p>
            <a:p>
              <a:pPr eaLnBrk="0" hangingPunct="0"/>
              <a:r>
                <a:rPr lang="en-US" sz="3200"/>
                <a:t>      </a:t>
              </a:r>
              <a:r>
                <a:rPr lang="en-US" sz="2800"/>
                <a:t>at Maturity</a:t>
              </a:r>
            </a:p>
          </p:txBody>
        </p:sp>
      </p:grpSp>
      <p:sp>
        <p:nvSpPr>
          <p:cNvPr id="30727" name="Slide Number Placeholder 12"/>
          <p:cNvSpPr>
            <a:spLocks noGrp="1"/>
          </p:cNvSpPr>
          <p:nvPr>
            <p:ph type="sldNum" sz="quarter" idx="12"/>
          </p:nvPr>
        </p:nvSpPr>
        <p:spPr>
          <a:noFill/>
        </p:spPr>
        <p:txBody>
          <a:bodyPr/>
          <a:lstStyle/>
          <a:p>
            <a:fld id="{B5FB87D0-BBAD-4048-AAED-E5FEE7A3CA29}" type="slidenum">
              <a:rPr lang="en-US" altLang="en-US" smtClean="0"/>
              <a:pPr/>
              <a:t>12</a:t>
            </a:fld>
            <a:endParaRPr lang="en-US" altLang="en-US"/>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2"/>
          <p:cNvSpPr>
            <a:spLocks noChangeArrowheads="1"/>
          </p:cNvSpPr>
          <p:nvPr/>
        </p:nvSpPr>
        <p:spPr bwMode="auto">
          <a:xfrm>
            <a:off x="685800" y="6248400"/>
            <a:ext cx="1905000" cy="457200"/>
          </a:xfrm>
          <a:prstGeom prst="rect">
            <a:avLst/>
          </a:prstGeom>
          <a:noFill/>
          <a:ln w="12700">
            <a:noFill/>
            <a:miter lim="800000"/>
            <a:headEnd/>
            <a:tailEnd/>
          </a:ln>
        </p:spPr>
        <p:txBody>
          <a:bodyPr wrap="none" anchor="ctr"/>
          <a:lstStyle/>
          <a:p>
            <a:endParaRPr lang="en-US"/>
          </a:p>
        </p:txBody>
      </p:sp>
      <p:sp>
        <p:nvSpPr>
          <p:cNvPr id="31748" name="Rectangle 3"/>
          <p:cNvSpPr>
            <a:spLocks noChangeArrowheads="1"/>
          </p:cNvSpPr>
          <p:nvPr/>
        </p:nvSpPr>
        <p:spPr bwMode="auto">
          <a:xfrm>
            <a:off x="3124200" y="6248400"/>
            <a:ext cx="2895600" cy="457200"/>
          </a:xfrm>
          <a:prstGeom prst="rect">
            <a:avLst/>
          </a:prstGeom>
          <a:noFill/>
          <a:ln w="12700">
            <a:noFill/>
            <a:miter lim="800000"/>
            <a:headEnd/>
            <a:tailEnd/>
          </a:ln>
        </p:spPr>
        <p:txBody>
          <a:bodyPr wrap="none" anchor="ctr"/>
          <a:lstStyle/>
          <a:p>
            <a:endParaRPr lang="en-US"/>
          </a:p>
        </p:txBody>
      </p:sp>
      <p:sp>
        <p:nvSpPr>
          <p:cNvPr id="31749" name="Rectangle 4"/>
          <p:cNvSpPr>
            <a:spLocks noGrp="1" noChangeArrowheads="1"/>
          </p:cNvSpPr>
          <p:nvPr>
            <p:ph type="title"/>
          </p:nvPr>
        </p:nvSpPr>
        <p:spPr>
          <a:noFill/>
        </p:spPr>
        <p:txBody>
          <a:bodyPr lIns="90488" tIns="44450" rIns="90488" bIns="44450" anchor="ctr">
            <a:normAutofit fontScale="90000"/>
          </a:bodyPr>
          <a:lstStyle/>
          <a:p>
            <a:pPr eaLnBrk="1" hangingPunct="1"/>
            <a:r>
              <a:rPr lang="en-US"/>
              <a:t>Profit from a Short Forward or Futures Position</a:t>
            </a:r>
          </a:p>
        </p:txBody>
      </p:sp>
      <p:grpSp>
        <p:nvGrpSpPr>
          <p:cNvPr id="2" name="Group 5"/>
          <p:cNvGrpSpPr>
            <a:grpSpLocks/>
          </p:cNvGrpSpPr>
          <p:nvPr/>
        </p:nvGrpSpPr>
        <p:grpSpPr bwMode="auto">
          <a:xfrm>
            <a:off x="2187575" y="2112963"/>
            <a:ext cx="5600700" cy="3792537"/>
            <a:chOff x="1378" y="1331"/>
            <a:chExt cx="3528" cy="2389"/>
          </a:xfrm>
        </p:grpSpPr>
        <p:sp>
          <p:nvSpPr>
            <p:cNvPr id="31752" name="Line 6"/>
            <p:cNvSpPr>
              <a:spLocks noChangeShapeType="1"/>
            </p:cNvSpPr>
            <p:nvPr/>
          </p:nvSpPr>
          <p:spPr bwMode="auto">
            <a:xfrm>
              <a:off x="1378" y="1368"/>
              <a:ext cx="0" cy="2352"/>
            </a:xfrm>
            <a:prstGeom prst="line">
              <a:avLst/>
            </a:prstGeom>
            <a:noFill/>
            <a:ln w="12700">
              <a:solidFill>
                <a:schemeClr val="tx1"/>
              </a:solidFill>
              <a:round/>
              <a:headEnd type="triangle" w="med" len="med"/>
              <a:tailEnd/>
            </a:ln>
          </p:spPr>
          <p:txBody>
            <a:bodyPr/>
            <a:lstStyle/>
            <a:p>
              <a:endParaRPr lang="en-IN"/>
            </a:p>
          </p:txBody>
        </p:sp>
        <p:sp>
          <p:nvSpPr>
            <p:cNvPr id="31753" name="Line 7"/>
            <p:cNvSpPr>
              <a:spLocks noChangeShapeType="1"/>
            </p:cNvSpPr>
            <p:nvPr/>
          </p:nvSpPr>
          <p:spPr bwMode="auto">
            <a:xfrm>
              <a:off x="1378" y="2520"/>
              <a:ext cx="2400" cy="0"/>
            </a:xfrm>
            <a:prstGeom prst="line">
              <a:avLst/>
            </a:prstGeom>
            <a:noFill/>
            <a:ln w="12700">
              <a:solidFill>
                <a:schemeClr val="tx1"/>
              </a:solidFill>
              <a:round/>
              <a:headEnd/>
              <a:tailEnd type="triangle" w="med" len="med"/>
            </a:ln>
          </p:spPr>
          <p:txBody>
            <a:bodyPr/>
            <a:lstStyle/>
            <a:p>
              <a:endParaRPr lang="en-IN"/>
            </a:p>
          </p:txBody>
        </p:sp>
        <p:sp>
          <p:nvSpPr>
            <p:cNvPr id="31754" name="Rectangle 8"/>
            <p:cNvSpPr>
              <a:spLocks noChangeArrowheads="1"/>
            </p:cNvSpPr>
            <p:nvPr/>
          </p:nvSpPr>
          <p:spPr bwMode="auto">
            <a:xfrm>
              <a:off x="1397" y="1331"/>
              <a:ext cx="637" cy="325"/>
            </a:xfrm>
            <a:prstGeom prst="rect">
              <a:avLst/>
            </a:prstGeom>
            <a:noFill/>
            <a:ln w="12700">
              <a:noFill/>
              <a:miter lim="800000"/>
              <a:headEnd/>
              <a:tailEnd/>
            </a:ln>
          </p:spPr>
          <p:txBody>
            <a:bodyPr wrap="none" lIns="90488" tIns="44450" rIns="90488" bIns="44450">
              <a:spAutoFit/>
            </a:bodyPr>
            <a:lstStyle/>
            <a:p>
              <a:pPr eaLnBrk="0" hangingPunct="0"/>
              <a:r>
                <a:rPr lang="en-US" sz="2800"/>
                <a:t>Profit</a:t>
              </a:r>
            </a:p>
          </p:txBody>
        </p:sp>
        <p:sp>
          <p:nvSpPr>
            <p:cNvPr id="31755" name="Rectangle 9"/>
            <p:cNvSpPr>
              <a:spLocks noChangeArrowheads="1"/>
            </p:cNvSpPr>
            <p:nvPr/>
          </p:nvSpPr>
          <p:spPr bwMode="auto">
            <a:xfrm>
              <a:off x="2896" y="2230"/>
              <a:ext cx="2010" cy="632"/>
            </a:xfrm>
            <a:prstGeom prst="rect">
              <a:avLst/>
            </a:prstGeom>
            <a:noFill/>
            <a:ln w="12700">
              <a:noFill/>
              <a:miter lim="800000"/>
              <a:headEnd/>
              <a:tailEnd/>
            </a:ln>
          </p:spPr>
          <p:txBody>
            <a:bodyPr wrap="none" lIns="90488" tIns="44450" rIns="90488" bIns="44450">
              <a:spAutoFit/>
            </a:bodyPr>
            <a:lstStyle/>
            <a:p>
              <a:pPr eaLnBrk="0" hangingPunct="0"/>
              <a:r>
                <a:rPr lang="en-US" sz="2800"/>
                <a:t>Price of Underlying</a:t>
              </a:r>
              <a:endParaRPr lang="en-US" sz="3200"/>
            </a:p>
            <a:p>
              <a:pPr eaLnBrk="0" hangingPunct="0"/>
              <a:r>
                <a:rPr lang="en-US" sz="3200"/>
                <a:t>      </a:t>
              </a:r>
              <a:r>
                <a:rPr lang="en-US" sz="2800"/>
                <a:t>at Maturity</a:t>
              </a:r>
            </a:p>
          </p:txBody>
        </p:sp>
        <p:sp>
          <p:nvSpPr>
            <p:cNvPr id="31756" name="Line 10"/>
            <p:cNvSpPr>
              <a:spLocks noChangeShapeType="1"/>
            </p:cNvSpPr>
            <p:nvPr/>
          </p:nvSpPr>
          <p:spPr bwMode="auto">
            <a:xfrm>
              <a:off x="1378" y="1530"/>
              <a:ext cx="2070" cy="2070"/>
            </a:xfrm>
            <a:prstGeom prst="line">
              <a:avLst/>
            </a:prstGeom>
            <a:noFill/>
            <a:ln w="50800">
              <a:solidFill>
                <a:schemeClr val="tx1"/>
              </a:solidFill>
              <a:round/>
              <a:headEnd/>
              <a:tailEnd/>
            </a:ln>
          </p:spPr>
          <p:txBody>
            <a:bodyPr/>
            <a:lstStyle/>
            <a:p>
              <a:endParaRPr lang="en-IN"/>
            </a:p>
          </p:txBody>
        </p:sp>
      </p:grpSp>
      <p:sp>
        <p:nvSpPr>
          <p:cNvPr id="31751" name="Slide Number Placeholder 12"/>
          <p:cNvSpPr>
            <a:spLocks noGrp="1"/>
          </p:cNvSpPr>
          <p:nvPr>
            <p:ph type="sldNum" sz="quarter" idx="12"/>
          </p:nvPr>
        </p:nvSpPr>
        <p:spPr>
          <a:noFill/>
        </p:spPr>
        <p:txBody>
          <a:bodyPr/>
          <a:lstStyle/>
          <a:p>
            <a:fld id="{6BE5B1BE-EC19-43AA-AE8F-479BB6E368C4}" type="slidenum">
              <a:rPr lang="en-US" altLang="en-US" smtClean="0"/>
              <a:pPr/>
              <a:t>13</a:t>
            </a:fld>
            <a:endParaRPr lang="en-US" altLang="en-US"/>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p:txBody>
          <a:bodyPr/>
          <a:lstStyle/>
          <a:p>
            <a:pPr eaLnBrk="1" hangingPunct="1"/>
            <a:r>
              <a:rPr lang="en-US"/>
              <a:t>Margins</a:t>
            </a:r>
          </a:p>
        </p:txBody>
      </p:sp>
      <p:sp>
        <p:nvSpPr>
          <p:cNvPr id="15364" name="Rectangle 3"/>
          <p:cNvSpPr>
            <a:spLocks noGrp="1" noChangeArrowheads="1"/>
          </p:cNvSpPr>
          <p:nvPr>
            <p:ph type="body" idx="1"/>
          </p:nvPr>
        </p:nvSpPr>
        <p:spPr/>
        <p:txBody>
          <a:bodyPr/>
          <a:lstStyle/>
          <a:p>
            <a:pPr eaLnBrk="1" hangingPunct="1"/>
            <a:r>
              <a:rPr lang="en-US"/>
              <a:t>A margin is cash or marketable securities deposited by an investor with his or her broker</a:t>
            </a:r>
          </a:p>
          <a:p>
            <a:pPr eaLnBrk="1" hangingPunct="1"/>
            <a:r>
              <a:rPr lang="en-US"/>
              <a:t>The balance in the margin account is adjusted to reflect daily settlement</a:t>
            </a:r>
          </a:p>
          <a:p>
            <a:pPr eaLnBrk="1" hangingPunct="1"/>
            <a:r>
              <a:rPr lang="en-US"/>
              <a:t>Margins minimize the possibility of a loss through a default on a contract</a:t>
            </a:r>
          </a:p>
        </p:txBody>
      </p:sp>
      <p:sp>
        <p:nvSpPr>
          <p:cNvPr id="15365" name="Slide Number Placeholder 5"/>
          <p:cNvSpPr>
            <a:spLocks noGrp="1"/>
          </p:cNvSpPr>
          <p:nvPr>
            <p:ph type="sldNum" sz="quarter" idx="12"/>
          </p:nvPr>
        </p:nvSpPr>
        <p:spPr>
          <a:noFill/>
        </p:spPr>
        <p:txBody>
          <a:bodyPr/>
          <a:lstStyle/>
          <a:p>
            <a:fld id="{82804CBD-7B4E-4015-8DCF-A4AE2A2CDFE0}" type="slidenum">
              <a:rPr lang="en-US" altLang="en-US" smtClean="0"/>
              <a:pPr/>
              <a:t>14</a:t>
            </a:fld>
            <a:endParaRPr lang="en-US"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ChangeArrowheads="1"/>
          </p:cNvSpPr>
          <p:nvPr/>
        </p:nvSpPr>
        <p:spPr bwMode="auto">
          <a:xfrm>
            <a:off x="685800" y="6248400"/>
            <a:ext cx="1905000" cy="457200"/>
          </a:xfrm>
          <a:prstGeom prst="rect">
            <a:avLst/>
          </a:prstGeom>
          <a:noFill/>
          <a:ln w="12700">
            <a:noFill/>
            <a:miter lim="800000"/>
            <a:headEnd/>
            <a:tailEnd/>
          </a:ln>
        </p:spPr>
        <p:txBody>
          <a:bodyPr wrap="none" anchor="ctr"/>
          <a:lstStyle/>
          <a:p>
            <a:endParaRPr lang="en-US"/>
          </a:p>
        </p:txBody>
      </p:sp>
      <p:sp>
        <p:nvSpPr>
          <p:cNvPr id="16388" name="Rectangle 3"/>
          <p:cNvSpPr>
            <a:spLocks noChangeArrowheads="1"/>
          </p:cNvSpPr>
          <p:nvPr/>
        </p:nvSpPr>
        <p:spPr bwMode="auto">
          <a:xfrm>
            <a:off x="3124200" y="6248400"/>
            <a:ext cx="2895600" cy="457200"/>
          </a:xfrm>
          <a:prstGeom prst="rect">
            <a:avLst/>
          </a:prstGeom>
          <a:noFill/>
          <a:ln w="12700">
            <a:noFill/>
            <a:miter lim="800000"/>
            <a:headEnd/>
            <a:tailEnd/>
          </a:ln>
        </p:spPr>
        <p:txBody>
          <a:bodyPr wrap="none" anchor="ctr"/>
          <a:lstStyle/>
          <a:p>
            <a:endParaRPr lang="en-US"/>
          </a:p>
        </p:txBody>
      </p:sp>
      <p:sp>
        <p:nvSpPr>
          <p:cNvPr id="16389" name="Rectangle 4"/>
          <p:cNvSpPr>
            <a:spLocks noGrp="1" noChangeArrowheads="1"/>
          </p:cNvSpPr>
          <p:nvPr>
            <p:ph type="title"/>
          </p:nvPr>
        </p:nvSpPr>
        <p:spPr>
          <a:noFill/>
        </p:spPr>
        <p:txBody>
          <a:bodyPr lIns="90488" tIns="44450" rIns="90488" bIns="44450" anchor="ctr"/>
          <a:lstStyle/>
          <a:p>
            <a:pPr eaLnBrk="1" hangingPunct="1"/>
            <a:r>
              <a:rPr lang="en-US"/>
              <a:t>Example of a Futures Trade</a:t>
            </a:r>
          </a:p>
        </p:txBody>
      </p:sp>
      <p:sp>
        <p:nvSpPr>
          <p:cNvPr id="16390" name="Rectangle 5"/>
          <p:cNvSpPr>
            <a:spLocks noGrp="1" noChangeArrowheads="1"/>
          </p:cNvSpPr>
          <p:nvPr>
            <p:ph type="body" idx="1"/>
          </p:nvPr>
        </p:nvSpPr>
        <p:spPr>
          <a:xfrm>
            <a:off x="711200" y="1628775"/>
            <a:ext cx="7569200" cy="4619625"/>
          </a:xfrm>
          <a:noFill/>
        </p:spPr>
        <p:txBody>
          <a:bodyPr lIns="90488" tIns="44450" rIns="90488" bIns="44450">
            <a:normAutofit lnSpcReduction="10000"/>
          </a:bodyPr>
          <a:lstStyle/>
          <a:p>
            <a:pPr eaLnBrk="1" hangingPunct="1"/>
            <a:r>
              <a:rPr lang="en-US" dirty="0"/>
              <a:t>An investor takes a long position in 2 December gold futures contracts on June 5</a:t>
            </a:r>
          </a:p>
          <a:p>
            <a:pPr lvl="1" eaLnBrk="1" hangingPunct="1"/>
            <a:r>
              <a:rPr lang="en-US" sz="2400" dirty="0"/>
              <a:t>contract size is 100 oz.</a:t>
            </a:r>
          </a:p>
          <a:p>
            <a:pPr lvl="1" eaLnBrk="1" hangingPunct="1"/>
            <a:r>
              <a:rPr lang="en-US" sz="2400" dirty="0"/>
              <a:t>futures price is US$900</a:t>
            </a:r>
          </a:p>
          <a:p>
            <a:pPr lvl="1" eaLnBrk="1" hangingPunct="1"/>
            <a:r>
              <a:rPr lang="en-US" sz="2400" dirty="0"/>
              <a:t>margin requirement is US$2,000/contract (US$4,000 in total)</a:t>
            </a:r>
          </a:p>
          <a:p>
            <a:pPr lvl="1" eaLnBrk="1" hangingPunct="1"/>
            <a:r>
              <a:rPr lang="en-US" sz="2400" dirty="0"/>
              <a:t>maintenance margin is US$1,500/contract (US$3,000 in total)</a:t>
            </a:r>
          </a:p>
          <a:p>
            <a:pPr lvl="1"/>
            <a:r>
              <a:rPr lang="en-US" sz="2400" dirty="0"/>
              <a:t>Table 2.3, Page 33(Options, Futures and Other derivatives by Hull and </a:t>
            </a:r>
            <a:r>
              <a:rPr lang="en-US" sz="2400" dirty="0" err="1"/>
              <a:t>Basu</a:t>
            </a:r>
            <a:r>
              <a:rPr lang="en-US" sz="2400" dirty="0"/>
              <a:t>) ; </a:t>
            </a:r>
          </a:p>
        </p:txBody>
      </p:sp>
      <p:sp>
        <p:nvSpPr>
          <p:cNvPr id="16391" name="Slide Number Placeholder 7"/>
          <p:cNvSpPr>
            <a:spLocks noGrp="1"/>
          </p:cNvSpPr>
          <p:nvPr>
            <p:ph type="sldNum" sz="quarter" idx="12"/>
          </p:nvPr>
        </p:nvSpPr>
        <p:spPr>
          <a:noFill/>
        </p:spPr>
        <p:txBody>
          <a:bodyPr/>
          <a:lstStyle/>
          <a:p>
            <a:fld id="{72AE1805-7223-4BB4-ABCA-BFAD4905F64E}" type="slidenum">
              <a:rPr lang="en-US" altLang="en-US" smtClean="0"/>
              <a:pPr/>
              <a:t>15</a:t>
            </a:fld>
            <a:endParaRPr lang="en-US" altLang="en-US"/>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p:cNvSpPr>
            <a:spLocks noChangeArrowheads="1"/>
          </p:cNvSpPr>
          <p:nvPr/>
        </p:nvSpPr>
        <p:spPr bwMode="auto">
          <a:xfrm>
            <a:off x="685800" y="6248400"/>
            <a:ext cx="1905000" cy="457200"/>
          </a:xfrm>
          <a:prstGeom prst="rect">
            <a:avLst/>
          </a:prstGeom>
          <a:noFill/>
          <a:ln w="12700">
            <a:noFill/>
            <a:miter lim="800000"/>
            <a:headEnd/>
            <a:tailEnd/>
          </a:ln>
        </p:spPr>
        <p:txBody>
          <a:bodyPr wrap="none" anchor="ctr"/>
          <a:lstStyle/>
          <a:p>
            <a:endParaRPr lang="en-US"/>
          </a:p>
        </p:txBody>
      </p:sp>
      <p:sp>
        <p:nvSpPr>
          <p:cNvPr id="18436" name="Rectangle 3"/>
          <p:cNvSpPr>
            <a:spLocks noChangeArrowheads="1"/>
          </p:cNvSpPr>
          <p:nvPr/>
        </p:nvSpPr>
        <p:spPr bwMode="auto">
          <a:xfrm>
            <a:off x="3124200" y="6248400"/>
            <a:ext cx="2895600" cy="457200"/>
          </a:xfrm>
          <a:prstGeom prst="rect">
            <a:avLst/>
          </a:prstGeom>
          <a:noFill/>
          <a:ln w="12700">
            <a:noFill/>
            <a:miter lim="800000"/>
            <a:headEnd/>
            <a:tailEnd/>
          </a:ln>
        </p:spPr>
        <p:txBody>
          <a:bodyPr wrap="none" anchor="ctr"/>
          <a:lstStyle/>
          <a:p>
            <a:endParaRPr lang="en-US"/>
          </a:p>
        </p:txBody>
      </p:sp>
      <p:sp>
        <p:nvSpPr>
          <p:cNvPr id="18437" name="Rectangle 4"/>
          <p:cNvSpPr>
            <a:spLocks noGrp="1" noChangeArrowheads="1"/>
          </p:cNvSpPr>
          <p:nvPr>
            <p:ph type="title"/>
          </p:nvPr>
        </p:nvSpPr>
        <p:spPr>
          <a:noFill/>
        </p:spPr>
        <p:txBody>
          <a:bodyPr lIns="90488" tIns="44450" rIns="90488" bIns="44450" anchor="ctr"/>
          <a:lstStyle/>
          <a:p>
            <a:pPr eaLnBrk="1" hangingPunct="1"/>
            <a:r>
              <a:rPr lang="en-US"/>
              <a:t>Other Key Points About Futures</a:t>
            </a:r>
          </a:p>
        </p:txBody>
      </p:sp>
      <p:sp>
        <p:nvSpPr>
          <p:cNvPr id="18438" name="Rectangle 5"/>
          <p:cNvSpPr>
            <a:spLocks noGrp="1" noChangeArrowheads="1"/>
          </p:cNvSpPr>
          <p:nvPr>
            <p:ph type="body" idx="1"/>
          </p:nvPr>
        </p:nvSpPr>
        <p:spPr>
          <a:xfrm>
            <a:off x="714375" y="2000250"/>
            <a:ext cx="7072313" cy="3357563"/>
          </a:xfrm>
          <a:noFill/>
        </p:spPr>
        <p:txBody>
          <a:bodyPr lIns="90488" tIns="44450" rIns="90488" bIns="44450"/>
          <a:lstStyle/>
          <a:p>
            <a:pPr eaLnBrk="1" hangingPunct="1">
              <a:lnSpc>
                <a:spcPct val="90000"/>
              </a:lnSpc>
            </a:pPr>
            <a:r>
              <a:rPr lang="en-US" sz="2800"/>
              <a:t>They are settled daily</a:t>
            </a:r>
          </a:p>
          <a:p>
            <a:pPr eaLnBrk="1" hangingPunct="1">
              <a:lnSpc>
                <a:spcPct val="90000"/>
              </a:lnSpc>
            </a:pPr>
            <a:r>
              <a:rPr lang="en-US" sz="2800"/>
              <a:t>Closing out a futures position involves entering into an offsetting trade</a:t>
            </a:r>
          </a:p>
          <a:p>
            <a:pPr eaLnBrk="1" hangingPunct="1">
              <a:lnSpc>
                <a:spcPct val="90000"/>
              </a:lnSpc>
            </a:pPr>
            <a:r>
              <a:rPr lang="en-US" sz="2800"/>
              <a:t>Most contracts are closed out before maturity</a:t>
            </a:r>
          </a:p>
        </p:txBody>
      </p:sp>
      <p:sp>
        <p:nvSpPr>
          <p:cNvPr id="18439" name="Slide Number Placeholder 7"/>
          <p:cNvSpPr>
            <a:spLocks noGrp="1"/>
          </p:cNvSpPr>
          <p:nvPr>
            <p:ph type="sldNum" sz="quarter" idx="12"/>
          </p:nvPr>
        </p:nvSpPr>
        <p:spPr>
          <a:noFill/>
        </p:spPr>
        <p:txBody>
          <a:bodyPr/>
          <a:lstStyle/>
          <a:p>
            <a:fld id="{DE196062-41BF-410F-9D0D-FE6FA56B0D3C}" type="slidenum">
              <a:rPr lang="en-US" altLang="en-US" smtClean="0"/>
              <a:pPr/>
              <a:t>16</a:t>
            </a:fld>
            <a:endParaRPr lang="en-US" altLang="en-US"/>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a:spLocks noGrp="1" noChangeArrowheads="1"/>
          </p:cNvSpPr>
          <p:nvPr>
            <p:ph type="title"/>
          </p:nvPr>
        </p:nvSpPr>
        <p:spPr/>
        <p:txBody>
          <a:bodyPr/>
          <a:lstStyle/>
          <a:p>
            <a:pPr eaLnBrk="1" hangingPunct="1"/>
            <a:r>
              <a:rPr lang="en-US"/>
              <a:t>Delivery</a:t>
            </a:r>
          </a:p>
        </p:txBody>
      </p:sp>
      <p:sp>
        <p:nvSpPr>
          <p:cNvPr id="20484" name="Rectangle 3"/>
          <p:cNvSpPr>
            <a:spLocks noGrp="1" noChangeArrowheads="1"/>
          </p:cNvSpPr>
          <p:nvPr>
            <p:ph type="body" idx="1"/>
          </p:nvPr>
        </p:nvSpPr>
        <p:spPr>
          <a:xfrm>
            <a:off x="468313" y="1719263"/>
            <a:ext cx="8218487" cy="4757737"/>
          </a:xfrm>
        </p:spPr>
        <p:txBody>
          <a:bodyPr/>
          <a:lstStyle/>
          <a:p>
            <a:pPr eaLnBrk="1" hangingPunct="1"/>
            <a:r>
              <a:rPr lang="en-US" sz="2400" dirty="0"/>
              <a:t>If a futures contract is not closed out before maturity, it is usually settled by delivering the assets underlying the contract. When there are alternatives about what is delivered, where it is delivered, and when it is delivered, the party with the short position chooses.</a:t>
            </a:r>
          </a:p>
          <a:p>
            <a:pPr eaLnBrk="1" hangingPunct="1"/>
            <a:r>
              <a:rPr lang="en-US" sz="2400" dirty="0"/>
              <a:t> A few contracts (for example, those on stock indices and Eurodollars) are settled in cash </a:t>
            </a:r>
          </a:p>
          <a:p>
            <a:pPr eaLnBrk="1" hangingPunct="1"/>
            <a:r>
              <a:rPr lang="en-CA" sz="2400" dirty="0"/>
              <a:t>When there is cash settlement contracts are traded until a predetermined time. All are then declared to be closed out.</a:t>
            </a:r>
            <a:endParaRPr lang="en-US" sz="2400" dirty="0"/>
          </a:p>
        </p:txBody>
      </p:sp>
      <p:sp>
        <p:nvSpPr>
          <p:cNvPr id="20485" name="Slide Number Placeholder 5"/>
          <p:cNvSpPr>
            <a:spLocks noGrp="1"/>
          </p:cNvSpPr>
          <p:nvPr>
            <p:ph type="sldNum" sz="quarter" idx="12"/>
          </p:nvPr>
        </p:nvSpPr>
        <p:spPr>
          <a:noFill/>
        </p:spPr>
        <p:txBody>
          <a:bodyPr/>
          <a:lstStyle/>
          <a:p>
            <a:fld id="{4CC38A61-54F6-4D48-925E-0B95A116175B}" type="slidenum">
              <a:rPr lang="en-US" altLang="en-US" smtClean="0"/>
              <a:pPr/>
              <a:t>17</a:t>
            </a:fld>
            <a:endParaRPr lang="en-US"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
          <p:cNvSpPr>
            <a:spLocks noChangeArrowheads="1"/>
          </p:cNvSpPr>
          <p:nvPr/>
        </p:nvSpPr>
        <p:spPr bwMode="auto">
          <a:xfrm>
            <a:off x="685800" y="6248400"/>
            <a:ext cx="1905000" cy="457200"/>
          </a:xfrm>
          <a:prstGeom prst="rect">
            <a:avLst/>
          </a:prstGeom>
          <a:noFill/>
          <a:ln w="12700">
            <a:noFill/>
            <a:miter lim="800000"/>
            <a:headEnd/>
            <a:tailEnd/>
          </a:ln>
        </p:spPr>
        <p:txBody>
          <a:bodyPr wrap="none" anchor="ctr"/>
          <a:lstStyle/>
          <a:p>
            <a:endParaRPr lang="en-US"/>
          </a:p>
        </p:txBody>
      </p:sp>
      <p:sp>
        <p:nvSpPr>
          <p:cNvPr id="21508" name="Rectangle 3"/>
          <p:cNvSpPr>
            <a:spLocks noChangeArrowheads="1"/>
          </p:cNvSpPr>
          <p:nvPr/>
        </p:nvSpPr>
        <p:spPr bwMode="auto">
          <a:xfrm>
            <a:off x="3124200" y="6248400"/>
            <a:ext cx="2895600" cy="457200"/>
          </a:xfrm>
          <a:prstGeom prst="rect">
            <a:avLst/>
          </a:prstGeom>
          <a:noFill/>
          <a:ln w="12700">
            <a:noFill/>
            <a:miter lim="800000"/>
            <a:headEnd/>
            <a:tailEnd/>
          </a:ln>
        </p:spPr>
        <p:txBody>
          <a:bodyPr wrap="none" anchor="ctr"/>
          <a:lstStyle/>
          <a:p>
            <a:endParaRPr lang="en-US"/>
          </a:p>
        </p:txBody>
      </p:sp>
      <p:sp>
        <p:nvSpPr>
          <p:cNvPr id="21509" name="Rectangle 4"/>
          <p:cNvSpPr>
            <a:spLocks noGrp="1" noChangeArrowheads="1"/>
          </p:cNvSpPr>
          <p:nvPr>
            <p:ph type="title"/>
          </p:nvPr>
        </p:nvSpPr>
        <p:spPr>
          <a:noFill/>
        </p:spPr>
        <p:txBody>
          <a:bodyPr lIns="90488" tIns="44450" rIns="90488" bIns="44450" anchor="ctr"/>
          <a:lstStyle/>
          <a:p>
            <a:pPr eaLnBrk="1" hangingPunct="1"/>
            <a:r>
              <a:rPr lang="en-US"/>
              <a:t>Some Terminology</a:t>
            </a:r>
          </a:p>
        </p:txBody>
      </p:sp>
      <p:sp>
        <p:nvSpPr>
          <p:cNvPr id="21510" name="Rectangle 5"/>
          <p:cNvSpPr>
            <a:spLocks noGrp="1" noChangeArrowheads="1"/>
          </p:cNvSpPr>
          <p:nvPr>
            <p:ph type="body" idx="1"/>
          </p:nvPr>
        </p:nvSpPr>
        <p:spPr>
          <a:xfrm>
            <a:off x="865188" y="1719263"/>
            <a:ext cx="7821612" cy="4411662"/>
          </a:xfrm>
          <a:noFill/>
        </p:spPr>
        <p:txBody>
          <a:bodyPr lIns="90488" tIns="44450" rIns="90488" bIns="44450"/>
          <a:lstStyle/>
          <a:p>
            <a:pPr eaLnBrk="1" hangingPunct="1"/>
            <a:r>
              <a:rPr lang="en-US" sz="2800"/>
              <a:t>Open interest:  the total number of contracts outstanding. This equals to number of long positions or number of short positions</a:t>
            </a:r>
          </a:p>
          <a:p>
            <a:pPr eaLnBrk="1" hangingPunct="1"/>
            <a:r>
              <a:rPr lang="en-US" sz="2800"/>
              <a:t>Settlement price:  the price just before the final bell each day. This is used for the daily settlement process</a:t>
            </a:r>
          </a:p>
          <a:p>
            <a:pPr eaLnBrk="1" hangingPunct="1"/>
            <a:r>
              <a:rPr lang="en-US" sz="2800"/>
              <a:t>Volume of trading:  the number of trades in 1 day</a:t>
            </a:r>
          </a:p>
        </p:txBody>
      </p:sp>
      <p:sp>
        <p:nvSpPr>
          <p:cNvPr id="21511" name="Slide Number Placeholder 7"/>
          <p:cNvSpPr>
            <a:spLocks noGrp="1"/>
          </p:cNvSpPr>
          <p:nvPr>
            <p:ph type="sldNum" sz="quarter" idx="12"/>
          </p:nvPr>
        </p:nvSpPr>
        <p:spPr>
          <a:noFill/>
        </p:spPr>
        <p:txBody>
          <a:bodyPr/>
          <a:lstStyle/>
          <a:p>
            <a:fld id="{397C1A9C-A204-42D3-9EFC-C927D9EA7226}" type="slidenum">
              <a:rPr lang="en-US" altLang="en-US" smtClean="0"/>
              <a:pPr/>
              <a:t>18</a:t>
            </a:fld>
            <a:endParaRPr lang="en-US" altLang="en-US"/>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2"/>
          <p:cNvSpPr>
            <a:spLocks noGrp="1" noChangeArrowheads="1"/>
          </p:cNvSpPr>
          <p:nvPr>
            <p:ph type="title"/>
          </p:nvPr>
        </p:nvSpPr>
        <p:spPr>
          <a:noFill/>
        </p:spPr>
        <p:txBody>
          <a:bodyPr lIns="92075" tIns="46038" rIns="92075" bIns="46038" anchor="ctr">
            <a:normAutofit fontScale="90000"/>
          </a:bodyPr>
          <a:lstStyle/>
          <a:p>
            <a:pPr eaLnBrk="1" hangingPunct="1"/>
            <a:r>
              <a:rPr lang="en-US" dirty="0"/>
              <a:t>Convergence of Futures to Spot</a:t>
            </a:r>
            <a:br>
              <a:rPr lang="en-US" dirty="0"/>
            </a:br>
            <a:r>
              <a:rPr lang="en-US" dirty="0"/>
              <a:t>(a)Contango and (b) Backwardation</a:t>
            </a:r>
          </a:p>
        </p:txBody>
      </p:sp>
      <p:sp>
        <p:nvSpPr>
          <p:cNvPr id="22532" name="Rectangle 3"/>
          <p:cNvSpPr>
            <a:spLocks noGrp="1" noChangeArrowheads="1"/>
          </p:cNvSpPr>
          <p:nvPr>
            <p:ph type="body" idx="1"/>
          </p:nvPr>
        </p:nvSpPr>
        <p:spPr>
          <a:noFill/>
        </p:spPr>
        <p:txBody>
          <a:bodyPr lIns="92075" tIns="46038" rIns="92075" bIns="46038"/>
          <a:lstStyle/>
          <a:p>
            <a:pPr eaLnBrk="1" hangingPunct="1">
              <a:buFont typeface="Wingdings" pitchFamily="2" charset="2"/>
              <a:buNone/>
            </a:pPr>
            <a:r>
              <a:rPr lang="en-US"/>
              <a:t> </a:t>
            </a:r>
          </a:p>
        </p:txBody>
      </p:sp>
      <p:sp>
        <p:nvSpPr>
          <p:cNvPr id="22533" name="Line 4"/>
          <p:cNvSpPr>
            <a:spLocks noChangeShapeType="1"/>
          </p:cNvSpPr>
          <p:nvPr/>
        </p:nvSpPr>
        <p:spPr bwMode="auto">
          <a:xfrm>
            <a:off x="781050" y="2552700"/>
            <a:ext cx="0" cy="3048000"/>
          </a:xfrm>
          <a:prstGeom prst="line">
            <a:avLst/>
          </a:prstGeom>
          <a:noFill/>
          <a:ln w="12700">
            <a:solidFill>
              <a:schemeClr val="tx1"/>
            </a:solidFill>
            <a:round/>
            <a:headEnd type="stealth" w="med" len="lg"/>
            <a:tailEnd type="none" w="sm" len="sm"/>
          </a:ln>
        </p:spPr>
        <p:txBody>
          <a:bodyPr wrap="none" anchor="ctr"/>
          <a:lstStyle/>
          <a:p>
            <a:endParaRPr lang="en-IN"/>
          </a:p>
        </p:txBody>
      </p:sp>
      <p:sp>
        <p:nvSpPr>
          <p:cNvPr id="22534" name="Line 5"/>
          <p:cNvSpPr>
            <a:spLocks noChangeShapeType="1"/>
          </p:cNvSpPr>
          <p:nvPr/>
        </p:nvSpPr>
        <p:spPr bwMode="auto">
          <a:xfrm>
            <a:off x="781050" y="5600700"/>
            <a:ext cx="3352800" cy="0"/>
          </a:xfrm>
          <a:prstGeom prst="line">
            <a:avLst/>
          </a:prstGeom>
          <a:noFill/>
          <a:ln w="12700">
            <a:solidFill>
              <a:schemeClr val="tx1"/>
            </a:solidFill>
            <a:round/>
            <a:headEnd type="none" w="sm" len="sm"/>
            <a:tailEnd type="stealth" w="med" len="lg"/>
          </a:ln>
        </p:spPr>
        <p:txBody>
          <a:bodyPr wrap="none" anchor="ctr"/>
          <a:lstStyle/>
          <a:p>
            <a:endParaRPr lang="en-IN"/>
          </a:p>
        </p:txBody>
      </p:sp>
      <p:sp>
        <p:nvSpPr>
          <p:cNvPr id="22535" name="Rectangle 6"/>
          <p:cNvSpPr>
            <a:spLocks noChangeArrowheads="1"/>
          </p:cNvSpPr>
          <p:nvPr/>
        </p:nvSpPr>
        <p:spPr bwMode="auto">
          <a:xfrm>
            <a:off x="3508375" y="5195888"/>
            <a:ext cx="692150" cy="366712"/>
          </a:xfrm>
          <a:prstGeom prst="rect">
            <a:avLst/>
          </a:prstGeom>
          <a:noFill/>
          <a:ln w="9525">
            <a:noFill/>
            <a:miter lim="800000"/>
            <a:headEnd/>
            <a:tailEnd/>
          </a:ln>
        </p:spPr>
        <p:txBody>
          <a:bodyPr wrap="none" lIns="92075" tIns="46038" rIns="92075" bIns="46038">
            <a:spAutoFit/>
          </a:bodyPr>
          <a:lstStyle/>
          <a:p>
            <a:pPr eaLnBrk="0" hangingPunct="0"/>
            <a:r>
              <a:rPr lang="en-US"/>
              <a:t>Time</a:t>
            </a:r>
          </a:p>
        </p:txBody>
      </p:sp>
      <p:grpSp>
        <p:nvGrpSpPr>
          <p:cNvPr id="2" name="Group 7"/>
          <p:cNvGrpSpPr>
            <a:grpSpLocks/>
          </p:cNvGrpSpPr>
          <p:nvPr/>
        </p:nvGrpSpPr>
        <p:grpSpPr bwMode="auto">
          <a:xfrm>
            <a:off x="992188" y="3240088"/>
            <a:ext cx="2644775" cy="1566862"/>
            <a:chOff x="625" y="2041"/>
            <a:chExt cx="1666" cy="987"/>
          </a:xfrm>
        </p:grpSpPr>
        <p:grpSp>
          <p:nvGrpSpPr>
            <p:cNvPr id="3" name="Group 8"/>
            <p:cNvGrpSpPr>
              <a:grpSpLocks/>
            </p:cNvGrpSpPr>
            <p:nvPr/>
          </p:nvGrpSpPr>
          <p:grpSpPr bwMode="auto">
            <a:xfrm>
              <a:off x="766" y="2041"/>
              <a:ext cx="1521" cy="680"/>
              <a:chOff x="766" y="2041"/>
              <a:chExt cx="1521" cy="680"/>
            </a:xfrm>
          </p:grpSpPr>
          <p:sp>
            <p:nvSpPr>
              <p:cNvPr id="22563" name="Arc 9"/>
              <p:cNvSpPr>
                <a:spLocks/>
              </p:cNvSpPr>
              <p:nvPr/>
            </p:nvSpPr>
            <p:spPr bwMode="auto">
              <a:xfrm rot="-2820000">
                <a:off x="766" y="2041"/>
                <a:ext cx="672" cy="67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5400" cap="rnd">
                <a:solidFill>
                  <a:schemeClr val="tx1"/>
                </a:solidFill>
                <a:round/>
                <a:headEnd type="none" w="sm" len="sm"/>
                <a:tailEnd type="none" w="sm" len="sm"/>
              </a:ln>
            </p:spPr>
            <p:txBody>
              <a:bodyPr wrap="none" anchor="ctr"/>
              <a:lstStyle/>
              <a:p>
                <a:endParaRPr lang="en-IN"/>
              </a:p>
            </p:txBody>
          </p:sp>
          <p:sp>
            <p:nvSpPr>
              <p:cNvPr id="22564" name="Arc 10"/>
              <p:cNvSpPr>
                <a:spLocks/>
              </p:cNvSpPr>
              <p:nvPr/>
            </p:nvSpPr>
            <p:spPr bwMode="auto">
              <a:xfrm rot="2820000">
                <a:off x="1759" y="2193"/>
                <a:ext cx="528" cy="52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close/>
                  </a:path>
                </a:pathLst>
              </a:custGeom>
              <a:noFill/>
              <a:ln w="25400" cap="rnd">
                <a:solidFill>
                  <a:schemeClr val="tx1"/>
                </a:solidFill>
                <a:round/>
                <a:headEnd type="none" w="sm" len="sm"/>
                <a:tailEnd type="none" w="sm" len="sm"/>
              </a:ln>
            </p:spPr>
            <p:txBody>
              <a:bodyPr wrap="none" anchor="ctr"/>
              <a:lstStyle/>
              <a:p>
                <a:endParaRPr lang="en-IN"/>
              </a:p>
            </p:txBody>
          </p:sp>
          <p:sp>
            <p:nvSpPr>
              <p:cNvPr id="22565" name="Line 11"/>
              <p:cNvSpPr>
                <a:spLocks noChangeShapeType="1"/>
              </p:cNvSpPr>
              <p:nvPr/>
            </p:nvSpPr>
            <p:spPr bwMode="auto">
              <a:xfrm>
                <a:off x="1579" y="2364"/>
                <a:ext cx="75" cy="78"/>
              </a:xfrm>
              <a:prstGeom prst="line">
                <a:avLst/>
              </a:prstGeom>
              <a:noFill/>
              <a:ln w="25400">
                <a:solidFill>
                  <a:schemeClr val="tx1"/>
                </a:solidFill>
                <a:round/>
                <a:headEnd type="none" w="sm" len="sm"/>
                <a:tailEnd type="none" w="sm" len="sm"/>
              </a:ln>
            </p:spPr>
            <p:txBody>
              <a:bodyPr wrap="none" anchor="ctr"/>
              <a:lstStyle/>
              <a:p>
                <a:endParaRPr lang="en-IN"/>
              </a:p>
            </p:txBody>
          </p:sp>
        </p:grpSp>
        <p:grpSp>
          <p:nvGrpSpPr>
            <p:cNvPr id="4" name="Group 12"/>
            <p:cNvGrpSpPr>
              <a:grpSpLocks/>
            </p:cNvGrpSpPr>
            <p:nvPr/>
          </p:nvGrpSpPr>
          <p:grpSpPr bwMode="auto">
            <a:xfrm>
              <a:off x="778" y="2283"/>
              <a:ext cx="1513" cy="745"/>
              <a:chOff x="778" y="2283"/>
              <a:chExt cx="1513" cy="745"/>
            </a:xfrm>
          </p:grpSpPr>
          <p:sp>
            <p:nvSpPr>
              <p:cNvPr id="22560" name="Arc 13"/>
              <p:cNvSpPr>
                <a:spLocks/>
              </p:cNvSpPr>
              <p:nvPr/>
            </p:nvSpPr>
            <p:spPr bwMode="auto">
              <a:xfrm rot="-3660000">
                <a:off x="778" y="2356"/>
                <a:ext cx="672" cy="67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5400" cap="rnd">
                <a:solidFill>
                  <a:schemeClr val="tx1"/>
                </a:solidFill>
                <a:round/>
                <a:headEnd type="none" w="sm" len="sm"/>
                <a:tailEnd type="none" w="sm" len="sm"/>
              </a:ln>
            </p:spPr>
            <p:txBody>
              <a:bodyPr wrap="none" anchor="ctr"/>
              <a:lstStyle/>
              <a:p>
                <a:endParaRPr lang="en-IN"/>
              </a:p>
            </p:txBody>
          </p:sp>
          <p:sp>
            <p:nvSpPr>
              <p:cNvPr id="22561" name="Arc 14"/>
              <p:cNvSpPr>
                <a:spLocks/>
              </p:cNvSpPr>
              <p:nvPr/>
            </p:nvSpPr>
            <p:spPr bwMode="auto">
              <a:xfrm rot="1980000">
                <a:off x="1763" y="2283"/>
                <a:ext cx="528" cy="52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close/>
                  </a:path>
                </a:pathLst>
              </a:custGeom>
              <a:noFill/>
              <a:ln w="25400" cap="rnd">
                <a:solidFill>
                  <a:schemeClr val="tx1"/>
                </a:solidFill>
                <a:round/>
                <a:headEnd type="none" w="sm" len="sm"/>
                <a:tailEnd type="none" w="sm" len="sm"/>
              </a:ln>
            </p:spPr>
            <p:txBody>
              <a:bodyPr wrap="none" anchor="ctr"/>
              <a:lstStyle/>
              <a:p>
                <a:endParaRPr lang="en-IN"/>
              </a:p>
            </p:txBody>
          </p:sp>
          <p:sp>
            <p:nvSpPr>
              <p:cNvPr id="22562" name="Line 15"/>
              <p:cNvSpPr>
                <a:spLocks noChangeShapeType="1"/>
              </p:cNvSpPr>
              <p:nvPr/>
            </p:nvSpPr>
            <p:spPr bwMode="auto">
              <a:xfrm>
                <a:off x="1573" y="2563"/>
                <a:ext cx="92" cy="58"/>
              </a:xfrm>
              <a:prstGeom prst="line">
                <a:avLst/>
              </a:prstGeom>
              <a:noFill/>
              <a:ln w="25400">
                <a:solidFill>
                  <a:schemeClr val="tx1"/>
                </a:solidFill>
                <a:round/>
                <a:headEnd type="none" w="sm" len="sm"/>
                <a:tailEnd type="none" w="sm" len="sm"/>
              </a:ln>
            </p:spPr>
            <p:txBody>
              <a:bodyPr wrap="none" anchor="ctr"/>
              <a:lstStyle/>
              <a:p>
                <a:endParaRPr lang="en-IN"/>
              </a:p>
            </p:txBody>
          </p:sp>
        </p:grpSp>
        <p:sp>
          <p:nvSpPr>
            <p:cNvPr id="22559" name="Line 16"/>
            <p:cNvSpPr>
              <a:spLocks noChangeShapeType="1"/>
            </p:cNvSpPr>
            <p:nvPr/>
          </p:nvSpPr>
          <p:spPr bwMode="auto">
            <a:xfrm flipH="1">
              <a:off x="625" y="2826"/>
              <a:ext cx="39" cy="63"/>
            </a:xfrm>
            <a:prstGeom prst="line">
              <a:avLst/>
            </a:prstGeom>
            <a:noFill/>
            <a:ln w="25400">
              <a:solidFill>
                <a:schemeClr val="tx1"/>
              </a:solidFill>
              <a:round/>
              <a:headEnd type="none" w="sm" len="sm"/>
              <a:tailEnd type="none" w="sm" len="sm"/>
            </a:ln>
          </p:spPr>
          <p:txBody>
            <a:bodyPr wrap="none" anchor="ctr"/>
            <a:lstStyle/>
            <a:p>
              <a:endParaRPr lang="en-IN"/>
            </a:p>
          </p:txBody>
        </p:sp>
      </p:grpSp>
      <p:sp>
        <p:nvSpPr>
          <p:cNvPr id="22537" name="Line 17"/>
          <p:cNvSpPr>
            <a:spLocks noChangeShapeType="1"/>
          </p:cNvSpPr>
          <p:nvPr/>
        </p:nvSpPr>
        <p:spPr bwMode="auto">
          <a:xfrm>
            <a:off x="5067300" y="2552700"/>
            <a:ext cx="0" cy="3048000"/>
          </a:xfrm>
          <a:prstGeom prst="line">
            <a:avLst/>
          </a:prstGeom>
          <a:noFill/>
          <a:ln w="12700">
            <a:solidFill>
              <a:schemeClr val="tx1"/>
            </a:solidFill>
            <a:round/>
            <a:headEnd type="stealth" w="med" len="lg"/>
            <a:tailEnd type="none" w="sm" len="sm"/>
          </a:ln>
        </p:spPr>
        <p:txBody>
          <a:bodyPr wrap="none" anchor="ctr"/>
          <a:lstStyle/>
          <a:p>
            <a:endParaRPr lang="en-IN"/>
          </a:p>
        </p:txBody>
      </p:sp>
      <p:sp>
        <p:nvSpPr>
          <p:cNvPr id="22538" name="Line 18"/>
          <p:cNvSpPr>
            <a:spLocks noChangeShapeType="1"/>
          </p:cNvSpPr>
          <p:nvPr/>
        </p:nvSpPr>
        <p:spPr bwMode="auto">
          <a:xfrm>
            <a:off x="5067300" y="5600700"/>
            <a:ext cx="3352800" cy="0"/>
          </a:xfrm>
          <a:prstGeom prst="line">
            <a:avLst/>
          </a:prstGeom>
          <a:noFill/>
          <a:ln w="12700">
            <a:solidFill>
              <a:schemeClr val="tx1"/>
            </a:solidFill>
            <a:round/>
            <a:headEnd type="none" w="sm" len="sm"/>
            <a:tailEnd type="stealth" w="med" len="lg"/>
          </a:ln>
        </p:spPr>
        <p:txBody>
          <a:bodyPr wrap="none" anchor="ctr"/>
          <a:lstStyle/>
          <a:p>
            <a:endParaRPr lang="en-IN"/>
          </a:p>
        </p:txBody>
      </p:sp>
      <p:sp>
        <p:nvSpPr>
          <p:cNvPr id="22539" name="Rectangle 19"/>
          <p:cNvSpPr>
            <a:spLocks noChangeArrowheads="1"/>
          </p:cNvSpPr>
          <p:nvPr/>
        </p:nvSpPr>
        <p:spPr bwMode="auto">
          <a:xfrm>
            <a:off x="7794625" y="5195888"/>
            <a:ext cx="692150" cy="366712"/>
          </a:xfrm>
          <a:prstGeom prst="rect">
            <a:avLst/>
          </a:prstGeom>
          <a:noFill/>
          <a:ln w="9525">
            <a:noFill/>
            <a:miter lim="800000"/>
            <a:headEnd/>
            <a:tailEnd/>
          </a:ln>
        </p:spPr>
        <p:txBody>
          <a:bodyPr wrap="none" lIns="92075" tIns="46038" rIns="92075" bIns="46038">
            <a:spAutoFit/>
          </a:bodyPr>
          <a:lstStyle/>
          <a:p>
            <a:pPr eaLnBrk="0" hangingPunct="0"/>
            <a:r>
              <a:rPr lang="en-US"/>
              <a:t>Time</a:t>
            </a:r>
          </a:p>
        </p:txBody>
      </p:sp>
      <p:grpSp>
        <p:nvGrpSpPr>
          <p:cNvPr id="5" name="Group 20"/>
          <p:cNvGrpSpPr>
            <a:grpSpLocks/>
          </p:cNvGrpSpPr>
          <p:nvPr/>
        </p:nvGrpSpPr>
        <p:grpSpPr bwMode="auto">
          <a:xfrm>
            <a:off x="5319713" y="3240088"/>
            <a:ext cx="2644775" cy="1566862"/>
            <a:chOff x="3351" y="2041"/>
            <a:chExt cx="1666" cy="987"/>
          </a:xfrm>
        </p:grpSpPr>
        <p:grpSp>
          <p:nvGrpSpPr>
            <p:cNvPr id="6" name="Group 21"/>
            <p:cNvGrpSpPr>
              <a:grpSpLocks/>
            </p:cNvGrpSpPr>
            <p:nvPr/>
          </p:nvGrpSpPr>
          <p:grpSpPr bwMode="auto">
            <a:xfrm>
              <a:off x="3492" y="2041"/>
              <a:ext cx="1521" cy="680"/>
              <a:chOff x="3492" y="2041"/>
              <a:chExt cx="1521" cy="680"/>
            </a:xfrm>
          </p:grpSpPr>
          <p:sp>
            <p:nvSpPr>
              <p:cNvPr id="22554" name="Arc 22"/>
              <p:cNvSpPr>
                <a:spLocks/>
              </p:cNvSpPr>
              <p:nvPr/>
            </p:nvSpPr>
            <p:spPr bwMode="auto">
              <a:xfrm rot="-2820000">
                <a:off x="3492" y="2041"/>
                <a:ext cx="672" cy="67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5400" cap="rnd">
                <a:solidFill>
                  <a:schemeClr val="tx1"/>
                </a:solidFill>
                <a:round/>
                <a:headEnd type="none" w="sm" len="sm"/>
                <a:tailEnd type="none" w="sm" len="sm"/>
              </a:ln>
            </p:spPr>
            <p:txBody>
              <a:bodyPr wrap="none" anchor="ctr"/>
              <a:lstStyle/>
              <a:p>
                <a:endParaRPr lang="en-IN"/>
              </a:p>
            </p:txBody>
          </p:sp>
          <p:sp>
            <p:nvSpPr>
              <p:cNvPr id="22555" name="Arc 23"/>
              <p:cNvSpPr>
                <a:spLocks/>
              </p:cNvSpPr>
              <p:nvPr/>
            </p:nvSpPr>
            <p:spPr bwMode="auto">
              <a:xfrm rot="2820000">
                <a:off x="4485" y="2193"/>
                <a:ext cx="528" cy="52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close/>
                  </a:path>
                </a:pathLst>
              </a:custGeom>
              <a:noFill/>
              <a:ln w="25400" cap="rnd">
                <a:solidFill>
                  <a:schemeClr val="tx1"/>
                </a:solidFill>
                <a:round/>
                <a:headEnd type="none" w="sm" len="sm"/>
                <a:tailEnd type="none" w="sm" len="sm"/>
              </a:ln>
            </p:spPr>
            <p:txBody>
              <a:bodyPr wrap="none" anchor="ctr"/>
              <a:lstStyle/>
              <a:p>
                <a:endParaRPr lang="en-IN"/>
              </a:p>
            </p:txBody>
          </p:sp>
          <p:sp>
            <p:nvSpPr>
              <p:cNvPr id="22556" name="Line 24"/>
              <p:cNvSpPr>
                <a:spLocks noChangeShapeType="1"/>
              </p:cNvSpPr>
              <p:nvPr/>
            </p:nvSpPr>
            <p:spPr bwMode="auto">
              <a:xfrm>
                <a:off x="4305" y="2364"/>
                <a:ext cx="75" cy="78"/>
              </a:xfrm>
              <a:prstGeom prst="line">
                <a:avLst/>
              </a:prstGeom>
              <a:noFill/>
              <a:ln w="25400">
                <a:solidFill>
                  <a:schemeClr val="tx1"/>
                </a:solidFill>
                <a:round/>
                <a:headEnd type="none" w="sm" len="sm"/>
                <a:tailEnd type="none" w="sm" len="sm"/>
              </a:ln>
            </p:spPr>
            <p:txBody>
              <a:bodyPr wrap="none" anchor="ctr"/>
              <a:lstStyle/>
              <a:p>
                <a:endParaRPr lang="en-IN"/>
              </a:p>
            </p:txBody>
          </p:sp>
        </p:grpSp>
        <p:grpSp>
          <p:nvGrpSpPr>
            <p:cNvPr id="7" name="Group 25"/>
            <p:cNvGrpSpPr>
              <a:grpSpLocks/>
            </p:cNvGrpSpPr>
            <p:nvPr/>
          </p:nvGrpSpPr>
          <p:grpSpPr bwMode="auto">
            <a:xfrm>
              <a:off x="3504" y="2283"/>
              <a:ext cx="1513" cy="745"/>
              <a:chOff x="3504" y="2283"/>
              <a:chExt cx="1513" cy="745"/>
            </a:xfrm>
          </p:grpSpPr>
          <p:sp>
            <p:nvSpPr>
              <p:cNvPr id="22551" name="Arc 26"/>
              <p:cNvSpPr>
                <a:spLocks/>
              </p:cNvSpPr>
              <p:nvPr/>
            </p:nvSpPr>
            <p:spPr bwMode="auto">
              <a:xfrm rot="-3660000">
                <a:off x="3504" y="2356"/>
                <a:ext cx="672" cy="67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5400" cap="rnd">
                <a:solidFill>
                  <a:schemeClr val="tx1"/>
                </a:solidFill>
                <a:round/>
                <a:headEnd type="none" w="sm" len="sm"/>
                <a:tailEnd type="none" w="sm" len="sm"/>
              </a:ln>
            </p:spPr>
            <p:txBody>
              <a:bodyPr wrap="none" anchor="ctr"/>
              <a:lstStyle/>
              <a:p>
                <a:endParaRPr lang="en-IN"/>
              </a:p>
            </p:txBody>
          </p:sp>
          <p:sp>
            <p:nvSpPr>
              <p:cNvPr id="22552" name="Arc 27"/>
              <p:cNvSpPr>
                <a:spLocks/>
              </p:cNvSpPr>
              <p:nvPr/>
            </p:nvSpPr>
            <p:spPr bwMode="auto">
              <a:xfrm rot="1980000">
                <a:off x="4489" y="2283"/>
                <a:ext cx="528" cy="52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close/>
                  </a:path>
                </a:pathLst>
              </a:custGeom>
              <a:noFill/>
              <a:ln w="25400" cap="rnd">
                <a:solidFill>
                  <a:schemeClr val="tx1"/>
                </a:solidFill>
                <a:round/>
                <a:headEnd type="none" w="sm" len="sm"/>
                <a:tailEnd type="none" w="sm" len="sm"/>
              </a:ln>
            </p:spPr>
            <p:txBody>
              <a:bodyPr wrap="none" anchor="ctr"/>
              <a:lstStyle/>
              <a:p>
                <a:endParaRPr lang="en-IN"/>
              </a:p>
            </p:txBody>
          </p:sp>
          <p:sp>
            <p:nvSpPr>
              <p:cNvPr id="22553" name="Line 28"/>
              <p:cNvSpPr>
                <a:spLocks noChangeShapeType="1"/>
              </p:cNvSpPr>
              <p:nvPr/>
            </p:nvSpPr>
            <p:spPr bwMode="auto">
              <a:xfrm>
                <a:off x="4299" y="2563"/>
                <a:ext cx="92" cy="58"/>
              </a:xfrm>
              <a:prstGeom prst="line">
                <a:avLst/>
              </a:prstGeom>
              <a:noFill/>
              <a:ln w="25400">
                <a:solidFill>
                  <a:schemeClr val="tx1"/>
                </a:solidFill>
                <a:round/>
                <a:headEnd type="none" w="sm" len="sm"/>
                <a:tailEnd type="none" w="sm" len="sm"/>
              </a:ln>
            </p:spPr>
            <p:txBody>
              <a:bodyPr wrap="none" anchor="ctr"/>
              <a:lstStyle/>
              <a:p>
                <a:endParaRPr lang="en-IN"/>
              </a:p>
            </p:txBody>
          </p:sp>
        </p:grpSp>
        <p:sp>
          <p:nvSpPr>
            <p:cNvPr id="22550" name="Line 29"/>
            <p:cNvSpPr>
              <a:spLocks noChangeShapeType="1"/>
            </p:cNvSpPr>
            <p:nvPr/>
          </p:nvSpPr>
          <p:spPr bwMode="auto">
            <a:xfrm flipH="1">
              <a:off x="3351" y="2826"/>
              <a:ext cx="39" cy="63"/>
            </a:xfrm>
            <a:prstGeom prst="line">
              <a:avLst/>
            </a:prstGeom>
            <a:noFill/>
            <a:ln w="25400">
              <a:solidFill>
                <a:schemeClr val="tx1"/>
              </a:solidFill>
              <a:round/>
              <a:headEnd type="none" w="sm" len="sm"/>
              <a:tailEnd type="none" w="sm" len="sm"/>
            </a:ln>
          </p:spPr>
          <p:txBody>
            <a:bodyPr wrap="none" anchor="ctr"/>
            <a:lstStyle/>
            <a:p>
              <a:endParaRPr lang="en-IN"/>
            </a:p>
          </p:txBody>
        </p:sp>
      </p:grpSp>
      <p:sp>
        <p:nvSpPr>
          <p:cNvPr id="22541" name="Rectangle 30"/>
          <p:cNvSpPr>
            <a:spLocks noChangeArrowheads="1"/>
          </p:cNvSpPr>
          <p:nvPr/>
        </p:nvSpPr>
        <p:spPr bwMode="auto">
          <a:xfrm>
            <a:off x="2327275" y="5699125"/>
            <a:ext cx="557213" cy="457200"/>
          </a:xfrm>
          <a:prstGeom prst="rect">
            <a:avLst/>
          </a:prstGeom>
          <a:noFill/>
          <a:ln w="9525">
            <a:noFill/>
            <a:miter lim="800000"/>
            <a:headEnd/>
            <a:tailEnd/>
          </a:ln>
        </p:spPr>
        <p:txBody>
          <a:bodyPr wrap="none" lIns="92075" tIns="46038" rIns="92075" bIns="46038">
            <a:spAutoFit/>
          </a:bodyPr>
          <a:lstStyle/>
          <a:p>
            <a:pPr eaLnBrk="0" hangingPunct="0"/>
            <a:r>
              <a:rPr lang="en-US" sz="2400"/>
              <a:t>(a)</a:t>
            </a:r>
          </a:p>
        </p:txBody>
      </p:sp>
      <p:sp>
        <p:nvSpPr>
          <p:cNvPr id="22542" name="Rectangle 31"/>
          <p:cNvSpPr>
            <a:spLocks noChangeArrowheads="1"/>
          </p:cNvSpPr>
          <p:nvPr/>
        </p:nvSpPr>
        <p:spPr bwMode="auto">
          <a:xfrm>
            <a:off x="6613525" y="5699125"/>
            <a:ext cx="557213" cy="457200"/>
          </a:xfrm>
          <a:prstGeom prst="rect">
            <a:avLst/>
          </a:prstGeom>
          <a:noFill/>
          <a:ln w="9525">
            <a:noFill/>
            <a:miter lim="800000"/>
            <a:headEnd/>
            <a:tailEnd/>
          </a:ln>
        </p:spPr>
        <p:txBody>
          <a:bodyPr wrap="none" lIns="92075" tIns="46038" rIns="92075" bIns="46038">
            <a:spAutoFit/>
          </a:bodyPr>
          <a:lstStyle/>
          <a:p>
            <a:pPr eaLnBrk="0" hangingPunct="0"/>
            <a:r>
              <a:rPr lang="en-US" sz="2400"/>
              <a:t>(b)</a:t>
            </a:r>
          </a:p>
        </p:txBody>
      </p:sp>
      <p:sp>
        <p:nvSpPr>
          <p:cNvPr id="22543" name="Rectangle 32"/>
          <p:cNvSpPr>
            <a:spLocks noChangeArrowheads="1"/>
          </p:cNvSpPr>
          <p:nvPr/>
        </p:nvSpPr>
        <p:spPr bwMode="auto">
          <a:xfrm>
            <a:off x="2736850" y="3298825"/>
            <a:ext cx="1217613" cy="822325"/>
          </a:xfrm>
          <a:prstGeom prst="rect">
            <a:avLst/>
          </a:prstGeom>
          <a:noFill/>
          <a:ln w="9525">
            <a:noFill/>
            <a:miter lim="800000"/>
            <a:headEnd/>
            <a:tailEnd/>
          </a:ln>
        </p:spPr>
        <p:txBody>
          <a:bodyPr wrap="none" lIns="92075" tIns="46038" rIns="92075" bIns="46038">
            <a:spAutoFit/>
          </a:bodyPr>
          <a:lstStyle/>
          <a:p>
            <a:pPr algn="ctr" eaLnBrk="0" hangingPunct="0"/>
            <a:r>
              <a:rPr lang="en-US" sz="2400"/>
              <a:t>Futures</a:t>
            </a:r>
          </a:p>
          <a:p>
            <a:pPr algn="ctr" eaLnBrk="0" hangingPunct="0"/>
            <a:r>
              <a:rPr lang="en-US" sz="2400"/>
              <a:t>Price</a:t>
            </a:r>
          </a:p>
        </p:txBody>
      </p:sp>
      <p:sp>
        <p:nvSpPr>
          <p:cNvPr id="22544" name="Rectangle 33"/>
          <p:cNvSpPr>
            <a:spLocks noChangeArrowheads="1"/>
          </p:cNvSpPr>
          <p:nvPr/>
        </p:nvSpPr>
        <p:spPr bwMode="auto">
          <a:xfrm>
            <a:off x="5827713" y="3994150"/>
            <a:ext cx="1217612" cy="822325"/>
          </a:xfrm>
          <a:prstGeom prst="rect">
            <a:avLst/>
          </a:prstGeom>
          <a:noFill/>
          <a:ln w="9525">
            <a:noFill/>
            <a:miter lim="800000"/>
            <a:headEnd/>
            <a:tailEnd/>
          </a:ln>
        </p:spPr>
        <p:txBody>
          <a:bodyPr wrap="none" lIns="92075" tIns="46038" rIns="92075" bIns="46038">
            <a:spAutoFit/>
          </a:bodyPr>
          <a:lstStyle/>
          <a:p>
            <a:pPr algn="ctr" eaLnBrk="0" hangingPunct="0"/>
            <a:r>
              <a:rPr lang="en-US" sz="2400"/>
              <a:t>Futures</a:t>
            </a:r>
          </a:p>
          <a:p>
            <a:pPr algn="ctr" eaLnBrk="0" hangingPunct="0"/>
            <a:r>
              <a:rPr lang="en-US" sz="2400"/>
              <a:t>Price</a:t>
            </a:r>
          </a:p>
        </p:txBody>
      </p:sp>
      <p:sp>
        <p:nvSpPr>
          <p:cNvPr id="22545" name="Rectangle 34"/>
          <p:cNvSpPr>
            <a:spLocks noChangeArrowheads="1"/>
          </p:cNvSpPr>
          <p:nvPr/>
        </p:nvSpPr>
        <p:spPr bwMode="auto">
          <a:xfrm>
            <a:off x="1260475" y="4098925"/>
            <a:ext cx="1590675" cy="457200"/>
          </a:xfrm>
          <a:prstGeom prst="rect">
            <a:avLst/>
          </a:prstGeom>
          <a:noFill/>
          <a:ln w="9525">
            <a:noFill/>
            <a:miter lim="800000"/>
            <a:headEnd/>
            <a:tailEnd/>
          </a:ln>
        </p:spPr>
        <p:txBody>
          <a:bodyPr wrap="none" lIns="92075" tIns="46038" rIns="92075" bIns="46038">
            <a:spAutoFit/>
          </a:bodyPr>
          <a:lstStyle/>
          <a:p>
            <a:pPr algn="ctr" eaLnBrk="0" hangingPunct="0"/>
            <a:r>
              <a:rPr lang="en-US" sz="2400"/>
              <a:t>Spot Price</a:t>
            </a:r>
          </a:p>
        </p:txBody>
      </p:sp>
      <p:sp>
        <p:nvSpPr>
          <p:cNvPr id="22546" name="Rectangle 35"/>
          <p:cNvSpPr>
            <a:spLocks noChangeArrowheads="1"/>
          </p:cNvSpPr>
          <p:nvPr/>
        </p:nvSpPr>
        <p:spPr bwMode="auto">
          <a:xfrm>
            <a:off x="6819900" y="3498850"/>
            <a:ext cx="1590675" cy="457200"/>
          </a:xfrm>
          <a:prstGeom prst="rect">
            <a:avLst/>
          </a:prstGeom>
          <a:noFill/>
          <a:ln w="9525">
            <a:noFill/>
            <a:miter lim="800000"/>
            <a:headEnd/>
            <a:tailEnd/>
          </a:ln>
        </p:spPr>
        <p:txBody>
          <a:bodyPr wrap="none" lIns="92075" tIns="46038" rIns="92075" bIns="46038">
            <a:spAutoFit/>
          </a:bodyPr>
          <a:lstStyle/>
          <a:p>
            <a:pPr algn="ctr" eaLnBrk="0" hangingPunct="0"/>
            <a:r>
              <a:rPr lang="en-US" sz="2400"/>
              <a:t>Spot Price</a:t>
            </a:r>
          </a:p>
        </p:txBody>
      </p:sp>
      <p:sp>
        <p:nvSpPr>
          <p:cNvPr id="22547" name="Slide Number Placeholder 37"/>
          <p:cNvSpPr>
            <a:spLocks noGrp="1"/>
          </p:cNvSpPr>
          <p:nvPr>
            <p:ph type="sldNum" sz="quarter" idx="12"/>
          </p:nvPr>
        </p:nvSpPr>
        <p:spPr>
          <a:noFill/>
        </p:spPr>
        <p:txBody>
          <a:bodyPr/>
          <a:lstStyle/>
          <a:p>
            <a:endParaRPr lang="en-US" altLang="en-US" dirty="0"/>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2"/>
          <p:cNvSpPr>
            <a:spLocks noChangeArrowheads="1"/>
          </p:cNvSpPr>
          <p:nvPr/>
        </p:nvSpPr>
        <p:spPr bwMode="auto">
          <a:xfrm>
            <a:off x="685800" y="6248400"/>
            <a:ext cx="1905000" cy="457200"/>
          </a:xfrm>
          <a:prstGeom prst="rect">
            <a:avLst/>
          </a:prstGeom>
          <a:noFill/>
          <a:ln w="12700">
            <a:noFill/>
            <a:miter lim="800000"/>
            <a:headEnd/>
            <a:tailEnd/>
          </a:ln>
        </p:spPr>
        <p:txBody>
          <a:bodyPr wrap="none" anchor="ctr"/>
          <a:lstStyle/>
          <a:p>
            <a:endParaRPr lang="en-US"/>
          </a:p>
        </p:txBody>
      </p:sp>
      <p:sp>
        <p:nvSpPr>
          <p:cNvPr id="23556" name="Rectangle 3"/>
          <p:cNvSpPr>
            <a:spLocks noChangeArrowheads="1"/>
          </p:cNvSpPr>
          <p:nvPr/>
        </p:nvSpPr>
        <p:spPr bwMode="auto">
          <a:xfrm>
            <a:off x="3124200" y="6248400"/>
            <a:ext cx="2895600" cy="457200"/>
          </a:xfrm>
          <a:prstGeom prst="rect">
            <a:avLst/>
          </a:prstGeom>
          <a:noFill/>
          <a:ln w="12700">
            <a:noFill/>
            <a:miter lim="800000"/>
            <a:headEnd/>
            <a:tailEnd/>
          </a:ln>
        </p:spPr>
        <p:txBody>
          <a:bodyPr wrap="none" anchor="ctr"/>
          <a:lstStyle/>
          <a:p>
            <a:endParaRPr lang="en-US"/>
          </a:p>
        </p:txBody>
      </p:sp>
      <p:sp>
        <p:nvSpPr>
          <p:cNvPr id="23557" name="Rectangle 4"/>
          <p:cNvSpPr>
            <a:spLocks noGrp="1" noChangeArrowheads="1"/>
          </p:cNvSpPr>
          <p:nvPr>
            <p:ph type="title"/>
          </p:nvPr>
        </p:nvSpPr>
        <p:spPr>
          <a:noFill/>
        </p:spPr>
        <p:txBody>
          <a:bodyPr lIns="90488" tIns="44450" rIns="90488" bIns="44450" anchor="ctr"/>
          <a:lstStyle/>
          <a:p>
            <a:pPr eaLnBrk="1" hangingPunct="1"/>
            <a:r>
              <a:rPr lang="en-US"/>
              <a:t>Questions</a:t>
            </a:r>
          </a:p>
        </p:txBody>
      </p:sp>
      <p:sp>
        <p:nvSpPr>
          <p:cNvPr id="23558" name="Rectangle 5"/>
          <p:cNvSpPr>
            <a:spLocks noGrp="1" noChangeArrowheads="1"/>
          </p:cNvSpPr>
          <p:nvPr>
            <p:ph type="body" idx="1"/>
          </p:nvPr>
        </p:nvSpPr>
        <p:spPr>
          <a:xfrm>
            <a:off x="1022350" y="1719263"/>
            <a:ext cx="7180263" cy="4411662"/>
          </a:xfrm>
          <a:noFill/>
        </p:spPr>
        <p:txBody>
          <a:bodyPr lIns="90488" tIns="44450" rIns="90488" bIns="44450"/>
          <a:lstStyle/>
          <a:p>
            <a:pPr eaLnBrk="1" hangingPunct="1"/>
            <a:r>
              <a:rPr lang="en-US" dirty="0"/>
              <a:t>When a new trade is completed what are the possible effects on the open interest?</a:t>
            </a:r>
          </a:p>
          <a:p>
            <a:pPr eaLnBrk="1" hangingPunct="1"/>
            <a:r>
              <a:rPr lang="en-US" dirty="0"/>
              <a:t>Can the volume of trading in a day be greater than the open interest?</a:t>
            </a:r>
          </a:p>
        </p:txBody>
      </p:sp>
      <p:sp>
        <p:nvSpPr>
          <p:cNvPr id="23559" name="Slide Number Placeholder 7"/>
          <p:cNvSpPr>
            <a:spLocks noGrp="1"/>
          </p:cNvSpPr>
          <p:nvPr>
            <p:ph type="sldNum" sz="quarter" idx="12"/>
          </p:nvPr>
        </p:nvSpPr>
        <p:spPr>
          <a:noFill/>
        </p:spPr>
        <p:txBody>
          <a:bodyPr/>
          <a:lstStyle/>
          <a:p>
            <a:fld id="{25980D5D-590D-401E-9760-6C8B4DED186B}" type="slidenum">
              <a:rPr lang="en-US" altLang="en-US" smtClean="0"/>
              <a:pPr/>
              <a:t>20</a:t>
            </a:fld>
            <a:endParaRPr lang="en-US" altLang="en-US"/>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863173FC-5573-4375-ADFE-AADA726B341E}"/>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dirty="0">
              <a:solidFill>
                <a:srgbClr val="899BA4"/>
              </a:solidFill>
            </a:endParaRPr>
          </a:p>
        </p:txBody>
      </p:sp>
      <p:sp>
        <p:nvSpPr>
          <p:cNvPr id="10242" name="Rectangle 2">
            <a:extLst>
              <a:ext uri="{FF2B5EF4-FFF2-40B4-BE49-F238E27FC236}">
                <a16:creationId xmlns:a16="http://schemas.microsoft.com/office/drawing/2014/main" id="{BD3942A0-A19C-4AB9-B961-6467F81EDF32}"/>
              </a:ext>
            </a:extLst>
          </p:cNvPr>
          <p:cNvSpPr>
            <a:spLocks noGrp="1" noChangeArrowheads="1"/>
          </p:cNvSpPr>
          <p:nvPr>
            <p:ph type="title"/>
          </p:nvPr>
        </p:nvSpPr>
        <p:spPr/>
        <p:txBody>
          <a:bodyPr lIns="90488" tIns="44450" rIns="90488" bIns="44450"/>
          <a:lstStyle/>
          <a:p>
            <a:pPr eaLnBrk="1" hangingPunct="1">
              <a:defRPr/>
            </a:pPr>
            <a:r>
              <a:rPr lang="en-US"/>
              <a:t>Basis Risk</a:t>
            </a:r>
          </a:p>
        </p:txBody>
      </p:sp>
      <p:sp>
        <p:nvSpPr>
          <p:cNvPr id="15364" name="Rectangle 3">
            <a:extLst>
              <a:ext uri="{FF2B5EF4-FFF2-40B4-BE49-F238E27FC236}">
                <a16:creationId xmlns:a16="http://schemas.microsoft.com/office/drawing/2014/main" id="{A6C318C0-8E5B-44C9-97E2-18A97581A0AD}"/>
              </a:ext>
            </a:extLst>
          </p:cNvPr>
          <p:cNvSpPr>
            <a:spLocks noGrp="1" noChangeArrowheads="1"/>
          </p:cNvSpPr>
          <p:nvPr>
            <p:ph type="body" idx="1"/>
          </p:nvPr>
        </p:nvSpPr>
        <p:spPr>
          <a:xfrm>
            <a:off x="1455738" y="1719263"/>
            <a:ext cx="6232525" cy="4411662"/>
          </a:xfrm>
          <a:noFill/>
        </p:spPr>
        <p:txBody>
          <a:bodyPr lIns="90488" tIns="44450" rIns="90488" bIns="44450"/>
          <a:lstStyle/>
          <a:p>
            <a:pPr eaLnBrk="1" hangingPunct="1"/>
            <a:r>
              <a:rPr lang="en-US" altLang="en-US" sz="2800"/>
              <a:t>Basis is the difference between the spot and futures price</a:t>
            </a:r>
          </a:p>
          <a:p>
            <a:pPr eaLnBrk="1" hangingPunct="1"/>
            <a:r>
              <a:rPr lang="en-US" altLang="en-US" sz="2800"/>
              <a:t>Basis risk arises because of the uncertainty about the basis when the hedge is closed out</a:t>
            </a: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3D9DD909-6A60-421B-954A-2735738536CA}"/>
              </a:ext>
            </a:extLst>
          </p:cNvPr>
          <p:cNvSpPr>
            <a:spLocks noGrp="1"/>
          </p:cNvSpPr>
          <p:nvPr>
            <p:ph type="sldNum" sz="quarter" idx="12"/>
          </p:nvPr>
        </p:nvSpPr>
        <p:spPr>
          <a:xfrm>
            <a:off x="6553200" y="6400800"/>
            <a:ext cx="2133600" cy="320675"/>
          </a:xfrm>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dirty="0">
              <a:solidFill>
                <a:srgbClr val="899BA4"/>
              </a:solidFill>
            </a:endParaRPr>
          </a:p>
        </p:txBody>
      </p:sp>
      <p:sp>
        <p:nvSpPr>
          <p:cNvPr id="11266" name="Rectangle 2">
            <a:extLst>
              <a:ext uri="{FF2B5EF4-FFF2-40B4-BE49-F238E27FC236}">
                <a16:creationId xmlns:a16="http://schemas.microsoft.com/office/drawing/2014/main" id="{8F20012D-9141-48DC-94A1-5F482E120012}"/>
              </a:ext>
            </a:extLst>
          </p:cNvPr>
          <p:cNvSpPr>
            <a:spLocks noGrp="1" noChangeArrowheads="1"/>
          </p:cNvSpPr>
          <p:nvPr>
            <p:ph type="title"/>
          </p:nvPr>
        </p:nvSpPr>
        <p:spPr/>
        <p:txBody>
          <a:bodyPr lIns="90488" tIns="44450" rIns="90488" bIns="44450"/>
          <a:lstStyle/>
          <a:p>
            <a:pPr eaLnBrk="1" hangingPunct="1">
              <a:defRPr/>
            </a:pPr>
            <a:r>
              <a:rPr lang="en-US"/>
              <a:t>Long Hedge </a:t>
            </a:r>
          </a:p>
        </p:txBody>
      </p:sp>
      <p:sp>
        <p:nvSpPr>
          <p:cNvPr id="16388" name="Rectangle 3">
            <a:extLst>
              <a:ext uri="{FF2B5EF4-FFF2-40B4-BE49-F238E27FC236}">
                <a16:creationId xmlns:a16="http://schemas.microsoft.com/office/drawing/2014/main" id="{59D11ED7-0CCA-4D3C-BEEB-6A09D0A6A71D}"/>
              </a:ext>
            </a:extLst>
          </p:cNvPr>
          <p:cNvSpPr>
            <a:spLocks noGrp="1" noChangeArrowheads="1"/>
          </p:cNvSpPr>
          <p:nvPr>
            <p:ph type="body" idx="1"/>
          </p:nvPr>
        </p:nvSpPr>
        <p:spPr>
          <a:xfrm>
            <a:off x="1295400" y="1684338"/>
            <a:ext cx="7185025" cy="4114800"/>
          </a:xfrm>
          <a:noFill/>
        </p:spPr>
        <p:txBody>
          <a:bodyPr lIns="90488" tIns="44450" rIns="90488" bIns="44450"/>
          <a:lstStyle/>
          <a:p>
            <a:pPr eaLnBrk="1" hangingPunct="1">
              <a:lnSpc>
                <a:spcPct val="90000"/>
              </a:lnSpc>
            </a:pPr>
            <a:r>
              <a:rPr lang="en-CA" altLang="en-US" sz="2800"/>
              <a:t>We define</a:t>
            </a:r>
            <a:endParaRPr lang="en-US" altLang="en-US" sz="2800"/>
          </a:p>
          <a:p>
            <a:pPr lvl="2" eaLnBrk="1" hangingPunct="1">
              <a:lnSpc>
                <a:spcPct val="90000"/>
              </a:lnSpc>
              <a:buFont typeface="Wingdings" panose="05000000000000000000" pitchFamily="2" charset="2"/>
              <a:buNone/>
            </a:pPr>
            <a:r>
              <a:rPr lang="en-US" altLang="en-US" sz="2800" i="1">
                <a:latin typeface="Times New Roman" panose="02020603050405020304" pitchFamily="18" charset="0"/>
                <a:cs typeface="Times New Roman" panose="02020603050405020304" pitchFamily="18" charset="0"/>
              </a:rPr>
              <a:t>F</a:t>
            </a:r>
            <a:r>
              <a:rPr lang="en-US" altLang="en-US" sz="2800" baseline="-25000"/>
              <a:t>1</a:t>
            </a:r>
            <a:r>
              <a:rPr lang="en-US" altLang="en-US" sz="2800" i="1" baseline="-25000"/>
              <a:t> </a:t>
            </a:r>
            <a:r>
              <a:rPr lang="en-US" altLang="en-US" sz="2800"/>
              <a:t>: </a:t>
            </a:r>
            <a:r>
              <a:rPr lang="en-US" altLang="en-US" sz="2800" i="1"/>
              <a:t> </a:t>
            </a:r>
            <a:r>
              <a:rPr lang="en-US" altLang="en-US" sz="2800"/>
              <a:t>Initial Futures Price</a:t>
            </a:r>
          </a:p>
          <a:p>
            <a:pPr lvl="2" eaLnBrk="1" hangingPunct="1">
              <a:lnSpc>
                <a:spcPct val="90000"/>
              </a:lnSpc>
              <a:buFont typeface="Wingdings" panose="05000000000000000000" pitchFamily="2" charset="2"/>
              <a:buNone/>
            </a:pPr>
            <a:r>
              <a:rPr lang="en-US" altLang="en-US" sz="2800" i="1">
                <a:latin typeface="Times New Roman" panose="02020603050405020304" pitchFamily="18" charset="0"/>
                <a:cs typeface="Times New Roman" panose="02020603050405020304" pitchFamily="18" charset="0"/>
              </a:rPr>
              <a:t>F</a:t>
            </a:r>
            <a:r>
              <a:rPr lang="en-US" altLang="en-US" sz="2800" baseline="-25000"/>
              <a:t>2</a:t>
            </a:r>
            <a:r>
              <a:rPr lang="en-US" altLang="en-US" sz="2800" i="1"/>
              <a:t> </a:t>
            </a:r>
            <a:r>
              <a:rPr lang="en-US" altLang="en-US" sz="2800"/>
              <a:t>: </a:t>
            </a:r>
            <a:r>
              <a:rPr lang="en-US" altLang="en-US" sz="2800" i="1"/>
              <a:t> </a:t>
            </a:r>
            <a:r>
              <a:rPr lang="en-US" altLang="en-US" sz="2800"/>
              <a:t>Final Futures Price</a:t>
            </a:r>
          </a:p>
          <a:p>
            <a:pPr lvl="2" eaLnBrk="1" hangingPunct="1">
              <a:lnSpc>
                <a:spcPct val="90000"/>
              </a:lnSpc>
              <a:buFont typeface="Wingdings" panose="05000000000000000000" pitchFamily="2" charset="2"/>
              <a:buNone/>
            </a:pPr>
            <a:r>
              <a:rPr lang="en-US" altLang="en-US" sz="2800" i="1">
                <a:latin typeface="Times New Roman" panose="02020603050405020304" pitchFamily="18" charset="0"/>
                <a:cs typeface="Times New Roman" panose="02020603050405020304" pitchFamily="18" charset="0"/>
              </a:rPr>
              <a:t>S</a:t>
            </a:r>
            <a:r>
              <a:rPr lang="en-US" altLang="en-US" sz="2800" baseline="-25000"/>
              <a:t>2</a:t>
            </a:r>
            <a:r>
              <a:rPr lang="en-US" altLang="en-US" sz="2800" i="1" baseline="-25000"/>
              <a:t> </a:t>
            </a:r>
            <a:r>
              <a:rPr lang="en-US" altLang="en-US" sz="2800" i="1"/>
              <a:t> </a:t>
            </a:r>
            <a:r>
              <a:rPr lang="en-US" altLang="en-US" sz="2800"/>
              <a:t>: </a:t>
            </a:r>
            <a:r>
              <a:rPr lang="en-US" altLang="en-US" sz="2800" i="1"/>
              <a:t> </a:t>
            </a:r>
            <a:r>
              <a:rPr lang="en-US" altLang="en-US" sz="2800"/>
              <a:t>Final Asset Price</a:t>
            </a:r>
          </a:p>
          <a:p>
            <a:pPr eaLnBrk="1" hangingPunct="1">
              <a:lnSpc>
                <a:spcPct val="90000"/>
              </a:lnSpc>
            </a:pPr>
            <a:r>
              <a:rPr lang="en-US" altLang="en-US" sz="2800"/>
              <a:t>If you hedge the future purchase of an asset by entering into a long futures contract then</a:t>
            </a:r>
          </a:p>
          <a:p>
            <a:pPr eaLnBrk="1" hangingPunct="1">
              <a:lnSpc>
                <a:spcPct val="90000"/>
              </a:lnSpc>
              <a:buFont typeface="Wingdings 2" panose="05020102010507070707" pitchFamily="18" charset="2"/>
              <a:buNone/>
            </a:pPr>
            <a:r>
              <a:rPr lang="en-US" altLang="en-US" sz="2800"/>
              <a:t>Cost of Asset=</a:t>
            </a:r>
            <a:r>
              <a:rPr lang="en-US" altLang="en-US" sz="2800" i="1">
                <a:latin typeface="Times New Roman" panose="02020603050405020304" pitchFamily="18" charset="0"/>
                <a:cs typeface="Times New Roman" panose="02020603050405020304" pitchFamily="18" charset="0"/>
              </a:rPr>
              <a:t>S</a:t>
            </a:r>
            <a:r>
              <a:rPr lang="en-US" altLang="en-US" sz="2800" baseline="-25000">
                <a:latin typeface="Times New Roman" panose="02020603050405020304" pitchFamily="18" charset="0"/>
                <a:cs typeface="Times New Roman" panose="02020603050405020304" pitchFamily="18" charset="0"/>
              </a:rPr>
              <a:t>2</a:t>
            </a:r>
            <a:r>
              <a:rPr lang="en-US" altLang="en-US" sz="2800" i="1" baseline="-25000"/>
              <a:t> </a:t>
            </a:r>
            <a:r>
              <a:rPr lang="en-US" altLang="en-US" sz="2800">
                <a:latin typeface="Times New Roman" panose="02020603050405020304" pitchFamily="18" charset="0"/>
                <a:cs typeface="Times New Roman" panose="02020603050405020304" pitchFamily="18" charset="0"/>
              </a:rPr>
              <a:t>–</a:t>
            </a:r>
            <a:r>
              <a:rPr lang="en-US" altLang="en-US" sz="2800" i="1">
                <a:latin typeface="Times New Roman" panose="02020603050405020304" pitchFamily="18" charset="0"/>
                <a:cs typeface="Times New Roman" panose="02020603050405020304" pitchFamily="18" charset="0"/>
              </a:rPr>
              <a:t> (F</a:t>
            </a:r>
            <a:r>
              <a:rPr lang="en-US" altLang="en-US" sz="2800" baseline="-25000">
                <a:latin typeface="Times New Roman" panose="02020603050405020304" pitchFamily="18" charset="0"/>
                <a:cs typeface="Times New Roman" panose="02020603050405020304" pitchFamily="18" charset="0"/>
              </a:rPr>
              <a:t>2</a:t>
            </a:r>
            <a:r>
              <a:rPr lang="en-US" altLang="en-US" sz="2800" i="1" baseline="-25000">
                <a:latin typeface="Times New Roman" panose="02020603050405020304" pitchFamily="18" charset="0"/>
                <a:cs typeface="Times New Roman" panose="02020603050405020304" pitchFamily="18" charset="0"/>
              </a:rPr>
              <a:t> </a:t>
            </a:r>
            <a:r>
              <a:rPr lang="en-US" altLang="en-US" sz="2800">
                <a:latin typeface="Times New Roman" panose="02020603050405020304" pitchFamily="18" charset="0"/>
                <a:cs typeface="Times New Roman" panose="02020603050405020304" pitchFamily="18" charset="0"/>
              </a:rPr>
              <a:t>–</a:t>
            </a:r>
            <a:r>
              <a:rPr lang="en-US" altLang="en-US" sz="2800" i="1">
                <a:latin typeface="Times New Roman" panose="02020603050405020304" pitchFamily="18" charset="0"/>
                <a:cs typeface="Times New Roman" panose="02020603050405020304" pitchFamily="18" charset="0"/>
              </a:rPr>
              <a:t> F</a:t>
            </a:r>
            <a:r>
              <a:rPr lang="en-US" altLang="en-US" sz="2800" baseline="-25000">
                <a:latin typeface="Times New Roman" panose="02020603050405020304" pitchFamily="18" charset="0"/>
                <a:cs typeface="Times New Roman" panose="02020603050405020304" pitchFamily="18" charset="0"/>
              </a:rPr>
              <a:t>1</a:t>
            </a:r>
            <a:r>
              <a:rPr lang="en-US" altLang="en-US" sz="2800">
                <a:latin typeface="Times New Roman" panose="02020603050405020304" pitchFamily="18" charset="0"/>
                <a:cs typeface="Times New Roman" panose="02020603050405020304" pitchFamily="18" charset="0"/>
              </a:rPr>
              <a:t>)</a:t>
            </a:r>
            <a:r>
              <a:rPr lang="en-US" altLang="en-US" sz="2800" i="1">
                <a:latin typeface="Times New Roman" panose="02020603050405020304" pitchFamily="18" charset="0"/>
                <a:cs typeface="Times New Roman" panose="02020603050405020304" pitchFamily="18" charset="0"/>
              </a:rPr>
              <a:t> </a:t>
            </a:r>
            <a:r>
              <a:rPr lang="en-US" altLang="en-US" sz="2800">
                <a:latin typeface="Times New Roman" panose="02020603050405020304" pitchFamily="18" charset="0"/>
                <a:cs typeface="Times New Roman" panose="02020603050405020304" pitchFamily="18" charset="0"/>
              </a:rPr>
              <a:t>= </a:t>
            </a:r>
            <a:r>
              <a:rPr lang="en-US" altLang="en-US" sz="2800" i="1">
                <a:latin typeface="Times New Roman" panose="02020603050405020304" pitchFamily="18" charset="0"/>
                <a:cs typeface="Times New Roman" panose="02020603050405020304" pitchFamily="18" charset="0"/>
              </a:rPr>
              <a:t>F</a:t>
            </a:r>
            <a:r>
              <a:rPr lang="en-US" altLang="en-US" sz="2800" baseline="-25000">
                <a:latin typeface="Times New Roman" panose="02020603050405020304" pitchFamily="18" charset="0"/>
                <a:cs typeface="Times New Roman" panose="02020603050405020304" pitchFamily="18" charset="0"/>
              </a:rPr>
              <a:t>1</a:t>
            </a:r>
            <a:r>
              <a:rPr lang="en-US" altLang="en-US" sz="2800" i="1" baseline="-25000">
                <a:latin typeface="Times New Roman" panose="02020603050405020304" pitchFamily="18" charset="0"/>
                <a:cs typeface="Times New Roman" panose="02020603050405020304" pitchFamily="18" charset="0"/>
              </a:rPr>
              <a:t> </a:t>
            </a:r>
            <a:r>
              <a:rPr lang="en-US" altLang="en-US" sz="2800"/>
              <a:t>+ Basis </a:t>
            </a: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201CB1C3-8438-4DC9-A06A-352D5C286054}"/>
              </a:ext>
            </a:extLst>
          </p:cNvPr>
          <p:cNvSpPr>
            <a:spLocks noGrp="1" noChangeArrowheads="1"/>
          </p:cNvSpPr>
          <p:nvPr>
            <p:ph type="title"/>
          </p:nvPr>
        </p:nvSpPr>
        <p:spPr/>
        <p:txBody>
          <a:bodyPr lIns="90488" tIns="44450" rIns="90488" bIns="44450"/>
          <a:lstStyle/>
          <a:p>
            <a:pPr eaLnBrk="1" hangingPunct="1">
              <a:defRPr/>
            </a:pPr>
            <a:r>
              <a:rPr lang="en-US"/>
              <a:t>Short Hedge</a:t>
            </a:r>
          </a:p>
        </p:txBody>
      </p:sp>
      <p:sp>
        <p:nvSpPr>
          <p:cNvPr id="17412" name="Rectangle 3">
            <a:extLst>
              <a:ext uri="{FF2B5EF4-FFF2-40B4-BE49-F238E27FC236}">
                <a16:creationId xmlns:a16="http://schemas.microsoft.com/office/drawing/2014/main" id="{438CF982-CD4C-41AB-BD20-A00D25004752}"/>
              </a:ext>
            </a:extLst>
          </p:cNvPr>
          <p:cNvSpPr>
            <a:spLocks noGrp="1" noChangeArrowheads="1"/>
          </p:cNvSpPr>
          <p:nvPr>
            <p:ph type="body" idx="1"/>
          </p:nvPr>
        </p:nvSpPr>
        <p:spPr>
          <a:noFill/>
        </p:spPr>
        <p:txBody>
          <a:bodyPr lIns="90488" tIns="44450" rIns="90488" bIns="44450"/>
          <a:lstStyle/>
          <a:p>
            <a:pPr eaLnBrk="1" hangingPunct="1"/>
            <a:r>
              <a:rPr lang="en-CA" altLang="en-US" sz="2800"/>
              <a:t>Again we define</a:t>
            </a:r>
            <a:endParaRPr lang="en-US" altLang="en-US" sz="2800"/>
          </a:p>
          <a:p>
            <a:pPr lvl="2" eaLnBrk="1" hangingPunct="1">
              <a:buFont typeface="Wingdings" panose="05000000000000000000" pitchFamily="2" charset="2"/>
              <a:buNone/>
            </a:pPr>
            <a:r>
              <a:rPr lang="en-US" altLang="en-US" sz="2800" i="1">
                <a:latin typeface="Times New Roman" panose="02020603050405020304" pitchFamily="18" charset="0"/>
                <a:cs typeface="Times New Roman" panose="02020603050405020304" pitchFamily="18" charset="0"/>
              </a:rPr>
              <a:t>F</a:t>
            </a:r>
            <a:r>
              <a:rPr lang="en-US" altLang="en-US" sz="2800" baseline="-25000"/>
              <a:t>1</a:t>
            </a:r>
            <a:r>
              <a:rPr lang="en-US" altLang="en-US" sz="2800" i="1" baseline="-25000"/>
              <a:t> </a:t>
            </a:r>
            <a:r>
              <a:rPr lang="en-US" altLang="en-US" sz="2800"/>
              <a:t>: </a:t>
            </a:r>
            <a:r>
              <a:rPr lang="en-US" altLang="en-US" sz="2800" i="1"/>
              <a:t>  </a:t>
            </a:r>
            <a:r>
              <a:rPr lang="en-US" altLang="en-US" sz="2800"/>
              <a:t>Initial Futures Price</a:t>
            </a:r>
          </a:p>
          <a:p>
            <a:pPr lvl="2" eaLnBrk="1" hangingPunct="1">
              <a:buFont typeface="Wingdings" panose="05000000000000000000" pitchFamily="2" charset="2"/>
              <a:buNone/>
            </a:pPr>
            <a:r>
              <a:rPr lang="en-US" altLang="en-US" sz="2800" i="1">
                <a:latin typeface="Times New Roman" panose="02020603050405020304" pitchFamily="18" charset="0"/>
                <a:cs typeface="Times New Roman" panose="02020603050405020304" pitchFamily="18" charset="0"/>
              </a:rPr>
              <a:t>F</a:t>
            </a:r>
            <a:r>
              <a:rPr lang="en-US" altLang="en-US" sz="2800" baseline="-25000"/>
              <a:t>2</a:t>
            </a:r>
            <a:r>
              <a:rPr lang="en-US" altLang="en-US" sz="2800" i="1"/>
              <a:t> </a:t>
            </a:r>
            <a:r>
              <a:rPr lang="en-US" altLang="en-US" sz="2800"/>
              <a:t>: </a:t>
            </a:r>
            <a:r>
              <a:rPr lang="en-US" altLang="en-US" sz="2800" i="1"/>
              <a:t>  </a:t>
            </a:r>
            <a:r>
              <a:rPr lang="en-US" altLang="en-US" sz="2800"/>
              <a:t>Final Futures Price</a:t>
            </a:r>
          </a:p>
          <a:p>
            <a:pPr lvl="2" eaLnBrk="1" hangingPunct="1">
              <a:buFont typeface="Wingdings" panose="05000000000000000000" pitchFamily="2" charset="2"/>
              <a:buNone/>
            </a:pPr>
            <a:r>
              <a:rPr lang="en-US" altLang="en-US" sz="2800" i="1">
                <a:latin typeface="Times New Roman" panose="02020603050405020304" pitchFamily="18" charset="0"/>
                <a:cs typeface="Times New Roman" panose="02020603050405020304" pitchFamily="18" charset="0"/>
              </a:rPr>
              <a:t>S</a:t>
            </a:r>
            <a:r>
              <a:rPr lang="en-US" altLang="en-US" sz="2800" baseline="-25000"/>
              <a:t>2</a:t>
            </a:r>
            <a:r>
              <a:rPr lang="en-US" altLang="en-US" sz="2800" i="1" baseline="-25000"/>
              <a:t> </a:t>
            </a:r>
            <a:r>
              <a:rPr lang="en-US" altLang="en-US" sz="2800" i="1"/>
              <a:t> </a:t>
            </a:r>
            <a:r>
              <a:rPr lang="en-US" altLang="en-US" sz="2800"/>
              <a:t>: </a:t>
            </a:r>
            <a:r>
              <a:rPr lang="en-US" altLang="en-US" sz="2800" i="1"/>
              <a:t> </a:t>
            </a:r>
            <a:r>
              <a:rPr lang="en-US" altLang="en-US" sz="2800"/>
              <a:t>Final Asset Price</a:t>
            </a:r>
          </a:p>
          <a:p>
            <a:pPr eaLnBrk="1" hangingPunct="1"/>
            <a:r>
              <a:rPr lang="en-US" altLang="en-US" sz="2800"/>
              <a:t>If you hedge the future sale of an asset by entering into a short futures contract then</a:t>
            </a:r>
          </a:p>
          <a:p>
            <a:pPr eaLnBrk="1" hangingPunct="1">
              <a:buFont typeface="Wingdings 2" panose="05020102010507070707" pitchFamily="18" charset="2"/>
              <a:buNone/>
            </a:pPr>
            <a:r>
              <a:rPr lang="en-US" altLang="en-US" sz="2800"/>
              <a:t>Price Realized=</a:t>
            </a:r>
            <a:r>
              <a:rPr lang="en-US" altLang="en-US" sz="2800" i="1">
                <a:latin typeface="Times New Roman" panose="02020603050405020304" pitchFamily="18" charset="0"/>
                <a:cs typeface="Times New Roman" panose="02020603050405020304" pitchFamily="18" charset="0"/>
              </a:rPr>
              <a:t>S</a:t>
            </a:r>
            <a:r>
              <a:rPr lang="en-US" altLang="en-US" sz="2800" baseline="-25000">
                <a:latin typeface="Times New Roman" panose="02020603050405020304" pitchFamily="18" charset="0"/>
                <a:cs typeface="Times New Roman" panose="02020603050405020304" pitchFamily="18" charset="0"/>
              </a:rPr>
              <a:t>2</a:t>
            </a:r>
            <a:r>
              <a:rPr lang="en-US" altLang="en-US" sz="2800">
                <a:latin typeface="Times New Roman" panose="02020603050405020304" pitchFamily="18" charset="0"/>
                <a:cs typeface="Times New Roman" panose="02020603050405020304" pitchFamily="18" charset="0"/>
              </a:rPr>
              <a:t>+</a:t>
            </a:r>
            <a:r>
              <a:rPr lang="en-US" altLang="en-US" sz="2800" i="1">
                <a:latin typeface="Times New Roman" panose="02020603050405020304" pitchFamily="18" charset="0"/>
                <a:cs typeface="Times New Roman" panose="02020603050405020304" pitchFamily="18" charset="0"/>
              </a:rPr>
              <a:t> </a:t>
            </a:r>
            <a:r>
              <a:rPr lang="en-US" altLang="en-US" sz="2800">
                <a:latin typeface="Times New Roman" panose="02020603050405020304" pitchFamily="18" charset="0"/>
                <a:cs typeface="Times New Roman" panose="02020603050405020304" pitchFamily="18" charset="0"/>
              </a:rPr>
              <a:t>(</a:t>
            </a:r>
            <a:r>
              <a:rPr lang="en-US" altLang="en-US" sz="2800" i="1">
                <a:latin typeface="Times New Roman" panose="02020603050405020304" pitchFamily="18" charset="0"/>
                <a:cs typeface="Times New Roman" panose="02020603050405020304" pitchFamily="18" charset="0"/>
              </a:rPr>
              <a:t>F</a:t>
            </a:r>
            <a:r>
              <a:rPr lang="en-US" altLang="en-US" sz="2800" baseline="-25000">
                <a:latin typeface="Times New Roman" panose="02020603050405020304" pitchFamily="18" charset="0"/>
                <a:cs typeface="Times New Roman" panose="02020603050405020304" pitchFamily="18" charset="0"/>
              </a:rPr>
              <a:t>1 </a:t>
            </a:r>
            <a:r>
              <a:rPr lang="en-US" altLang="en-US" sz="2800">
                <a:latin typeface="Times New Roman" panose="02020603050405020304" pitchFamily="18" charset="0"/>
                <a:cs typeface="Times New Roman" panose="02020603050405020304" pitchFamily="18" charset="0"/>
              </a:rPr>
              <a:t>– </a:t>
            </a:r>
            <a:r>
              <a:rPr lang="en-US" altLang="en-US" sz="2800" i="1">
                <a:latin typeface="Times New Roman" panose="02020603050405020304" pitchFamily="18" charset="0"/>
                <a:cs typeface="Times New Roman" panose="02020603050405020304" pitchFamily="18" charset="0"/>
              </a:rPr>
              <a:t>F</a:t>
            </a:r>
            <a:r>
              <a:rPr lang="en-US" altLang="en-US" sz="2800" baseline="-25000">
                <a:latin typeface="Times New Roman" panose="02020603050405020304" pitchFamily="18" charset="0"/>
                <a:cs typeface="Times New Roman" panose="02020603050405020304" pitchFamily="18" charset="0"/>
              </a:rPr>
              <a:t>2</a:t>
            </a:r>
            <a:r>
              <a:rPr lang="en-US" altLang="en-US" sz="2800">
                <a:latin typeface="Times New Roman" panose="02020603050405020304" pitchFamily="18" charset="0"/>
                <a:cs typeface="Times New Roman" panose="02020603050405020304" pitchFamily="18" charset="0"/>
              </a:rPr>
              <a:t>)</a:t>
            </a:r>
            <a:r>
              <a:rPr lang="en-US" altLang="en-US" sz="2800" i="1">
                <a:latin typeface="Times New Roman" panose="02020603050405020304" pitchFamily="18" charset="0"/>
                <a:cs typeface="Times New Roman" panose="02020603050405020304" pitchFamily="18" charset="0"/>
              </a:rPr>
              <a:t> </a:t>
            </a:r>
            <a:r>
              <a:rPr lang="en-US" altLang="en-US" sz="2800">
                <a:latin typeface="Times New Roman" panose="02020603050405020304" pitchFamily="18" charset="0"/>
                <a:cs typeface="Times New Roman" panose="02020603050405020304" pitchFamily="18" charset="0"/>
              </a:rPr>
              <a:t>= </a:t>
            </a:r>
            <a:r>
              <a:rPr lang="en-US" altLang="en-US" sz="2800" i="1">
                <a:latin typeface="Times New Roman" panose="02020603050405020304" pitchFamily="18" charset="0"/>
                <a:cs typeface="Times New Roman" panose="02020603050405020304" pitchFamily="18" charset="0"/>
              </a:rPr>
              <a:t>F</a:t>
            </a:r>
            <a:r>
              <a:rPr lang="en-US" altLang="en-US" sz="2800" baseline="-25000">
                <a:latin typeface="Times New Roman" panose="02020603050405020304" pitchFamily="18" charset="0"/>
                <a:cs typeface="Times New Roman" panose="02020603050405020304" pitchFamily="18" charset="0"/>
              </a:rPr>
              <a:t>1</a:t>
            </a:r>
            <a:r>
              <a:rPr lang="en-US" altLang="en-US" sz="2800" i="1" baseline="-25000">
                <a:latin typeface="Times New Roman" panose="02020603050405020304" pitchFamily="18" charset="0"/>
                <a:cs typeface="Times New Roman" panose="02020603050405020304" pitchFamily="18" charset="0"/>
              </a:rPr>
              <a:t> </a:t>
            </a:r>
            <a:r>
              <a:rPr lang="en-US" altLang="en-US" sz="2800"/>
              <a:t>+</a:t>
            </a:r>
            <a:r>
              <a:rPr lang="en-US" altLang="en-US" sz="2800" i="1"/>
              <a:t> </a:t>
            </a:r>
            <a:r>
              <a:rPr lang="en-US" altLang="en-US" sz="2800"/>
              <a:t>Basis</a:t>
            </a: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1C3DAC68-F2FA-4D29-88B0-0FDC9142B29B}"/>
              </a:ext>
            </a:extLst>
          </p:cNvPr>
          <p:cNvSpPr>
            <a:spLocks noGrp="1" noChangeArrowheads="1"/>
          </p:cNvSpPr>
          <p:nvPr>
            <p:ph type="title"/>
          </p:nvPr>
        </p:nvSpPr>
        <p:spPr/>
        <p:txBody>
          <a:bodyPr lIns="90488" tIns="44450" rIns="90488" bIns="44450"/>
          <a:lstStyle/>
          <a:p>
            <a:pPr eaLnBrk="1" hangingPunct="1">
              <a:defRPr/>
            </a:pPr>
            <a:r>
              <a:rPr lang="en-US"/>
              <a:t>Choice of Contract</a:t>
            </a:r>
          </a:p>
        </p:txBody>
      </p:sp>
      <p:sp>
        <p:nvSpPr>
          <p:cNvPr id="18436" name="Rectangle 3">
            <a:extLst>
              <a:ext uri="{FF2B5EF4-FFF2-40B4-BE49-F238E27FC236}">
                <a16:creationId xmlns:a16="http://schemas.microsoft.com/office/drawing/2014/main" id="{A24E1974-D22A-4244-B308-D66F28B02C92}"/>
              </a:ext>
            </a:extLst>
          </p:cNvPr>
          <p:cNvSpPr>
            <a:spLocks noGrp="1" noChangeArrowheads="1"/>
          </p:cNvSpPr>
          <p:nvPr>
            <p:ph type="body" idx="1"/>
          </p:nvPr>
        </p:nvSpPr>
        <p:spPr>
          <a:noFill/>
        </p:spPr>
        <p:txBody>
          <a:bodyPr lIns="90488" tIns="44450" rIns="90488" bIns="44450"/>
          <a:lstStyle/>
          <a:p>
            <a:pPr eaLnBrk="1" hangingPunct="1"/>
            <a:r>
              <a:rPr lang="en-US" altLang="en-US" sz="2800"/>
              <a:t>Choose a delivery month that is as close as possible to, but later than, the end of the life of the hedge</a:t>
            </a:r>
          </a:p>
          <a:p>
            <a:pPr eaLnBrk="1" hangingPunct="1"/>
            <a:r>
              <a:rPr lang="en-US" altLang="en-US" sz="2800"/>
              <a:t>When there is no futures contract on the asset being hedged, choose the contract whose futures price is most highly correlated with the asset price. This is known as cross hedging.</a:t>
            </a: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287E98AB-15C5-4D6B-AD4B-C3829B09D20C}"/>
              </a:ext>
            </a:extLst>
          </p:cNvPr>
          <p:cNvSpPr>
            <a:spLocks noGrp="1" noChangeArrowheads="1"/>
          </p:cNvSpPr>
          <p:nvPr>
            <p:ph type="title"/>
          </p:nvPr>
        </p:nvSpPr>
        <p:spPr/>
        <p:txBody>
          <a:bodyPr lIns="92075" tIns="46038" rIns="92075" bIns="46038"/>
          <a:lstStyle/>
          <a:p>
            <a:pPr eaLnBrk="1" hangingPunct="1">
              <a:defRPr/>
            </a:pPr>
            <a:r>
              <a:rPr lang="en-US" dirty="0"/>
              <a:t>Optimal Hedge Ratio </a:t>
            </a:r>
            <a:r>
              <a:rPr lang="en-US" sz="2700" dirty="0"/>
              <a:t>(page 55)</a:t>
            </a:r>
          </a:p>
        </p:txBody>
      </p:sp>
      <p:sp>
        <p:nvSpPr>
          <p:cNvPr id="1029" name="Rectangle 3">
            <a:extLst>
              <a:ext uri="{FF2B5EF4-FFF2-40B4-BE49-F238E27FC236}">
                <a16:creationId xmlns:a16="http://schemas.microsoft.com/office/drawing/2014/main" id="{34427DD0-5872-439C-9EE3-08CE331B41E6}"/>
              </a:ext>
            </a:extLst>
          </p:cNvPr>
          <p:cNvSpPr>
            <a:spLocks noGrp="1" noChangeArrowheads="1"/>
          </p:cNvSpPr>
          <p:nvPr>
            <p:ph type="body" idx="1"/>
          </p:nvPr>
        </p:nvSpPr>
        <p:spPr>
          <a:xfrm>
            <a:off x="1371600" y="1676400"/>
            <a:ext cx="6991350" cy="4572000"/>
          </a:xfrm>
          <a:noFill/>
        </p:spPr>
        <p:txBody>
          <a:bodyPr lIns="92075" tIns="46038" rIns="92075" bIns="46038">
            <a:normAutofit lnSpcReduction="10000"/>
          </a:bodyPr>
          <a:lstStyle/>
          <a:p>
            <a:pPr eaLnBrk="1" hangingPunct="1">
              <a:buFont typeface="Wingdings" panose="05000000000000000000" pitchFamily="2" charset="2"/>
              <a:buNone/>
            </a:pPr>
            <a:r>
              <a:rPr lang="en-US" altLang="en-US" sz="2400"/>
              <a:t>	Proportion of the exposure that should optimally be hedged is											</a:t>
            </a:r>
          </a:p>
          <a:p>
            <a:pPr eaLnBrk="1" hangingPunct="1">
              <a:buFont typeface="Wingdings" panose="05000000000000000000" pitchFamily="2" charset="2"/>
              <a:buNone/>
            </a:pPr>
            <a:r>
              <a:rPr lang="en-US" altLang="en-US" sz="2400"/>
              <a:t>	</a:t>
            </a:r>
          </a:p>
          <a:p>
            <a:pPr eaLnBrk="1" hangingPunct="1">
              <a:buFont typeface="Wingdings" panose="05000000000000000000" pitchFamily="2" charset="2"/>
              <a:buNone/>
            </a:pPr>
            <a:r>
              <a:rPr lang="en-US" altLang="en-US" sz="2400"/>
              <a:t>	where </a:t>
            </a:r>
          </a:p>
          <a:p>
            <a:pPr eaLnBrk="1" hangingPunct="1">
              <a:buFont typeface="Wingdings" panose="05000000000000000000" pitchFamily="2" charset="2"/>
              <a:buNone/>
            </a:pPr>
            <a:r>
              <a:rPr lang="en-US" altLang="en-US" sz="2400">
                <a:latin typeface="Symbol" panose="05050102010706020507" pitchFamily="18" charset="2"/>
              </a:rPr>
              <a:t>	s</a:t>
            </a:r>
            <a:r>
              <a:rPr lang="en-US" altLang="en-US" sz="2400" i="1" baseline="-25000"/>
              <a:t>S</a:t>
            </a:r>
            <a:r>
              <a:rPr lang="en-US" altLang="en-US" sz="2400"/>
              <a:t> is the standard deviation of </a:t>
            </a:r>
            <a:r>
              <a:rPr lang="en-US" altLang="en-US" sz="2400">
                <a:latin typeface="Symbol" panose="05050102010706020507" pitchFamily="18" charset="2"/>
              </a:rPr>
              <a:t>D</a:t>
            </a:r>
            <a:r>
              <a:rPr lang="en-US" altLang="en-US" sz="2400" i="1"/>
              <a:t>S</a:t>
            </a:r>
            <a:r>
              <a:rPr lang="en-US" altLang="en-US" sz="2400"/>
              <a:t>, the change in the spot price during the hedging period, </a:t>
            </a:r>
          </a:p>
          <a:p>
            <a:pPr eaLnBrk="1" hangingPunct="1">
              <a:buFont typeface="Wingdings" panose="05000000000000000000" pitchFamily="2" charset="2"/>
              <a:buNone/>
            </a:pPr>
            <a:r>
              <a:rPr lang="en-US" altLang="en-US" sz="2400"/>
              <a:t>	</a:t>
            </a:r>
            <a:r>
              <a:rPr lang="en-US" altLang="en-US" sz="2400">
                <a:latin typeface="Symbol" panose="05050102010706020507" pitchFamily="18" charset="2"/>
              </a:rPr>
              <a:t>s</a:t>
            </a:r>
            <a:r>
              <a:rPr lang="en-US" altLang="en-US" sz="2400" i="1" baseline="-25000"/>
              <a:t>F</a:t>
            </a:r>
            <a:r>
              <a:rPr lang="en-US" altLang="en-US" sz="2400"/>
              <a:t> is the standard deviation of </a:t>
            </a:r>
            <a:r>
              <a:rPr lang="en-US" altLang="en-US" sz="2400">
                <a:latin typeface="Symbol" panose="05050102010706020507" pitchFamily="18" charset="2"/>
              </a:rPr>
              <a:t>D</a:t>
            </a:r>
            <a:r>
              <a:rPr lang="en-US" altLang="en-US" sz="2400" i="1"/>
              <a:t>F</a:t>
            </a:r>
            <a:r>
              <a:rPr lang="en-US" altLang="en-US" sz="2400"/>
              <a:t>, the change in the futures price during the hedging period</a:t>
            </a:r>
          </a:p>
          <a:p>
            <a:pPr eaLnBrk="1" hangingPunct="1">
              <a:buFont typeface="Wingdings" panose="05000000000000000000" pitchFamily="2" charset="2"/>
              <a:buNone/>
            </a:pPr>
            <a:r>
              <a:rPr lang="en-US" altLang="en-US" sz="2400"/>
              <a:t>	</a:t>
            </a:r>
            <a:r>
              <a:rPr lang="en-US" altLang="en-US" sz="2400">
                <a:latin typeface="Symbol" panose="05050102010706020507" pitchFamily="18" charset="2"/>
              </a:rPr>
              <a:t>r</a:t>
            </a:r>
            <a:r>
              <a:rPr lang="en-US" altLang="en-US" sz="2400"/>
              <a:t> is the coefficient of correlation between </a:t>
            </a:r>
            <a:r>
              <a:rPr lang="en-US" altLang="en-US" sz="2400">
                <a:latin typeface="Symbol" panose="05050102010706020507" pitchFamily="18" charset="2"/>
              </a:rPr>
              <a:t>D</a:t>
            </a:r>
            <a:r>
              <a:rPr lang="en-US" altLang="en-US" sz="2400" i="1"/>
              <a:t>S</a:t>
            </a:r>
            <a:r>
              <a:rPr lang="en-US" altLang="en-US" sz="2400"/>
              <a:t> and </a:t>
            </a:r>
            <a:r>
              <a:rPr lang="en-US" altLang="en-US" sz="2400">
                <a:latin typeface="Symbol" panose="05050102010706020507" pitchFamily="18" charset="2"/>
              </a:rPr>
              <a:t>D</a:t>
            </a:r>
            <a:r>
              <a:rPr lang="en-US" altLang="en-US" sz="2400" i="1"/>
              <a:t>F</a:t>
            </a:r>
            <a:r>
              <a:rPr lang="en-US" altLang="en-US" sz="2400"/>
              <a:t>.</a:t>
            </a:r>
          </a:p>
          <a:p>
            <a:pPr eaLnBrk="1" hangingPunct="1">
              <a:buFont typeface="Wingdings" panose="05000000000000000000" pitchFamily="2" charset="2"/>
              <a:buNone/>
            </a:pPr>
            <a:r>
              <a:rPr lang="en-US" altLang="en-US" sz="2400" i="1"/>
              <a:t>	</a:t>
            </a:r>
          </a:p>
        </p:txBody>
      </p:sp>
      <p:graphicFrame>
        <p:nvGraphicFramePr>
          <p:cNvPr id="1026" name="Object 4">
            <a:extLst>
              <a:ext uri="{FF2B5EF4-FFF2-40B4-BE49-F238E27FC236}">
                <a16:creationId xmlns:a16="http://schemas.microsoft.com/office/drawing/2014/main" id="{74BBD080-D041-4E50-8C5C-4EEE022915D9}"/>
              </a:ext>
            </a:extLst>
          </p:cNvPr>
          <p:cNvGraphicFramePr>
            <a:graphicFrameLocks noChangeAspect="1"/>
          </p:cNvGraphicFramePr>
          <p:nvPr/>
        </p:nvGraphicFramePr>
        <p:xfrm>
          <a:off x="3505200" y="2514600"/>
          <a:ext cx="795338" cy="838200"/>
        </p:xfrm>
        <a:graphic>
          <a:graphicData uri="http://schemas.openxmlformats.org/presentationml/2006/ole">
            <mc:AlternateContent xmlns:mc="http://schemas.openxmlformats.org/markup-compatibility/2006">
              <mc:Choice xmlns:v="urn:schemas-microsoft-com:vml" Requires="v">
                <p:oleObj spid="_x0000_s1029" name="Equation" r:id="rId4" imgW="380880" imgH="431640" progId="Equation.3">
                  <p:embed/>
                </p:oleObj>
              </mc:Choice>
              <mc:Fallback>
                <p:oleObj name="Equation" r:id="rId4" imgW="380880" imgH="431640" progId="Equation.3">
                  <p:embed/>
                  <p:pic>
                    <p:nvPicPr>
                      <p:cNvPr id="1026" name="Object 4">
                        <a:extLst>
                          <a:ext uri="{FF2B5EF4-FFF2-40B4-BE49-F238E27FC236}">
                            <a16:creationId xmlns:a16="http://schemas.microsoft.com/office/drawing/2014/main" id="{74BBD080-D041-4E50-8C5C-4EEE022915D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05200" y="2514600"/>
                        <a:ext cx="795338" cy="838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6D49C0-86A8-4118-A2CA-7A5D2A42323C}"/>
              </a:ext>
            </a:extLst>
          </p:cNvPr>
          <p:cNvSpPr>
            <a:spLocks noGrp="1"/>
          </p:cNvSpPr>
          <p:nvPr>
            <p:ph type="title"/>
          </p:nvPr>
        </p:nvSpPr>
        <p:spPr/>
        <p:txBody>
          <a:bodyPr/>
          <a:lstStyle/>
          <a:p>
            <a:pPr eaLnBrk="1" hangingPunct="1">
              <a:defRPr/>
            </a:pPr>
            <a:r>
              <a:rPr lang="en-CA" dirty="0"/>
              <a:t>Tailing the Hedge</a:t>
            </a:r>
            <a:endParaRPr lang="en-US" dirty="0"/>
          </a:p>
        </p:txBody>
      </p:sp>
      <p:sp>
        <p:nvSpPr>
          <p:cNvPr id="19459" name="Content Placeholder 2">
            <a:extLst>
              <a:ext uri="{FF2B5EF4-FFF2-40B4-BE49-F238E27FC236}">
                <a16:creationId xmlns:a16="http://schemas.microsoft.com/office/drawing/2014/main" id="{E7F1C9CD-CE4F-4446-871E-5AD8CF7AAC31}"/>
              </a:ext>
            </a:extLst>
          </p:cNvPr>
          <p:cNvSpPr>
            <a:spLocks noGrp="1"/>
          </p:cNvSpPr>
          <p:nvPr>
            <p:ph idx="1"/>
          </p:nvPr>
        </p:nvSpPr>
        <p:spPr/>
        <p:txBody>
          <a:bodyPr/>
          <a:lstStyle/>
          <a:p>
            <a:pPr eaLnBrk="1" hangingPunct="1"/>
            <a:r>
              <a:rPr lang="en-CA" altLang="en-US" sz="2800" dirty="0"/>
              <a:t>Two way of determining the number of contracts to use for hedging are</a:t>
            </a:r>
          </a:p>
          <a:p>
            <a:pPr lvl="1" eaLnBrk="1" hangingPunct="1"/>
            <a:r>
              <a:rPr lang="en-CA" altLang="en-US" sz="2400" dirty="0"/>
              <a:t>Compare the exposure to be hedged with the value of the assets underlying one futures contract</a:t>
            </a:r>
          </a:p>
          <a:p>
            <a:pPr lvl="1" eaLnBrk="1" hangingPunct="1"/>
            <a:r>
              <a:rPr lang="en-CA" altLang="en-US" sz="2400" dirty="0"/>
              <a:t>Compare the exposure to be hedged with the value of one futures contract</a:t>
            </a:r>
          </a:p>
          <a:p>
            <a:pPr eaLnBrk="1" hangingPunct="1"/>
            <a:r>
              <a:rPr lang="en-CA" altLang="en-US" sz="2800" dirty="0"/>
              <a:t>The second approach incorporates an adjustment for the daily settlement of futures</a:t>
            </a:r>
            <a:endParaRPr lang="en-US" altLang="en-US" sz="2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54898CD8-FD29-4AB9-88B2-A14CADB53B03}"/>
              </a:ext>
            </a:extLst>
          </p:cNvPr>
          <p:cNvSpPr>
            <a:spLocks noGrp="1" noChangeArrowheads="1"/>
          </p:cNvSpPr>
          <p:nvPr>
            <p:ph type="title"/>
          </p:nvPr>
        </p:nvSpPr>
        <p:spPr/>
        <p:txBody>
          <a:bodyPr>
            <a:normAutofit fontScale="90000"/>
          </a:bodyPr>
          <a:lstStyle/>
          <a:p>
            <a:pPr eaLnBrk="1" hangingPunct="1">
              <a:defRPr/>
            </a:pPr>
            <a:r>
              <a:rPr lang="en-US" dirty="0"/>
              <a:t>Hedging Using Index Futures</a:t>
            </a:r>
            <a:br>
              <a:rPr lang="en-US" dirty="0"/>
            </a:br>
            <a:endParaRPr lang="en-US" dirty="0"/>
          </a:p>
        </p:txBody>
      </p:sp>
      <p:sp>
        <p:nvSpPr>
          <p:cNvPr id="2053" name="Rectangle 3">
            <a:extLst>
              <a:ext uri="{FF2B5EF4-FFF2-40B4-BE49-F238E27FC236}">
                <a16:creationId xmlns:a16="http://schemas.microsoft.com/office/drawing/2014/main" id="{38522ADA-325A-4ED6-9661-B4B0B601D750}"/>
              </a:ext>
            </a:extLst>
          </p:cNvPr>
          <p:cNvSpPr>
            <a:spLocks noGrp="1" noChangeArrowheads="1"/>
          </p:cNvSpPr>
          <p:nvPr>
            <p:ph type="body" idx="1"/>
          </p:nvPr>
        </p:nvSpPr>
        <p:spPr>
          <a:xfrm>
            <a:off x="1600200" y="1719263"/>
            <a:ext cx="7010400" cy="4411662"/>
          </a:xfrm>
        </p:spPr>
        <p:txBody>
          <a:bodyPr/>
          <a:lstStyle/>
          <a:p>
            <a:pPr eaLnBrk="1" hangingPunct="1">
              <a:buFont typeface="Wingdings" panose="05000000000000000000" pitchFamily="2" charset="2"/>
              <a:buNone/>
            </a:pPr>
            <a:r>
              <a:rPr lang="en-US" altLang="en-US" dirty="0"/>
              <a:t>	</a:t>
            </a:r>
            <a:r>
              <a:rPr lang="en-US" altLang="en-US" sz="2800" dirty="0"/>
              <a:t>To hedge the risk in a portfolio the number of contracts that should be shorted is</a:t>
            </a:r>
          </a:p>
          <a:p>
            <a:pPr eaLnBrk="1" hangingPunct="1">
              <a:buFont typeface="Wingdings 2" panose="05020102010507070707" pitchFamily="18" charset="2"/>
              <a:buNone/>
            </a:pPr>
            <a:endParaRPr lang="en-US" altLang="en-US" sz="2800" dirty="0"/>
          </a:p>
          <a:p>
            <a:pPr eaLnBrk="1" hangingPunct="1">
              <a:buFont typeface="Wingdings" panose="05000000000000000000" pitchFamily="2" charset="2"/>
              <a:buNone/>
            </a:pPr>
            <a:r>
              <a:rPr lang="en-US" altLang="en-US" sz="2800" dirty="0"/>
              <a:t>	</a:t>
            </a:r>
          </a:p>
          <a:p>
            <a:pPr eaLnBrk="1" hangingPunct="1">
              <a:buFont typeface="Wingdings" panose="05000000000000000000" pitchFamily="2" charset="2"/>
              <a:buNone/>
            </a:pPr>
            <a:r>
              <a:rPr lang="en-US" altLang="en-US" sz="2800" dirty="0"/>
              <a:t>	where </a:t>
            </a:r>
            <a:r>
              <a:rPr lang="en-US" altLang="en-US" sz="2800" i="1" dirty="0">
                <a:latin typeface="Times New Roman" panose="02020603050405020304" pitchFamily="18" charset="0"/>
                <a:cs typeface="Times New Roman" panose="02020603050405020304" pitchFamily="18" charset="0"/>
              </a:rPr>
              <a:t>P</a:t>
            </a:r>
            <a:r>
              <a:rPr lang="en-US" altLang="en-US" sz="2800" dirty="0"/>
              <a:t> is the value of the portfolio, </a:t>
            </a:r>
            <a:r>
              <a:rPr lang="en-US" altLang="en-US" sz="2800" dirty="0">
                <a:latin typeface="Symbol" panose="05050102010706020507" pitchFamily="18" charset="2"/>
              </a:rPr>
              <a:t>b </a:t>
            </a:r>
            <a:r>
              <a:rPr lang="en-US" altLang="en-US" sz="2800" dirty="0"/>
              <a:t>is its beta, and </a:t>
            </a:r>
            <a:r>
              <a:rPr lang="en-US" altLang="en-US" sz="2800" i="1" dirty="0">
                <a:latin typeface="Times New Roman" panose="02020603050405020304" pitchFamily="18" charset="0"/>
                <a:cs typeface="Times New Roman" panose="02020603050405020304" pitchFamily="18" charset="0"/>
              </a:rPr>
              <a:t>F</a:t>
            </a:r>
            <a:r>
              <a:rPr lang="en-US" altLang="en-US" sz="2800" dirty="0"/>
              <a:t> is the value of one futures contract</a:t>
            </a:r>
          </a:p>
        </p:txBody>
      </p:sp>
      <p:graphicFrame>
        <p:nvGraphicFramePr>
          <p:cNvPr id="2050" name="Object 4">
            <a:extLst>
              <a:ext uri="{FF2B5EF4-FFF2-40B4-BE49-F238E27FC236}">
                <a16:creationId xmlns:a16="http://schemas.microsoft.com/office/drawing/2014/main" id="{73DD61F5-9481-4C84-8779-BF89AEF7019B}"/>
              </a:ext>
            </a:extLst>
          </p:cNvPr>
          <p:cNvGraphicFramePr>
            <a:graphicFrameLocks noChangeAspect="1"/>
          </p:cNvGraphicFramePr>
          <p:nvPr/>
        </p:nvGraphicFramePr>
        <p:xfrm>
          <a:off x="4267200" y="2819400"/>
          <a:ext cx="795338" cy="906463"/>
        </p:xfrm>
        <a:graphic>
          <a:graphicData uri="http://schemas.openxmlformats.org/presentationml/2006/ole">
            <mc:AlternateContent xmlns:mc="http://schemas.openxmlformats.org/markup-compatibility/2006">
              <mc:Choice xmlns:v="urn:schemas-microsoft-com:vml" Requires="v">
                <p:oleObj spid="_x0000_s2053" name="Equation" r:id="rId4" imgW="317160" imgH="393480" progId="Equation.3">
                  <p:embed/>
                </p:oleObj>
              </mc:Choice>
              <mc:Fallback>
                <p:oleObj name="Equation" r:id="rId4" imgW="317160" imgH="393480" progId="Equation.3">
                  <p:embed/>
                  <p:pic>
                    <p:nvPicPr>
                      <p:cNvPr id="2050" name="Object 4">
                        <a:extLst>
                          <a:ext uri="{FF2B5EF4-FFF2-40B4-BE49-F238E27FC236}">
                            <a16:creationId xmlns:a16="http://schemas.microsoft.com/office/drawing/2014/main" id="{73DD61F5-9481-4C84-8779-BF89AEF7019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67200" y="2819400"/>
                        <a:ext cx="795338" cy="906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708B60DF-32FE-4D32-9065-518172E23CFC}"/>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dirty="0">
              <a:solidFill>
                <a:srgbClr val="899BA4"/>
              </a:solidFill>
            </a:endParaRPr>
          </a:p>
        </p:txBody>
      </p:sp>
      <p:sp>
        <p:nvSpPr>
          <p:cNvPr id="20482" name="Rectangle 1026">
            <a:extLst>
              <a:ext uri="{FF2B5EF4-FFF2-40B4-BE49-F238E27FC236}">
                <a16:creationId xmlns:a16="http://schemas.microsoft.com/office/drawing/2014/main" id="{C83822E9-0609-4DAE-B7EB-22F287978742}"/>
              </a:ext>
            </a:extLst>
          </p:cNvPr>
          <p:cNvSpPr>
            <a:spLocks noGrp="1" noChangeArrowheads="1"/>
          </p:cNvSpPr>
          <p:nvPr>
            <p:ph type="title"/>
          </p:nvPr>
        </p:nvSpPr>
        <p:spPr/>
        <p:txBody>
          <a:bodyPr/>
          <a:lstStyle/>
          <a:p>
            <a:pPr eaLnBrk="1" hangingPunct="1">
              <a:defRPr/>
            </a:pPr>
            <a:r>
              <a:rPr lang="en-US"/>
              <a:t>Example</a:t>
            </a:r>
          </a:p>
        </p:txBody>
      </p:sp>
      <p:sp>
        <p:nvSpPr>
          <p:cNvPr id="20484" name="Rectangle 1027">
            <a:extLst>
              <a:ext uri="{FF2B5EF4-FFF2-40B4-BE49-F238E27FC236}">
                <a16:creationId xmlns:a16="http://schemas.microsoft.com/office/drawing/2014/main" id="{9CC9176A-8571-477A-8BE3-F9EDBBC6D45B}"/>
              </a:ext>
            </a:extLst>
          </p:cNvPr>
          <p:cNvSpPr>
            <a:spLocks noGrp="1" noChangeArrowheads="1"/>
          </p:cNvSpPr>
          <p:nvPr>
            <p:ph type="body" idx="1"/>
          </p:nvPr>
        </p:nvSpPr>
        <p:spPr/>
        <p:txBody>
          <a:bodyPr/>
          <a:lstStyle/>
          <a:p>
            <a:pPr eaLnBrk="1" hangingPunct="1">
              <a:buFont typeface="Wingdings" panose="05000000000000000000" pitchFamily="2" charset="2"/>
              <a:buNone/>
            </a:pPr>
            <a:r>
              <a:rPr lang="en-US" altLang="en-US" dirty="0"/>
              <a:t>	</a:t>
            </a:r>
            <a:r>
              <a:rPr lang="en-US" altLang="en-US" sz="2800" dirty="0"/>
              <a:t>S&amp;P 500 futures price is 1,000</a:t>
            </a:r>
          </a:p>
          <a:p>
            <a:pPr eaLnBrk="1" hangingPunct="1">
              <a:buFont typeface="Wingdings" panose="05000000000000000000" pitchFamily="2" charset="2"/>
              <a:buNone/>
            </a:pPr>
            <a:r>
              <a:rPr lang="en-US" altLang="en-US" sz="2800" dirty="0"/>
              <a:t>	Value of Portfolio is $5 million</a:t>
            </a:r>
          </a:p>
          <a:p>
            <a:pPr eaLnBrk="1" hangingPunct="1">
              <a:buFont typeface="Wingdings" panose="05000000000000000000" pitchFamily="2" charset="2"/>
              <a:buNone/>
            </a:pPr>
            <a:r>
              <a:rPr lang="en-US" altLang="en-US" sz="2800" dirty="0"/>
              <a:t>	Beta of portfolio is 1.5</a:t>
            </a:r>
          </a:p>
          <a:p>
            <a:pPr>
              <a:buNone/>
            </a:pPr>
            <a:r>
              <a:rPr lang="en-US" altLang="en-US" sz="2800" dirty="0"/>
              <a:t>	1 Contract=250 index points</a:t>
            </a:r>
          </a:p>
          <a:p>
            <a:pPr eaLnBrk="1" hangingPunct="1">
              <a:buFont typeface="Wingdings" panose="05000000000000000000" pitchFamily="2" charset="2"/>
              <a:buNone/>
            </a:pPr>
            <a:endParaRPr lang="en-US" altLang="en-US" sz="2800" dirty="0"/>
          </a:p>
          <a:p>
            <a:pPr eaLnBrk="1" hangingPunct="1">
              <a:buFont typeface="Wingdings" panose="05000000000000000000" pitchFamily="2" charset="2"/>
              <a:buNone/>
            </a:pPr>
            <a:endParaRPr lang="en-US" altLang="en-US" sz="2800" dirty="0"/>
          </a:p>
          <a:p>
            <a:pPr eaLnBrk="1" hangingPunct="1">
              <a:buFont typeface="Wingdings" panose="05000000000000000000" pitchFamily="2" charset="2"/>
              <a:buNone/>
            </a:pPr>
            <a:r>
              <a:rPr lang="en-US" altLang="en-US" sz="2800" dirty="0"/>
              <a:t>	What position in futures contracts on the S&amp;P 500 is necessary to hedge the portfolio?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563</TotalTime>
  <Words>1273</Words>
  <Application>Microsoft Office PowerPoint</Application>
  <PresentationFormat>On-screen Show (4:3)</PresentationFormat>
  <Paragraphs>162</Paragraphs>
  <Slides>28</Slides>
  <Notes>20</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28</vt:i4>
      </vt:variant>
    </vt:vector>
  </HeadingPairs>
  <TitlesOfParts>
    <vt:vector size="36" baseType="lpstr">
      <vt:lpstr>Arial</vt:lpstr>
      <vt:lpstr>Calibri</vt:lpstr>
      <vt:lpstr>Symbol</vt:lpstr>
      <vt:lpstr>Times New Roman</vt:lpstr>
      <vt:lpstr>Wingdings</vt:lpstr>
      <vt:lpstr>Wingdings 2</vt:lpstr>
      <vt:lpstr>Office Theme</vt:lpstr>
      <vt:lpstr>Microsoft Equation 3.0</vt:lpstr>
      <vt:lpstr>PowerPoint Presentation</vt:lpstr>
      <vt:lpstr> Derivatives –an introduction</vt:lpstr>
      <vt:lpstr> Derivatives –a formal definition</vt:lpstr>
      <vt:lpstr>Types of Derivatives </vt:lpstr>
      <vt:lpstr>PowerPoint Presentation</vt:lpstr>
      <vt:lpstr>PowerPoint Presentation</vt:lpstr>
      <vt:lpstr>Forwards and Futures</vt:lpstr>
      <vt:lpstr>Forward Contracts</vt:lpstr>
      <vt:lpstr>Futures Contracts</vt:lpstr>
      <vt:lpstr>Forward Contracts vs Futures Contracts</vt:lpstr>
      <vt:lpstr>India </vt:lpstr>
      <vt:lpstr>Profit from a Long Forward or Futures Position</vt:lpstr>
      <vt:lpstr>Profit from a Short Forward or Futures Position</vt:lpstr>
      <vt:lpstr>Margins</vt:lpstr>
      <vt:lpstr>Example of a Futures Trade</vt:lpstr>
      <vt:lpstr>Other Key Points About Futures</vt:lpstr>
      <vt:lpstr>Delivery</vt:lpstr>
      <vt:lpstr>Some Terminology</vt:lpstr>
      <vt:lpstr>Convergence of Futures to Spot (a)Contango and (b) Backwardation</vt:lpstr>
      <vt:lpstr>Questions</vt:lpstr>
      <vt:lpstr>Basis Risk</vt:lpstr>
      <vt:lpstr>Long Hedge </vt:lpstr>
      <vt:lpstr>Short Hedge</vt:lpstr>
      <vt:lpstr>Choice of Contract</vt:lpstr>
      <vt:lpstr>Optimal Hedge Ratio (page 55)</vt:lpstr>
      <vt:lpstr>Tailing the Hedge</vt:lpstr>
      <vt:lpstr>Hedging Using Index Futures </vt:lpstr>
      <vt:lpstr>Example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Krishna Prasanna</dc:creator>
  <cp:lastModifiedBy>DELL</cp:lastModifiedBy>
  <cp:revision>31</cp:revision>
  <dcterms:created xsi:type="dcterms:W3CDTF">2006-08-16T00:00:00Z</dcterms:created>
  <dcterms:modified xsi:type="dcterms:W3CDTF">2026-02-13T07:28:36Z</dcterms:modified>
</cp:coreProperties>
</file>