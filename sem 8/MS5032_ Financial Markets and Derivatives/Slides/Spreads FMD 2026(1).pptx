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68" r:id="rId3"/>
    <p:sldId id="267" r:id="rId4"/>
    <p:sldId id="257" r:id="rId5"/>
    <p:sldId id="258" r:id="rId6"/>
    <p:sldId id="259" r:id="rId7"/>
    <p:sldId id="260" r:id="rId8"/>
    <p:sldId id="261" r:id="rId9"/>
    <p:sldId id="262" r:id="rId10"/>
    <p:sldId id="263" r:id="rId11"/>
    <p:sldId id="265" r:id="rId12"/>
    <p:sldId id="264" r:id="rId13"/>
  </p:sldIdLst>
  <p:sldSz cx="12192000" cy="6858000"/>
  <p:notesSz cx="6858000" cy="9144000"/>
  <p:embeddedFontLst>
    <p:embeddedFont>
      <p:font typeface="Arimo" panose="020B0604020202020204" charset="0"/>
      <p:regular r:id="rId15"/>
      <p:bold r:id="rId16"/>
      <p:italic r:id="rId17"/>
      <p:boldItalic r:id="rId18"/>
    </p:embeddedFont>
    <p:embeddedFont>
      <p:font typeface="Azeret Mono" panose="020B0604020202020204" charset="0"/>
      <p:regular r:id="rId19"/>
      <p:bold r:id="rId20"/>
      <p:italic r:id="rId21"/>
      <p:boldItalic r:id="rId22"/>
    </p:embeddedFont>
    <p:embeddedFont>
      <p:font typeface="Calibri" panose="020F0502020204030204" pitchFamily="34" charset="0"/>
      <p:regular r:id="rId23"/>
      <p:bold r:id="rId24"/>
      <p:italic r:id="rId25"/>
      <p:boldItalic r:id="rId26"/>
    </p:embeddedFont>
    <p:embeddedFont>
      <p:font typeface="Playfair Display" panose="020B060402020202020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9BF1B1B-C9BC-43A3-BDDA-C056E8E39C36}">
  <a:tblStyle styleId="{D9BF1B1B-C9BC-43A3-BDDA-C056E8E39C3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38" y="1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308C1571-FEF7-4AF7-B7E3-E2DDF0A6AB1C}"/>
              </a:ext>
            </a:extLst>
          </p:cNvPr>
          <p:cNvSpPr>
            <a:spLocks noGrp="1" noChangeArrowheads="1"/>
          </p:cNvSpPr>
          <p:nvPr>
            <p:ph type="sldNum" sz="quarter" idx="5"/>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56F5746-83BA-4D1B-8A86-3FC5BED79A99}" type="slidenum">
              <a:rPr lang="en-US" altLang="en-US">
                <a:latin typeface="Calibri" panose="020F0502020204030204" pitchFamily="34" charset="0"/>
              </a:rPr>
              <a:pPr eaLnBrk="1" hangingPunct="1"/>
              <a:t>2</a:t>
            </a:fld>
            <a:endParaRPr lang="en-US" altLang="en-US">
              <a:latin typeface="Calibri" panose="020F0502020204030204" pitchFamily="34" charset="0"/>
            </a:endParaRPr>
          </a:p>
        </p:txBody>
      </p:sp>
      <p:sp>
        <p:nvSpPr>
          <p:cNvPr id="25603" name="Rectangle 2">
            <a:extLst>
              <a:ext uri="{FF2B5EF4-FFF2-40B4-BE49-F238E27FC236}">
                <a16:creationId xmlns:a16="http://schemas.microsoft.com/office/drawing/2014/main" id="{446E4320-C862-4D01-AEE0-FED130C6A527}"/>
              </a:ext>
            </a:extLst>
          </p:cNvPr>
          <p:cNvSpPr>
            <a:spLocks noChangeArrowheads="1" noTextEdit="1"/>
          </p:cNvSpPr>
          <p:nvPr>
            <p:ph type="sldImg"/>
          </p:nvPr>
        </p:nvSpPr>
        <p:spPr bwMode="auto">
          <a:xfrm>
            <a:off x="1144588" y="687388"/>
            <a:ext cx="4568825"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4" name="Rectangle 3">
            <a:extLst>
              <a:ext uri="{FF2B5EF4-FFF2-40B4-BE49-F238E27FC236}">
                <a16:creationId xmlns:a16="http://schemas.microsoft.com/office/drawing/2014/main" id="{F6DFCADF-F334-4F69-9304-BF82171EAD9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CA" altLang="en-US" sz="24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4295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9.png"/><Relationship Id="rId5" Type="http://schemas.openxmlformats.org/officeDocument/2006/relationships/image" Target="../media/image12.png"/><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9.png"/><Relationship Id="rId5" Type="http://schemas.openxmlformats.org/officeDocument/2006/relationships/image" Target="../media/image15.pn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9.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9.png"/><Relationship Id="rId5" Type="http://schemas.openxmlformats.org/officeDocument/2006/relationships/image" Target="../media/image27.png"/><Relationship Id="rId10" Type="http://schemas.openxmlformats.org/officeDocument/2006/relationships/image" Target="../media/image30.png"/><Relationship Id="rId4" Type="http://schemas.openxmlformats.org/officeDocument/2006/relationships/image" Target="../media/image3.png"/><Relationship Id="rId9"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CF8"/>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815340" y="2387947"/>
            <a:ext cx="10561320" cy="75426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5400" b="1" i="0" u="none" strike="noStrike" cap="none">
                <a:solidFill>
                  <a:srgbClr val="1A1A1A"/>
                </a:solidFill>
                <a:latin typeface="Playfair Display"/>
                <a:ea typeface="Playfair Display"/>
                <a:cs typeface="Playfair Display"/>
                <a:sym typeface="Playfair Display"/>
              </a:rPr>
              <a:t>Trading and Hedging Strategies</a:t>
            </a:r>
            <a:endParaRPr/>
          </a:p>
        </p:txBody>
      </p:sp>
      <p:sp>
        <p:nvSpPr>
          <p:cNvPr id="86" name="Google Shape;86;p13"/>
          <p:cNvSpPr txBox="1"/>
          <p:nvPr/>
        </p:nvSpPr>
        <p:spPr>
          <a:xfrm>
            <a:off x="3567112" y="3332708"/>
            <a:ext cx="5057775"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666666"/>
                </a:solidFill>
                <a:latin typeface="Arimo"/>
                <a:ea typeface="Arimo"/>
                <a:cs typeface="Arimo"/>
                <a:sym typeface="Arimo"/>
              </a:rPr>
              <a:t>An Analysis of Options Spreads and Combinations</a:t>
            </a:r>
            <a:endParaRPr/>
          </a:p>
        </p:txBody>
      </p:sp>
      <p:sp>
        <p:nvSpPr>
          <p:cNvPr id="87" name="Google Shape;87;p13"/>
          <p:cNvSpPr txBox="1"/>
          <p:nvPr/>
        </p:nvSpPr>
        <p:spPr>
          <a:xfrm>
            <a:off x="4681537" y="4317503"/>
            <a:ext cx="2828925" cy="152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rgbClr val="4F46E5"/>
                </a:solidFill>
                <a:latin typeface="Azeret Mono"/>
                <a:ea typeface="Azeret Mono"/>
                <a:cs typeface="Azeret Mono"/>
                <a:sym typeface="Azeret Mono"/>
              </a:rPr>
              <a:t>DERIVATIVES MARKET ANALYSIS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93FDBA91-69EC-4487-AEA2-1AB5B3911277}"/>
              </a:ext>
            </a:extLst>
          </p:cNvPr>
          <p:cNvSpPr>
            <a:spLocks noGrp="1"/>
          </p:cNvSpPr>
          <p:nvPr>
            <p:ph type="ftr" sz="quarter" idx="11"/>
          </p:nvPr>
        </p:nvSpPr>
        <p:spPr/>
        <p:txBody>
          <a:bodyPr/>
          <a:lstStyle/>
          <a:p>
            <a:pPr>
              <a:defRPr/>
            </a:pPr>
            <a:r>
              <a:rPr lang="en-US" altLang="en-US"/>
              <a:t>Options, Futures, and Other Derivatives 7</a:t>
            </a:r>
            <a:r>
              <a:rPr lang="en-US" altLang="en-US" baseline="30000"/>
              <a:t>th</a:t>
            </a:r>
            <a:r>
              <a:rPr lang="en-US" altLang="en-US"/>
              <a:t> Edition, Copyright </a:t>
            </a:r>
            <a:r>
              <a:rPr lang="en-US" altLang="en-US">
                <a:cs typeface="Arial" charset="0"/>
              </a:rPr>
              <a:t>© John C. Hull 2008</a:t>
            </a:r>
          </a:p>
        </p:txBody>
      </p:sp>
      <p:sp>
        <p:nvSpPr>
          <p:cNvPr id="5" name="Slide Number Placeholder 5">
            <a:extLst>
              <a:ext uri="{FF2B5EF4-FFF2-40B4-BE49-F238E27FC236}">
                <a16:creationId xmlns:a16="http://schemas.microsoft.com/office/drawing/2014/main" id="{7B9520D9-10CA-4604-A35B-7BEF8D7825D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F2D6DE-8423-48AB-9EE5-FFE05892B808}" type="slidenum">
              <a:rPr lang="en-US" altLang="en-US">
                <a:solidFill>
                  <a:srgbClr val="899BA4"/>
                </a:solidFill>
              </a:rPr>
              <a:pPr eaLnBrk="1" hangingPunct="1"/>
              <a:t>2</a:t>
            </a:fld>
            <a:endParaRPr lang="en-US" altLang="en-US">
              <a:solidFill>
                <a:srgbClr val="899BA4"/>
              </a:solidFill>
            </a:endParaRPr>
          </a:p>
        </p:txBody>
      </p:sp>
      <p:sp>
        <p:nvSpPr>
          <p:cNvPr id="6146" name="Rectangle 2">
            <a:extLst>
              <a:ext uri="{FF2B5EF4-FFF2-40B4-BE49-F238E27FC236}">
                <a16:creationId xmlns:a16="http://schemas.microsoft.com/office/drawing/2014/main" id="{CAD69216-4576-4343-986A-1FD1840586DA}"/>
              </a:ext>
            </a:extLst>
          </p:cNvPr>
          <p:cNvSpPr>
            <a:spLocks noGrp="1" noChangeArrowheads="1"/>
          </p:cNvSpPr>
          <p:nvPr>
            <p:ph type="title"/>
          </p:nvPr>
        </p:nvSpPr>
        <p:spPr/>
        <p:txBody>
          <a:bodyPr spcFirstLastPara="1" wrap="square" lIns="92075" tIns="46038" rIns="92075" bIns="46038" anchor="ctr" anchorCtr="0">
            <a:normAutofit/>
          </a:bodyPr>
          <a:lstStyle/>
          <a:p>
            <a:pPr>
              <a:defRPr/>
            </a:pPr>
            <a:r>
              <a:rPr lang="en-CA" dirty="0"/>
              <a:t>Types of</a:t>
            </a:r>
            <a:r>
              <a:rPr lang="en-US" dirty="0"/>
              <a:t> Strategies</a:t>
            </a:r>
          </a:p>
        </p:txBody>
      </p:sp>
      <p:sp>
        <p:nvSpPr>
          <p:cNvPr id="9221" name="Rectangle 3">
            <a:extLst>
              <a:ext uri="{FF2B5EF4-FFF2-40B4-BE49-F238E27FC236}">
                <a16:creationId xmlns:a16="http://schemas.microsoft.com/office/drawing/2014/main" id="{CBA2B439-90F1-4BF1-9C3B-0F37E415E559}"/>
              </a:ext>
            </a:extLst>
          </p:cNvPr>
          <p:cNvSpPr>
            <a:spLocks noGrp="1" noChangeArrowheads="1"/>
          </p:cNvSpPr>
          <p:nvPr>
            <p:ph type="body" idx="1"/>
          </p:nvPr>
        </p:nvSpPr>
        <p:spPr>
          <a:xfrm>
            <a:off x="3124200" y="1905000"/>
            <a:ext cx="6858000" cy="4191000"/>
          </a:xfrm>
          <a:noFill/>
        </p:spPr>
        <p:txBody>
          <a:bodyPr spcFirstLastPara="1" wrap="square" lIns="92075" tIns="46038" rIns="92075" bIns="46038" anchor="t" anchorCtr="0">
            <a:normAutofit/>
          </a:bodyPr>
          <a:lstStyle/>
          <a:p>
            <a:r>
              <a:rPr lang="en-US" altLang="en-US" sz="2800"/>
              <a:t>Take a position in the option and the underlying</a:t>
            </a:r>
          </a:p>
          <a:p>
            <a:r>
              <a:rPr lang="en-US" altLang="en-US" sz="2800"/>
              <a:t>Take a position in 2 or more options of the same type (A spread) </a:t>
            </a:r>
          </a:p>
          <a:p>
            <a:r>
              <a:rPr lang="en-US" altLang="en-US" sz="2800"/>
              <a:t>Combination: Take a position in a mixture of calls &amp; puts (A combination)</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3484A-2730-4732-A02A-49A61FEF6D40}"/>
              </a:ext>
            </a:extLst>
          </p:cNvPr>
          <p:cNvSpPr>
            <a:spLocks noGrp="1"/>
          </p:cNvSpPr>
          <p:nvPr>
            <p:ph type="ctrTitle"/>
          </p:nvPr>
        </p:nvSpPr>
        <p:spPr>
          <a:xfrm>
            <a:off x="685800" y="277907"/>
            <a:ext cx="7772400" cy="1129552"/>
          </a:xfrm>
        </p:spPr>
        <p:txBody>
          <a:bodyPr/>
          <a:lstStyle/>
          <a:p>
            <a:r>
              <a:rPr lang="en-IN" dirty="0"/>
              <a:t>Plain Options</a:t>
            </a:r>
          </a:p>
        </p:txBody>
      </p:sp>
      <p:sp>
        <p:nvSpPr>
          <p:cNvPr id="3" name="Subtitle 2">
            <a:extLst>
              <a:ext uri="{FF2B5EF4-FFF2-40B4-BE49-F238E27FC236}">
                <a16:creationId xmlns:a16="http://schemas.microsoft.com/office/drawing/2014/main" id="{16AED4F9-96C0-4E2A-9C67-A0F48A9F9F70}"/>
              </a:ext>
            </a:extLst>
          </p:cNvPr>
          <p:cNvSpPr>
            <a:spLocks noGrp="1"/>
          </p:cNvSpPr>
          <p:nvPr>
            <p:ph type="subTitle" idx="1"/>
          </p:nvPr>
        </p:nvSpPr>
        <p:spPr>
          <a:xfrm>
            <a:off x="1147483" y="1564341"/>
            <a:ext cx="8507506" cy="2693894"/>
          </a:xfrm>
        </p:spPr>
        <p:txBody>
          <a:bodyPr>
            <a:normAutofit/>
          </a:bodyPr>
          <a:lstStyle/>
          <a:p>
            <a:pPr marL="539750" indent="-514350">
              <a:buAutoNum type="arabicPeriod"/>
            </a:pPr>
            <a:r>
              <a:rPr lang="en-IN" dirty="0">
                <a:solidFill>
                  <a:schemeClr val="tx1"/>
                </a:solidFill>
              </a:rPr>
              <a:t>Writing covered Call</a:t>
            </a:r>
          </a:p>
          <a:p>
            <a:pPr marL="25400" indent="0"/>
            <a:r>
              <a:rPr lang="en-IN" dirty="0">
                <a:solidFill>
                  <a:schemeClr val="tx1"/>
                </a:solidFill>
              </a:rPr>
              <a:t>Long on stock and short on Call</a:t>
            </a:r>
          </a:p>
          <a:p>
            <a:pPr marL="25400" indent="0"/>
            <a:r>
              <a:rPr lang="en-IN" dirty="0">
                <a:solidFill>
                  <a:schemeClr val="tx1"/>
                </a:solidFill>
              </a:rPr>
              <a:t>2. Protective Put</a:t>
            </a:r>
          </a:p>
          <a:p>
            <a:pPr marL="25400" indent="0"/>
            <a:r>
              <a:rPr lang="en-IN" dirty="0">
                <a:solidFill>
                  <a:schemeClr val="tx1"/>
                </a:solidFill>
              </a:rPr>
              <a:t>Long on stock  and put</a:t>
            </a:r>
          </a:p>
          <a:p>
            <a:pPr marL="25400" indent="0"/>
            <a:endParaRPr lang="en-IN" dirty="0">
              <a:solidFill>
                <a:schemeClr val="tx1"/>
              </a:solidFill>
            </a:endParaRPr>
          </a:p>
          <a:p>
            <a:pPr marL="539750" indent="-514350">
              <a:buAutoNum type="arabicPeriod"/>
            </a:pPr>
            <a:endParaRPr lang="en-IN" dirty="0">
              <a:solidFill>
                <a:schemeClr val="tx1"/>
              </a:solidFill>
            </a:endParaRPr>
          </a:p>
        </p:txBody>
      </p:sp>
    </p:spTree>
    <p:extLst>
      <p:ext uri="{BB962C8B-B14F-4D97-AF65-F5344CB8AC3E}">
        <p14:creationId xmlns:p14="http://schemas.microsoft.com/office/powerpoint/2010/main" val="2231079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CF8"/>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3" name="Google Shape;93;p14"/>
          <p:cNvSpPr txBox="1"/>
          <p:nvPr/>
        </p:nvSpPr>
        <p:spPr>
          <a:xfrm>
            <a:off x="4610814" y="2307877"/>
            <a:ext cx="2970371" cy="1019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2D2D2D"/>
                </a:solidFill>
                <a:latin typeface="Playfair Display"/>
                <a:ea typeface="Playfair Display"/>
                <a:cs typeface="Playfair Display"/>
                <a:sym typeface="Playfair Display"/>
              </a:rPr>
              <a:t>Spreads</a:t>
            </a:r>
            <a:endParaRPr/>
          </a:p>
        </p:txBody>
      </p:sp>
      <p:sp>
        <p:nvSpPr>
          <p:cNvPr id="94" name="Google Shape;94;p14"/>
          <p:cNvSpPr/>
          <p:nvPr/>
        </p:nvSpPr>
        <p:spPr>
          <a:xfrm>
            <a:off x="5619750" y="3612802"/>
            <a:ext cx="952500" cy="38100"/>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 name="Google Shape;95;p14"/>
          <p:cNvSpPr txBox="1"/>
          <p:nvPr/>
        </p:nvSpPr>
        <p:spPr>
          <a:xfrm>
            <a:off x="4495800" y="4117627"/>
            <a:ext cx="3200400" cy="289470"/>
          </a:xfrm>
          <a:prstGeom prst="rect">
            <a:avLst/>
          </a:prstGeom>
          <a:noFill/>
          <a:ln>
            <a:noFill/>
          </a:ln>
        </p:spPr>
        <p:txBody>
          <a:bodyPr spcFirstLastPara="1" wrap="square" lIns="0" tIns="0" rIns="0" bIns="0" anchor="t" anchorCtr="0">
            <a:spAutoFit/>
          </a:bodyPr>
          <a:lstStyle/>
          <a:p>
            <a:pPr marL="0" marR="0" lvl="0" indent="0" algn="ctr" rtl="0">
              <a:lnSpc>
                <a:spcPct val="159929"/>
              </a:lnSpc>
              <a:spcBef>
                <a:spcPts val="0"/>
              </a:spcBef>
              <a:spcAft>
                <a:spcPts val="0"/>
              </a:spcAft>
              <a:buNone/>
            </a:pPr>
            <a:r>
              <a:rPr lang="en-US" sz="1425" b="0" i="0" u="none" strike="noStrike" cap="none">
                <a:solidFill>
                  <a:srgbClr val="4A4A4A"/>
                </a:solidFill>
                <a:latin typeface="Arimo"/>
                <a:ea typeface="Arimo"/>
                <a:cs typeface="Arimo"/>
                <a:sym typeface="Arimo"/>
              </a:rPr>
              <a:t>Bull, Bear, Box, and Butterfly Strategies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CF8"/>
        </a:solidFill>
        <a:effectLst/>
      </p:bgPr>
    </p:bg>
    <p:spTree>
      <p:nvGrpSpPr>
        <p:cNvPr id="1" name="Shape 99"/>
        <p:cNvGrpSpPr/>
        <p:nvPr/>
      </p:nvGrpSpPr>
      <p:grpSpPr>
        <a:xfrm>
          <a:off x="0" y="0"/>
          <a:ext cx="0" cy="0"/>
          <a:chOff x="0" y="0"/>
          <a:chExt cx="0" cy="0"/>
        </a:xfrm>
      </p:grpSpPr>
      <p:pic>
        <p:nvPicPr>
          <p:cNvPr id="100" name="Google Shape;100;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1" name="Google Shape;101;p15" descr="image.png"/>
          <p:cNvPicPr preferRelativeResize="0"/>
          <p:nvPr/>
        </p:nvPicPr>
        <p:blipFill rotWithShape="1">
          <a:blip r:embed="rId4">
            <a:alphaModFix/>
          </a:blip>
          <a:srcRect/>
          <a:stretch/>
        </p:blipFill>
        <p:spPr>
          <a:xfrm>
            <a:off x="762000" y="4873302"/>
            <a:ext cx="10668000" cy="1867123"/>
          </a:xfrm>
          <a:prstGeom prst="rect">
            <a:avLst/>
          </a:prstGeom>
          <a:noFill/>
          <a:ln>
            <a:noFill/>
          </a:ln>
        </p:spPr>
      </p:pic>
      <p:sp>
        <p:nvSpPr>
          <p:cNvPr id="102" name="Google Shape;102;p15"/>
          <p:cNvSpPr txBox="1"/>
          <p:nvPr/>
        </p:nvSpPr>
        <p:spPr>
          <a:xfrm>
            <a:off x="762000" y="1903660"/>
            <a:ext cx="106680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A4A4A"/>
                </a:solidFill>
                <a:latin typeface="Arimo"/>
                <a:ea typeface="Arimo"/>
                <a:cs typeface="Arimo"/>
                <a:sym typeface="Arimo"/>
              </a:rPr>
              <a:t>A bull spread is a strategy used when an investor expects the stock price to increase. It is created by buying a call option with a low strike price and selling a call option with a higher strike price, both having the same expiration date.</a:t>
            </a:r>
            <a:endParaRPr/>
          </a:p>
        </p:txBody>
      </p:sp>
      <p:sp>
        <p:nvSpPr>
          <p:cNvPr id="103" name="Google Shape;103;p15"/>
          <p:cNvSpPr/>
          <p:nvPr/>
        </p:nvSpPr>
        <p:spPr>
          <a:xfrm>
            <a:off x="761999" y="2814786"/>
            <a:ext cx="10668000" cy="1935807"/>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104" name="Google Shape;104;p15"/>
          <p:cNvSpPr txBox="1"/>
          <p:nvPr/>
        </p:nvSpPr>
        <p:spPr>
          <a:xfrm>
            <a:off x="1038225" y="5370909"/>
            <a:ext cx="10661332"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4F46E5"/>
                </a:solidFill>
                <a:latin typeface="Arimo"/>
                <a:ea typeface="Arimo"/>
                <a:cs typeface="Arimo"/>
                <a:sym typeface="Arimo"/>
              </a:rPr>
              <a:t>EXAMPLE 10.1</a:t>
            </a:r>
            <a:endParaRPr dirty="0"/>
          </a:p>
        </p:txBody>
      </p:sp>
      <p:sp>
        <p:nvSpPr>
          <p:cNvPr id="105" name="Google Shape;105;p15"/>
          <p:cNvSpPr txBox="1"/>
          <p:nvPr/>
        </p:nvSpPr>
        <p:spPr>
          <a:xfrm>
            <a:off x="1038225" y="5780484"/>
            <a:ext cx="101536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dirty="0">
                <a:solidFill>
                  <a:srgbClr val="4A4A4A"/>
                </a:solidFill>
                <a:latin typeface="Arimo"/>
                <a:ea typeface="Arimo"/>
                <a:cs typeface="Arimo"/>
                <a:sym typeface="Arimo"/>
              </a:rPr>
              <a:t>An investor buys for $3 a call with a strike price of $30 and sells for $1 a call with a strike price of $35. What is the profit if the stock price is above $35, and what is the maximum loss?</a:t>
            </a:r>
            <a:endParaRPr dirty="0"/>
          </a:p>
        </p:txBody>
      </p:sp>
      <p:sp>
        <p:nvSpPr>
          <p:cNvPr id="106" name="Google Shape;106;p15"/>
          <p:cNvSpPr/>
          <p:nvPr/>
        </p:nvSpPr>
        <p:spPr>
          <a:xfrm>
            <a:off x="762000" y="3249364"/>
            <a:ext cx="2523083"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 name="Google Shape;107;p15"/>
          <p:cNvSpPr/>
          <p:nvPr/>
        </p:nvSpPr>
        <p:spPr>
          <a:xfrm>
            <a:off x="3285083" y="3249364"/>
            <a:ext cx="3049637"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 name="Google Shape;108;p15"/>
          <p:cNvSpPr/>
          <p:nvPr/>
        </p:nvSpPr>
        <p:spPr>
          <a:xfrm>
            <a:off x="6334720" y="3249364"/>
            <a:ext cx="3159918"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9" name="Google Shape;109;p15"/>
          <p:cNvSpPr/>
          <p:nvPr/>
        </p:nvSpPr>
        <p:spPr>
          <a:xfrm>
            <a:off x="9494639" y="3249364"/>
            <a:ext cx="193536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 name="Google Shape;110;p15"/>
          <p:cNvSpPr/>
          <p:nvPr/>
        </p:nvSpPr>
        <p:spPr>
          <a:xfrm>
            <a:off x="762000" y="3745408"/>
            <a:ext cx="2523083"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1" name="Google Shape;111;p15"/>
          <p:cNvSpPr/>
          <p:nvPr/>
        </p:nvSpPr>
        <p:spPr>
          <a:xfrm>
            <a:off x="3285083" y="3745408"/>
            <a:ext cx="3049637"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2" name="Google Shape;112;p15"/>
          <p:cNvSpPr/>
          <p:nvPr/>
        </p:nvSpPr>
        <p:spPr>
          <a:xfrm>
            <a:off x="6334720" y="3745408"/>
            <a:ext cx="3159918"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3" name="Google Shape;113;p15"/>
          <p:cNvSpPr/>
          <p:nvPr/>
        </p:nvSpPr>
        <p:spPr>
          <a:xfrm>
            <a:off x="9494639" y="3745408"/>
            <a:ext cx="193536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4" name="Google Shape;114;p15"/>
          <p:cNvSpPr/>
          <p:nvPr/>
        </p:nvSpPr>
        <p:spPr>
          <a:xfrm>
            <a:off x="762000" y="4241452"/>
            <a:ext cx="2523083"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 name="Google Shape;115;p15"/>
          <p:cNvSpPr/>
          <p:nvPr/>
        </p:nvSpPr>
        <p:spPr>
          <a:xfrm>
            <a:off x="3285083" y="4241452"/>
            <a:ext cx="3049637"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6" name="Google Shape;116;p15"/>
          <p:cNvSpPr/>
          <p:nvPr/>
        </p:nvSpPr>
        <p:spPr>
          <a:xfrm>
            <a:off x="6334720" y="4241452"/>
            <a:ext cx="3159918"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 name="Google Shape;117;p15"/>
          <p:cNvSpPr/>
          <p:nvPr/>
        </p:nvSpPr>
        <p:spPr>
          <a:xfrm>
            <a:off x="9494639" y="4241452"/>
            <a:ext cx="193536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8" name="Google Shape;118;p15"/>
          <p:cNvSpPr/>
          <p:nvPr/>
        </p:nvSpPr>
        <p:spPr>
          <a:xfrm>
            <a:off x="762000" y="4737496"/>
            <a:ext cx="2523083"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9" name="Google Shape;119;p15"/>
          <p:cNvSpPr/>
          <p:nvPr/>
        </p:nvSpPr>
        <p:spPr>
          <a:xfrm>
            <a:off x="3285083" y="4737496"/>
            <a:ext cx="3049637"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 name="Google Shape;120;p15"/>
          <p:cNvSpPr/>
          <p:nvPr/>
        </p:nvSpPr>
        <p:spPr>
          <a:xfrm>
            <a:off x="6334720" y="4737496"/>
            <a:ext cx="3159918"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1" name="Google Shape;121;p15"/>
          <p:cNvSpPr/>
          <p:nvPr/>
        </p:nvSpPr>
        <p:spPr>
          <a:xfrm>
            <a:off x="9494639" y="4737496"/>
            <a:ext cx="193536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2" name="Google Shape;122;p15" descr="image.png"/>
          <p:cNvPicPr preferRelativeResize="0"/>
          <p:nvPr/>
        </p:nvPicPr>
        <p:blipFill rotWithShape="1">
          <a:blip r:embed="rId5">
            <a:alphaModFix/>
          </a:blip>
          <a:srcRect/>
          <a:stretch/>
        </p:blipFill>
        <p:spPr>
          <a:xfrm>
            <a:off x="952500" y="3416051"/>
            <a:ext cx="705742" cy="191244"/>
          </a:xfrm>
          <a:prstGeom prst="rect">
            <a:avLst/>
          </a:prstGeom>
          <a:noFill/>
          <a:ln>
            <a:noFill/>
          </a:ln>
        </p:spPr>
      </p:pic>
      <p:pic>
        <p:nvPicPr>
          <p:cNvPr id="123" name="Google Shape;123;p15" descr="image.png"/>
          <p:cNvPicPr preferRelativeResize="0"/>
          <p:nvPr/>
        </p:nvPicPr>
        <p:blipFill rotWithShape="1">
          <a:blip r:embed="rId6">
            <a:alphaModFix/>
          </a:blip>
          <a:srcRect/>
          <a:stretch/>
        </p:blipFill>
        <p:spPr>
          <a:xfrm>
            <a:off x="952500" y="3912096"/>
            <a:ext cx="1115020" cy="191244"/>
          </a:xfrm>
          <a:prstGeom prst="rect">
            <a:avLst/>
          </a:prstGeom>
          <a:noFill/>
          <a:ln>
            <a:noFill/>
          </a:ln>
        </p:spPr>
      </p:pic>
      <p:pic>
        <p:nvPicPr>
          <p:cNvPr id="124" name="Google Shape;124;p15" descr="image.png"/>
          <p:cNvPicPr preferRelativeResize="0"/>
          <p:nvPr/>
        </p:nvPicPr>
        <p:blipFill rotWithShape="1">
          <a:blip r:embed="rId7">
            <a:alphaModFix/>
          </a:blip>
          <a:srcRect/>
          <a:stretch/>
        </p:blipFill>
        <p:spPr>
          <a:xfrm>
            <a:off x="3475583" y="3912096"/>
            <a:ext cx="671810" cy="191244"/>
          </a:xfrm>
          <a:prstGeom prst="rect">
            <a:avLst/>
          </a:prstGeom>
          <a:noFill/>
          <a:ln>
            <a:noFill/>
          </a:ln>
        </p:spPr>
      </p:pic>
      <p:pic>
        <p:nvPicPr>
          <p:cNvPr id="125" name="Google Shape;125;p15" descr="image.png"/>
          <p:cNvPicPr preferRelativeResize="0"/>
          <p:nvPr/>
        </p:nvPicPr>
        <p:blipFill rotWithShape="1">
          <a:blip r:embed="rId7">
            <a:alphaModFix/>
          </a:blip>
          <a:srcRect/>
          <a:stretch/>
        </p:blipFill>
        <p:spPr>
          <a:xfrm>
            <a:off x="9685139" y="3912096"/>
            <a:ext cx="671810" cy="191244"/>
          </a:xfrm>
          <a:prstGeom prst="rect">
            <a:avLst/>
          </a:prstGeom>
          <a:noFill/>
          <a:ln>
            <a:noFill/>
          </a:ln>
        </p:spPr>
      </p:pic>
      <p:pic>
        <p:nvPicPr>
          <p:cNvPr id="126" name="Google Shape;126;p15" descr="image.png"/>
          <p:cNvPicPr preferRelativeResize="0"/>
          <p:nvPr/>
        </p:nvPicPr>
        <p:blipFill rotWithShape="1">
          <a:blip r:embed="rId8">
            <a:alphaModFix/>
          </a:blip>
          <a:srcRect/>
          <a:stretch/>
        </p:blipFill>
        <p:spPr>
          <a:xfrm>
            <a:off x="952500" y="4408140"/>
            <a:ext cx="705742" cy="191244"/>
          </a:xfrm>
          <a:prstGeom prst="rect">
            <a:avLst/>
          </a:prstGeom>
          <a:noFill/>
          <a:ln>
            <a:noFill/>
          </a:ln>
        </p:spPr>
      </p:pic>
      <p:pic>
        <p:nvPicPr>
          <p:cNvPr id="127" name="Google Shape;127;p15" descr="image.png"/>
          <p:cNvPicPr preferRelativeResize="0"/>
          <p:nvPr/>
        </p:nvPicPr>
        <p:blipFill rotWithShape="1">
          <a:blip r:embed="rId7">
            <a:alphaModFix/>
          </a:blip>
          <a:srcRect/>
          <a:stretch/>
        </p:blipFill>
        <p:spPr>
          <a:xfrm>
            <a:off x="3475583" y="4408140"/>
            <a:ext cx="671810" cy="191244"/>
          </a:xfrm>
          <a:prstGeom prst="rect">
            <a:avLst/>
          </a:prstGeom>
          <a:noFill/>
          <a:ln>
            <a:noFill/>
          </a:ln>
        </p:spPr>
      </p:pic>
      <p:pic>
        <p:nvPicPr>
          <p:cNvPr id="128" name="Google Shape;128;p15" descr="image.png"/>
          <p:cNvPicPr preferRelativeResize="0"/>
          <p:nvPr/>
        </p:nvPicPr>
        <p:blipFill rotWithShape="1">
          <a:blip r:embed="rId9">
            <a:alphaModFix/>
          </a:blip>
          <a:srcRect/>
          <a:stretch/>
        </p:blipFill>
        <p:spPr>
          <a:xfrm>
            <a:off x="6525220" y="4408140"/>
            <a:ext cx="1315640" cy="191244"/>
          </a:xfrm>
          <a:prstGeom prst="rect">
            <a:avLst/>
          </a:prstGeom>
          <a:noFill/>
          <a:ln>
            <a:noFill/>
          </a:ln>
        </p:spPr>
      </p:pic>
      <p:pic>
        <p:nvPicPr>
          <p:cNvPr id="129" name="Google Shape;129;p15" descr="image.png"/>
          <p:cNvPicPr preferRelativeResize="0"/>
          <p:nvPr/>
        </p:nvPicPr>
        <p:blipFill rotWithShape="1">
          <a:blip r:embed="rId10">
            <a:alphaModFix/>
          </a:blip>
          <a:srcRect/>
          <a:stretch/>
        </p:blipFill>
        <p:spPr>
          <a:xfrm>
            <a:off x="9685139" y="4412902"/>
            <a:ext cx="671810" cy="181719"/>
          </a:xfrm>
          <a:prstGeom prst="rect">
            <a:avLst/>
          </a:prstGeom>
          <a:noFill/>
          <a:ln>
            <a:noFill/>
          </a:ln>
        </p:spPr>
      </p:pic>
      <p:sp>
        <p:nvSpPr>
          <p:cNvPr id="130" name="Google Shape;130;p15"/>
          <p:cNvSpPr txBox="1"/>
          <p:nvPr/>
        </p:nvSpPr>
        <p:spPr>
          <a:xfrm>
            <a:off x="952500" y="903535"/>
            <a:ext cx="11001375" cy="533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1A1A1A"/>
                </a:solidFill>
                <a:latin typeface="Playfair Display"/>
                <a:ea typeface="Playfair Display"/>
                <a:cs typeface="Playfair Display"/>
                <a:sym typeface="Playfair Display"/>
              </a:rPr>
              <a:t>Bull Spreads</a:t>
            </a:r>
            <a:endParaRPr/>
          </a:p>
        </p:txBody>
      </p:sp>
      <p:sp>
        <p:nvSpPr>
          <p:cNvPr id="131" name="Google Shape;131;p15"/>
          <p:cNvSpPr/>
          <p:nvPr/>
        </p:nvSpPr>
        <p:spPr>
          <a:xfrm>
            <a:off x="762000" y="903535"/>
            <a:ext cx="57150" cy="533400"/>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 name="Google Shape;140;p16">
            <a:extLst>
              <a:ext uri="{FF2B5EF4-FFF2-40B4-BE49-F238E27FC236}">
                <a16:creationId xmlns:a16="http://schemas.microsoft.com/office/drawing/2014/main" id="{CF75C556-B692-600B-AD9F-C2952DC6B682}"/>
              </a:ext>
            </a:extLst>
          </p:cNvPr>
          <p:cNvGraphicFramePr/>
          <p:nvPr>
            <p:extLst>
              <p:ext uri="{D42A27DB-BD31-4B8C-83A1-F6EECF244321}">
                <p14:modId xmlns:p14="http://schemas.microsoft.com/office/powerpoint/2010/main" val="1456300408"/>
              </p:ext>
            </p:extLst>
          </p:nvPr>
        </p:nvGraphicFramePr>
        <p:xfrm>
          <a:off x="761998" y="2809392"/>
          <a:ext cx="10668000" cy="483950"/>
        </p:xfrm>
        <a:graphic>
          <a:graphicData uri="http://schemas.openxmlformats.org/drawingml/2006/table">
            <a:tbl>
              <a:tblPr firstRow="1" bandRow="1">
                <a:noFill/>
                <a:tableStyleId>{D9BF1B1B-C9BC-43A3-BDDA-C056E8E39C36}</a:tableStyleId>
              </a:tblPr>
              <a:tblGrid>
                <a:gridCol w="2588425">
                  <a:extLst>
                    <a:ext uri="{9D8B030D-6E8A-4147-A177-3AD203B41FA5}">
                      <a16:colId xmlns:a16="http://schemas.microsoft.com/office/drawing/2014/main" val="20000"/>
                    </a:ext>
                  </a:extLst>
                </a:gridCol>
                <a:gridCol w="2990550">
                  <a:extLst>
                    <a:ext uri="{9D8B030D-6E8A-4147-A177-3AD203B41FA5}">
                      <a16:colId xmlns:a16="http://schemas.microsoft.com/office/drawing/2014/main" val="20001"/>
                    </a:ext>
                  </a:extLst>
                </a:gridCol>
                <a:gridCol w="3103500">
                  <a:extLst>
                    <a:ext uri="{9D8B030D-6E8A-4147-A177-3AD203B41FA5}">
                      <a16:colId xmlns:a16="http://schemas.microsoft.com/office/drawing/2014/main" val="20002"/>
                    </a:ext>
                  </a:extLst>
                </a:gridCol>
                <a:gridCol w="1985525">
                  <a:extLst>
                    <a:ext uri="{9D8B030D-6E8A-4147-A177-3AD203B41FA5}">
                      <a16:colId xmlns:a16="http://schemas.microsoft.com/office/drawing/2014/main" val="20003"/>
                    </a:ext>
                  </a:extLst>
                </a:gridCol>
              </a:tblGrid>
              <a:tr h="483950">
                <a:tc>
                  <a:txBody>
                    <a:bodyPr/>
                    <a:lstStyle/>
                    <a:p>
                      <a:pPr marL="0" marR="0" lvl="0" indent="0" algn="l" rtl="0">
                        <a:spcBef>
                          <a:spcPts val="0"/>
                        </a:spcBef>
                        <a:spcAft>
                          <a:spcPts val="0"/>
                        </a:spcAft>
                        <a:buNone/>
                      </a:pPr>
                      <a:r>
                        <a:rPr lang="en-US" sz="1050" b="1" i="0" u="none" strike="noStrike" cap="none" dirty="0">
                          <a:solidFill>
                            <a:srgbClr val="1A1A1A"/>
                          </a:solidFill>
                          <a:latin typeface="Arimo"/>
                          <a:ea typeface="Arimo"/>
                          <a:cs typeface="Arimo"/>
                          <a:sym typeface="Arimo"/>
                        </a:rPr>
                        <a:t>Stock Price Range</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1" i="0" u="none" strike="noStrike" cap="none">
                          <a:solidFill>
                            <a:srgbClr val="1A1A1A"/>
                          </a:solidFill>
                          <a:latin typeface="Arimo"/>
                          <a:ea typeface="Arimo"/>
                          <a:cs typeface="Arimo"/>
                          <a:sym typeface="Arimo"/>
                        </a:rPr>
                        <a:t>Payoff from Long Put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1" i="0" u="none" strike="noStrike" cap="none">
                          <a:solidFill>
                            <a:srgbClr val="1A1A1A"/>
                          </a:solidFill>
                          <a:latin typeface="Arimo"/>
                          <a:ea typeface="Arimo"/>
                          <a:cs typeface="Arimo"/>
                          <a:sym typeface="Arimo"/>
                        </a:rPr>
                        <a:t>Payoff from Short Put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1" i="0" u="none" strike="noStrike" cap="none" dirty="0">
                          <a:solidFill>
                            <a:srgbClr val="1A1A1A"/>
                          </a:solidFill>
                          <a:latin typeface="Arimo"/>
                          <a:ea typeface="Arimo"/>
                          <a:cs typeface="Arimo"/>
                          <a:sym typeface="Arimo"/>
                        </a:rPr>
                        <a:t>Total Payoff</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0"/>
                  </a:ext>
                </a:extLst>
              </a:tr>
            </a:tbl>
          </a:graphicData>
        </a:graphic>
      </p:graphicFrame>
      <p:pic>
        <p:nvPicPr>
          <p:cNvPr id="5" name="Picture 4">
            <a:extLst>
              <a:ext uri="{FF2B5EF4-FFF2-40B4-BE49-F238E27FC236}">
                <a16:creationId xmlns:a16="http://schemas.microsoft.com/office/drawing/2014/main" id="{D3FC8AED-9231-617E-F460-84BE33DDFC4E}"/>
              </a:ext>
            </a:extLst>
          </p:cNvPr>
          <p:cNvPicPr>
            <a:picLocks noChangeAspect="1"/>
          </p:cNvPicPr>
          <p:nvPr/>
        </p:nvPicPr>
        <p:blipFill>
          <a:blip r:embed="rId11"/>
          <a:stretch>
            <a:fillRect/>
          </a:stretch>
        </p:blipFill>
        <p:spPr>
          <a:xfrm>
            <a:off x="3720988" y="3333736"/>
            <a:ext cx="181000" cy="190527"/>
          </a:xfrm>
          <a:prstGeom prst="rect">
            <a:avLst/>
          </a:prstGeom>
        </p:spPr>
      </p:pic>
      <p:pic>
        <p:nvPicPr>
          <p:cNvPr id="7" name="Picture 6">
            <a:extLst>
              <a:ext uri="{FF2B5EF4-FFF2-40B4-BE49-F238E27FC236}">
                <a16:creationId xmlns:a16="http://schemas.microsoft.com/office/drawing/2014/main" id="{8650C8E1-B048-AAFD-D782-080451F360F0}"/>
              </a:ext>
            </a:extLst>
          </p:cNvPr>
          <p:cNvPicPr>
            <a:picLocks noChangeAspect="1"/>
          </p:cNvPicPr>
          <p:nvPr/>
        </p:nvPicPr>
        <p:blipFill>
          <a:blip r:embed="rId11"/>
          <a:stretch>
            <a:fillRect/>
          </a:stretch>
        </p:blipFill>
        <p:spPr>
          <a:xfrm>
            <a:off x="7012198" y="3354125"/>
            <a:ext cx="181000" cy="190527"/>
          </a:xfrm>
          <a:prstGeom prst="rect">
            <a:avLst/>
          </a:prstGeom>
        </p:spPr>
      </p:pic>
      <p:pic>
        <p:nvPicPr>
          <p:cNvPr id="9" name="Picture 8">
            <a:extLst>
              <a:ext uri="{FF2B5EF4-FFF2-40B4-BE49-F238E27FC236}">
                <a16:creationId xmlns:a16="http://schemas.microsoft.com/office/drawing/2014/main" id="{A6DBB88C-951B-A26B-9B8A-BFE50CA36D5F}"/>
              </a:ext>
            </a:extLst>
          </p:cNvPr>
          <p:cNvPicPr>
            <a:picLocks noChangeAspect="1"/>
          </p:cNvPicPr>
          <p:nvPr/>
        </p:nvPicPr>
        <p:blipFill>
          <a:blip r:embed="rId11"/>
          <a:stretch>
            <a:fillRect/>
          </a:stretch>
        </p:blipFill>
        <p:spPr>
          <a:xfrm>
            <a:off x="9930544" y="3325550"/>
            <a:ext cx="181000" cy="190527"/>
          </a:xfrm>
          <a:prstGeom prst="rect">
            <a:avLst/>
          </a:prstGeom>
        </p:spPr>
      </p:pic>
      <p:pic>
        <p:nvPicPr>
          <p:cNvPr id="11" name="Picture 10">
            <a:extLst>
              <a:ext uri="{FF2B5EF4-FFF2-40B4-BE49-F238E27FC236}">
                <a16:creationId xmlns:a16="http://schemas.microsoft.com/office/drawing/2014/main" id="{1F8EC4E5-8768-8FFF-32B0-B5004ABA641A}"/>
              </a:ext>
            </a:extLst>
          </p:cNvPr>
          <p:cNvPicPr>
            <a:picLocks noChangeAspect="1"/>
          </p:cNvPicPr>
          <p:nvPr/>
        </p:nvPicPr>
        <p:blipFill>
          <a:blip r:embed="rId11"/>
          <a:stretch>
            <a:fillRect/>
          </a:stretch>
        </p:blipFill>
        <p:spPr>
          <a:xfrm>
            <a:off x="7012198" y="3893045"/>
            <a:ext cx="181000" cy="1905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CF8"/>
        </a:solidFill>
        <a:effectLst/>
      </p:bgPr>
    </p:bg>
    <p:spTree>
      <p:nvGrpSpPr>
        <p:cNvPr id="1" name="Shape 135"/>
        <p:cNvGrpSpPr/>
        <p:nvPr/>
      </p:nvGrpSpPr>
      <p:grpSpPr>
        <a:xfrm>
          <a:off x="0" y="0"/>
          <a:ext cx="0" cy="0"/>
          <a:chOff x="0" y="0"/>
          <a:chExt cx="0" cy="0"/>
        </a:xfrm>
      </p:grpSpPr>
      <p:pic>
        <p:nvPicPr>
          <p:cNvPr id="136" name="Google Shape;136;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7" name="Google Shape;137;p16" descr="image.png"/>
          <p:cNvPicPr preferRelativeResize="0"/>
          <p:nvPr/>
        </p:nvPicPr>
        <p:blipFill rotWithShape="1">
          <a:blip r:embed="rId4">
            <a:alphaModFix/>
          </a:blip>
          <a:srcRect/>
          <a:stretch/>
        </p:blipFill>
        <p:spPr>
          <a:xfrm>
            <a:off x="762000" y="5132784"/>
            <a:ext cx="10668000" cy="1607641"/>
          </a:xfrm>
          <a:prstGeom prst="rect">
            <a:avLst/>
          </a:prstGeom>
          <a:noFill/>
          <a:ln>
            <a:noFill/>
          </a:ln>
        </p:spPr>
      </p:pic>
      <p:sp>
        <p:nvSpPr>
          <p:cNvPr id="138" name="Google Shape;138;p16"/>
          <p:cNvSpPr txBox="1"/>
          <p:nvPr/>
        </p:nvSpPr>
        <p:spPr>
          <a:xfrm>
            <a:off x="762000" y="1903660"/>
            <a:ext cx="106680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A4A4A"/>
                </a:solidFill>
                <a:latin typeface="Arimo"/>
                <a:ea typeface="Arimo"/>
                <a:cs typeface="Arimo"/>
                <a:sym typeface="Arimo"/>
              </a:rPr>
              <a:t>A bear spread is designed for investors who anticipate a decline in the stock price. It involves buying an option with a high strike price and selling an option with a lower strike price.</a:t>
            </a:r>
            <a:endParaRPr/>
          </a:p>
        </p:txBody>
      </p:sp>
      <p:sp>
        <p:nvSpPr>
          <p:cNvPr id="139" name="Google Shape;139;p16"/>
          <p:cNvSpPr/>
          <p:nvPr/>
        </p:nvSpPr>
        <p:spPr>
          <a:xfrm>
            <a:off x="762000" y="2815976"/>
            <a:ext cx="10668000" cy="1935807"/>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40" name="Google Shape;140;p16"/>
          <p:cNvGraphicFramePr/>
          <p:nvPr>
            <p:extLst>
              <p:ext uri="{D42A27DB-BD31-4B8C-83A1-F6EECF244321}">
                <p14:modId xmlns:p14="http://schemas.microsoft.com/office/powerpoint/2010/main" val="3074104898"/>
              </p:ext>
            </p:extLst>
          </p:nvPr>
        </p:nvGraphicFramePr>
        <p:xfrm>
          <a:off x="762000" y="2828983"/>
          <a:ext cx="10668000" cy="483950"/>
        </p:xfrm>
        <a:graphic>
          <a:graphicData uri="http://schemas.openxmlformats.org/drawingml/2006/table">
            <a:tbl>
              <a:tblPr firstRow="1" bandRow="1">
                <a:noFill/>
                <a:tableStyleId>{D9BF1B1B-C9BC-43A3-BDDA-C056E8E39C36}</a:tableStyleId>
              </a:tblPr>
              <a:tblGrid>
                <a:gridCol w="2588425">
                  <a:extLst>
                    <a:ext uri="{9D8B030D-6E8A-4147-A177-3AD203B41FA5}">
                      <a16:colId xmlns:a16="http://schemas.microsoft.com/office/drawing/2014/main" val="20000"/>
                    </a:ext>
                  </a:extLst>
                </a:gridCol>
                <a:gridCol w="2990550">
                  <a:extLst>
                    <a:ext uri="{9D8B030D-6E8A-4147-A177-3AD203B41FA5}">
                      <a16:colId xmlns:a16="http://schemas.microsoft.com/office/drawing/2014/main" val="20001"/>
                    </a:ext>
                  </a:extLst>
                </a:gridCol>
                <a:gridCol w="3103500">
                  <a:extLst>
                    <a:ext uri="{9D8B030D-6E8A-4147-A177-3AD203B41FA5}">
                      <a16:colId xmlns:a16="http://schemas.microsoft.com/office/drawing/2014/main" val="20002"/>
                    </a:ext>
                  </a:extLst>
                </a:gridCol>
                <a:gridCol w="1985525">
                  <a:extLst>
                    <a:ext uri="{9D8B030D-6E8A-4147-A177-3AD203B41FA5}">
                      <a16:colId xmlns:a16="http://schemas.microsoft.com/office/drawing/2014/main" val="20003"/>
                    </a:ext>
                  </a:extLst>
                </a:gridCol>
              </a:tblGrid>
              <a:tr h="483950">
                <a:tc>
                  <a:txBody>
                    <a:bodyPr/>
                    <a:lstStyle/>
                    <a:p>
                      <a:pPr marL="0" marR="0" lvl="0" indent="0" algn="l" rtl="0">
                        <a:spcBef>
                          <a:spcPts val="0"/>
                        </a:spcBef>
                        <a:spcAft>
                          <a:spcPts val="0"/>
                        </a:spcAft>
                        <a:buNone/>
                      </a:pPr>
                      <a:r>
                        <a:rPr lang="en-US" sz="1050" b="1" i="0" u="none" strike="noStrike" cap="none" dirty="0">
                          <a:solidFill>
                            <a:srgbClr val="1A1A1A"/>
                          </a:solidFill>
                          <a:latin typeface="Arimo"/>
                          <a:ea typeface="Arimo"/>
                          <a:cs typeface="Arimo"/>
                          <a:sym typeface="Arimo"/>
                        </a:rPr>
                        <a:t>Stock Price Range</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1" i="0" u="none" strike="noStrike" cap="none">
                          <a:solidFill>
                            <a:srgbClr val="1A1A1A"/>
                          </a:solidFill>
                          <a:latin typeface="Arimo"/>
                          <a:ea typeface="Arimo"/>
                          <a:cs typeface="Arimo"/>
                          <a:sym typeface="Arimo"/>
                        </a:rPr>
                        <a:t>Payoff from Long Put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1" i="0" u="none" strike="noStrike" cap="none">
                          <a:solidFill>
                            <a:srgbClr val="1A1A1A"/>
                          </a:solidFill>
                          <a:latin typeface="Arimo"/>
                          <a:ea typeface="Arimo"/>
                          <a:cs typeface="Arimo"/>
                          <a:sym typeface="Arimo"/>
                        </a:rPr>
                        <a:t>Payoff from Short Put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1" i="0" u="none" strike="noStrike" cap="none" dirty="0">
                          <a:solidFill>
                            <a:srgbClr val="1A1A1A"/>
                          </a:solidFill>
                          <a:latin typeface="Arimo"/>
                          <a:ea typeface="Arimo"/>
                          <a:cs typeface="Arimo"/>
                          <a:sym typeface="Arimo"/>
                        </a:rPr>
                        <a:t>Total Payoff</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0"/>
                  </a:ext>
                </a:extLst>
              </a:tr>
            </a:tbl>
          </a:graphicData>
        </a:graphic>
      </p:graphicFrame>
      <p:sp>
        <p:nvSpPr>
          <p:cNvPr id="141" name="Google Shape;141;p16"/>
          <p:cNvSpPr txBox="1"/>
          <p:nvPr/>
        </p:nvSpPr>
        <p:spPr>
          <a:xfrm>
            <a:off x="1038225" y="5370909"/>
            <a:ext cx="10661332"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4F46E5"/>
                </a:solidFill>
                <a:latin typeface="Arimo"/>
                <a:ea typeface="Arimo"/>
                <a:cs typeface="Arimo"/>
                <a:sym typeface="Arimo"/>
              </a:rPr>
              <a:t>EXAMPLE 10.2</a:t>
            </a:r>
            <a:endParaRPr/>
          </a:p>
        </p:txBody>
      </p:sp>
      <p:sp>
        <p:nvSpPr>
          <p:cNvPr id="142" name="Google Shape;142;p16"/>
          <p:cNvSpPr txBox="1"/>
          <p:nvPr/>
        </p:nvSpPr>
        <p:spPr>
          <a:xfrm>
            <a:off x="1038225" y="5780484"/>
            <a:ext cx="101536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dirty="0">
                <a:solidFill>
                  <a:srgbClr val="4A4A4A"/>
                </a:solidFill>
                <a:latin typeface="Arimo"/>
                <a:ea typeface="Arimo"/>
                <a:cs typeface="Arimo"/>
                <a:sym typeface="Arimo"/>
              </a:rPr>
              <a:t>An investor buys for $3 a put with a strike price of $35 and sells for $1 a put with a strike price of $30. Calculate the profit if the stock price is below $30 and the break-even point.</a:t>
            </a:r>
            <a:endParaRPr dirty="0"/>
          </a:p>
        </p:txBody>
      </p:sp>
      <p:sp>
        <p:nvSpPr>
          <p:cNvPr id="143" name="Google Shape;143;p16"/>
          <p:cNvSpPr/>
          <p:nvPr/>
        </p:nvSpPr>
        <p:spPr>
          <a:xfrm>
            <a:off x="762000" y="3249364"/>
            <a:ext cx="2588418"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4" name="Google Shape;144;p16"/>
          <p:cNvSpPr/>
          <p:nvPr/>
        </p:nvSpPr>
        <p:spPr>
          <a:xfrm>
            <a:off x="3350418" y="3249364"/>
            <a:ext cx="299055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5" name="Google Shape;145;p16"/>
          <p:cNvSpPr/>
          <p:nvPr/>
        </p:nvSpPr>
        <p:spPr>
          <a:xfrm>
            <a:off x="6340971" y="3249364"/>
            <a:ext cx="310351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6" name="Google Shape;146;p16"/>
          <p:cNvSpPr/>
          <p:nvPr/>
        </p:nvSpPr>
        <p:spPr>
          <a:xfrm>
            <a:off x="9444483" y="3249364"/>
            <a:ext cx="1985516"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7" name="Google Shape;147;p16"/>
          <p:cNvSpPr/>
          <p:nvPr/>
        </p:nvSpPr>
        <p:spPr>
          <a:xfrm>
            <a:off x="762000" y="3745408"/>
            <a:ext cx="2588418"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6"/>
          <p:cNvSpPr/>
          <p:nvPr/>
        </p:nvSpPr>
        <p:spPr>
          <a:xfrm>
            <a:off x="3350418" y="3745408"/>
            <a:ext cx="299055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6"/>
          <p:cNvSpPr/>
          <p:nvPr/>
        </p:nvSpPr>
        <p:spPr>
          <a:xfrm>
            <a:off x="6340971" y="3745408"/>
            <a:ext cx="310351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16"/>
          <p:cNvSpPr/>
          <p:nvPr/>
        </p:nvSpPr>
        <p:spPr>
          <a:xfrm>
            <a:off x="9444483" y="3745408"/>
            <a:ext cx="1985516"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1" name="Google Shape;151;p16"/>
          <p:cNvSpPr/>
          <p:nvPr/>
        </p:nvSpPr>
        <p:spPr>
          <a:xfrm>
            <a:off x="762000" y="4241452"/>
            <a:ext cx="2588418"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2" name="Google Shape;152;p16"/>
          <p:cNvSpPr/>
          <p:nvPr/>
        </p:nvSpPr>
        <p:spPr>
          <a:xfrm>
            <a:off x="3350418" y="4241452"/>
            <a:ext cx="299055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3" name="Google Shape;153;p16"/>
          <p:cNvSpPr/>
          <p:nvPr/>
        </p:nvSpPr>
        <p:spPr>
          <a:xfrm>
            <a:off x="6340971" y="4241452"/>
            <a:ext cx="310351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4" name="Google Shape;154;p16"/>
          <p:cNvSpPr/>
          <p:nvPr/>
        </p:nvSpPr>
        <p:spPr>
          <a:xfrm>
            <a:off x="9444483" y="4241452"/>
            <a:ext cx="1985516"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5" name="Google Shape;155;p16"/>
          <p:cNvSpPr/>
          <p:nvPr/>
        </p:nvSpPr>
        <p:spPr>
          <a:xfrm>
            <a:off x="762000" y="4737496"/>
            <a:ext cx="2588418"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6" name="Google Shape;156;p16"/>
          <p:cNvSpPr/>
          <p:nvPr/>
        </p:nvSpPr>
        <p:spPr>
          <a:xfrm>
            <a:off x="3350418" y="4737496"/>
            <a:ext cx="299055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16"/>
          <p:cNvSpPr/>
          <p:nvPr/>
        </p:nvSpPr>
        <p:spPr>
          <a:xfrm>
            <a:off x="6340971" y="4737496"/>
            <a:ext cx="310351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8" name="Google Shape;158;p16"/>
          <p:cNvSpPr/>
          <p:nvPr/>
        </p:nvSpPr>
        <p:spPr>
          <a:xfrm>
            <a:off x="9444483" y="4737496"/>
            <a:ext cx="1985516"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9" name="Google Shape;159;p16" descr="image.png"/>
          <p:cNvPicPr preferRelativeResize="0"/>
          <p:nvPr/>
        </p:nvPicPr>
        <p:blipFill rotWithShape="1">
          <a:blip r:embed="rId5">
            <a:alphaModFix/>
          </a:blip>
          <a:srcRect/>
          <a:stretch/>
        </p:blipFill>
        <p:spPr>
          <a:xfrm>
            <a:off x="952500" y="3416051"/>
            <a:ext cx="705742" cy="191244"/>
          </a:xfrm>
          <a:prstGeom prst="rect">
            <a:avLst/>
          </a:prstGeom>
          <a:noFill/>
          <a:ln>
            <a:noFill/>
          </a:ln>
        </p:spPr>
      </p:pic>
      <p:pic>
        <p:nvPicPr>
          <p:cNvPr id="160" name="Google Shape;160;p16" descr="image.png"/>
          <p:cNvPicPr preferRelativeResize="0"/>
          <p:nvPr/>
        </p:nvPicPr>
        <p:blipFill rotWithShape="1">
          <a:blip r:embed="rId6">
            <a:alphaModFix/>
          </a:blip>
          <a:srcRect/>
          <a:stretch/>
        </p:blipFill>
        <p:spPr>
          <a:xfrm>
            <a:off x="3540918" y="3416051"/>
            <a:ext cx="671810" cy="191244"/>
          </a:xfrm>
          <a:prstGeom prst="rect">
            <a:avLst/>
          </a:prstGeom>
          <a:noFill/>
          <a:ln>
            <a:noFill/>
          </a:ln>
        </p:spPr>
      </p:pic>
      <p:pic>
        <p:nvPicPr>
          <p:cNvPr id="161" name="Google Shape;161;p16" descr="image.png"/>
          <p:cNvPicPr preferRelativeResize="0"/>
          <p:nvPr/>
        </p:nvPicPr>
        <p:blipFill rotWithShape="1">
          <a:blip r:embed="rId7">
            <a:alphaModFix/>
          </a:blip>
          <a:srcRect/>
          <a:stretch/>
        </p:blipFill>
        <p:spPr>
          <a:xfrm>
            <a:off x="6531471" y="3416051"/>
            <a:ext cx="1315640" cy="191244"/>
          </a:xfrm>
          <a:prstGeom prst="rect">
            <a:avLst/>
          </a:prstGeom>
          <a:noFill/>
          <a:ln>
            <a:noFill/>
          </a:ln>
        </p:spPr>
      </p:pic>
      <p:pic>
        <p:nvPicPr>
          <p:cNvPr id="162" name="Google Shape;162;p16" descr="image.png"/>
          <p:cNvPicPr preferRelativeResize="0"/>
          <p:nvPr/>
        </p:nvPicPr>
        <p:blipFill rotWithShape="1">
          <a:blip r:embed="rId8">
            <a:alphaModFix/>
          </a:blip>
          <a:srcRect/>
          <a:stretch/>
        </p:blipFill>
        <p:spPr>
          <a:xfrm>
            <a:off x="9634983" y="3420814"/>
            <a:ext cx="671810" cy="181719"/>
          </a:xfrm>
          <a:prstGeom prst="rect">
            <a:avLst/>
          </a:prstGeom>
          <a:noFill/>
          <a:ln>
            <a:noFill/>
          </a:ln>
        </p:spPr>
      </p:pic>
      <p:pic>
        <p:nvPicPr>
          <p:cNvPr id="163" name="Google Shape;163;p16" descr="image.png"/>
          <p:cNvPicPr preferRelativeResize="0"/>
          <p:nvPr/>
        </p:nvPicPr>
        <p:blipFill rotWithShape="1">
          <a:blip r:embed="rId9">
            <a:alphaModFix/>
          </a:blip>
          <a:srcRect/>
          <a:stretch/>
        </p:blipFill>
        <p:spPr>
          <a:xfrm>
            <a:off x="952500" y="3912096"/>
            <a:ext cx="1115020" cy="191244"/>
          </a:xfrm>
          <a:prstGeom prst="rect">
            <a:avLst/>
          </a:prstGeom>
          <a:noFill/>
          <a:ln>
            <a:noFill/>
          </a:ln>
        </p:spPr>
      </p:pic>
      <p:pic>
        <p:nvPicPr>
          <p:cNvPr id="164" name="Google Shape;164;p16" descr="image.png"/>
          <p:cNvPicPr preferRelativeResize="0"/>
          <p:nvPr/>
        </p:nvPicPr>
        <p:blipFill rotWithShape="1">
          <a:blip r:embed="rId6">
            <a:alphaModFix/>
          </a:blip>
          <a:srcRect/>
          <a:stretch/>
        </p:blipFill>
        <p:spPr>
          <a:xfrm>
            <a:off x="3540918" y="3912096"/>
            <a:ext cx="671810" cy="191244"/>
          </a:xfrm>
          <a:prstGeom prst="rect">
            <a:avLst/>
          </a:prstGeom>
          <a:noFill/>
          <a:ln>
            <a:noFill/>
          </a:ln>
        </p:spPr>
      </p:pic>
      <p:pic>
        <p:nvPicPr>
          <p:cNvPr id="165" name="Google Shape;165;p16" descr="image.png"/>
          <p:cNvPicPr preferRelativeResize="0"/>
          <p:nvPr/>
        </p:nvPicPr>
        <p:blipFill rotWithShape="1">
          <a:blip r:embed="rId6">
            <a:alphaModFix/>
          </a:blip>
          <a:srcRect/>
          <a:stretch/>
        </p:blipFill>
        <p:spPr>
          <a:xfrm>
            <a:off x="9634983" y="3912096"/>
            <a:ext cx="671810" cy="191244"/>
          </a:xfrm>
          <a:prstGeom prst="rect">
            <a:avLst/>
          </a:prstGeom>
          <a:noFill/>
          <a:ln>
            <a:noFill/>
          </a:ln>
        </p:spPr>
      </p:pic>
      <p:pic>
        <p:nvPicPr>
          <p:cNvPr id="166" name="Google Shape;166;p16" descr="image.png"/>
          <p:cNvPicPr preferRelativeResize="0"/>
          <p:nvPr/>
        </p:nvPicPr>
        <p:blipFill rotWithShape="1">
          <a:blip r:embed="rId10">
            <a:alphaModFix/>
          </a:blip>
          <a:srcRect/>
          <a:stretch/>
        </p:blipFill>
        <p:spPr>
          <a:xfrm>
            <a:off x="952500" y="4408140"/>
            <a:ext cx="705742" cy="191244"/>
          </a:xfrm>
          <a:prstGeom prst="rect">
            <a:avLst/>
          </a:prstGeom>
          <a:noFill/>
          <a:ln>
            <a:noFill/>
          </a:ln>
        </p:spPr>
      </p:pic>
      <p:sp>
        <p:nvSpPr>
          <p:cNvPr id="167" name="Google Shape;167;p16"/>
          <p:cNvSpPr txBox="1"/>
          <p:nvPr/>
        </p:nvSpPr>
        <p:spPr>
          <a:xfrm>
            <a:off x="952500" y="903535"/>
            <a:ext cx="11001375" cy="533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1A1A1A"/>
                </a:solidFill>
                <a:latin typeface="Playfair Display"/>
                <a:ea typeface="Playfair Display"/>
                <a:cs typeface="Playfair Display"/>
                <a:sym typeface="Playfair Display"/>
              </a:rPr>
              <a:t>Bear Spreads</a:t>
            </a:r>
            <a:endParaRPr/>
          </a:p>
        </p:txBody>
      </p:sp>
      <p:sp>
        <p:nvSpPr>
          <p:cNvPr id="168" name="Google Shape;168;p16"/>
          <p:cNvSpPr/>
          <p:nvPr/>
        </p:nvSpPr>
        <p:spPr>
          <a:xfrm>
            <a:off x="762000" y="903535"/>
            <a:ext cx="57150" cy="533400"/>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B46BEF0B-1E97-06F9-492B-E5D7455DA102}"/>
              </a:ext>
            </a:extLst>
          </p:cNvPr>
          <p:cNvPicPr>
            <a:picLocks noChangeAspect="1"/>
          </p:cNvPicPr>
          <p:nvPr/>
        </p:nvPicPr>
        <p:blipFill>
          <a:blip r:embed="rId11"/>
          <a:stretch>
            <a:fillRect/>
          </a:stretch>
        </p:blipFill>
        <p:spPr>
          <a:xfrm>
            <a:off x="7098791" y="3912366"/>
            <a:ext cx="181000" cy="190527"/>
          </a:xfrm>
          <a:prstGeom prst="rect">
            <a:avLst/>
          </a:prstGeom>
        </p:spPr>
      </p:pic>
      <p:pic>
        <p:nvPicPr>
          <p:cNvPr id="5" name="Picture 4">
            <a:extLst>
              <a:ext uri="{FF2B5EF4-FFF2-40B4-BE49-F238E27FC236}">
                <a16:creationId xmlns:a16="http://schemas.microsoft.com/office/drawing/2014/main" id="{4B229D41-1B7C-2F70-EE1B-5D062208CD0A}"/>
              </a:ext>
            </a:extLst>
          </p:cNvPr>
          <p:cNvPicPr>
            <a:picLocks noChangeAspect="1"/>
          </p:cNvPicPr>
          <p:nvPr/>
        </p:nvPicPr>
        <p:blipFill>
          <a:blip r:embed="rId11"/>
          <a:stretch>
            <a:fillRect/>
          </a:stretch>
        </p:blipFill>
        <p:spPr>
          <a:xfrm>
            <a:off x="7098791" y="4408857"/>
            <a:ext cx="181000" cy="190527"/>
          </a:xfrm>
          <a:prstGeom prst="rect">
            <a:avLst/>
          </a:prstGeom>
        </p:spPr>
      </p:pic>
      <p:pic>
        <p:nvPicPr>
          <p:cNvPr id="7" name="Picture 6">
            <a:extLst>
              <a:ext uri="{FF2B5EF4-FFF2-40B4-BE49-F238E27FC236}">
                <a16:creationId xmlns:a16="http://schemas.microsoft.com/office/drawing/2014/main" id="{78C44CCE-AC8A-DAE5-2F0D-22A3BD1FF16B}"/>
              </a:ext>
            </a:extLst>
          </p:cNvPr>
          <p:cNvPicPr>
            <a:picLocks noChangeAspect="1"/>
          </p:cNvPicPr>
          <p:nvPr/>
        </p:nvPicPr>
        <p:blipFill>
          <a:blip r:embed="rId11"/>
          <a:stretch>
            <a:fillRect/>
          </a:stretch>
        </p:blipFill>
        <p:spPr>
          <a:xfrm>
            <a:off x="3786323" y="4408857"/>
            <a:ext cx="181000" cy="190527"/>
          </a:xfrm>
          <a:prstGeom prst="rect">
            <a:avLst/>
          </a:prstGeom>
        </p:spPr>
      </p:pic>
      <p:pic>
        <p:nvPicPr>
          <p:cNvPr id="9" name="Picture 8">
            <a:extLst>
              <a:ext uri="{FF2B5EF4-FFF2-40B4-BE49-F238E27FC236}">
                <a16:creationId xmlns:a16="http://schemas.microsoft.com/office/drawing/2014/main" id="{D8AA50DB-2F27-0471-95BF-568D51E3EE90}"/>
              </a:ext>
            </a:extLst>
          </p:cNvPr>
          <p:cNvPicPr>
            <a:picLocks noChangeAspect="1"/>
          </p:cNvPicPr>
          <p:nvPr/>
        </p:nvPicPr>
        <p:blipFill>
          <a:blip r:embed="rId11"/>
          <a:stretch>
            <a:fillRect/>
          </a:stretch>
        </p:blipFill>
        <p:spPr>
          <a:xfrm>
            <a:off x="9880388" y="4408857"/>
            <a:ext cx="181000" cy="1905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CF8"/>
        </a:solidFill>
        <a:effectLst/>
      </p:bgPr>
    </p:bg>
    <p:spTree>
      <p:nvGrpSpPr>
        <p:cNvPr id="1" name="Shape 172"/>
        <p:cNvGrpSpPr/>
        <p:nvPr/>
      </p:nvGrpSpPr>
      <p:grpSpPr>
        <a:xfrm>
          <a:off x="0" y="0"/>
          <a:ext cx="0" cy="0"/>
          <a:chOff x="0" y="0"/>
          <a:chExt cx="0" cy="0"/>
        </a:xfrm>
      </p:grpSpPr>
      <p:pic>
        <p:nvPicPr>
          <p:cNvPr id="173" name="Google Shape;173;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4" name="Google Shape;174;p17"/>
          <p:cNvSpPr txBox="1"/>
          <p:nvPr/>
        </p:nvSpPr>
        <p:spPr>
          <a:xfrm>
            <a:off x="762000" y="1903660"/>
            <a:ext cx="10668000" cy="70173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dirty="0">
                <a:solidFill>
                  <a:srgbClr val="4A4A4A"/>
                </a:solidFill>
                <a:latin typeface="Arimo"/>
                <a:ea typeface="Arimo"/>
                <a:cs typeface="Arimo"/>
                <a:sym typeface="Arimo"/>
              </a:rPr>
              <a:t>A box spread is a combination of a bull call spread (strikes K1 and K2 ) and a bear put spread (same strikes). It locks in a riskless return if the cost is lower than the present value of the payoff.</a:t>
            </a:r>
            <a:endParaRPr dirty="0"/>
          </a:p>
        </p:txBody>
      </p:sp>
      <p:sp>
        <p:nvSpPr>
          <p:cNvPr id="177" name="Google Shape;177;p17"/>
          <p:cNvSpPr/>
          <p:nvPr/>
        </p:nvSpPr>
        <p:spPr>
          <a:xfrm>
            <a:off x="762000" y="2815976"/>
            <a:ext cx="10668000" cy="1935807"/>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8" name="Google Shape;178;p17"/>
          <p:cNvSpPr/>
          <p:nvPr/>
        </p:nvSpPr>
        <p:spPr>
          <a:xfrm>
            <a:off x="762000" y="3249364"/>
            <a:ext cx="223777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9" name="Google Shape;179;p17"/>
          <p:cNvSpPr/>
          <p:nvPr/>
        </p:nvSpPr>
        <p:spPr>
          <a:xfrm>
            <a:off x="2999779" y="3249364"/>
            <a:ext cx="341114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0" name="Google Shape;180;p17"/>
          <p:cNvSpPr/>
          <p:nvPr/>
        </p:nvSpPr>
        <p:spPr>
          <a:xfrm>
            <a:off x="6410920" y="3249364"/>
            <a:ext cx="3302496"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1" name="Google Shape;181;p17"/>
          <p:cNvSpPr/>
          <p:nvPr/>
        </p:nvSpPr>
        <p:spPr>
          <a:xfrm>
            <a:off x="9713416" y="3249364"/>
            <a:ext cx="1716583"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2" name="Google Shape;182;p17"/>
          <p:cNvSpPr/>
          <p:nvPr/>
        </p:nvSpPr>
        <p:spPr>
          <a:xfrm>
            <a:off x="762000" y="3745408"/>
            <a:ext cx="223777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3" name="Google Shape;183;p17"/>
          <p:cNvSpPr/>
          <p:nvPr/>
        </p:nvSpPr>
        <p:spPr>
          <a:xfrm>
            <a:off x="2999779" y="3745408"/>
            <a:ext cx="341114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4" name="Google Shape;184;p17"/>
          <p:cNvSpPr/>
          <p:nvPr/>
        </p:nvSpPr>
        <p:spPr>
          <a:xfrm>
            <a:off x="6410920" y="3745408"/>
            <a:ext cx="3302496"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17"/>
          <p:cNvSpPr/>
          <p:nvPr/>
        </p:nvSpPr>
        <p:spPr>
          <a:xfrm>
            <a:off x="9713416" y="3745408"/>
            <a:ext cx="1716583"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17"/>
          <p:cNvSpPr/>
          <p:nvPr/>
        </p:nvSpPr>
        <p:spPr>
          <a:xfrm>
            <a:off x="762000" y="4241452"/>
            <a:ext cx="223777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17"/>
          <p:cNvSpPr/>
          <p:nvPr/>
        </p:nvSpPr>
        <p:spPr>
          <a:xfrm>
            <a:off x="2999779" y="4241452"/>
            <a:ext cx="341114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8" name="Google Shape;188;p17"/>
          <p:cNvSpPr/>
          <p:nvPr/>
        </p:nvSpPr>
        <p:spPr>
          <a:xfrm>
            <a:off x="6410920" y="4241452"/>
            <a:ext cx="3302496"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9" name="Google Shape;189;p17"/>
          <p:cNvSpPr/>
          <p:nvPr/>
        </p:nvSpPr>
        <p:spPr>
          <a:xfrm>
            <a:off x="9713416" y="4241452"/>
            <a:ext cx="1716583"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17"/>
          <p:cNvSpPr/>
          <p:nvPr/>
        </p:nvSpPr>
        <p:spPr>
          <a:xfrm>
            <a:off x="762000" y="4737496"/>
            <a:ext cx="223777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17"/>
          <p:cNvSpPr/>
          <p:nvPr/>
        </p:nvSpPr>
        <p:spPr>
          <a:xfrm>
            <a:off x="2999779" y="4737496"/>
            <a:ext cx="341114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2" name="Google Shape;192;p17"/>
          <p:cNvSpPr/>
          <p:nvPr/>
        </p:nvSpPr>
        <p:spPr>
          <a:xfrm>
            <a:off x="6410920" y="4737496"/>
            <a:ext cx="3302496"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3" name="Google Shape;193;p17"/>
          <p:cNvSpPr/>
          <p:nvPr/>
        </p:nvSpPr>
        <p:spPr>
          <a:xfrm>
            <a:off x="9713416" y="4737496"/>
            <a:ext cx="1716583"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4" name="Google Shape;194;p17" descr="image.png"/>
          <p:cNvPicPr preferRelativeResize="0"/>
          <p:nvPr/>
        </p:nvPicPr>
        <p:blipFill rotWithShape="1">
          <a:blip r:embed="rId4">
            <a:alphaModFix/>
          </a:blip>
          <a:srcRect/>
          <a:stretch/>
        </p:blipFill>
        <p:spPr>
          <a:xfrm>
            <a:off x="952500" y="3416051"/>
            <a:ext cx="705742" cy="191244"/>
          </a:xfrm>
          <a:prstGeom prst="rect">
            <a:avLst/>
          </a:prstGeom>
          <a:noFill/>
          <a:ln>
            <a:noFill/>
          </a:ln>
        </p:spPr>
      </p:pic>
      <p:pic>
        <p:nvPicPr>
          <p:cNvPr id="195" name="Google Shape;195;p17" descr="image.png"/>
          <p:cNvPicPr preferRelativeResize="0"/>
          <p:nvPr/>
        </p:nvPicPr>
        <p:blipFill rotWithShape="1">
          <a:blip r:embed="rId5">
            <a:alphaModFix/>
          </a:blip>
          <a:srcRect/>
          <a:stretch/>
        </p:blipFill>
        <p:spPr>
          <a:xfrm>
            <a:off x="6601420" y="3420814"/>
            <a:ext cx="671810" cy="181719"/>
          </a:xfrm>
          <a:prstGeom prst="rect">
            <a:avLst/>
          </a:prstGeom>
          <a:noFill/>
          <a:ln>
            <a:noFill/>
          </a:ln>
        </p:spPr>
      </p:pic>
      <p:pic>
        <p:nvPicPr>
          <p:cNvPr id="196" name="Google Shape;196;p17" descr="image.png"/>
          <p:cNvPicPr preferRelativeResize="0"/>
          <p:nvPr/>
        </p:nvPicPr>
        <p:blipFill rotWithShape="1">
          <a:blip r:embed="rId6">
            <a:alphaModFix/>
          </a:blip>
          <a:srcRect/>
          <a:stretch/>
        </p:blipFill>
        <p:spPr>
          <a:xfrm>
            <a:off x="9903916" y="3420814"/>
            <a:ext cx="671810" cy="181719"/>
          </a:xfrm>
          <a:prstGeom prst="rect">
            <a:avLst/>
          </a:prstGeom>
          <a:noFill/>
          <a:ln>
            <a:noFill/>
          </a:ln>
        </p:spPr>
      </p:pic>
      <p:pic>
        <p:nvPicPr>
          <p:cNvPr id="197" name="Google Shape;197;p17" descr="image.png"/>
          <p:cNvPicPr preferRelativeResize="0"/>
          <p:nvPr/>
        </p:nvPicPr>
        <p:blipFill rotWithShape="1">
          <a:blip r:embed="rId7">
            <a:alphaModFix/>
          </a:blip>
          <a:srcRect/>
          <a:stretch/>
        </p:blipFill>
        <p:spPr>
          <a:xfrm>
            <a:off x="952500" y="3912096"/>
            <a:ext cx="1115020" cy="191244"/>
          </a:xfrm>
          <a:prstGeom prst="rect">
            <a:avLst/>
          </a:prstGeom>
          <a:noFill/>
          <a:ln>
            <a:noFill/>
          </a:ln>
        </p:spPr>
      </p:pic>
      <p:pic>
        <p:nvPicPr>
          <p:cNvPr id="198" name="Google Shape;198;p17" descr="image.png"/>
          <p:cNvPicPr preferRelativeResize="0"/>
          <p:nvPr/>
        </p:nvPicPr>
        <p:blipFill rotWithShape="1">
          <a:blip r:embed="rId8">
            <a:alphaModFix/>
          </a:blip>
          <a:srcRect/>
          <a:stretch/>
        </p:blipFill>
        <p:spPr>
          <a:xfrm>
            <a:off x="3190279" y="3912096"/>
            <a:ext cx="671810" cy="191244"/>
          </a:xfrm>
          <a:prstGeom prst="rect">
            <a:avLst/>
          </a:prstGeom>
          <a:noFill/>
          <a:ln>
            <a:noFill/>
          </a:ln>
        </p:spPr>
      </p:pic>
      <p:pic>
        <p:nvPicPr>
          <p:cNvPr id="199" name="Google Shape;199;p17" descr="image.png"/>
          <p:cNvPicPr preferRelativeResize="0"/>
          <p:nvPr/>
        </p:nvPicPr>
        <p:blipFill rotWithShape="1">
          <a:blip r:embed="rId9">
            <a:alphaModFix/>
          </a:blip>
          <a:srcRect/>
          <a:stretch/>
        </p:blipFill>
        <p:spPr>
          <a:xfrm>
            <a:off x="6601420" y="3912096"/>
            <a:ext cx="671810" cy="191244"/>
          </a:xfrm>
          <a:prstGeom prst="rect">
            <a:avLst/>
          </a:prstGeom>
          <a:noFill/>
          <a:ln>
            <a:noFill/>
          </a:ln>
        </p:spPr>
      </p:pic>
      <p:pic>
        <p:nvPicPr>
          <p:cNvPr id="200" name="Google Shape;200;p17" descr="image.png"/>
          <p:cNvPicPr preferRelativeResize="0"/>
          <p:nvPr/>
        </p:nvPicPr>
        <p:blipFill rotWithShape="1">
          <a:blip r:embed="rId6">
            <a:alphaModFix/>
          </a:blip>
          <a:srcRect/>
          <a:stretch/>
        </p:blipFill>
        <p:spPr>
          <a:xfrm>
            <a:off x="9903916" y="3916858"/>
            <a:ext cx="671810" cy="181719"/>
          </a:xfrm>
          <a:prstGeom prst="rect">
            <a:avLst/>
          </a:prstGeom>
          <a:noFill/>
          <a:ln>
            <a:noFill/>
          </a:ln>
        </p:spPr>
      </p:pic>
      <p:pic>
        <p:nvPicPr>
          <p:cNvPr id="201" name="Google Shape;201;p17" descr="image.png"/>
          <p:cNvPicPr preferRelativeResize="0"/>
          <p:nvPr/>
        </p:nvPicPr>
        <p:blipFill rotWithShape="1">
          <a:blip r:embed="rId10">
            <a:alphaModFix/>
          </a:blip>
          <a:srcRect/>
          <a:stretch/>
        </p:blipFill>
        <p:spPr>
          <a:xfrm>
            <a:off x="952500" y="4408140"/>
            <a:ext cx="705742" cy="191244"/>
          </a:xfrm>
          <a:prstGeom prst="rect">
            <a:avLst/>
          </a:prstGeom>
          <a:noFill/>
          <a:ln>
            <a:noFill/>
          </a:ln>
        </p:spPr>
      </p:pic>
      <p:pic>
        <p:nvPicPr>
          <p:cNvPr id="202" name="Google Shape;202;p17" descr="image.png"/>
          <p:cNvPicPr preferRelativeResize="0"/>
          <p:nvPr/>
        </p:nvPicPr>
        <p:blipFill rotWithShape="1">
          <a:blip r:embed="rId6">
            <a:alphaModFix/>
          </a:blip>
          <a:srcRect/>
          <a:stretch/>
        </p:blipFill>
        <p:spPr>
          <a:xfrm>
            <a:off x="3190279" y="4412902"/>
            <a:ext cx="671810" cy="181719"/>
          </a:xfrm>
          <a:prstGeom prst="rect">
            <a:avLst/>
          </a:prstGeom>
          <a:noFill/>
          <a:ln>
            <a:noFill/>
          </a:ln>
        </p:spPr>
      </p:pic>
      <p:pic>
        <p:nvPicPr>
          <p:cNvPr id="203" name="Google Shape;203;p17" descr="image.png"/>
          <p:cNvPicPr preferRelativeResize="0"/>
          <p:nvPr/>
        </p:nvPicPr>
        <p:blipFill rotWithShape="1">
          <a:blip r:embed="rId6">
            <a:alphaModFix/>
          </a:blip>
          <a:srcRect/>
          <a:stretch/>
        </p:blipFill>
        <p:spPr>
          <a:xfrm>
            <a:off x="9903916" y="4412902"/>
            <a:ext cx="671810" cy="181719"/>
          </a:xfrm>
          <a:prstGeom prst="rect">
            <a:avLst/>
          </a:prstGeom>
          <a:noFill/>
          <a:ln>
            <a:noFill/>
          </a:ln>
        </p:spPr>
      </p:pic>
      <p:sp>
        <p:nvSpPr>
          <p:cNvPr id="204" name="Google Shape;204;p17"/>
          <p:cNvSpPr txBox="1"/>
          <p:nvPr/>
        </p:nvSpPr>
        <p:spPr>
          <a:xfrm>
            <a:off x="952500" y="903535"/>
            <a:ext cx="11001375" cy="533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1A1A1A"/>
                </a:solidFill>
                <a:latin typeface="Playfair Display"/>
                <a:ea typeface="Playfair Display"/>
                <a:cs typeface="Playfair Display"/>
                <a:sym typeface="Playfair Display"/>
              </a:rPr>
              <a:t>Box Spreads</a:t>
            </a:r>
            <a:endParaRPr/>
          </a:p>
        </p:txBody>
      </p:sp>
      <p:sp>
        <p:nvSpPr>
          <p:cNvPr id="205" name="Google Shape;205;p17"/>
          <p:cNvSpPr/>
          <p:nvPr/>
        </p:nvSpPr>
        <p:spPr>
          <a:xfrm>
            <a:off x="762000" y="903535"/>
            <a:ext cx="57150" cy="533400"/>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 name="Google Shape;140;p16">
            <a:extLst>
              <a:ext uri="{FF2B5EF4-FFF2-40B4-BE49-F238E27FC236}">
                <a16:creationId xmlns:a16="http://schemas.microsoft.com/office/drawing/2014/main" id="{AE856B15-CC32-7FE8-3FAF-AF5E6AE31AD5}"/>
              </a:ext>
            </a:extLst>
          </p:cNvPr>
          <p:cNvGraphicFramePr/>
          <p:nvPr>
            <p:extLst>
              <p:ext uri="{D42A27DB-BD31-4B8C-83A1-F6EECF244321}">
                <p14:modId xmlns:p14="http://schemas.microsoft.com/office/powerpoint/2010/main" val="1779910007"/>
              </p:ext>
            </p:extLst>
          </p:nvPr>
        </p:nvGraphicFramePr>
        <p:xfrm>
          <a:off x="762000" y="2828983"/>
          <a:ext cx="10668000" cy="483950"/>
        </p:xfrm>
        <a:graphic>
          <a:graphicData uri="http://schemas.openxmlformats.org/drawingml/2006/table">
            <a:tbl>
              <a:tblPr firstRow="1" bandRow="1">
                <a:noFill/>
                <a:tableStyleId>{D9BF1B1B-C9BC-43A3-BDDA-C056E8E39C36}</a:tableStyleId>
              </a:tblPr>
              <a:tblGrid>
                <a:gridCol w="2588425">
                  <a:extLst>
                    <a:ext uri="{9D8B030D-6E8A-4147-A177-3AD203B41FA5}">
                      <a16:colId xmlns:a16="http://schemas.microsoft.com/office/drawing/2014/main" val="20000"/>
                    </a:ext>
                  </a:extLst>
                </a:gridCol>
                <a:gridCol w="2990550">
                  <a:extLst>
                    <a:ext uri="{9D8B030D-6E8A-4147-A177-3AD203B41FA5}">
                      <a16:colId xmlns:a16="http://schemas.microsoft.com/office/drawing/2014/main" val="20001"/>
                    </a:ext>
                  </a:extLst>
                </a:gridCol>
                <a:gridCol w="3103500">
                  <a:extLst>
                    <a:ext uri="{9D8B030D-6E8A-4147-A177-3AD203B41FA5}">
                      <a16:colId xmlns:a16="http://schemas.microsoft.com/office/drawing/2014/main" val="20002"/>
                    </a:ext>
                  </a:extLst>
                </a:gridCol>
                <a:gridCol w="1985525">
                  <a:extLst>
                    <a:ext uri="{9D8B030D-6E8A-4147-A177-3AD203B41FA5}">
                      <a16:colId xmlns:a16="http://schemas.microsoft.com/office/drawing/2014/main" val="20003"/>
                    </a:ext>
                  </a:extLst>
                </a:gridCol>
              </a:tblGrid>
              <a:tr h="483950">
                <a:tc>
                  <a:txBody>
                    <a:bodyPr/>
                    <a:lstStyle/>
                    <a:p>
                      <a:pPr marL="0" marR="0" lvl="0" indent="0" algn="l" rtl="0">
                        <a:spcBef>
                          <a:spcPts val="0"/>
                        </a:spcBef>
                        <a:spcAft>
                          <a:spcPts val="0"/>
                        </a:spcAft>
                        <a:buNone/>
                      </a:pPr>
                      <a:r>
                        <a:rPr lang="en-US" sz="1050" b="1" i="0" u="none" strike="noStrike" cap="none" dirty="0">
                          <a:solidFill>
                            <a:srgbClr val="1A1A1A"/>
                          </a:solidFill>
                          <a:latin typeface="Arimo"/>
                          <a:ea typeface="Arimo"/>
                          <a:cs typeface="Arimo"/>
                          <a:sym typeface="Arimo"/>
                        </a:rPr>
                        <a:t>Stock Price Range</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1" i="0" u="none" strike="noStrike" cap="none">
                          <a:solidFill>
                            <a:srgbClr val="1A1A1A"/>
                          </a:solidFill>
                          <a:latin typeface="Arimo"/>
                          <a:ea typeface="Arimo"/>
                          <a:cs typeface="Arimo"/>
                          <a:sym typeface="Arimo"/>
                        </a:rPr>
                        <a:t>Payoff from Long Put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1" i="0" u="none" strike="noStrike" cap="none">
                          <a:solidFill>
                            <a:srgbClr val="1A1A1A"/>
                          </a:solidFill>
                          <a:latin typeface="Arimo"/>
                          <a:ea typeface="Arimo"/>
                          <a:cs typeface="Arimo"/>
                          <a:sym typeface="Arimo"/>
                        </a:rPr>
                        <a:t>Payoff from Short Put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1" i="0" u="none" strike="noStrike" cap="none" dirty="0">
                          <a:solidFill>
                            <a:srgbClr val="1A1A1A"/>
                          </a:solidFill>
                          <a:latin typeface="Arimo"/>
                          <a:ea typeface="Arimo"/>
                          <a:cs typeface="Arimo"/>
                          <a:sym typeface="Arimo"/>
                        </a:rPr>
                        <a:t>Total Payoff</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0"/>
                  </a:ext>
                </a:extLst>
              </a:tr>
            </a:tbl>
          </a:graphicData>
        </a:graphic>
      </p:graphicFrame>
      <p:pic>
        <p:nvPicPr>
          <p:cNvPr id="4" name="Picture 3">
            <a:extLst>
              <a:ext uri="{FF2B5EF4-FFF2-40B4-BE49-F238E27FC236}">
                <a16:creationId xmlns:a16="http://schemas.microsoft.com/office/drawing/2014/main" id="{B4D67B2A-C595-DB50-2528-02E9400276BE}"/>
              </a:ext>
            </a:extLst>
          </p:cNvPr>
          <p:cNvPicPr>
            <a:picLocks noChangeAspect="1"/>
          </p:cNvPicPr>
          <p:nvPr/>
        </p:nvPicPr>
        <p:blipFill>
          <a:blip r:embed="rId11"/>
          <a:stretch>
            <a:fillRect/>
          </a:stretch>
        </p:blipFill>
        <p:spPr>
          <a:xfrm>
            <a:off x="3345184" y="3374832"/>
            <a:ext cx="181000" cy="190527"/>
          </a:xfrm>
          <a:prstGeom prst="rect">
            <a:avLst/>
          </a:prstGeom>
        </p:spPr>
      </p:pic>
      <p:pic>
        <p:nvPicPr>
          <p:cNvPr id="6" name="Picture 5">
            <a:extLst>
              <a:ext uri="{FF2B5EF4-FFF2-40B4-BE49-F238E27FC236}">
                <a16:creationId xmlns:a16="http://schemas.microsoft.com/office/drawing/2014/main" id="{3C3BEB8E-667D-7D3B-F4D1-E46DB2DF7C78}"/>
              </a:ext>
            </a:extLst>
          </p:cNvPr>
          <p:cNvPicPr>
            <a:picLocks noChangeAspect="1"/>
          </p:cNvPicPr>
          <p:nvPr/>
        </p:nvPicPr>
        <p:blipFill>
          <a:blip r:embed="rId11"/>
          <a:stretch>
            <a:fillRect/>
          </a:stretch>
        </p:blipFill>
        <p:spPr>
          <a:xfrm>
            <a:off x="6846825" y="4364368"/>
            <a:ext cx="181000" cy="1905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CF8"/>
        </a:solidFill>
        <a:effectLst/>
      </p:bgPr>
    </p:bg>
    <p:spTree>
      <p:nvGrpSpPr>
        <p:cNvPr id="1" name="Shape 209"/>
        <p:cNvGrpSpPr/>
        <p:nvPr/>
      </p:nvGrpSpPr>
      <p:grpSpPr>
        <a:xfrm>
          <a:off x="0" y="0"/>
          <a:ext cx="0" cy="0"/>
          <a:chOff x="0" y="0"/>
          <a:chExt cx="0" cy="0"/>
        </a:xfrm>
      </p:grpSpPr>
      <p:pic>
        <p:nvPicPr>
          <p:cNvPr id="210" name="Google Shape;210;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1" name="Google Shape;211;p18" descr="image.png"/>
          <p:cNvPicPr preferRelativeResize="0"/>
          <p:nvPr/>
        </p:nvPicPr>
        <p:blipFill rotWithShape="1">
          <a:blip r:embed="rId4">
            <a:alphaModFix/>
          </a:blip>
          <a:srcRect/>
          <a:stretch/>
        </p:blipFill>
        <p:spPr>
          <a:xfrm>
            <a:off x="6286500" y="1913185"/>
            <a:ext cx="5143500" cy="2537073"/>
          </a:xfrm>
          <a:prstGeom prst="rect">
            <a:avLst/>
          </a:prstGeom>
          <a:noFill/>
          <a:ln>
            <a:noFill/>
          </a:ln>
        </p:spPr>
      </p:pic>
      <p:sp>
        <p:nvSpPr>
          <p:cNvPr id="212" name="Google Shape;212;p18"/>
          <p:cNvSpPr txBox="1"/>
          <p:nvPr/>
        </p:nvSpPr>
        <p:spPr>
          <a:xfrm>
            <a:off x="762000" y="1903660"/>
            <a:ext cx="5143500" cy="140346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dirty="0">
                <a:solidFill>
                  <a:srgbClr val="4A4A4A"/>
                </a:solidFill>
                <a:latin typeface="Arimo"/>
                <a:ea typeface="Arimo"/>
                <a:cs typeface="Arimo"/>
                <a:sym typeface="Arimo"/>
              </a:rPr>
              <a:t>A butterfly spread involves positions in options with three different strike prices (K1, K2, K3). It is appropriate when large price moves are unlikely, and the price is expected to stay close to K2.</a:t>
            </a:r>
            <a:endParaRPr dirty="0"/>
          </a:p>
        </p:txBody>
      </p:sp>
      <p:sp>
        <p:nvSpPr>
          <p:cNvPr id="215" name="Google Shape;215;p18"/>
          <p:cNvSpPr/>
          <p:nvPr/>
        </p:nvSpPr>
        <p:spPr>
          <a:xfrm>
            <a:off x="762000" y="3252043"/>
            <a:ext cx="5143500" cy="2431851"/>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18"/>
          <p:cNvSpPr txBox="1"/>
          <p:nvPr/>
        </p:nvSpPr>
        <p:spPr>
          <a:xfrm>
            <a:off x="6562725" y="2151310"/>
            <a:ext cx="486060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4F46E5"/>
                </a:solidFill>
                <a:latin typeface="Arimo"/>
                <a:ea typeface="Arimo"/>
                <a:cs typeface="Arimo"/>
                <a:sym typeface="Arimo"/>
              </a:rPr>
              <a:t>BUTTERFLY EXAMPLE</a:t>
            </a:r>
            <a:endParaRPr/>
          </a:p>
        </p:txBody>
      </p:sp>
      <p:sp>
        <p:nvSpPr>
          <p:cNvPr id="217" name="Google Shape;217;p18"/>
          <p:cNvSpPr txBox="1"/>
          <p:nvPr/>
        </p:nvSpPr>
        <p:spPr>
          <a:xfrm>
            <a:off x="6562725" y="2560885"/>
            <a:ext cx="4629300" cy="5700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A4A4A"/>
                </a:solidFill>
                <a:latin typeface="Arimo"/>
                <a:ea typeface="Arimo"/>
                <a:cs typeface="Arimo"/>
                <a:sym typeface="Arimo"/>
              </a:rPr>
              <a:t>Stock worth $61. Investor buys one call at $55 (K1), buys one call at $65 (K3 ), and sells two calls at $60 (K2).</a:t>
            </a:r>
            <a:endParaRPr/>
          </a:p>
        </p:txBody>
      </p:sp>
      <p:sp>
        <p:nvSpPr>
          <p:cNvPr id="218" name="Google Shape;218;p18"/>
          <p:cNvSpPr txBox="1"/>
          <p:nvPr/>
        </p:nvSpPr>
        <p:spPr>
          <a:xfrm>
            <a:off x="6562725" y="3581697"/>
            <a:ext cx="4629150"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A4A4A"/>
                </a:solidFill>
                <a:latin typeface="Arimo"/>
                <a:ea typeface="Arimo"/>
                <a:cs typeface="Arimo"/>
                <a:sym typeface="Arimo"/>
              </a:rPr>
              <a:t>Prices: $55 strike = $10; $60 strike = $7; $65 strike = $5. Calculate the net cost and profit range.</a:t>
            </a:r>
            <a:endParaRPr/>
          </a:p>
        </p:txBody>
      </p:sp>
      <p:sp>
        <p:nvSpPr>
          <p:cNvPr id="219" name="Google Shape;219;p18"/>
          <p:cNvSpPr/>
          <p:nvPr/>
        </p:nvSpPr>
        <p:spPr>
          <a:xfrm>
            <a:off x="762000" y="3685430"/>
            <a:ext cx="291078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0" name="Google Shape;220;p18"/>
          <p:cNvSpPr/>
          <p:nvPr/>
        </p:nvSpPr>
        <p:spPr>
          <a:xfrm>
            <a:off x="3672780" y="3685430"/>
            <a:ext cx="223271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1" name="Google Shape;221;p18"/>
          <p:cNvSpPr/>
          <p:nvPr/>
        </p:nvSpPr>
        <p:spPr>
          <a:xfrm>
            <a:off x="762000" y="4181475"/>
            <a:ext cx="291078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2" name="Google Shape;222;p18"/>
          <p:cNvSpPr/>
          <p:nvPr/>
        </p:nvSpPr>
        <p:spPr>
          <a:xfrm>
            <a:off x="3672780" y="4181475"/>
            <a:ext cx="223271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3" name="Google Shape;223;p18"/>
          <p:cNvSpPr/>
          <p:nvPr/>
        </p:nvSpPr>
        <p:spPr>
          <a:xfrm>
            <a:off x="762000" y="4677519"/>
            <a:ext cx="291078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4" name="Google Shape;224;p18"/>
          <p:cNvSpPr/>
          <p:nvPr/>
        </p:nvSpPr>
        <p:spPr>
          <a:xfrm>
            <a:off x="3672780" y="4677519"/>
            <a:ext cx="223271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5" name="Google Shape;225;p18"/>
          <p:cNvSpPr/>
          <p:nvPr/>
        </p:nvSpPr>
        <p:spPr>
          <a:xfrm>
            <a:off x="762000" y="5173563"/>
            <a:ext cx="291078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6" name="Google Shape;226;p18"/>
          <p:cNvSpPr/>
          <p:nvPr/>
        </p:nvSpPr>
        <p:spPr>
          <a:xfrm>
            <a:off x="3672780" y="5173563"/>
            <a:ext cx="223271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7" name="Google Shape;227;p18"/>
          <p:cNvSpPr/>
          <p:nvPr/>
        </p:nvSpPr>
        <p:spPr>
          <a:xfrm>
            <a:off x="762000" y="5669607"/>
            <a:ext cx="291078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8" name="Google Shape;228;p18"/>
          <p:cNvSpPr/>
          <p:nvPr/>
        </p:nvSpPr>
        <p:spPr>
          <a:xfrm>
            <a:off x="3672780" y="5669607"/>
            <a:ext cx="223271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29" name="Google Shape;229;p18" descr="image.png"/>
          <p:cNvPicPr preferRelativeResize="0"/>
          <p:nvPr/>
        </p:nvPicPr>
        <p:blipFill rotWithShape="1">
          <a:blip r:embed="rId5">
            <a:alphaModFix/>
          </a:blip>
          <a:srcRect/>
          <a:stretch/>
        </p:blipFill>
        <p:spPr>
          <a:xfrm>
            <a:off x="952500" y="3852118"/>
            <a:ext cx="705742" cy="191244"/>
          </a:xfrm>
          <a:prstGeom prst="rect">
            <a:avLst/>
          </a:prstGeom>
          <a:noFill/>
          <a:ln>
            <a:noFill/>
          </a:ln>
        </p:spPr>
      </p:pic>
      <p:pic>
        <p:nvPicPr>
          <p:cNvPr id="230" name="Google Shape;230;p18" descr="image.png"/>
          <p:cNvPicPr preferRelativeResize="0"/>
          <p:nvPr/>
        </p:nvPicPr>
        <p:blipFill rotWithShape="1">
          <a:blip r:embed="rId6">
            <a:alphaModFix/>
          </a:blip>
          <a:srcRect/>
          <a:stretch/>
        </p:blipFill>
        <p:spPr>
          <a:xfrm>
            <a:off x="952500" y="4348162"/>
            <a:ext cx="1115020" cy="191244"/>
          </a:xfrm>
          <a:prstGeom prst="rect">
            <a:avLst/>
          </a:prstGeom>
          <a:noFill/>
          <a:ln>
            <a:noFill/>
          </a:ln>
        </p:spPr>
      </p:pic>
      <p:pic>
        <p:nvPicPr>
          <p:cNvPr id="231" name="Google Shape;231;p18" descr="image.png"/>
          <p:cNvPicPr preferRelativeResize="0"/>
          <p:nvPr/>
        </p:nvPicPr>
        <p:blipFill rotWithShape="1">
          <a:blip r:embed="rId7">
            <a:alphaModFix/>
          </a:blip>
          <a:srcRect/>
          <a:stretch/>
        </p:blipFill>
        <p:spPr>
          <a:xfrm>
            <a:off x="3863280" y="4348162"/>
            <a:ext cx="671810" cy="191244"/>
          </a:xfrm>
          <a:prstGeom prst="rect">
            <a:avLst/>
          </a:prstGeom>
          <a:noFill/>
          <a:ln>
            <a:noFill/>
          </a:ln>
        </p:spPr>
      </p:pic>
      <p:pic>
        <p:nvPicPr>
          <p:cNvPr id="232" name="Google Shape;232;p18" descr="image.png"/>
          <p:cNvPicPr preferRelativeResize="0"/>
          <p:nvPr/>
        </p:nvPicPr>
        <p:blipFill rotWithShape="1">
          <a:blip r:embed="rId8">
            <a:alphaModFix/>
          </a:blip>
          <a:srcRect/>
          <a:stretch/>
        </p:blipFill>
        <p:spPr>
          <a:xfrm>
            <a:off x="952500" y="4844206"/>
            <a:ext cx="1115020" cy="191244"/>
          </a:xfrm>
          <a:prstGeom prst="rect">
            <a:avLst/>
          </a:prstGeom>
          <a:noFill/>
          <a:ln>
            <a:noFill/>
          </a:ln>
        </p:spPr>
      </p:pic>
      <p:pic>
        <p:nvPicPr>
          <p:cNvPr id="233" name="Google Shape;233;p18" descr="image.png"/>
          <p:cNvPicPr preferRelativeResize="0"/>
          <p:nvPr/>
        </p:nvPicPr>
        <p:blipFill rotWithShape="1">
          <a:blip r:embed="rId9">
            <a:alphaModFix/>
          </a:blip>
          <a:srcRect/>
          <a:stretch/>
        </p:blipFill>
        <p:spPr>
          <a:xfrm>
            <a:off x="3863280" y="4844206"/>
            <a:ext cx="671810" cy="191244"/>
          </a:xfrm>
          <a:prstGeom prst="rect">
            <a:avLst/>
          </a:prstGeom>
          <a:noFill/>
          <a:ln>
            <a:noFill/>
          </a:ln>
        </p:spPr>
      </p:pic>
      <p:pic>
        <p:nvPicPr>
          <p:cNvPr id="234" name="Google Shape;234;p18" descr="image.png"/>
          <p:cNvPicPr preferRelativeResize="0"/>
          <p:nvPr/>
        </p:nvPicPr>
        <p:blipFill rotWithShape="1">
          <a:blip r:embed="rId10">
            <a:alphaModFix/>
          </a:blip>
          <a:srcRect/>
          <a:stretch/>
        </p:blipFill>
        <p:spPr>
          <a:xfrm>
            <a:off x="952500" y="5340250"/>
            <a:ext cx="705742" cy="191244"/>
          </a:xfrm>
          <a:prstGeom prst="rect">
            <a:avLst/>
          </a:prstGeom>
          <a:noFill/>
          <a:ln>
            <a:noFill/>
          </a:ln>
        </p:spPr>
      </p:pic>
      <p:sp>
        <p:nvSpPr>
          <p:cNvPr id="235" name="Google Shape;235;p18"/>
          <p:cNvSpPr txBox="1"/>
          <p:nvPr/>
        </p:nvSpPr>
        <p:spPr>
          <a:xfrm>
            <a:off x="952500" y="903535"/>
            <a:ext cx="11001375" cy="533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1A1A1A"/>
                </a:solidFill>
                <a:latin typeface="Playfair Display"/>
                <a:ea typeface="Playfair Display"/>
                <a:cs typeface="Playfair Display"/>
                <a:sym typeface="Playfair Display"/>
              </a:rPr>
              <a:t>Butterfly Spreads</a:t>
            </a:r>
            <a:endParaRPr/>
          </a:p>
        </p:txBody>
      </p:sp>
      <p:sp>
        <p:nvSpPr>
          <p:cNvPr id="236" name="Google Shape;236;p18"/>
          <p:cNvSpPr/>
          <p:nvPr/>
        </p:nvSpPr>
        <p:spPr>
          <a:xfrm>
            <a:off x="762000" y="903535"/>
            <a:ext cx="57150" cy="533400"/>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032CD4BE-3DA5-55E3-A208-E590A390BC57}"/>
              </a:ext>
            </a:extLst>
          </p:cNvPr>
          <p:cNvPicPr>
            <a:picLocks noChangeAspect="1"/>
          </p:cNvPicPr>
          <p:nvPr/>
        </p:nvPicPr>
        <p:blipFill>
          <a:blip r:embed="rId11"/>
          <a:stretch>
            <a:fillRect/>
          </a:stretch>
        </p:blipFill>
        <p:spPr>
          <a:xfrm>
            <a:off x="737432" y="3252044"/>
            <a:ext cx="5168067" cy="461962"/>
          </a:xfrm>
          <a:prstGeom prst="rect">
            <a:avLst/>
          </a:prstGeom>
        </p:spPr>
      </p:pic>
      <p:pic>
        <p:nvPicPr>
          <p:cNvPr id="5" name="Picture 4">
            <a:extLst>
              <a:ext uri="{FF2B5EF4-FFF2-40B4-BE49-F238E27FC236}">
                <a16:creationId xmlns:a16="http://schemas.microsoft.com/office/drawing/2014/main" id="{9CFB2520-E395-C576-0BD9-C496101161DF}"/>
              </a:ext>
            </a:extLst>
          </p:cNvPr>
          <p:cNvPicPr>
            <a:picLocks noChangeAspect="1"/>
          </p:cNvPicPr>
          <p:nvPr/>
        </p:nvPicPr>
        <p:blipFill>
          <a:blip r:embed="rId12"/>
          <a:stretch>
            <a:fillRect/>
          </a:stretch>
        </p:blipFill>
        <p:spPr>
          <a:xfrm>
            <a:off x="4108685" y="3861677"/>
            <a:ext cx="181000" cy="190527"/>
          </a:xfrm>
          <a:prstGeom prst="rect">
            <a:avLst/>
          </a:prstGeom>
        </p:spPr>
      </p:pic>
      <p:pic>
        <p:nvPicPr>
          <p:cNvPr id="7" name="Picture 6">
            <a:extLst>
              <a:ext uri="{FF2B5EF4-FFF2-40B4-BE49-F238E27FC236}">
                <a16:creationId xmlns:a16="http://schemas.microsoft.com/office/drawing/2014/main" id="{639D5CD9-F732-4259-933C-E40C8B3EACC6}"/>
              </a:ext>
            </a:extLst>
          </p:cNvPr>
          <p:cNvPicPr>
            <a:picLocks noChangeAspect="1"/>
          </p:cNvPicPr>
          <p:nvPr/>
        </p:nvPicPr>
        <p:blipFill>
          <a:blip r:embed="rId12"/>
          <a:stretch>
            <a:fillRect/>
          </a:stretch>
        </p:blipFill>
        <p:spPr>
          <a:xfrm>
            <a:off x="4088365" y="5321201"/>
            <a:ext cx="181000" cy="1905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CF8"/>
        </a:solidFill>
        <a:effectLst/>
      </p:bgPr>
    </p:bg>
    <p:spTree>
      <p:nvGrpSpPr>
        <p:cNvPr id="1" name="Shape 240"/>
        <p:cNvGrpSpPr/>
        <p:nvPr/>
      </p:nvGrpSpPr>
      <p:grpSpPr>
        <a:xfrm>
          <a:off x="0" y="0"/>
          <a:ext cx="0" cy="0"/>
          <a:chOff x="0" y="0"/>
          <a:chExt cx="0" cy="0"/>
        </a:xfrm>
      </p:grpSpPr>
      <p:pic>
        <p:nvPicPr>
          <p:cNvPr id="241" name="Google Shape;241;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2" name="Google Shape;242;p19"/>
          <p:cNvSpPr txBox="1"/>
          <p:nvPr/>
        </p:nvSpPr>
        <p:spPr>
          <a:xfrm>
            <a:off x="3500675" y="2307877"/>
            <a:ext cx="5190648" cy="1019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2D2D2D"/>
                </a:solidFill>
                <a:latin typeface="Playfair Display"/>
                <a:ea typeface="Playfair Display"/>
                <a:cs typeface="Playfair Display"/>
                <a:sym typeface="Playfair Display"/>
              </a:rPr>
              <a:t>Combinations</a:t>
            </a:r>
            <a:endParaRPr/>
          </a:p>
        </p:txBody>
      </p:sp>
      <p:sp>
        <p:nvSpPr>
          <p:cNvPr id="243" name="Google Shape;243;p19"/>
          <p:cNvSpPr/>
          <p:nvPr/>
        </p:nvSpPr>
        <p:spPr>
          <a:xfrm>
            <a:off x="5619750" y="3612802"/>
            <a:ext cx="952500" cy="38100"/>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4" name="Google Shape;244;p19"/>
          <p:cNvSpPr txBox="1"/>
          <p:nvPr/>
        </p:nvSpPr>
        <p:spPr>
          <a:xfrm>
            <a:off x="4491037" y="4117627"/>
            <a:ext cx="3209925" cy="289470"/>
          </a:xfrm>
          <a:prstGeom prst="rect">
            <a:avLst/>
          </a:prstGeom>
          <a:noFill/>
          <a:ln>
            <a:noFill/>
          </a:ln>
        </p:spPr>
        <p:txBody>
          <a:bodyPr spcFirstLastPara="1" wrap="square" lIns="0" tIns="0" rIns="0" bIns="0" anchor="t" anchorCtr="0">
            <a:spAutoFit/>
          </a:bodyPr>
          <a:lstStyle/>
          <a:p>
            <a:pPr marL="0" marR="0" lvl="0" indent="0" algn="ctr" rtl="0">
              <a:lnSpc>
                <a:spcPct val="159929"/>
              </a:lnSpc>
              <a:spcBef>
                <a:spcPts val="0"/>
              </a:spcBef>
              <a:spcAft>
                <a:spcPts val="0"/>
              </a:spcAft>
              <a:buNone/>
            </a:pPr>
            <a:r>
              <a:rPr lang="en-US" sz="1425" b="0" i="0" u="none" strike="noStrike" cap="none">
                <a:solidFill>
                  <a:srgbClr val="4A4A4A"/>
                </a:solidFill>
                <a:latin typeface="Arimo"/>
                <a:ea typeface="Arimo"/>
                <a:cs typeface="Arimo"/>
                <a:sym typeface="Arimo"/>
              </a:rPr>
              <a:t>Straddles, Strips, Straps, and Strangles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CF8"/>
        </a:solidFill>
        <a:effectLst/>
      </p:bgPr>
    </p:bg>
    <p:spTree>
      <p:nvGrpSpPr>
        <p:cNvPr id="1" name="Shape 248"/>
        <p:cNvGrpSpPr/>
        <p:nvPr/>
      </p:nvGrpSpPr>
      <p:grpSpPr>
        <a:xfrm>
          <a:off x="0" y="0"/>
          <a:ext cx="0" cy="0"/>
          <a:chOff x="0" y="0"/>
          <a:chExt cx="0" cy="0"/>
        </a:xfrm>
      </p:grpSpPr>
      <p:pic>
        <p:nvPicPr>
          <p:cNvPr id="249" name="Google Shape;249;p20" descr="image.png"/>
          <p:cNvPicPr preferRelativeResize="0"/>
          <p:nvPr/>
        </p:nvPicPr>
        <p:blipFill rotWithShape="1">
          <a:blip r:embed="rId3">
            <a:alphaModFix/>
          </a:blip>
          <a:srcRect/>
          <a:stretch/>
        </p:blipFill>
        <p:spPr>
          <a:xfrm>
            <a:off x="0" y="-95264"/>
            <a:ext cx="12192000" cy="6858000"/>
          </a:xfrm>
          <a:prstGeom prst="rect">
            <a:avLst/>
          </a:prstGeom>
          <a:noFill/>
          <a:ln>
            <a:noFill/>
          </a:ln>
        </p:spPr>
      </p:pic>
      <p:sp>
        <p:nvSpPr>
          <p:cNvPr id="250" name="Google Shape;250;p20"/>
          <p:cNvSpPr txBox="1"/>
          <p:nvPr/>
        </p:nvSpPr>
        <p:spPr>
          <a:xfrm>
            <a:off x="762000" y="1903660"/>
            <a:ext cx="106680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dirty="0">
                <a:solidFill>
                  <a:srgbClr val="4A4A4A"/>
                </a:solidFill>
                <a:latin typeface="Arimo"/>
                <a:ea typeface="Arimo"/>
                <a:cs typeface="Arimo"/>
                <a:sym typeface="Arimo"/>
              </a:rPr>
              <a:t>A straddle involves buying a call and a put with the same strike price ( ) and expiration date. It is used when an investor expects a significant price move but is unsure of the direction.</a:t>
            </a:r>
            <a:endParaRPr dirty="0"/>
          </a:p>
        </p:txBody>
      </p:sp>
      <p:pic>
        <p:nvPicPr>
          <p:cNvPr id="251" name="Google Shape;251;p20" descr="image.png"/>
          <p:cNvPicPr preferRelativeResize="0"/>
          <p:nvPr/>
        </p:nvPicPr>
        <p:blipFill rotWithShape="1">
          <a:blip r:embed="rId4">
            <a:alphaModFix/>
          </a:blip>
          <a:srcRect/>
          <a:stretch/>
        </p:blipFill>
        <p:spPr>
          <a:xfrm>
            <a:off x="6299367" y="2050255"/>
            <a:ext cx="133350" cy="142875"/>
          </a:xfrm>
          <a:prstGeom prst="rect">
            <a:avLst/>
          </a:prstGeom>
          <a:noFill/>
          <a:ln>
            <a:noFill/>
          </a:ln>
        </p:spPr>
      </p:pic>
      <p:sp>
        <p:nvSpPr>
          <p:cNvPr id="252" name="Google Shape;252;p20"/>
          <p:cNvSpPr/>
          <p:nvPr/>
        </p:nvSpPr>
        <p:spPr>
          <a:xfrm>
            <a:off x="762000" y="2815976"/>
            <a:ext cx="10668000" cy="1439763"/>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3" name="Google Shape;253;p20"/>
          <p:cNvSpPr/>
          <p:nvPr/>
        </p:nvSpPr>
        <p:spPr>
          <a:xfrm>
            <a:off x="762000" y="3249364"/>
            <a:ext cx="292610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0"/>
          <p:cNvSpPr/>
          <p:nvPr/>
        </p:nvSpPr>
        <p:spPr>
          <a:xfrm>
            <a:off x="3688109" y="3249364"/>
            <a:ext cx="282669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20"/>
          <p:cNvSpPr/>
          <p:nvPr/>
        </p:nvSpPr>
        <p:spPr>
          <a:xfrm>
            <a:off x="6514802" y="3249364"/>
            <a:ext cx="2670423"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6" name="Google Shape;256;p20"/>
          <p:cNvSpPr/>
          <p:nvPr/>
        </p:nvSpPr>
        <p:spPr>
          <a:xfrm>
            <a:off x="9185225" y="3249364"/>
            <a:ext cx="2244774"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0"/>
          <p:cNvSpPr/>
          <p:nvPr/>
        </p:nvSpPr>
        <p:spPr>
          <a:xfrm>
            <a:off x="762000" y="3745408"/>
            <a:ext cx="292610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8" name="Google Shape;258;p20"/>
          <p:cNvSpPr/>
          <p:nvPr/>
        </p:nvSpPr>
        <p:spPr>
          <a:xfrm>
            <a:off x="3688109" y="3745408"/>
            <a:ext cx="282669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9" name="Google Shape;259;p20"/>
          <p:cNvSpPr/>
          <p:nvPr/>
        </p:nvSpPr>
        <p:spPr>
          <a:xfrm>
            <a:off x="6514802" y="3745408"/>
            <a:ext cx="2670423"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0" name="Google Shape;260;p20"/>
          <p:cNvSpPr/>
          <p:nvPr/>
        </p:nvSpPr>
        <p:spPr>
          <a:xfrm>
            <a:off x="9185225" y="3745408"/>
            <a:ext cx="2244774"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0"/>
          <p:cNvSpPr/>
          <p:nvPr/>
        </p:nvSpPr>
        <p:spPr>
          <a:xfrm>
            <a:off x="762000" y="4241452"/>
            <a:ext cx="292610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0"/>
          <p:cNvSpPr/>
          <p:nvPr/>
        </p:nvSpPr>
        <p:spPr>
          <a:xfrm>
            <a:off x="3688109" y="4241452"/>
            <a:ext cx="282669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0"/>
          <p:cNvSpPr/>
          <p:nvPr/>
        </p:nvSpPr>
        <p:spPr>
          <a:xfrm>
            <a:off x="6514802" y="4241452"/>
            <a:ext cx="2670423"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0"/>
          <p:cNvSpPr/>
          <p:nvPr/>
        </p:nvSpPr>
        <p:spPr>
          <a:xfrm>
            <a:off x="9185225" y="4241452"/>
            <a:ext cx="2244774"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65" name="Google Shape;265;p20" descr="image.png"/>
          <p:cNvPicPr preferRelativeResize="0"/>
          <p:nvPr/>
        </p:nvPicPr>
        <p:blipFill rotWithShape="1">
          <a:blip r:embed="rId5">
            <a:alphaModFix/>
          </a:blip>
          <a:srcRect/>
          <a:stretch/>
        </p:blipFill>
        <p:spPr>
          <a:xfrm>
            <a:off x="952500" y="3416051"/>
            <a:ext cx="591442" cy="191244"/>
          </a:xfrm>
          <a:prstGeom prst="rect">
            <a:avLst/>
          </a:prstGeom>
          <a:noFill/>
          <a:ln>
            <a:noFill/>
          </a:ln>
        </p:spPr>
      </p:pic>
      <p:pic>
        <p:nvPicPr>
          <p:cNvPr id="266" name="Google Shape;266;p20" descr="image.png"/>
          <p:cNvPicPr preferRelativeResize="0"/>
          <p:nvPr/>
        </p:nvPicPr>
        <p:blipFill rotWithShape="1">
          <a:blip r:embed="rId6">
            <a:alphaModFix/>
          </a:blip>
          <a:srcRect/>
          <a:stretch/>
        </p:blipFill>
        <p:spPr>
          <a:xfrm>
            <a:off x="6705302" y="3416051"/>
            <a:ext cx="557510" cy="191244"/>
          </a:xfrm>
          <a:prstGeom prst="rect">
            <a:avLst/>
          </a:prstGeom>
          <a:noFill/>
          <a:ln>
            <a:noFill/>
          </a:ln>
        </p:spPr>
      </p:pic>
      <p:pic>
        <p:nvPicPr>
          <p:cNvPr id="267" name="Google Shape;267;p20" descr="image.png"/>
          <p:cNvPicPr preferRelativeResize="0"/>
          <p:nvPr/>
        </p:nvPicPr>
        <p:blipFill rotWithShape="1">
          <a:blip r:embed="rId7">
            <a:alphaModFix/>
          </a:blip>
          <a:srcRect/>
          <a:stretch/>
        </p:blipFill>
        <p:spPr>
          <a:xfrm>
            <a:off x="9375725" y="3416051"/>
            <a:ext cx="557510" cy="191244"/>
          </a:xfrm>
          <a:prstGeom prst="rect">
            <a:avLst/>
          </a:prstGeom>
          <a:noFill/>
          <a:ln>
            <a:noFill/>
          </a:ln>
        </p:spPr>
      </p:pic>
      <p:pic>
        <p:nvPicPr>
          <p:cNvPr id="268" name="Google Shape;268;p20" descr="image.png"/>
          <p:cNvPicPr preferRelativeResize="0"/>
          <p:nvPr/>
        </p:nvPicPr>
        <p:blipFill rotWithShape="1">
          <a:blip r:embed="rId8">
            <a:alphaModFix/>
          </a:blip>
          <a:srcRect/>
          <a:stretch/>
        </p:blipFill>
        <p:spPr>
          <a:xfrm>
            <a:off x="952500" y="3912096"/>
            <a:ext cx="557510" cy="191244"/>
          </a:xfrm>
          <a:prstGeom prst="rect">
            <a:avLst/>
          </a:prstGeom>
          <a:noFill/>
          <a:ln>
            <a:noFill/>
          </a:ln>
        </p:spPr>
      </p:pic>
      <p:pic>
        <p:nvPicPr>
          <p:cNvPr id="269" name="Google Shape;269;p20" descr="image.png"/>
          <p:cNvPicPr preferRelativeResize="0"/>
          <p:nvPr/>
        </p:nvPicPr>
        <p:blipFill rotWithShape="1">
          <a:blip r:embed="rId9">
            <a:alphaModFix/>
          </a:blip>
          <a:srcRect/>
          <a:stretch/>
        </p:blipFill>
        <p:spPr>
          <a:xfrm>
            <a:off x="3878609" y="3912096"/>
            <a:ext cx="557510" cy="191244"/>
          </a:xfrm>
          <a:prstGeom prst="rect">
            <a:avLst/>
          </a:prstGeom>
          <a:noFill/>
          <a:ln>
            <a:noFill/>
          </a:ln>
        </p:spPr>
      </p:pic>
      <p:pic>
        <p:nvPicPr>
          <p:cNvPr id="270" name="Google Shape;270;p20" descr="image.png"/>
          <p:cNvPicPr preferRelativeResize="0"/>
          <p:nvPr/>
        </p:nvPicPr>
        <p:blipFill rotWithShape="1">
          <a:blip r:embed="rId10">
            <a:alphaModFix/>
          </a:blip>
          <a:srcRect/>
          <a:stretch/>
        </p:blipFill>
        <p:spPr>
          <a:xfrm>
            <a:off x="9375725" y="3912096"/>
            <a:ext cx="557510" cy="191244"/>
          </a:xfrm>
          <a:prstGeom prst="rect">
            <a:avLst/>
          </a:prstGeom>
          <a:noFill/>
          <a:ln>
            <a:noFill/>
          </a:ln>
        </p:spPr>
      </p:pic>
      <p:sp>
        <p:nvSpPr>
          <p:cNvPr id="271" name="Google Shape;271;p20"/>
          <p:cNvSpPr txBox="1"/>
          <p:nvPr/>
        </p:nvSpPr>
        <p:spPr>
          <a:xfrm>
            <a:off x="952500" y="903535"/>
            <a:ext cx="11001375" cy="533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1A1A1A"/>
                </a:solidFill>
                <a:latin typeface="Playfair Display"/>
                <a:ea typeface="Playfair Display"/>
                <a:cs typeface="Playfair Display"/>
                <a:sym typeface="Playfair Display"/>
              </a:rPr>
              <a:t>Straddles</a:t>
            </a:r>
            <a:endParaRPr/>
          </a:p>
        </p:txBody>
      </p:sp>
      <p:sp>
        <p:nvSpPr>
          <p:cNvPr id="272" name="Google Shape;272;p20"/>
          <p:cNvSpPr/>
          <p:nvPr/>
        </p:nvSpPr>
        <p:spPr>
          <a:xfrm>
            <a:off x="762000" y="903535"/>
            <a:ext cx="57150" cy="533400"/>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 name="Google Shape;140;p16">
            <a:extLst>
              <a:ext uri="{FF2B5EF4-FFF2-40B4-BE49-F238E27FC236}">
                <a16:creationId xmlns:a16="http://schemas.microsoft.com/office/drawing/2014/main" id="{F5EA3B03-04D1-DEC5-11F9-9410C6DF0AAF}"/>
              </a:ext>
            </a:extLst>
          </p:cNvPr>
          <p:cNvGraphicFramePr/>
          <p:nvPr>
            <p:extLst>
              <p:ext uri="{D42A27DB-BD31-4B8C-83A1-F6EECF244321}">
                <p14:modId xmlns:p14="http://schemas.microsoft.com/office/powerpoint/2010/main" val="1779910007"/>
              </p:ext>
            </p:extLst>
          </p:nvPr>
        </p:nvGraphicFramePr>
        <p:xfrm>
          <a:off x="762000" y="2828983"/>
          <a:ext cx="10668000" cy="483950"/>
        </p:xfrm>
        <a:graphic>
          <a:graphicData uri="http://schemas.openxmlformats.org/drawingml/2006/table">
            <a:tbl>
              <a:tblPr firstRow="1" bandRow="1">
                <a:noFill/>
                <a:tableStyleId>{D9BF1B1B-C9BC-43A3-BDDA-C056E8E39C36}</a:tableStyleId>
              </a:tblPr>
              <a:tblGrid>
                <a:gridCol w="2588425">
                  <a:extLst>
                    <a:ext uri="{9D8B030D-6E8A-4147-A177-3AD203B41FA5}">
                      <a16:colId xmlns:a16="http://schemas.microsoft.com/office/drawing/2014/main" val="20000"/>
                    </a:ext>
                  </a:extLst>
                </a:gridCol>
                <a:gridCol w="2990550">
                  <a:extLst>
                    <a:ext uri="{9D8B030D-6E8A-4147-A177-3AD203B41FA5}">
                      <a16:colId xmlns:a16="http://schemas.microsoft.com/office/drawing/2014/main" val="20001"/>
                    </a:ext>
                  </a:extLst>
                </a:gridCol>
                <a:gridCol w="3103500">
                  <a:extLst>
                    <a:ext uri="{9D8B030D-6E8A-4147-A177-3AD203B41FA5}">
                      <a16:colId xmlns:a16="http://schemas.microsoft.com/office/drawing/2014/main" val="20002"/>
                    </a:ext>
                  </a:extLst>
                </a:gridCol>
                <a:gridCol w="1985525">
                  <a:extLst>
                    <a:ext uri="{9D8B030D-6E8A-4147-A177-3AD203B41FA5}">
                      <a16:colId xmlns:a16="http://schemas.microsoft.com/office/drawing/2014/main" val="20003"/>
                    </a:ext>
                  </a:extLst>
                </a:gridCol>
              </a:tblGrid>
              <a:tr h="483950">
                <a:tc>
                  <a:txBody>
                    <a:bodyPr/>
                    <a:lstStyle/>
                    <a:p>
                      <a:pPr marL="0" marR="0" lvl="0" indent="0" algn="l" rtl="0">
                        <a:spcBef>
                          <a:spcPts val="0"/>
                        </a:spcBef>
                        <a:spcAft>
                          <a:spcPts val="0"/>
                        </a:spcAft>
                        <a:buNone/>
                      </a:pPr>
                      <a:r>
                        <a:rPr lang="en-US" sz="1050" b="1" i="0" u="none" strike="noStrike" cap="none" dirty="0">
                          <a:solidFill>
                            <a:srgbClr val="1A1A1A"/>
                          </a:solidFill>
                          <a:latin typeface="Arimo"/>
                          <a:ea typeface="Arimo"/>
                          <a:cs typeface="Arimo"/>
                          <a:sym typeface="Arimo"/>
                        </a:rPr>
                        <a:t>Stock Price Range</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1" i="0" u="none" strike="noStrike" cap="none">
                          <a:solidFill>
                            <a:srgbClr val="1A1A1A"/>
                          </a:solidFill>
                          <a:latin typeface="Arimo"/>
                          <a:ea typeface="Arimo"/>
                          <a:cs typeface="Arimo"/>
                          <a:sym typeface="Arimo"/>
                        </a:rPr>
                        <a:t>Payoff from Long Put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1" i="0" u="none" strike="noStrike" cap="none">
                          <a:solidFill>
                            <a:srgbClr val="1A1A1A"/>
                          </a:solidFill>
                          <a:latin typeface="Arimo"/>
                          <a:ea typeface="Arimo"/>
                          <a:cs typeface="Arimo"/>
                          <a:sym typeface="Arimo"/>
                        </a:rPr>
                        <a:t>Payoff from Short Put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1" i="0" u="none" strike="noStrike" cap="none" dirty="0">
                          <a:solidFill>
                            <a:srgbClr val="1A1A1A"/>
                          </a:solidFill>
                          <a:latin typeface="Arimo"/>
                          <a:ea typeface="Arimo"/>
                          <a:cs typeface="Arimo"/>
                          <a:sym typeface="Arimo"/>
                        </a:rPr>
                        <a:t>Total Payoff</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0"/>
                  </a:ext>
                </a:extLst>
              </a:tr>
            </a:tbl>
          </a:graphicData>
        </a:graphic>
      </p:graphicFrame>
      <p:pic>
        <p:nvPicPr>
          <p:cNvPr id="4" name="Picture 3">
            <a:extLst>
              <a:ext uri="{FF2B5EF4-FFF2-40B4-BE49-F238E27FC236}">
                <a16:creationId xmlns:a16="http://schemas.microsoft.com/office/drawing/2014/main" id="{71031237-7CA0-489F-BC34-136F53C2BBD3}"/>
              </a:ext>
            </a:extLst>
          </p:cNvPr>
          <p:cNvPicPr>
            <a:picLocks noChangeAspect="1"/>
          </p:cNvPicPr>
          <p:nvPr/>
        </p:nvPicPr>
        <p:blipFill>
          <a:blip r:embed="rId11"/>
          <a:stretch>
            <a:fillRect/>
          </a:stretch>
        </p:blipFill>
        <p:spPr>
          <a:xfrm>
            <a:off x="4054442" y="3333736"/>
            <a:ext cx="181000" cy="190527"/>
          </a:xfrm>
          <a:prstGeom prst="rect">
            <a:avLst/>
          </a:prstGeom>
        </p:spPr>
      </p:pic>
      <p:pic>
        <p:nvPicPr>
          <p:cNvPr id="6" name="Picture 5">
            <a:extLst>
              <a:ext uri="{FF2B5EF4-FFF2-40B4-BE49-F238E27FC236}">
                <a16:creationId xmlns:a16="http://schemas.microsoft.com/office/drawing/2014/main" id="{9C723FF5-DB09-8204-626B-04FDDDF2910D}"/>
              </a:ext>
            </a:extLst>
          </p:cNvPr>
          <p:cNvPicPr>
            <a:picLocks noChangeAspect="1"/>
          </p:cNvPicPr>
          <p:nvPr/>
        </p:nvPicPr>
        <p:blipFill>
          <a:blip r:embed="rId11"/>
          <a:stretch>
            <a:fillRect/>
          </a:stretch>
        </p:blipFill>
        <p:spPr>
          <a:xfrm>
            <a:off x="6893557" y="3902929"/>
            <a:ext cx="181000" cy="19052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CF8"/>
        </a:solidFill>
        <a:effectLst/>
      </p:bgPr>
    </p:bg>
    <p:spTree>
      <p:nvGrpSpPr>
        <p:cNvPr id="1" name="Shape 291"/>
        <p:cNvGrpSpPr/>
        <p:nvPr/>
      </p:nvGrpSpPr>
      <p:grpSpPr>
        <a:xfrm>
          <a:off x="0" y="0"/>
          <a:ext cx="0" cy="0"/>
          <a:chOff x="0" y="0"/>
          <a:chExt cx="0" cy="0"/>
        </a:xfrm>
      </p:grpSpPr>
      <p:pic>
        <p:nvPicPr>
          <p:cNvPr id="292" name="Google Shape;292;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93" name="Google Shape;293;p22"/>
          <p:cNvSpPr txBox="1"/>
          <p:nvPr/>
        </p:nvSpPr>
        <p:spPr>
          <a:xfrm>
            <a:off x="762000" y="1903660"/>
            <a:ext cx="10668000" cy="70173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dirty="0">
                <a:solidFill>
                  <a:srgbClr val="4A4A4A"/>
                </a:solidFill>
                <a:latin typeface="Arimo"/>
                <a:ea typeface="Arimo"/>
                <a:cs typeface="Arimo"/>
                <a:sym typeface="Arimo"/>
              </a:rPr>
              <a:t>In a strangle, an investor buys a put and a call with different strike prices. Typically, the strike price of the put (K1) is lower than the strike price of the call (K2).</a:t>
            </a:r>
            <a:endParaRPr dirty="0"/>
          </a:p>
        </p:txBody>
      </p:sp>
      <p:sp>
        <p:nvSpPr>
          <p:cNvPr id="296" name="Google Shape;296;p22"/>
          <p:cNvSpPr/>
          <p:nvPr/>
        </p:nvSpPr>
        <p:spPr>
          <a:xfrm>
            <a:off x="762000" y="2815976"/>
            <a:ext cx="10668000" cy="1935807"/>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7" name="Google Shape;297;p22"/>
          <p:cNvSpPr/>
          <p:nvPr/>
        </p:nvSpPr>
        <p:spPr>
          <a:xfrm>
            <a:off x="762000" y="3249364"/>
            <a:ext cx="292610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8" name="Google Shape;298;p22"/>
          <p:cNvSpPr/>
          <p:nvPr/>
        </p:nvSpPr>
        <p:spPr>
          <a:xfrm>
            <a:off x="3688109" y="3249364"/>
            <a:ext cx="282669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9" name="Google Shape;299;p22"/>
          <p:cNvSpPr/>
          <p:nvPr/>
        </p:nvSpPr>
        <p:spPr>
          <a:xfrm>
            <a:off x="6514802" y="3249364"/>
            <a:ext cx="2670423"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0" name="Google Shape;300;p22"/>
          <p:cNvSpPr/>
          <p:nvPr/>
        </p:nvSpPr>
        <p:spPr>
          <a:xfrm>
            <a:off x="9185225" y="3249364"/>
            <a:ext cx="2244774"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1" name="Google Shape;301;p22"/>
          <p:cNvSpPr/>
          <p:nvPr/>
        </p:nvSpPr>
        <p:spPr>
          <a:xfrm>
            <a:off x="762000" y="3745408"/>
            <a:ext cx="292610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2" name="Google Shape;302;p22"/>
          <p:cNvSpPr/>
          <p:nvPr/>
        </p:nvSpPr>
        <p:spPr>
          <a:xfrm>
            <a:off x="3688109" y="3745408"/>
            <a:ext cx="282669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3" name="Google Shape;303;p22"/>
          <p:cNvSpPr/>
          <p:nvPr/>
        </p:nvSpPr>
        <p:spPr>
          <a:xfrm>
            <a:off x="6514802" y="3745408"/>
            <a:ext cx="2670423"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4" name="Google Shape;304;p22"/>
          <p:cNvSpPr/>
          <p:nvPr/>
        </p:nvSpPr>
        <p:spPr>
          <a:xfrm>
            <a:off x="9185225" y="3745408"/>
            <a:ext cx="2244774"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5" name="Google Shape;305;p22"/>
          <p:cNvSpPr/>
          <p:nvPr/>
        </p:nvSpPr>
        <p:spPr>
          <a:xfrm>
            <a:off x="762000" y="4241452"/>
            <a:ext cx="292610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6" name="Google Shape;306;p22"/>
          <p:cNvSpPr/>
          <p:nvPr/>
        </p:nvSpPr>
        <p:spPr>
          <a:xfrm>
            <a:off x="3688109" y="4241452"/>
            <a:ext cx="282669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7" name="Google Shape;307;p22"/>
          <p:cNvSpPr/>
          <p:nvPr/>
        </p:nvSpPr>
        <p:spPr>
          <a:xfrm>
            <a:off x="6514802" y="4241452"/>
            <a:ext cx="2670423"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8" name="Google Shape;308;p22"/>
          <p:cNvSpPr/>
          <p:nvPr/>
        </p:nvSpPr>
        <p:spPr>
          <a:xfrm>
            <a:off x="9185225" y="4241452"/>
            <a:ext cx="2244774"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9" name="Google Shape;309;p22"/>
          <p:cNvSpPr/>
          <p:nvPr/>
        </p:nvSpPr>
        <p:spPr>
          <a:xfrm>
            <a:off x="762000" y="4737496"/>
            <a:ext cx="292610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0" name="Google Shape;310;p22"/>
          <p:cNvSpPr/>
          <p:nvPr/>
        </p:nvSpPr>
        <p:spPr>
          <a:xfrm>
            <a:off x="3688109" y="4737496"/>
            <a:ext cx="2826692"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1" name="Google Shape;311;p22"/>
          <p:cNvSpPr/>
          <p:nvPr/>
        </p:nvSpPr>
        <p:spPr>
          <a:xfrm>
            <a:off x="6514802" y="4737496"/>
            <a:ext cx="2670423"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2" name="Google Shape;312;p22"/>
          <p:cNvSpPr/>
          <p:nvPr/>
        </p:nvSpPr>
        <p:spPr>
          <a:xfrm>
            <a:off x="9185225" y="4737496"/>
            <a:ext cx="2244774"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13" name="Google Shape;313;p22" descr="image.png"/>
          <p:cNvPicPr preferRelativeResize="0"/>
          <p:nvPr/>
        </p:nvPicPr>
        <p:blipFill rotWithShape="1">
          <a:blip r:embed="rId4">
            <a:alphaModFix/>
          </a:blip>
          <a:srcRect/>
          <a:stretch/>
        </p:blipFill>
        <p:spPr>
          <a:xfrm>
            <a:off x="952500" y="3416051"/>
            <a:ext cx="705742" cy="191244"/>
          </a:xfrm>
          <a:prstGeom prst="rect">
            <a:avLst/>
          </a:prstGeom>
          <a:noFill/>
          <a:ln>
            <a:noFill/>
          </a:ln>
        </p:spPr>
      </p:pic>
      <p:pic>
        <p:nvPicPr>
          <p:cNvPr id="314" name="Google Shape;314;p22" descr="image.png"/>
          <p:cNvPicPr preferRelativeResize="0"/>
          <p:nvPr/>
        </p:nvPicPr>
        <p:blipFill rotWithShape="1">
          <a:blip r:embed="rId5">
            <a:alphaModFix/>
          </a:blip>
          <a:srcRect/>
          <a:stretch/>
        </p:blipFill>
        <p:spPr>
          <a:xfrm>
            <a:off x="6705302" y="3416051"/>
            <a:ext cx="671810" cy="191244"/>
          </a:xfrm>
          <a:prstGeom prst="rect">
            <a:avLst/>
          </a:prstGeom>
          <a:noFill/>
          <a:ln>
            <a:noFill/>
          </a:ln>
        </p:spPr>
      </p:pic>
      <p:pic>
        <p:nvPicPr>
          <p:cNvPr id="315" name="Google Shape;315;p22" descr="image.png"/>
          <p:cNvPicPr preferRelativeResize="0"/>
          <p:nvPr/>
        </p:nvPicPr>
        <p:blipFill rotWithShape="1">
          <a:blip r:embed="rId6">
            <a:alphaModFix/>
          </a:blip>
          <a:srcRect/>
          <a:stretch/>
        </p:blipFill>
        <p:spPr>
          <a:xfrm>
            <a:off x="9375725" y="3416051"/>
            <a:ext cx="671810" cy="191244"/>
          </a:xfrm>
          <a:prstGeom prst="rect">
            <a:avLst/>
          </a:prstGeom>
          <a:noFill/>
          <a:ln>
            <a:noFill/>
          </a:ln>
        </p:spPr>
      </p:pic>
      <p:pic>
        <p:nvPicPr>
          <p:cNvPr id="316" name="Google Shape;316;p22" descr="image.png"/>
          <p:cNvPicPr preferRelativeResize="0"/>
          <p:nvPr/>
        </p:nvPicPr>
        <p:blipFill rotWithShape="1">
          <a:blip r:embed="rId7">
            <a:alphaModFix/>
          </a:blip>
          <a:srcRect/>
          <a:stretch/>
        </p:blipFill>
        <p:spPr>
          <a:xfrm>
            <a:off x="952500" y="3912096"/>
            <a:ext cx="1115020" cy="191244"/>
          </a:xfrm>
          <a:prstGeom prst="rect">
            <a:avLst/>
          </a:prstGeom>
          <a:noFill/>
          <a:ln>
            <a:noFill/>
          </a:ln>
        </p:spPr>
      </p:pic>
      <p:pic>
        <p:nvPicPr>
          <p:cNvPr id="317" name="Google Shape;317;p22" descr="image.png"/>
          <p:cNvPicPr preferRelativeResize="0"/>
          <p:nvPr/>
        </p:nvPicPr>
        <p:blipFill rotWithShape="1">
          <a:blip r:embed="rId8">
            <a:alphaModFix/>
          </a:blip>
          <a:srcRect/>
          <a:stretch/>
        </p:blipFill>
        <p:spPr>
          <a:xfrm>
            <a:off x="952500" y="4408140"/>
            <a:ext cx="705742" cy="191244"/>
          </a:xfrm>
          <a:prstGeom prst="rect">
            <a:avLst/>
          </a:prstGeom>
          <a:noFill/>
          <a:ln>
            <a:noFill/>
          </a:ln>
        </p:spPr>
      </p:pic>
      <p:pic>
        <p:nvPicPr>
          <p:cNvPr id="318" name="Google Shape;318;p22" descr="image.png"/>
          <p:cNvPicPr preferRelativeResize="0"/>
          <p:nvPr/>
        </p:nvPicPr>
        <p:blipFill rotWithShape="1">
          <a:blip r:embed="rId9">
            <a:alphaModFix/>
          </a:blip>
          <a:srcRect/>
          <a:stretch/>
        </p:blipFill>
        <p:spPr>
          <a:xfrm>
            <a:off x="3878609" y="4408140"/>
            <a:ext cx="671810" cy="191244"/>
          </a:xfrm>
          <a:prstGeom prst="rect">
            <a:avLst/>
          </a:prstGeom>
          <a:noFill/>
          <a:ln>
            <a:noFill/>
          </a:ln>
        </p:spPr>
      </p:pic>
      <p:pic>
        <p:nvPicPr>
          <p:cNvPr id="319" name="Google Shape;319;p22" descr="image.png"/>
          <p:cNvPicPr preferRelativeResize="0"/>
          <p:nvPr/>
        </p:nvPicPr>
        <p:blipFill rotWithShape="1">
          <a:blip r:embed="rId10">
            <a:alphaModFix/>
          </a:blip>
          <a:srcRect/>
          <a:stretch/>
        </p:blipFill>
        <p:spPr>
          <a:xfrm>
            <a:off x="9375725" y="4408140"/>
            <a:ext cx="671810" cy="191244"/>
          </a:xfrm>
          <a:prstGeom prst="rect">
            <a:avLst/>
          </a:prstGeom>
          <a:noFill/>
          <a:ln>
            <a:noFill/>
          </a:ln>
        </p:spPr>
      </p:pic>
      <p:sp>
        <p:nvSpPr>
          <p:cNvPr id="320" name="Google Shape;320;p22"/>
          <p:cNvSpPr txBox="1"/>
          <p:nvPr/>
        </p:nvSpPr>
        <p:spPr>
          <a:xfrm>
            <a:off x="952500" y="903535"/>
            <a:ext cx="11001375" cy="533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1A1A1A"/>
                </a:solidFill>
                <a:latin typeface="Playfair Display"/>
                <a:ea typeface="Playfair Display"/>
                <a:cs typeface="Playfair Display"/>
                <a:sym typeface="Playfair Display"/>
              </a:rPr>
              <a:t>Strangles</a:t>
            </a:r>
            <a:endParaRPr/>
          </a:p>
        </p:txBody>
      </p:sp>
      <p:sp>
        <p:nvSpPr>
          <p:cNvPr id="321" name="Google Shape;321;p22"/>
          <p:cNvSpPr/>
          <p:nvPr/>
        </p:nvSpPr>
        <p:spPr>
          <a:xfrm>
            <a:off x="762000" y="903535"/>
            <a:ext cx="57150" cy="533400"/>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 name="Google Shape;140;p16">
            <a:extLst>
              <a:ext uri="{FF2B5EF4-FFF2-40B4-BE49-F238E27FC236}">
                <a16:creationId xmlns:a16="http://schemas.microsoft.com/office/drawing/2014/main" id="{F9B7BDAB-FC49-556E-8A39-DDDF1DB9E3EA}"/>
              </a:ext>
            </a:extLst>
          </p:cNvPr>
          <p:cNvGraphicFramePr/>
          <p:nvPr>
            <p:extLst>
              <p:ext uri="{D42A27DB-BD31-4B8C-83A1-F6EECF244321}">
                <p14:modId xmlns:p14="http://schemas.microsoft.com/office/powerpoint/2010/main" val="1779910007"/>
              </p:ext>
            </p:extLst>
          </p:nvPr>
        </p:nvGraphicFramePr>
        <p:xfrm>
          <a:off x="762000" y="2828983"/>
          <a:ext cx="10668000" cy="483950"/>
        </p:xfrm>
        <a:graphic>
          <a:graphicData uri="http://schemas.openxmlformats.org/drawingml/2006/table">
            <a:tbl>
              <a:tblPr firstRow="1" bandRow="1">
                <a:noFill/>
                <a:tableStyleId>{D9BF1B1B-C9BC-43A3-BDDA-C056E8E39C36}</a:tableStyleId>
              </a:tblPr>
              <a:tblGrid>
                <a:gridCol w="2588425">
                  <a:extLst>
                    <a:ext uri="{9D8B030D-6E8A-4147-A177-3AD203B41FA5}">
                      <a16:colId xmlns:a16="http://schemas.microsoft.com/office/drawing/2014/main" val="20000"/>
                    </a:ext>
                  </a:extLst>
                </a:gridCol>
                <a:gridCol w="2990550">
                  <a:extLst>
                    <a:ext uri="{9D8B030D-6E8A-4147-A177-3AD203B41FA5}">
                      <a16:colId xmlns:a16="http://schemas.microsoft.com/office/drawing/2014/main" val="20001"/>
                    </a:ext>
                  </a:extLst>
                </a:gridCol>
                <a:gridCol w="3103500">
                  <a:extLst>
                    <a:ext uri="{9D8B030D-6E8A-4147-A177-3AD203B41FA5}">
                      <a16:colId xmlns:a16="http://schemas.microsoft.com/office/drawing/2014/main" val="20002"/>
                    </a:ext>
                  </a:extLst>
                </a:gridCol>
                <a:gridCol w="1985525">
                  <a:extLst>
                    <a:ext uri="{9D8B030D-6E8A-4147-A177-3AD203B41FA5}">
                      <a16:colId xmlns:a16="http://schemas.microsoft.com/office/drawing/2014/main" val="20003"/>
                    </a:ext>
                  </a:extLst>
                </a:gridCol>
              </a:tblGrid>
              <a:tr h="483950">
                <a:tc>
                  <a:txBody>
                    <a:bodyPr/>
                    <a:lstStyle/>
                    <a:p>
                      <a:pPr marL="0" marR="0" lvl="0" indent="0" algn="l" rtl="0">
                        <a:spcBef>
                          <a:spcPts val="0"/>
                        </a:spcBef>
                        <a:spcAft>
                          <a:spcPts val="0"/>
                        </a:spcAft>
                        <a:buNone/>
                      </a:pPr>
                      <a:r>
                        <a:rPr lang="en-US" sz="1050" b="1" i="0" u="none" strike="noStrike" cap="none" dirty="0">
                          <a:solidFill>
                            <a:srgbClr val="1A1A1A"/>
                          </a:solidFill>
                          <a:latin typeface="Arimo"/>
                          <a:ea typeface="Arimo"/>
                          <a:cs typeface="Arimo"/>
                          <a:sym typeface="Arimo"/>
                        </a:rPr>
                        <a:t>Stock Price Range</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1" i="0" u="none" strike="noStrike" cap="none">
                          <a:solidFill>
                            <a:srgbClr val="1A1A1A"/>
                          </a:solidFill>
                          <a:latin typeface="Arimo"/>
                          <a:ea typeface="Arimo"/>
                          <a:cs typeface="Arimo"/>
                          <a:sym typeface="Arimo"/>
                        </a:rPr>
                        <a:t>Payoff from Long Put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1" i="0" u="none" strike="noStrike" cap="none">
                          <a:solidFill>
                            <a:srgbClr val="1A1A1A"/>
                          </a:solidFill>
                          <a:latin typeface="Arimo"/>
                          <a:ea typeface="Arimo"/>
                          <a:cs typeface="Arimo"/>
                          <a:sym typeface="Arimo"/>
                        </a:rPr>
                        <a:t>Payoff from Short Put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050" b="1" i="0" u="none" strike="noStrike" cap="none" dirty="0">
                          <a:solidFill>
                            <a:srgbClr val="1A1A1A"/>
                          </a:solidFill>
                          <a:latin typeface="Arimo"/>
                          <a:ea typeface="Arimo"/>
                          <a:cs typeface="Arimo"/>
                          <a:sym typeface="Arimo"/>
                        </a:rPr>
                        <a:t>Total Payoff</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0"/>
                  </a:ext>
                </a:extLst>
              </a:tr>
            </a:tbl>
          </a:graphicData>
        </a:graphic>
      </p:graphicFrame>
      <p:pic>
        <p:nvPicPr>
          <p:cNvPr id="4" name="Picture 3">
            <a:extLst>
              <a:ext uri="{FF2B5EF4-FFF2-40B4-BE49-F238E27FC236}">
                <a16:creationId xmlns:a16="http://schemas.microsoft.com/office/drawing/2014/main" id="{5835F330-0ECB-AED7-4CFA-319FE158E211}"/>
              </a:ext>
            </a:extLst>
          </p:cNvPr>
          <p:cNvPicPr>
            <a:picLocks noChangeAspect="1"/>
          </p:cNvPicPr>
          <p:nvPr/>
        </p:nvPicPr>
        <p:blipFill>
          <a:blip r:embed="rId11"/>
          <a:stretch>
            <a:fillRect/>
          </a:stretch>
        </p:blipFill>
        <p:spPr>
          <a:xfrm>
            <a:off x="4033514" y="3345182"/>
            <a:ext cx="181000" cy="190527"/>
          </a:xfrm>
          <a:prstGeom prst="rect">
            <a:avLst/>
          </a:prstGeom>
        </p:spPr>
      </p:pic>
      <p:pic>
        <p:nvPicPr>
          <p:cNvPr id="6" name="Picture 5">
            <a:extLst>
              <a:ext uri="{FF2B5EF4-FFF2-40B4-BE49-F238E27FC236}">
                <a16:creationId xmlns:a16="http://schemas.microsoft.com/office/drawing/2014/main" id="{F941749E-3454-5370-EA3E-C11F6CA50D7E}"/>
              </a:ext>
            </a:extLst>
          </p:cNvPr>
          <p:cNvPicPr>
            <a:picLocks noChangeAspect="1"/>
          </p:cNvPicPr>
          <p:nvPr/>
        </p:nvPicPr>
        <p:blipFill>
          <a:blip r:embed="rId11"/>
          <a:stretch>
            <a:fillRect/>
          </a:stretch>
        </p:blipFill>
        <p:spPr>
          <a:xfrm>
            <a:off x="4033514" y="3902929"/>
            <a:ext cx="181000" cy="190527"/>
          </a:xfrm>
          <a:prstGeom prst="rect">
            <a:avLst/>
          </a:prstGeom>
        </p:spPr>
      </p:pic>
      <p:pic>
        <p:nvPicPr>
          <p:cNvPr id="8" name="Picture 7">
            <a:extLst>
              <a:ext uri="{FF2B5EF4-FFF2-40B4-BE49-F238E27FC236}">
                <a16:creationId xmlns:a16="http://schemas.microsoft.com/office/drawing/2014/main" id="{1570246C-5D95-3DB7-6E4D-8575D9AC0560}"/>
              </a:ext>
            </a:extLst>
          </p:cNvPr>
          <p:cNvPicPr>
            <a:picLocks noChangeAspect="1"/>
          </p:cNvPicPr>
          <p:nvPr/>
        </p:nvPicPr>
        <p:blipFill>
          <a:blip r:embed="rId11"/>
          <a:stretch>
            <a:fillRect/>
          </a:stretch>
        </p:blipFill>
        <p:spPr>
          <a:xfrm>
            <a:off x="6950707" y="3912813"/>
            <a:ext cx="181000" cy="190527"/>
          </a:xfrm>
          <a:prstGeom prst="rect">
            <a:avLst/>
          </a:prstGeom>
        </p:spPr>
      </p:pic>
      <p:pic>
        <p:nvPicPr>
          <p:cNvPr id="10" name="Picture 9">
            <a:extLst>
              <a:ext uri="{FF2B5EF4-FFF2-40B4-BE49-F238E27FC236}">
                <a16:creationId xmlns:a16="http://schemas.microsoft.com/office/drawing/2014/main" id="{DBBC3D3C-BC30-1FB2-1FA6-290101E38A0D}"/>
              </a:ext>
            </a:extLst>
          </p:cNvPr>
          <p:cNvPicPr>
            <a:picLocks noChangeAspect="1"/>
          </p:cNvPicPr>
          <p:nvPr/>
        </p:nvPicPr>
        <p:blipFill>
          <a:blip r:embed="rId11"/>
          <a:stretch>
            <a:fillRect/>
          </a:stretch>
        </p:blipFill>
        <p:spPr>
          <a:xfrm>
            <a:off x="6950707" y="4380281"/>
            <a:ext cx="181000" cy="190527"/>
          </a:xfrm>
          <a:prstGeom prst="rect">
            <a:avLst/>
          </a:prstGeom>
        </p:spPr>
      </p:pic>
      <p:pic>
        <p:nvPicPr>
          <p:cNvPr id="12" name="Picture 11">
            <a:extLst>
              <a:ext uri="{FF2B5EF4-FFF2-40B4-BE49-F238E27FC236}">
                <a16:creationId xmlns:a16="http://schemas.microsoft.com/office/drawing/2014/main" id="{41D3F8B0-2BA3-FA57-0A3C-A00E462858D1}"/>
              </a:ext>
            </a:extLst>
          </p:cNvPr>
          <p:cNvPicPr>
            <a:picLocks noChangeAspect="1"/>
          </p:cNvPicPr>
          <p:nvPr/>
        </p:nvPicPr>
        <p:blipFill>
          <a:blip r:embed="rId11"/>
          <a:stretch>
            <a:fillRect/>
          </a:stretch>
        </p:blipFill>
        <p:spPr>
          <a:xfrm>
            <a:off x="9621130" y="3923218"/>
            <a:ext cx="181000" cy="19052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78" name="Google Shape;278;p21" descr="image.png"/>
          <p:cNvPicPr preferRelativeResize="0"/>
          <p:nvPr/>
        </p:nvPicPr>
        <p:blipFill rotWithShape="1">
          <a:blip r:embed="rId4">
            <a:alphaModFix/>
          </a:blip>
          <a:srcRect/>
          <a:stretch/>
        </p:blipFill>
        <p:spPr>
          <a:xfrm>
            <a:off x="762000" y="1722685"/>
            <a:ext cx="5238750" cy="2834282"/>
          </a:xfrm>
          <a:prstGeom prst="rect">
            <a:avLst/>
          </a:prstGeom>
          <a:noFill/>
          <a:ln>
            <a:noFill/>
          </a:ln>
        </p:spPr>
      </p:pic>
      <p:pic>
        <p:nvPicPr>
          <p:cNvPr id="279" name="Google Shape;279;p21" descr="image.png"/>
          <p:cNvPicPr preferRelativeResize="0"/>
          <p:nvPr/>
        </p:nvPicPr>
        <p:blipFill rotWithShape="1">
          <a:blip r:embed="rId5">
            <a:alphaModFix/>
          </a:blip>
          <a:srcRect/>
          <a:stretch/>
        </p:blipFill>
        <p:spPr>
          <a:xfrm>
            <a:off x="6191250" y="1722685"/>
            <a:ext cx="5238750" cy="2834282"/>
          </a:xfrm>
          <a:prstGeom prst="rect">
            <a:avLst/>
          </a:prstGeom>
          <a:noFill/>
          <a:ln>
            <a:noFill/>
          </a:ln>
        </p:spPr>
      </p:pic>
      <p:pic>
        <p:nvPicPr>
          <p:cNvPr id="280" name="Google Shape;280;p21" descr="image.png"/>
          <p:cNvPicPr preferRelativeResize="0"/>
          <p:nvPr/>
        </p:nvPicPr>
        <p:blipFill rotWithShape="1">
          <a:blip r:embed="rId6">
            <a:alphaModFix/>
          </a:blip>
          <a:srcRect/>
          <a:stretch/>
        </p:blipFill>
        <p:spPr>
          <a:xfrm>
            <a:off x="1057275" y="2017960"/>
            <a:ext cx="342900" cy="304800"/>
          </a:xfrm>
          <a:prstGeom prst="rect">
            <a:avLst/>
          </a:prstGeom>
          <a:noFill/>
          <a:ln>
            <a:noFill/>
          </a:ln>
        </p:spPr>
      </p:pic>
      <p:sp>
        <p:nvSpPr>
          <p:cNvPr id="281" name="Google Shape;281;p21"/>
          <p:cNvSpPr txBox="1"/>
          <p:nvPr/>
        </p:nvSpPr>
        <p:spPr>
          <a:xfrm>
            <a:off x="1057275" y="2465635"/>
            <a:ext cx="488061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2D2D2D"/>
                </a:solidFill>
                <a:latin typeface="Arimo"/>
                <a:ea typeface="Arimo"/>
                <a:cs typeface="Arimo"/>
                <a:sym typeface="Arimo"/>
              </a:rPr>
              <a:t>Strips</a:t>
            </a:r>
            <a:endParaRPr/>
          </a:p>
        </p:txBody>
      </p:sp>
      <p:sp>
        <p:nvSpPr>
          <p:cNvPr id="282" name="Google Shape;282;p21"/>
          <p:cNvSpPr txBox="1"/>
          <p:nvPr/>
        </p:nvSpPr>
        <p:spPr>
          <a:xfrm>
            <a:off x="1057275" y="2960935"/>
            <a:ext cx="4648200"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A4A4A"/>
                </a:solidFill>
                <a:latin typeface="Arimo"/>
                <a:ea typeface="Arimo"/>
                <a:cs typeface="Arimo"/>
                <a:sym typeface="Arimo"/>
              </a:rPr>
              <a:t>A strip consists of a long position in one call and two puts with the same strike price and expiration date. The investor believes that a large price move is likely, but a decrease in price is more probable than an increase.</a:t>
            </a:r>
            <a:endParaRPr/>
          </a:p>
        </p:txBody>
      </p:sp>
      <p:pic>
        <p:nvPicPr>
          <p:cNvPr id="283" name="Google Shape;283;p21" descr="image.png"/>
          <p:cNvPicPr preferRelativeResize="0"/>
          <p:nvPr/>
        </p:nvPicPr>
        <p:blipFill rotWithShape="1">
          <a:blip r:embed="rId7">
            <a:alphaModFix/>
          </a:blip>
          <a:srcRect/>
          <a:stretch/>
        </p:blipFill>
        <p:spPr>
          <a:xfrm>
            <a:off x="6486525" y="2017960"/>
            <a:ext cx="342900" cy="304800"/>
          </a:xfrm>
          <a:prstGeom prst="rect">
            <a:avLst/>
          </a:prstGeom>
          <a:noFill/>
          <a:ln>
            <a:noFill/>
          </a:ln>
        </p:spPr>
      </p:pic>
      <p:sp>
        <p:nvSpPr>
          <p:cNvPr id="284" name="Google Shape;284;p21"/>
          <p:cNvSpPr txBox="1"/>
          <p:nvPr/>
        </p:nvSpPr>
        <p:spPr>
          <a:xfrm>
            <a:off x="6486525" y="2465635"/>
            <a:ext cx="488061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2D2D2D"/>
                </a:solidFill>
                <a:latin typeface="Arimo"/>
                <a:ea typeface="Arimo"/>
                <a:cs typeface="Arimo"/>
                <a:sym typeface="Arimo"/>
              </a:rPr>
              <a:t>Straps</a:t>
            </a:r>
            <a:endParaRPr/>
          </a:p>
        </p:txBody>
      </p:sp>
      <p:sp>
        <p:nvSpPr>
          <p:cNvPr id="285" name="Google Shape;285;p21"/>
          <p:cNvSpPr txBox="1"/>
          <p:nvPr/>
        </p:nvSpPr>
        <p:spPr>
          <a:xfrm>
            <a:off x="6486525" y="2960935"/>
            <a:ext cx="4648200"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A4A4A"/>
                </a:solidFill>
                <a:latin typeface="Arimo"/>
                <a:ea typeface="Arimo"/>
                <a:cs typeface="Arimo"/>
                <a:sym typeface="Arimo"/>
              </a:rPr>
              <a:t>A strap consists of a long position in two calls and one put with the same strike price and expiration date. The investor believes that a large price move is likely, but an increase in price is more probable than a decrease.</a:t>
            </a:r>
            <a:endParaRPr/>
          </a:p>
        </p:txBody>
      </p:sp>
      <p:sp>
        <p:nvSpPr>
          <p:cNvPr id="286" name="Google Shape;286;p21"/>
          <p:cNvSpPr txBox="1"/>
          <p:nvPr/>
        </p:nvSpPr>
        <p:spPr>
          <a:xfrm>
            <a:off x="952500" y="903535"/>
            <a:ext cx="11001375" cy="533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1A1A1A"/>
                </a:solidFill>
                <a:latin typeface="Playfair Display"/>
                <a:ea typeface="Playfair Display"/>
                <a:cs typeface="Playfair Display"/>
                <a:sym typeface="Playfair Display"/>
              </a:rPr>
              <a:t>Strips and Straps</a:t>
            </a:r>
            <a:endParaRPr/>
          </a:p>
        </p:txBody>
      </p:sp>
      <p:sp>
        <p:nvSpPr>
          <p:cNvPr id="287" name="Google Shape;287;p21"/>
          <p:cNvSpPr/>
          <p:nvPr/>
        </p:nvSpPr>
        <p:spPr>
          <a:xfrm>
            <a:off x="762000" y="903535"/>
            <a:ext cx="57150" cy="533400"/>
          </a:xfrm>
          <a:prstGeom prst="rect">
            <a:avLst/>
          </a:prstGeom>
          <a:solidFill>
            <a:srgbClr val="4F46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3003295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701</Words>
  <Application>Microsoft Office PowerPoint</Application>
  <PresentationFormat>Widescreen</PresentationFormat>
  <Paragraphs>63</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Playfair Display</vt:lpstr>
      <vt:lpstr>Arial</vt:lpstr>
      <vt:lpstr>Calibri</vt:lpstr>
      <vt:lpstr>Azeret Mono</vt:lpstr>
      <vt:lpstr>Arimo</vt:lpstr>
      <vt:lpstr>Office Theme</vt:lpstr>
      <vt:lpstr>PowerPoint Presentation</vt:lpstr>
      <vt:lpstr>Types of Strategies</vt:lpstr>
      <vt:lpstr>Plain Options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DELL</cp:lastModifiedBy>
  <cp:revision>4</cp:revision>
  <dcterms:modified xsi:type="dcterms:W3CDTF">2026-02-24T07:47:13Z</dcterms:modified>
</cp:coreProperties>
</file>