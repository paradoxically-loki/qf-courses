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333" r:id="rId9"/>
    <p:sldId id="33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41E0F3-763D-40F8-904F-37586BCA6DB9}" type="datetimeFigureOut">
              <a:rPr lang="en-US" smtClean="0"/>
              <a:pPr/>
              <a:t>9/5/2017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41DF8-18D0-4211-9B53-085DBC8603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3345859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E3D61B-2BE6-4428-8ACE-C00662C5120E}" type="datetimeFigureOut">
              <a:rPr lang="en-US" smtClean="0"/>
              <a:pPr/>
              <a:t>9/5/2017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85A31-C037-4A4C-8A13-71401D5D1D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8949104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7315200" cy="76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990600"/>
            <a:ext cx="4114800" cy="5334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990600"/>
            <a:ext cx="4114800" cy="5334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B898C2-C30A-4640-BC3F-9D88F32F95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Options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b="0" smtClean="0"/>
              <a:t>Basic Option Positions:</a:t>
            </a:r>
            <a:r>
              <a:rPr lang="en-US" smtClean="0"/>
              <a:t> Long Call</a:t>
            </a:r>
          </a:p>
        </p:txBody>
      </p:sp>
      <p:sp>
        <p:nvSpPr>
          <p:cNvPr id="56729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smtClean="0"/>
              <a:t>The right to buy the share at an agreed price at a future point in time.</a:t>
            </a:r>
          </a:p>
          <a:p>
            <a:pPr eaLnBrk="1" hangingPunct="1">
              <a:lnSpc>
                <a:spcPct val="90000"/>
              </a:lnSpc>
            </a:pPr>
            <a:endParaRPr 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Pays a percentage of the share price up front (premium).</a:t>
            </a:r>
          </a:p>
          <a:p>
            <a:pPr eaLnBrk="1" hangingPunct="1">
              <a:lnSpc>
                <a:spcPct val="90000"/>
              </a:lnSpc>
            </a:pPr>
            <a:endParaRPr 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Makes money as the share price rises above the strike price.</a:t>
            </a:r>
          </a:p>
          <a:p>
            <a:pPr eaLnBrk="1" hangingPunct="1">
              <a:lnSpc>
                <a:spcPct val="90000"/>
              </a:lnSpc>
            </a:pPr>
            <a:endParaRPr 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Loses premium paid when the share price is below the strike price.</a:t>
            </a:r>
          </a:p>
        </p:txBody>
      </p:sp>
      <p:sp>
        <p:nvSpPr>
          <p:cNvPr id="12292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>
              <a:buFont typeface="Arial" charset="0"/>
              <a:buNone/>
            </a:pPr>
            <a:fld id="{0B67EEB6-E65E-4586-8848-D1985910FC6C}" type="slidenum">
              <a:rPr lang="en-GB" smtClean="0">
                <a:latin typeface="Arial" charset="0"/>
              </a:rPr>
              <a:pPr>
                <a:buFont typeface="Arial" charset="0"/>
                <a:buNone/>
              </a:pPr>
              <a:t>2</a:t>
            </a:fld>
            <a:endParaRPr lang="en-GB" smtClean="0">
              <a:latin typeface="Arial" charset="0"/>
            </a:endParaRPr>
          </a:p>
        </p:txBody>
      </p:sp>
      <p:sp>
        <p:nvSpPr>
          <p:cNvPr id="12293" name="Line 4"/>
          <p:cNvSpPr>
            <a:spLocks noChangeShapeType="1"/>
          </p:cNvSpPr>
          <p:nvPr/>
        </p:nvSpPr>
        <p:spPr bwMode="auto">
          <a:xfrm>
            <a:off x="5181600" y="1600200"/>
            <a:ext cx="0" cy="3276600"/>
          </a:xfrm>
          <a:prstGeom prst="line">
            <a:avLst/>
          </a:prstGeom>
          <a:noFill/>
          <a:ln w="28575">
            <a:solidFill>
              <a:srgbClr val="99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4" name="Line 5"/>
          <p:cNvSpPr>
            <a:spLocks noChangeShapeType="1"/>
          </p:cNvSpPr>
          <p:nvPr/>
        </p:nvSpPr>
        <p:spPr bwMode="auto">
          <a:xfrm rot="5400000">
            <a:off x="6819900" y="1562100"/>
            <a:ext cx="0" cy="3276600"/>
          </a:xfrm>
          <a:prstGeom prst="line">
            <a:avLst/>
          </a:prstGeom>
          <a:noFill/>
          <a:ln w="28575">
            <a:solidFill>
              <a:srgbClr val="99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7302" name="Line 6"/>
          <p:cNvSpPr>
            <a:spLocks noChangeShapeType="1"/>
          </p:cNvSpPr>
          <p:nvPr/>
        </p:nvSpPr>
        <p:spPr bwMode="auto">
          <a:xfrm>
            <a:off x="5181600" y="3505200"/>
            <a:ext cx="1676400" cy="0"/>
          </a:xfrm>
          <a:prstGeom prst="line">
            <a:avLst/>
          </a:prstGeom>
          <a:noFill/>
          <a:ln w="38100">
            <a:solidFill>
              <a:srgbClr val="00006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7303" name="Line 7"/>
          <p:cNvSpPr>
            <a:spLocks noChangeShapeType="1"/>
          </p:cNvSpPr>
          <p:nvPr/>
        </p:nvSpPr>
        <p:spPr bwMode="auto">
          <a:xfrm flipV="1">
            <a:off x="6858000" y="1905000"/>
            <a:ext cx="1600200" cy="16002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297" name="Text Box 8"/>
          <p:cNvSpPr txBox="1">
            <a:spLocks noChangeArrowheads="1"/>
          </p:cNvSpPr>
          <p:nvPr/>
        </p:nvSpPr>
        <p:spPr bwMode="auto">
          <a:xfrm>
            <a:off x="4876800" y="121920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P&amp;L</a:t>
            </a:r>
          </a:p>
        </p:txBody>
      </p:sp>
      <p:sp>
        <p:nvSpPr>
          <p:cNvPr id="12298" name="Text Box 9"/>
          <p:cNvSpPr txBox="1">
            <a:spLocks noChangeArrowheads="1"/>
          </p:cNvSpPr>
          <p:nvPr/>
        </p:nvSpPr>
        <p:spPr bwMode="auto">
          <a:xfrm>
            <a:off x="7543800" y="2819400"/>
            <a:ext cx="1371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Share Price</a:t>
            </a:r>
          </a:p>
        </p:txBody>
      </p:sp>
      <p:sp>
        <p:nvSpPr>
          <p:cNvPr id="12299" name="Text Box 10"/>
          <p:cNvSpPr txBox="1">
            <a:spLocks noChangeArrowheads="1"/>
          </p:cNvSpPr>
          <p:nvPr/>
        </p:nvSpPr>
        <p:spPr bwMode="auto">
          <a:xfrm>
            <a:off x="8153400" y="32004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+</a:t>
            </a:r>
          </a:p>
        </p:txBody>
      </p:sp>
      <p:sp>
        <p:nvSpPr>
          <p:cNvPr id="12300" name="Text Box 11"/>
          <p:cNvSpPr txBox="1">
            <a:spLocks noChangeArrowheads="1"/>
          </p:cNvSpPr>
          <p:nvPr/>
        </p:nvSpPr>
        <p:spPr bwMode="auto">
          <a:xfrm>
            <a:off x="4876800" y="2895600"/>
            <a:ext cx="30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0</a:t>
            </a:r>
          </a:p>
        </p:txBody>
      </p:sp>
      <p:sp>
        <p:nvSpPr>
          <p:cNvPr id="12301" name="Text Box 12"/>
          <p:cNvSpPr txBox="1">
            <a:spLocks noChangeArrowheads="1"/>
          </p:cNvSpPr>
          <p:nvPr/>
        </p:nvSpPr>
        <p:spPr bwMode="auto">
          <a:xfrm>
            <a:off x="4724400" y="46482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-</a:t>
            </a:r>
          </a:p>
        </p:txBody>
      </p:sp>
      <p:sp>
        <p:nvSpPr>
          <p:cNvPr id="12302" name="Text Box 13"/>
          <p:cNvSpPr txBox="1">
            <a:spLocks noChangeArrowheads="1"/>
          </p:cNvSpPr>
          <p:nvPr/>
        </p:nvSpPr>
        <p:spPr bwMode="auto">
          <a:xfrm>
            <a:off x="4724400" y="1524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+</a:t>
            </a:r>
          </a:p>
        </p:txBody>
      </p:sp>
      <p:cxnSp>
        <p:nvCxnSpPr>
          <p:cNvPr id="12303" name="AutoShape 14"/>
          <p:cNvCxnSpPr>
            <a:cxnSpLocks noChangeShapeType="1"/>
          </p:cNvCxnSpPr>
          <p:nvPr/>
        </p:nvCxnSpPr>
        <p:spPr bwMode="auto">
          <a:xfrm rot="10800000" flipV="1">
            <a:off x="6858000" y="2514600"/>
            <a:ext cx="152400" cy="155575"/>
          </a:xfrm>
          <a:prstGeom prst="curvedConnector4">
            <a:avLst>
              <a:gd name="adj1" fmla="val 250000"/>
              <a:gd name="adj2" fmla="val 255102"/>
            </a:avLst>
          </a:prstGeom>
          <a:noFill/>
          <a:ln w="9525">
            <a:noFill/>
            <a:round/>
            <a:headEnd/>
            <a:tailEnd type="triangle" w="med" len="med"/>
          </a:ln>
        </p:spPr>
      </p:cxnSp>
      <p:sp>
        <p:nvSpPr>
          <p:cNvPr id="12304" name="Line 15"/>
          <p:cNvSpPr>
            <a:spLocks noChangeShapeType="1"/>
          </p:cNvSpPr>
          <p:nvPr/>
        </p:nvSpPr>
        <p:spPr bwMode="auto">
          <a:xfrm>
            <a:off x="6858000" y="31242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567312" name="AutoShape 16"/>
          <p:cNvCxnSpPr>
            <a:cxnSpLocks noChangeShapeType="1"/>
          </p:cNvCxnSpPr>
          <p:nvPr/>
        </p:nvCxnSpPr>
        <p:spPr bwMode="auto">
          <a:xfrm rot="10800000">
            <a:off x="6248400" y="2819400"/>
            <a:ext cx="609600" cy="368300"/>
          </a:xfrm>
          <a:prstGeom prst="curved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 type="triangle" w="med" len="med"/>
            <a:tailEnd/>
          </a:ln>
        </p:spPr>
      </p:cxnSp>
      <p:sp>
        <p:nvSpPr>
          <p:cNvPr id="567313" name="Text Box 17"/>
          <p:cNvSpPr txBox="1">
            <a:spLocks noChangeArrowheads="1"/>
          </p:cNvSpPr>
          <p:nvPr/>
        </p:nvSpPr>
        <p:spPr bwMode="auto">
          <a:xfrm>
            <a:off x="5257800" y="2514600"/>
            <a:ext cx="1219200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Strike Price</a:t>
            </a:r>
          </a:p>
        </p:txBody>
      </p:sp>
      <p:sp>
        <p:nvSpPr>
          <p:cNvPr id="567314" name="Text Box 18"/>
          <p:cNvSpPr txBox="1">
            <a:spLocks noChangeArrowheads="1"/>
          </p:cNvSpPr>
          <p:nvPr/>
        </p:nvSpPr>
        <p:spPr bwMode="auto">
          <a:xfrm rot="10800000" flipV="1">
            <a:off x="6324600" y="2133600"/>
            <a:ext cx="1219200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Breakeven</a:t>
            </a:r>
          </a:p>
        </p:txBody>
      </p:sp>
      <p:cxnSp>
        <p:nvCxnSpPr>
          <p:cNvPr id="12308" name="AutoShape 19"/>
          <p:cNvCxnSpPr>
            <a:cxnSpLocks noChangeShapeType="1"/>
            <a:stCxn id="567314" idx="0"/>
            <a:endCxn id="567314" idx="0"/>
          </p:cNvCxnSpPr>
          <p:nvPr/>
        </p:nvCxnSpPr>
        <p:spPr bwMode="auto">
          <a:xfrm>
            <a:off x="6934200" y="2133600"/>
            <a:ext cx="0" cy="0"/>
          </a:xfrm>
          <a:prstGeom prst="straightConnector1">
            <a:avLst/>
          </a:prstGeom>
          <a:noFill/>
          <a:ln w="9525">
            <a:noFill/>
            <a:round/>
            <a:headEnd/>
            <a:tailEnd/>
          </a:ln>
        </p:spPr>
      </p:cxnSp>
      <p:sp>
        <p:nvSpPr>
          <p:cNvPr id="567316" name="Line 20"/>
          <p:cNvSpPr>
            <a:spLocks noChangeShapeType="1"/>
          </p:cNvSpPr>
          <p:nvPr/>
        </p:nvSpPr>
        <p:spPr bwMode="auto">
          <a:xfrm>
            <a:off x="6858000" y="2438400"/>
            <a:ext cx="304800" cy="762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67317" name="AutoShape 21"/>
          <p:cNvSpPr>
            <a:spLocks/>
          </p:cNvSpPr>
          <p:nvPr/>
        </p:nvSpPr>
        <p:spPr bwMode="auto">
          <a:xfrm>
            <a:off x="5029200" y="3200400"/>
            <a:ext cx="152400" cy="304800"/>
          </a:xfrm>
          <a:prstGeom prst="leftBrace">
            <a:avLst>
              <a:gd name="adj1" fmla="val 16667"/>
              <a:gd name="adj2" fmla="val 50000"/>
            </a:avLst>
          </a:prstGeom>
          <a:noFill/>
          <a:ln w="158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567318" name="Text Box 22"/>
          <p:cNvSpPr txBox="1">
            <a:spLocks noChangeArrowheads="1"/>
          </p:cNvSpPr>
          <p:nvPr/>
        </p:nvSpPr>
        <p:spPr bwMode="auto">
          <a:xfrm>
            <a:off x="4419600" y="3200400"/>
            <a:ext cx="685800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FF3300"/>
                </a:solidFill>
              </a:rPr>
              <a:t>Loss</a:t>
            </a:r>
          </a:p>
        </p:txBody>
      </p:sp>
      <p:sp>
        <p:nvSpPr>
          <p:cNvPr id="567319" name="Line 23"/>
          <p:cNvSpPr>
            <a:spLocks noChangeShapeType="1"/>
          </p:cNvSpPr>
          <p:nvPr/>
        </p:nvSpPr>
        <p:spPr bwMode="auto">
          <a:xfrm>
            <a:off x="5181600" y="3352800"/>
            <a:ext cx="16764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 anchor="ctr"/>
          <a:lstStyle/>
          <a:p>
            <a:endParaRPr 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299" grpId="0" build="p"/>
      <p:bldP spid="567302" grpId="0" animBg="1"/>
      <p:bldP spid="567303" grpId="0" animBg="1"/>
      <p:bldP spid="567316" grpId="0" animBg="1"/>
      <p:bldP spid="567317" grpId="0" animBg="1"/>
      <p:bldP spid="5673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b="0" smtClean="0"/>
              <a:t>Basic Option Positions:</a:t>
            </a:r>
            <a:r>
              <a:rPr lang="en-US" smtClean="0"/>
              <a:t> Short Call</a:t>
            </a:r>
          </a:p>
        </p:txBody>
      </p:sp>
      <p:sp>
        <p:nvSpPr>
          <p:cNvPr id="5693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sz="2000" smtClean="0"/>
              <a:t>Obligated to sell shares should the long call choose to exercise.</a:t>
            </a:r>
          </a:p>
          <a:p>
            <a:pPr eaLnBrk="1" hangingPunct="1"/>
            <a:r>
              <a:rPr lang="en-US" sz="2000" smtClean="0"/>
              <a:t> </a:t>
            </a:r>
          </a:p>
          <a:p>
            <a:pPr eaLnBrk="1" hangingPunct="1"/>
            <a:r>
              <a:rPr lang="en-US" sz="2000" smtClean="0"/>
              <a:t>Receives a percentage of the share price up front.</a:t>
            </a:r>
          </a:p>
          <a:p>
            <a:pPr eaLnBrk="1" hangingPunct="1"/>
            <a:endParaRPr lang="en-US" sz="2000" smtClean="0"/>
          </a:p>
          <a:p>
            <a:pPr eaLnBrk="1" hangingPunct="1"/>
            <a:r>
              <a:rPr lang="en-US" sz="2000" smtClean="0"/>
              <a:t>Loses money when the share price rises.</a:t>
            </a:r>
          </a:p>
          <a:p>
            <a:pPr eaLnBrk="1" hangingPunct="1"/>
            <a:endParaRPr lang="en-US" sz="2000" smtClean="0"/>
          </a:p>
          <a:p>
            <a:pPr eaLnBrk="1" hangingPunct="1"/>
            <a:r>
              <a:rPr lang="en-US" sz="2000" smtClean="0"/>
              <a:t>P&amp;L equal to premium when the share price falls.</a:t>
            </a:r>
          </a:p>
        </p:txBody>
      </p:sp>
      <p:sp>
        <p:nvSpPr>
          <p:cNvPr id="13316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>
              <a:buFont typeface="Arial" charset="0"/>
              <a:buNone/>
            </a:pPr>
            <a:fld id="{4DEAC1BF-FA15-4FE3-812E-EE6D3C3F3742}" type="slidenum">
              <a:rPr lang="en-GB" smtClean="0">
                <a:latin typeface="Arial" charset="0"/>
              </a:rPr>
              <a:pPr>
                <a:buFont typeface="Arial" charset="0"/>
                <a:buNone/>
              </a:pPr>
              <a:t>3</a:t>
            </a:fld>
            <a:endParaRPr lang="en-GB" smtClean="0">
              <a:latin typeface="Arial" charset="0"/>
            </a:endParaRPr>
          </a:p>
        </p:txBody>
      </p:sp>
      <p:sp>
        <p:nvSpPr>
          <p:cNvPr id="13317" name="Line 4"/>
          <p:cNvSpPr>
            <a:spLocks noChangeShapeType="1"/>
          </p:cNvSpPr>
          <p:nvPr/>
        </p:nvSpPr>
        <p:spPr bwMode="auto">
          <a:xfrm>
            <a:off x="5181600" y="1600200"/>
            <a:ext cx="0" cy="3276600"/>
          </a:xfrm>
          <a:prstGeom prst="line">
            <a:avLst/>
          </a:prstGeom>
          <a:noFill/>
          <a:ln w="28575">
            <a:solidFill>
              <a:srgbClr val="99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18" name="Line 5"/>
          <p:cNvSpPr>
            <a:spLocks noChangeShapeType="1"/>
          </p:cNvSpPr>
          <p:nvPr/>
        </p:nvSpPr>
        <p:spPr bwMode="auto">
          <a:xfrm rot="5400000">
            <a:off x="6819900" y="1562100"/>
            <a:ext cx="0" cy="3276600"/>
          </a:xfrm>
          <a:prstGeom prst="line">
            <a:avLst/>
          </a:prstGeom>
          <a:noFill/>
          <a:ln w="28575">
            <a:solidFill>
              <a:srgbClr val="99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9350" name="Line 6"/>
          <p:cNvSpPr>
            <a:spLocks noChangeShapeType="1"/>
          </p:cNvSpPr>
          <p:nvPr/>
        </p:nvSpPr>
        <p:spPr bwMode="auto">
          <a:xfrm>
            <a:off x="5181600" y="2819400"/>
            <a:ext cx="1676400" cy="0"/>
          </a:xfrm>
          <a:prstGeom prst="line">
            <a:avLst/>
          </a:prstGeom>
          <a:noFill/>
          <a:ln w="38100">
            <a:solidFill>
              <a:srgbClr val="00006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9351" name="Line 7"/>
          <p:cNvSpPr>
            <a:spLocks noChangeShapeType="1"/>
          </p:cNvSpPr>
          <p:nvPr/>
        </p:nvSpPr>
        <p:spPr bwMode="auto">
          <a:xfrm>
            <a:off x="6858000" y="2819400"/>
            <a:ext cx="1524000" cy="1752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321" name="Text Box 8"/>
          <p:cNvSpPr txBox="1">
            <a:spLocks noChangeArrowheads="1"/>
          </p:cNvSpPr>
          <p:nvPr/>
        </p:nvSpPr>
        <p:spPr bwMode="auto">
          <a:xfrm>
            <a:off x="4876800" y="121920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P&amp;L</a:t>
            </a:r>
          </a:p>
        </p:txBody>
      </p:sp>
      <p:sp>
        <p:nvSpPr>
          <p:cNvPr id="13322" name="Text Box 9"/>
          <p:cNvSpPr txBox="1">
            <a:spLocks noChangeArrowheads="1"/>
          </p:cNvSpPr>
          <p:nvPr/>
        </p:nvSpPr>
        <p:spPr bwMode="auto">
          <a:xfrm>
            <a:off x="7467600" y="2819400"/>
            <a:ext cx="1371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Share Price</a:t>
            </a:r>
          </a:p>
        </p:txBody>
      </p:sp>
      <p:sp>
        <p:nvSpPr>
          <p:cNvPr id="13323" name="Text Box 10"/>
          <p:cNvSpPr txBox="1">
            <a:spLocks noChangeArrowheads="1"/>
          </p:cNvSpPr>
          <p:nvPr/>
        </p:nvSpPr>
        <p:spPr bwMode="auto">
          <a:xfrm>
            <a:off x="8153400" y="3167063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+</a:t>
            </a:r>
          </a:p>
        </p:txBody>
      </p:sp>
      <p:sp>
        <p:nvSpPr>
          <p:cNvPr id="13324" name="Text Box 11"/>
          <p:cNvSpPr txBox="1">
            <a:spLocks noChangeArrowheads="1"/>
          </p:cNvSpPr>
          <p:nvPr/>
        </p:nvSpPr>
        <p:spPr bwMode="auto">
          <a:xfrm>
            <a:off x="4876800" y="3124200"/>
            <a:ext cx="838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0</a:t>
            </a:r>
          </a:p>
        </p:txBody>
      </p:sp>
      <p:sp>
        <p:nvSpPr>
          <p:cNvPr id="13325" name="Text Box 12"/>
          <p:cNvSpPr txBox="1">
            <a:spLocks noChangeArrowheads="1"/>
          </p:cNvSpPr>
          <p:nvPr/>
        </p:nvSpPr>
        <p:spPr bwMode="auto">
          <a:xfrm>
            <a:off x="4724400" y="1524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+</a:t>
            </a:r>
          </a:p>
        </p:txBody>
      </p:sp>
      <p:sp>
        <p:nvSpPr>
          <p:cNvPr id="13326" name="Text Box 13"/>
          <p:cNvSpPr txBox="1">
            <a:spLocks noChangeArrowheads="1"/>
          </p:cNvSpPr>
          <p:nvPr/>
        </p:nvSpPr>
        <p:spPr bwMode="auto">
          <a:xfrm>
            <a:off x="4724400" y="46482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-</a:t>
            </a:r>
          </a:p>
        </p:txBody>
      </p:sp>
      <p:sp>
        <p:nvSpPr>
          <p:cNvPr id="569358" name="Line 14"/>
          <p:cNvSpPr>
            <a:spLocks noChangeShapeType="1"/>
          </p:cNvSpPr>
          <p:nvPr/>
        </p:nvSpPr>
        <p:spPr bwMode="auto">
          <a:xfrm flipH="1">
            <a:off x="7239000" y="2514600"/>
            <a:ext cx="381000" cy="6858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69359" name="Text Box 15"/>
          <p:cNvSpPr txBox="1">
            <a:spLocks noChangeArrowheads="1"/>
          </p:cNvSpPr>
          <p:nvPr/>
        </p:nvSpPr>
        <p:spPr bwMode="auto">
          <a:xfrm rot="10800000" flipV="1">
            <a:off x="7467600" y="2209800"/>
            <a:ext cx="1219200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Breakeven</a:t>
            </a:r>
          </a:p>
        </p:txBody>
      </p:sp>
      <p:cxnSp>
        <p:nvCxnSpPr>
          <p:cNvPr id="569360" name="AutoShape 16"/>
          <p:cNvCxnSpPr>
            <a:cxnSpLocks noChangeShapeType="1"/>
          </p:cNvCxnSpPr>
          <p:nvPr/>
        </p:nvCxnSpPr>
        <p:spPr bwMode="auto">
          <a:xfrm flipH="1">
            <a:off x="6172200" y="3276600"/>
            <a:ext cx="609600" cy="6096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 type="triangle" w="med" len="med"/>
            <a:tailEnd/>
          </a:ln>
        </p:spPr>
      </p:cxnSp>
      <p:sp>
        <p:nvSpPr>
          <p:cNvPr id="569361" name="Text Box 17"/>
          <p:cNvSpPr txBox="1">
            <a:spLocks noChangeArrowheads="1"/>
          </p:cNvSpPr>
          <p:nvPr/>
        </p:nvSpPr>
        <p:spPr bwMode="auto">
          <a:xfrm>
            <a:off x="5486400" y="3962400"/>
            <a:ext cx="1219200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Strike Price</a:t>
            </a:r>
          </a:p>
        </p:txBody>
      </p:sp>
      <p:sp>
        <p:nvSpPr>
          <p:cNvPr id="569362" name="Line 18"/>
          <p:cNvSpPr>
            <a:spLocks noChangeShapeType="1"/>
          </p:cNvSpPr>
          <p:nvPr/>
        </p:nvSpPr>
        <p:spPr bwMode="auto">
          <a:xfrm>
            <a:off x="6858000" y="31242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69363" name="Text Box 19"/>
          <p:cNvSpPr txBox="1">
            <a:spLocks noChangeArrowheads="1"/>
          </p:cNvSpPr>
          <p:nvPr/>
        </p:nvSpPr>
        <p:spPr bwMode="auto">
          <a:xfrm>
            <a:off x="4419600" y="2819400"/>
            <a:ext cx="685800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008000"/>
                </a:solidFill>
              </a:rPr>
              <a:t>Gain</a:t>
            </a:r>
          </a:p>
        </p:txBody>
      </p:sp>
      <p:sp>
        <p:nvSpPr>
          <p:cNvPr id="569364" name="AutoShape 20"/>
          <p:cNvSpPr>
            <a:spLocks/>
          </p:cNvSpPr>
          <p:nvPr/>
        </p:nvSpPr>
        <p:spPr bwMode="auto">
          <a:xfrm>
            <a:off x="5029200" y="2819400"/>
            <a:ext cx="152400" cy="381000"/>
          </a:xfrm>
          <a:prstGeom prst="leftBrace">
            <a:avLst>
              <a:gd name="adj1" fmla="val 20833"/>
              <a:gd name="adj2" fmla="val 50000"/>
            </a:avLst>
          </a:prstGeom>
          <a:noFill/>
          <a:ln w="15875">
            <a:solidFill>
              <a:srgbClr val="008000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569365" name="Line 21"/>
          <p:cNvSpPr>
            <a:spLocks noChangeShapeType="1"/>
          </p:cNvSpPr>
          <p:nvPr/>
        </p:nvSpPr>
        <p:spPr bwMode="auto">
          <a:xfrm>
            <a:off x="5181600" y="2971800"/>
            <a:ext cx="1676400" cy="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 type="triangle" w="med" len="med"/>
            <a:tailEnd type="triangle" w="med" len="med"/>
          </a:ln>
        </p:spPr>
        <p:txBody>
          <a:bodyPr anchor="ctr"/>
          <a:lstStyle/>
          <a:p>
            <a:endParaRPr 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9347" grpId="0" build="p"/>
      <p:bldP spid="569350" grpId="0" animBg="1"/>
      <p:bldP spid="569351" grpId="0" animBg="1"/>
      <p:bldP spid="569358" grpId="0" animBg="1"/>
      <p:bldP spid="569362" grpId="0" animBg="1"/>
      <p:bldP spid="569364" grpId="0" animBg="1"/>
      <p:bldP spid="56936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b="0" smtClean="0"/>
              <a:t>Basic Option Positions:</a:t>
            </a:r>
            <a:r>
              <a:rPr lang="en-US" smtClean="0"/>
              <a:t> Long Put</a:t>
            </a:r>
          </a:p>
        </p:txBody>
      </p:sp>
      <p:sp>
        <p:nvSpPr>
          <p:cNvPr id="57139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sz="2000" smtClean="0"/>
              <a:t>The right to sell the share at an agreed price at a future point in time. </a:t>
            </a:r>
          </a:p>
          <a:p>
            <a:pPr eaLnBrk="1" hangingPunct="1"/>
            <a:endParaRPr lang="en-US" sz="2000" smtClean="0"/>
          </a:p>
          <a:p>
            <a:pPr eaLnBrk="1" hangingPunct="1"/>
            <a:r>
              <a:rPr lang="en-US" sz="2000" smtClean="0"/>
              <a:t>No obligation.</a:t>
            </a:r>
          </a:p>
          <a:p>
            <a:pPr eaLnBrk="1" hangingPunct="1"/>
            <a:endParaRPr lang="en-US" sz="2000" smtClean="0"/>
          </a:p>
          <a:p>
            <a:pPr eaLnBrk="1" hangingPunct="1"/>
            <a:r>
              <a:rPr lang="en-US" sz="2000" smtClean="0"/>
              <a:t>Pay premium up front.</a:t>
            </a:r>
          </a:p>
          <a:p>
            <a:pPr eaLnBrk="1" hangingPunct="1"/>
            <a:endParaRPr lang="en-US" sz="2000" smtClean="0"/>
          </a:p>
          <a:p>
            <a:pPr eaLnBrk="1" hangingPunct="1"/>
            <a:r>
              <a:rPr lang="en-US" sz="2000" smtClean="0"/>
              <a:t>Makes money when the share price falls.</a:t>
            </a:r>
          </a:p>
          <a:p>
            <a:pPr eaLnBrk="1" hangingPunct="1"/>
            <a:endParaRPr lang="en-US" sz="2000" smtClean="0"/>
          </a:p>
          <a:p>
            <a:pPr eaLnBrk="1" hangingPunct="1"/>
            <a:r>
              <a:rPr lang="en-US" sz="2000" smtClean="0"/>
              <a:t>Loses premium when the share price rises.</a:t>
            </a:r>
          </a:p>
        </p:txBody>
      </p:sp>
      <p:sp>
        <p:nvSpPr>
          <p:cNvPr id="14340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>
              <a:buFont typeface="Arial" charset="0"/>
              <a:buNone/>
            </a:pPr>
            <a:fld id="{78E46611-E0C6-40D8-BBAD-6272F618B89C}" type="slidenum">
              <a:rPr lang="en-GB" smtClean="0">
                <a:latin typeface="Arial" charset="0"/>
              </a:rPr>
              <a:pPr>
                <a:buFont typeface="Arial" charset="0"/>
                <a:buNone/>
              </a:pPr>
              <a:t>4</a:t>
            </a:fld>
            <a:endParaRPr lang="en-GB" smtClean="0">
              <a:latin typeface="Arial" charset="0"/>
            </a:endParaRPr>
          </a:p>
        </p:txBody>
      </p:sp>
      <p:sp>
        <p:nvSpPr>
          <p:cNvPr id="14341" name="Line 4"/>
          <p:cNvSpPr>
            <a:spLocks noChangeShapeType="1"/>
          </p:cNvSpPr>
          <p:nvPr/>
        </p:nvSpPr>
        <p:spPr bwMode="auto">
          <a:xfrm>
            <a:off x="5181600" y="1600200"/>
            <a:ext cx="0" cy="3276600"/>
          </a:xfrm>
          <a:prstGeom prst="line">
            <a:avLst/>
          </a:prstGeom>
          <a:noFill/>
          <a:ln w="28575">
            <a:solidFill>
              <a:srgbClr val="99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2" name="Line 5"/>
          <p:cNvSpPr>
            <a:spLocks noChangeShapeType="1"/>
          </p:cNvSpPr>
          <p:nvPr/>
        </p:nvSpPr>
        <p:spPr bwMode="auto">
          <a:xfrm rot="5400000">
            <a:off x="6819900" y="1562100"/>
            <a:ext cx="0" cy="3276600"/>
          </a:xfrm>
          <a:prstGeom prst="line">
            <a:avLst/>
          </a:prstGeom>
          <a:noFill/>
          <a:ln w="28575">
            <a:solidFill>
              <a:srgbClr val="99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1398" name="Line 6"/>
          <p:cNvSpPr>
            <a:spLocks noChangeShapeType="1"/>
          </p:cNvSpPr>
          <p:nvPr/>
        </p:nvSpPr>
        <p:spPr bwMode="auto">
          <a:xfrm>
            <a:off x="6858000" y="3505200"/>
            <a:ext cx="1676400" cy="0"/>
          </a:xfrm>
          <a:prstGeom prst="line">
            <a:avLst/>
          </a:prstGeom>
          <a:noFill/>
          <a:ln w="38100">
            <a:solidFill>
              <a:srgbClr val="00006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1399" name="Line 7"/>
          <p:cNvSpPr>
            <a:spLocks noChangeShapeType="1"/>
          </p:cNvSpPr>
          <p:nvPr/>
        </p:nvSpPr>
        <p:spPr bwMode="auto">
          <a:xfrm rot="16200000" flipV="1">
            <a:off x="5181600" y="1828800"/>
            <a:ext cx="1676400" cy="16764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5" name="Text Box 8"/>
          <p:cNvSpPr txBox="1">
            <a:spLocks noChangeArrowheads="1"/>
          </p:cNvSpPr>
          <p:nvPr/>
        </p:nvSpPr>
        <p:spPr bwMode="auto">
          <a:xfrm>
            <a:off x="4876800" y="121920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P&amp;L</a:t>
            </a:r>
          </a:p>
        </p:txBody>
      </p:sp>
      <p:sp>
        <p:nvSpPr>
          <p:cNvPr id="14346" name="Text Box 9"/>
          <p:cNvSpPr txBox="1">
            <a:spLocks noChangeArrowheads="1"/>
          </p:cNvSpPr>
          <p:nvPr/>
        </p:nvSpPr>
        <p:spPr bwMode="auto">
          <a:xfrm>
            <a:off x="7315200" y="2819400"/>
            <a:ext cx="1371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Share Price</a:t>
            </a:r>
          </a:p>
        </p:txBody>
      </p:sp>
      <p:sp>
        <p:nvSpPr>
          <p:cNvPr id="14347" name="Text Box 10"/>
          <p:cNvSpPr txBox="1">
            <a:spLocks noChangeArrowheads="1"/>
          </p:cNvSpPr>
          <p:nvPr/>
        </p:nvSpPr>
        <p:spPr bwMode="auto">
          <a:xfrm>
            <a:off x="8229600" y="31242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+</a:t>
            </a:r>
          </a:p>
        </p:txBody>
      </p:sp>
      <p:sp>
        <p:nvSpPr>
          <p:cNvPr id="14348" name="Text Box 11"/>
          <p:cNvSpPr txBox="1">
            <a:spLocks noChangeArrowheads="1"/>
          </p:cNvSpPr>
          <p:nvPr/>
        </p:nvSpPr>
        <p:spPr bwMode="auto">
          <a:xfrm>
            <a:off x="4876800" y="3048000"/>
            <a:ext cx="838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0</a:t>
            </a:r>
          </a:p>
        </p:txBody>
      </p:sp>
      <p:sp>
        <p:nvSpPr>
          <p:cNvPr id="14349" name="Text Box 12"/>
          <p:cNvSpPr txBox="1">
            <a:spLocks noChangeArrowheads="1"/>
          </p:cNvSpPr>
          <p:nvPr/>
        </p:nvSpPr>
        <p:spPr bwMode="auto">
          <a:xfrm>
            <a:off x="4800600" y="15240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+</a:t>
            </a:r>
          </a:p>
        </p:txBody>
      </p:sp>
      <p:sp>
        <p:nvSpPr>
          <p:cNvPr id="14350" name="Text Box 13"/>
          <p:cNvSpPr txBox="1">
            <a:spLocks noChangeArrowheads="1"/>
          </p:cNvSpPr>
          <p:nvPr/>
        </p:nvSpPr>
        <p:spPr bwMode="auto">
          <a:xfrm>
            <a:off x="4800600" y="46482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-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1395" grpId="0" build="p"/>
      <p:bldP spid="571398" grpId="0" animBg="1"/>
      <p:bldP spid="57139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b="0" smtClean="0"/>
              <a:t>Basic Option Positions:</a:t>
            </a:r>
            <a:r>
              <a:rPr lang="en-US" smtClean="0"/>
              <a:t> Short Put</a:t>
            </a:r>
          </a:p>
        </p:txBody>
      </p:sp>
      <p:sp>
        <p:nvSpPr>
          <p:cNvPr id="57344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sz="2000" smtClean="0"/>
              <a:t>Obligated to buy shares should the long put choose to exercise</a:t>
            </a:r>
          </a:p>
          <a:p>
            <a:pPr eaLnBrk="1" hangingPunct="1"/>
            <a:r>
              <a:rPr lang="en-US" sz="2000" smtClean="0"/>
              <a:t> </a:t>
            </a:r>
          </a:p>
          <a:p>
            <a:pPr eaLnBrk="1" hangingPunct="1"/>
            <a:r>
              <a:rPr lang="en-US" sz="2000" smtClean="0"/>
              <a:t>Receives premium up front.</a:t>
            </a:r>
          </a:p>
          <a:p>
            <a:pPr eaLnBrk="1" hangingPunct="1"/>
            <a:endParaRPr lang="en-US" sz="2000" smtClean="0"/>
          </a:p>
          <a:p>
            <a:pPr eaLnBrk="1" hangingPunct="1"/>
            <a:r>
              <a:rPr lang="en-US" sz="2000" smtClean="0"/>
              <a:t>P&amp;L equal to premium when the share price rises.</a:t>
            </a:r>
          </a:p>
          <a:p>
            <a:pPr eaLnBrk="1" hangingPunct="1"/>
            <a:endParaRPr lang="en-US" sz="2000" smtClean="0"/>
          </a:p>
          <a:p>
            <a:pPr eaLnBrk="1" hangingPunct="1"/>
            <a:r>
              <a:rPr lang="en-US" sz="2000" smtClean="0"/>
              <a:t>Loses money when the share price falls.</a:t>
            </a:r>
          </a:p>
        </p:txBody>
      </p:sp>
      <p:sp>
        <p:nvSpPr>
          <p:cNvPr id="1536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>
              <a:buFont typeface="Arial" charset="0"/>
              <a:buNone/>
            </a:pPr>
            <a:fld id="{F9D771E3-C868-455C-83AF-1B738C7B080D}" type="slidenum">
              <a:rPr lang="en-GB" smtClean="0">
                <a:latin typeface="Arial" charset="0"/>
              </a:rPr>
              <a:pPr>
                <a:buFont typeface="Arial" charset="0"/>
                <a:buNone/>
              </a:pPr>
              <a:t>5</a:t>
            </a:fld>
            <a:endParaRPr lang="en-GB" smtClean="0">
              <a:latin typeface="Arial" charset="0"/>
            </a:endParaRPr>
          </a:p>
        </p:txBody>
      </p:sp>
      <p:sp>
        <p:nvSpPr>
          <p:cNvPr id="15365" name="Line 4"/>
          <p:cNvSpPr>
            <a:spLocks noChangeShapeType="1"/>
          </p:cNvSpPr>
          <p:nvPr/>
        </p:nvSpPr>
        <p:spPr bwMode="auto">
          <a:xfrm>
            <a:off x="5181600" y="1600200"/>
            <a:ext cx="0" cy="3276600"/>
          </a:xfrm>
          <a:prstGeom prst="line">
            <a:avLst/>
          </a:prstGeom>
          <a:noFill/>
          <a:ln w="28575">
            <a:solidFill>
              <a:srgbClr val="99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6" name="Line 5"/>
          <p:cNvSpPr>
            <a:spLocks noChangeShapeType="1"/>
          </p:cNvSpPr>
          <p:nvPr/>
        </p:nvSpPr>
        <p:spPr bwMode="auto">
          <a:xfrm rot="5400000">
            <a:off x="6819900" y="1562100"/>
            <a:ext cx="0" cy="3276600"/>
          </a:xfrm>
          <a:prstGeom prst="line">
            <a:avLst/>
          </a:prstGeom>
          <a:noFill/>
          <a:ln w="28575">
            <a:solidFill>
              <a:srgbClr val="99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446" name="Line 6"/>
          <p:cNvSpPr>
            <a:spLocks noChangeShapeType="1"/>
          </p:cNvSpPr>
          <p:nvPr/>
        </p:nvSpPr>
        <p:spPr bwMode="auto">
          <a:xfrm>
            <a:off x="6705600" y="2895600"/>
            <a:ext cx="1828800" cy="0"/>
          </a:xfrm>
          <a:prstGeom prst="line">
            <a:avLst/>
          </a:prstGeom>
          <a:noFill/>
          <a:ln w="38100">
            <a:solidFill>
              <a:srgbClr val="00006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3447" name="Line 7"/>
          <p:cNvSpPr>
            <a:spLocks noChangeShapeType="1"/>
          </p:cNvSpPr>
          <p:nvPr/>
        </p:nvSpPr>
        <p:spPr bwMode="auto">
          <a:xfrm rot="5400000">
            <a:off x="5219700" y="2857500"/>
            <a:ext cx="1447800" cy="15240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9" name="Text Box 8"/>
          <p:cNvSpPr txBox="1">
            <a:spLocks noChangeArrowheads="1"/>
          </p:cNvSpPr>
          <p:nvPr/>
        </p:nvSpPr>
        <p:spPr bwMode="auto">
          <a:xfrm>
            <a:off x="4876800" y="121920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P&amp;L</a:t>
            </a:r>
          </a:p>
        </p:txBody>
      </p:sp>
      <p:sp>
        <p:nvSpPr>
          <p:cNvPr id="15370" name="Text Box 9"/>
          <p:cNvSpPr txBox="1">
            <a:spLocks noChangeArrowheads="1"/>
          </p:cNvSpPr>
          <p:nvPr/>
        </p:nvSpPr>
        <p:spPr bwMode="auto">
          <a:xfrm>
            <a:off x="6934200" y="3200400"/>
            <a:ext cx="1371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Share Price</a:t>
            </a:r>
          </a:p>
        </p:txBody>
      </p:sp>
      <p:sp>
        <p:nvSpPr>
          <p:cNvPr id="15371" name="Text Box 10"/>
          <p:cNvSpPr txBox="1">
            <a:spLocks noChangeArrowheads="1"/>
          </p:cNvSpPr>
          <p:nvPr/>
        </p:nvSpPr>
        <p:spPr bwMode="auto">
          <a:xfrm>
            <a:off x="8153400" y="3167063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+</a:t>
            </a:r>
          </a:p>
        </p:txBody>
      </p:sp>
      <p:sp>
        <p:nvSpPr>
          <p:cNvPr id="15372" name="Text Box 11"/>
          <p:cNvSpPr txBox="1">
            <a:spLocks noChangeArrowheads="1"/>
          </p:cNvSpPr>
          <p:nvPr/>
        </p:nvSpPr>
        <p:spPr bwMode="auto">
          <a:xfrm>
            <a:off x="4876800" y="3048000"/>
            <a:ext cx="838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0</a:t>
            </a:r>
          </a:p>
        </p:txBody>
      </p:sp>
      <p:sp>
        <p:nvSpPr>
          <p:cNvPr id="15373" name="Text Box 12"/>
          <p:cNvSpPr txBox="1">
            <a:spLocks noChangeArrowheads="1"/>
          </p:cNvSpPr>
          <p:nvPr/>
        </p:nvSpPr>
        <p:spPr bwMode="auto">
          <a:xfrm>
            <a:off x="4724400" y="15240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+</a:t>
            </a:r>
          </a:p>
        </p:txBody>
      </p:sp>
      <p:sp>
        <p:nvSpPr>
          <p:cNvPr id="15374" name="Text Box 13"/>
          <p:cNvSpPr txBox="1">
            <a:spLocks noChangeArrowheads="1"/>
          </p:cNvSpPr>
          <p:nvPr/>
        </p:nvSpPr>
        <p:spPr bwMode="auto">
          <a:xfrm>
            <a:off x="4724400" y="46482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b="0">
                <a:solidFill>
                  <a:srgbClr val="990000"/>
                </a:solidFill>
                <a:latin typeface="Arial" charset="0"/>
              </a:rPr>
              <a:t>-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43" grpId="0" build="p"/>
      <p:bldP spid="573446" grpId="0" animBg="1"/>
      <p:bldP spid="57344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Option Strikes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sz="2000" smtClean="0"/>
              <a:t>Define the exercise price</a:t>
            </a:r>
          </a:p>
          <a:p>
            <a:pPr eaLnBrk="1" hangingPunct="1"/>
            <a:endParaRPr lang="en-US" sz="2000" smtClean="0"/>
          </a:p>
          <a:p>
            <a:pPr eaLnBrk="1" hangingPunct="1"/>
            <a:r>
              <a:rPr lang="en-US" sz="2000" smtClean="0"/>
              <a:t>Multiple strike prices available</a:t>
            </a:r>
          </a:p>
          <a:p>
            <a:pPr eaLnBrk="1" hangingPunct="1"/>
            <a:endParaRPr lang="en-US" sz="2000" smtClean="0"/>
          </a:p>
          <a:p>
            <a:pPr eaLnBrk="1" hangingPunct="1"/>
            <a:r>
              <a:rPr lang="en-US" sz="2000" smtClean="0"/>
              <a:t>For calls, lower strikes cost more up front</a:t>
            </a:r>
          </a:p>
          <a:p>
            <a:pPr eaLnBrk="1" hangingPunct="1"/>
            <a:endParaRPr lang="en-US" sz="2000" smtClean="0"/>
          </a:p>
          <a:p>
            <a:pPr eaLnBrk="1" hangingPunct="1"/>
            <a:r>
              <a:rPr lang="en-US" sz="2000" smtClean="0"/>
              <a:t>Buying the share below its market price is expensive</a:t>
            </a:r>
          </a:p>
        </p:txBody>
      </p:sp>
      <p:pic>
        <p:nvPicPr>
          <p:cNvPr id="1638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4572000" y="2400300"/>
            <a:ext cx="4114800" cy="2514600"/>
          </a:xfrm>
          <a:noFill/>
        </p:spPr>
      </p:pic>
      <p:sp>
        <p:nvSpPr>
          <p:cNvPr id="16389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>
              <a:buFont typeface="Arial" charset="0"/>
              <a:buNone/>
            </a:pPr>
            <a:fld id="{6AB55A5F-9AD6-4055-A9C5-B6F170D15016}" type="slidenum">
              <a:rPr lang="en-GB" smtClean="0">
                <a:latin typeface="Arial" charset="0"/>
              </a:rPr>
              <a:pPr>
                <a:buFont typeface="Arial" charset="0"/>
                <a:buNone/>
              </a:pPr>
              <a:t>6</a:t>
            </a:fld>
            <a:endParaRPr lang="en-GB" smtClean="0">
              <a:latin typeface="Arial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ITM, OTM, ATM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000" smtClean="0"/>
              <a:t>In-the-money: The range of security prices across which the option holder will choose to exercise.  </a:t>
            </a:r>
          </a:p>
          <a:p>
            <a:pPr eaLnBrk="1" hangingPunct="1"/>
            <a:endParaRPr lang="en-US" sz="2000" smtClean="0"/>
          </a:p>
          <a:p>
            <a:pPr eaLnBrk="1" hangingPunct="1"/>
            <a:r>
              <a:rPr lang="en-US" sz="2000" smtClean="0"/>
              <a:t>Out-of-the-money: The range of security prices across which the option holder will choose not to exercise.  </a:t>
            </a:r>
          </a:p>
          <a:p>
            <a:pPr eaLnBrk="1" hangingPunct="1"/>
            <a:endParaRPr lang="en-US" sz="2000" smtClean="0"/>
          </a:p>
          <a:p>
            <a:pPr eaLnBrk="1" hangingPunct="1"/>
            <a:r>
              <a:rPr lang="en-US" sz="2000" smtClean="0"/>
              <a:t>At-the-money: The security price by which the option holder is indifferent about exercising the option. </a:t>
            </a:r>
          </a:p>
          <a:p>
            <a:pPr eaLnBrk="1" hangingPunct="1"/>
            <a:endParaRPr lang="en-US" smtClean="0"/>
          </a:p>
        </p:txBody>
      </p:sp>
      <p:sp>
        <p:nvSpPr>
          <p:cNvPr id="17412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>
              <a:buFont typeface="Arial" charset="0"/>
              <a:buNone/>
            </a:pPr>
            <a:fld id="{A617973B-8E51-4470-993F-EEBE24381185}" type="slidenum">
              <a:rPr lang="en-GB" smtClean="0">
                <a:latin typeface="Arial" charset="0"/>
              </a:rPr>
              <a:pPr>
                <a:buFont typeface="Arial" charset="0"/>
                <a:buNone/>
              </a:pPr>
              <a:t>7</a:t>
            </a:fld>
            <a:endParaRPr lang="en-GB" smtClean="0">
              <a:latin typeface="Arial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Option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American</a:t>
            </a:r>
          </a:p>
          <a:p>
            <a:r>
              <a:rPr lang="en-US" dirty="0" smtClean="0"/>
              <a:t>European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Option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Intrinsic Value </a:t>
            </a:r>
          </a:p>
          <a:p>
            <a:pPr lvl="1">
              <a:buNone/>
            </a:pPr>
            <a:r>
              <a:rPr lang="en-US" dirty="0" smtClean="0"/>
              <a:t>Call= Spot Price- Strike price /0</a:t>
            </a:r>
          </a:p>
          <a:p>
            <a:pPr lvl="1">
              <a:buNone/>
            </a:pPr>
            <a:r>
              <a:rPr lang="en-US" dirty="0" smtClean="0"/>
              <a:t>Put = Strike price </a:t>
            </a:r>
            <a:r>
              <a:rPr lang="en-US" smtClean="0"/>
              <a:t>-Spot </a:t>
            </a:r>
            <a:r>
              <a:rPr lang="en-US" dirty="0" smtClean="0"/>
              <a:t>Price/0</a:t>
            </a:r>
          </a:p>
          <a:p>
            <a:r>
              <a:rPr lang="en-US" dirty="0" smtClean="0"/>
              <a:t>Time Value</a:t>
            </a:r>
          </a:p>
          <a:p>
            <a:pPr lvl="1">
              <a:buNone/>
            </a:pPr>
            <a:r>
              <a:rPr lang="en-US" dirty="0" smtClean="0"/>
              <a:t> = Option premium- Intrinsic value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STYLE" val="Temp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354</Words>
  <Application>Microsoft Office PowerPoint</Application>
  <PresentationFormat>On-screen Show (4:3)</PresentationFormat>
  <Paragraphs>94</Paragraphs>
  <Slides>9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Options</vt:lpstr>
      <vt:lpstr>Basic Option Positions: Long Call</vt:lpstr>
      <vt:lpstr>Basic Option Positions: Short Call</vt:lpstr>
      <vt:lpstr>Basic Option Positions: Long Put</vt:lpstr>
      <vt:lpstr>Basic Option Positions: Short Put</vt:lpstr>
      <vt:lpstr>Option Strikes</vt:lpstr>
      <vt:lpstr>ITM, OTM, ATM</vt:lpstr>
      <vt:lpstr>Option Types</vt:lpstr>
      <vt:lpstr>Option Value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kirshna_prasanna</dc:creator>
  <cp:lastModifiedBy>Krishna Prasanna</cp:lastModifiedBy>
  <cp:revision>26</cp:revision>
  <dcterms:created xsi:type="dcterms:W3CDTF">2006-08-16T00:00:00Z</dcterms:created>
  <dcterms:modified xsi:type="dcterms:W3CDTF">2017-09-05T08:26:42Z</dcterms:modified>
</cp:coreProperties>
</file>