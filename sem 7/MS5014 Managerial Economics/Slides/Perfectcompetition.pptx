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3" r:id="rId2"/>
    <p:sldId id="272" r:id="rId3"/>
    <p:sldId id="257" r:id="rId4"/>
    <p:sldId id="258" r:id="rId5"/>
    <p:sldId id="259" r:id="rId6"/>
    <p:sldId id="269" r:id="rId7"/>
    <p:sldId id="260" r:id="rId8"/>
    <p:sldId id="261" r:id="rId9"/>
    <p:sldId id="270" r:id="rId10"/>
    <p:sldId id="271" r:id="rId11"/>
    <p:sldId id="276" r:id="rId12"/>
    <p:sldId id="281"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8/27/2024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8/27/2024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smtClean="0"/>
              <a:t>Firms in the competitive market</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500881019"/>
      </p:ext>
    </p:extLst>
  </p:cSld>
  <p:clrMapOvr>
    <a:masterClrMapping/>
  </p:clrMapOvr>
  <mc:AlternateContent xmlns:mc="http://schemas.openxmlformats.org/markup-compatibility/2006" xmlns:p14="http://schemas.microsoft.com/office/powerpoint/2010/main">
    <mc:Choice Requires="p14">
      <p:transition spd="slow" p14:dur="2000" advTm="7703"/>
    </mc:Choice>
    <mc:Fallback xmlns="">
      <p:transition spd="slow" advTm="7703"/>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Market structures</a:t>
            </a:r>
            <a:endParaRPr lang="en-IN" dirty="0"/>
          </a:p>
        </p:txBody>
      </p:sp>
      <p:sp>
        <p:nvSpPr>
          <p:cNvPr id="3" name="Content Placeholder 2"/>
          <p:cNvSpPr>
            <a:spLocks noGrp="1"/>
          </p:cNvSpPr>
          <p:nvPr>
            <p:ph idx="1"/>
          </p:nvPr>
        </p:nvSpPr>
        <p:spPr/>
        <p:txBody>
          <a:bodyPr/>
          <a:lstStyle/>
          <a:p>
            <a:r>
              <a:rPr lang="en-US" dirty="0" smtClean="0"/>
              <a:t>Perfect competition </a:t>
            </a:r>
          </a:p>
          <a:p>
            <a:r>
              <a:rPr lang="en-US" dirty="0" smtClean="0"/>
              <a:t>Monopoly</a:t>
            </a:r>
          </a:p>
          <a:p>
            <a:r>
              <a:rPr lang="en-US" dirty="0" smtClean="0"/>
              <a:t>Monopolistic</a:t>
            </a:r>
          </a:p>
          <a:p>
            <a:r>
              <a:rPr lang="en-US" dirty="0" smtClean="0"/>
              <a:t>Oligopoly </a:t>
            </a:r>
            <a:endParaRPr lang="en-IN" dirty="0"/>
          </a:p>
        </p:txBody>
      </p:sp>
    </p:spTree>
    <p:extLst>
      <p:ext uri="{BB962C8B-B14F-4D97-AF65-F5344CB8AC3E}">
        <p14:creationId xmlns:p14="http://schemas.microsoft.com/office/powerpoint/2010/main" val="3998579296"/>
      </p:ext>
    </p:extLst>
  </p:cSld>
  <p:clrMapOvr>
    <a:masterClrMapping/>
  </p:clrMapOvr>
  <mc:AlternateContent xmlns:mc="http://schemas.openxmlformats.org/markup-compatibility/2006" xmlns:p14="http://schemas.microsoft.com/office/powerpoint/2010/main">
    <mc:Choice Requires="p14">
      <p:transition spd="slow" p14:dur="2000" advTm="24152"/>
    </mc:Choice>
    <mc:Fallback xmlns="">
      <p:transition spd="slow" advTm="24152"/>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latin typeface="Times New Roman" panose="02020603050405020304" pitchFamily="18" charset="0"/>
                <a:cs typeface="Times New Roman" panose="02020603050405020304" pitchFamily="18" charset="0"/>
              </a:rPr>
              <a:t>Competitive market or Perfect Competition </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Features </a:t>
            </a:r>
          </a:p>
          <a:p>
            <a:r>
              <a:rPr lang="en-US" dirty="0" smtClean="0"/>
              <a:t>The Profit maximizing rule </a:t>
            </a:r>
          </a:p>
          <a:p>
            <a:r>
              <a:rPr lang="en-US" dirty="0" smtClean="0"/>
              <a:t>Deciding how much to produce in a competitive market</a:t>
            </a:r>
          </a:p>
          <a:p>
            <a:r>
              <a:rPr lang="en-US" dirty="0" smtClean="0"/>
              <a:t>What should be the price?</a:t>
            </a:r>
          </a:p>
          <a:p>
            <a:endParaRPr lang="en-IN" dirty="0"/>
          </a:p>
        </p:txBody>
      </p:sp>
    </p:spTree>
    <p:extLst>
      <p:ext uri="{BB962C8B-B14F-4D97-AF65-F5344CB8AC3E}">
        <p14:creationId xmlns:p14="http://schemas.microsoft.com/office/powerpoint/2010/main" val="575399091"/>
      </p:ext>
    </p:extLst>
  </p:cSld>
  <p:clrMapOvr>
    <a:masterClrMapping/>
  </p:clrMapOvr>
  <mc:AlternateContent xmlns:mc="http://schemas.openxmlformats.org/markup-compatibility/2006" xmlns:p14="http://schemas.microsoft.com/office/powerpoint/2010/main">
    <mc:Choice Requires="p14">
      <p:transition spd="slow" p14:dur="2000" advTm="32632"/>
    </mc:Choice>
    <mc:Fallback xmlns="">
      <p:transition spd="slow" advTm="32632"/>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Perfect competition- features</a:t>
            </a:r>
            <a:endParaRPr lang="en-IN" dirty="0"/>
          </a:p>
        </p:txBody>
      </p:sp>
      <p:sp>
        <p:nvSpPr>
          <p:cNvPr id="3" name="Content Placeholder 2"/>
          <p:cNvSpPr>
            <a:spLocks noGrp="1"/>
          </p:cNvSpPr>
          <p:nvPr>
            <p:ph idx="1"/>
          </p:nvPr>
        </p:nvSpPr>
        <p:spPr/>
        <p:txBody>
          <a:bodyPr/>
          <a:lstStyle/>
          <a:p>
            <a:r>
              <a:rPr lang="en-US" dirty="0" smtClean="0"/>
              <a:t>Large number of buyers and sellers</a:t>
            </a:r>
          </a:p>
          <a:p>
            <a:r>
              <a:rPr lang="en-US" dirty="0" smtClean="0"/>
              <a:t>The goods offered by the various sellers are largely the same (homogeneous product)</a:t>
            </a:r>
          </a:p>
          <a:p>
            <a:r>
              <a:rPr lang="en-US" dirty="0" smtClean="0"/>
              <a:t>Free entry and exit of firms. This will require low sunk costs.</a:t>
            </a:r>
          </a:p>
          <a:p>
            <a:r>
              <a:rPr lang="en-US" dirty="0" smtClean="0"/>
              <a:t>Buyers as well as sellers are Price Takers. Specifically ,all </a:t>
            </a:r>
            <a:r>
              <a:rPr lang="en-US" dirty="0"/>
              <a:t>firms are price takers, therefore the firm’s demand curve is perfectly elastic.</a:t>
            </a:r>
          </a:p>
          <a:p>
            <a:r>
              <a:rPr lang="en-US" dirty="0"/>
              <a:t>There is perfect information and knowledge.</a:t>
            </a:r>
          </a:p>
          <a:p>
            <a:endParaRPr lang="en-IN" dirty="0"/>
          </a:p>
        </p:txBody>
      </p:sp>
    </p:spTree>
    <p:extLst>
      <p:ext uri="{BB962C8B-B14F-4D97-AF65-F5344CB8AC3E}">
        <p14:creationId xmlns:p14="http://schemas.microsoft.com/office/powerpoint/2010/main" val="4067119127"/>
      </p:ext>
    </p:extLst>
  </p:cSld>
  <p:clrMapOvr>
    <a:masterClrMapping/>
  </p:clrMapOvr>
  <mc:AlternateContent xmlns:mc="http://schemas.openxmlformats.org/markup-compatibility/2006" xmlns:p14="http://schemas.microsoft.com/office/powerpoint/2010/main">
    <mc:Choice Requires="p14">
      <p:transition spd="slow" p14:dur="2000" advTm="81"/>
    </mc:Choice>
    <mc:Fallback xmlns="">
      <p:transition spd="slow" advTm="8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competitive market</a:t>
            </a:r>
            <a:endParaRPr lang="en-IN" dirty="0"/>
          </a:p>
        </p:txBody>
      </p:sp>
      <p:pic>
        <p:nvPicPr>
          <p:cNvPr id="1026" name="Picture 2" descr="Detecting stock market crashes with topological data analysi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579" y="1968885"/>
            <a:ext cx="225742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4204742" y="2101418"/>
            <a:ext cx="1762125" cy="1171575"/>
          </a:xfrm>
          <a:prstGeom prst="rect">
            <a:avLst/>
          </a:prstGeom>
        </p:spPr>
      </p:pic>
      <p:pic>
        <p:nvPicPr>
          <p:cNvPr id="6" name="Picture 5"/>
          <p:cNvPicPr>
            <a:picLocks noChangeAspect="1"/>
          </p:cNvPicPr>
          <p:nvPr/>
        </p:nvPicPr>
        <p:blipFill>
          <a:blip r:embed="rId4"/>
          <a:stretch>
            <a:fillRect/>
          </a:stretch>
        </p:blipFill>
        <p:spPr>
          <a:xfrm>
            <a:off x="6523565" y="2101418"/>
            <a:ext cx="2952750" cy="1552575"/>
          </a:xfrm>
          <a:prstGeom prst="rect">
            <a:avLst/>
          </a:prstGeom>
        </p:spPr>
      </p:pic>
    </p:spTree>
    <p:extLst>
      <p:ext uri="{BB962C8B-B14F-4D97-AF65-F5344CB8AC3E}">
        <p14:creationId xmlns:p14="http://schemas.microsoft.com/office/powerpoint/2010/main" val="48686312"/>
      </p:ext>
    </p:extLst>
  </p:cSld>
  <p:clrMapOvr>
    <a:masterClrMapping/>
  </p:clrMapOvr>
  <mc:AlternateContent xmlns:mc="http://schemas.openxmlformats.org/markup-compatibility/2006" xmlns:p14="http://schemas.microsoft.com/office/powerpoint/2010/main">
    <mc:Choice Requires="p14">
      <p:transition spd="slow" p14:dur="2000" advTm="5049"/>
    </mc:Choice>
    <mc:Fallback xmlns="">
      <p:transition spd="slow" advTm="5049"/>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perfect competition </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b="1" dirty="0"/>
              <a:t>Foreign exchange markets</a:t>
            </a:r>
            <a:r>
              <a:rPr lang="en-US" dirty="0"/>
              <a:t>. Here currency is all homogeneous. Also, traders will have access to many different buyers and sellers. There will be good information about relative prices. When buying currency it is easy to compare prices</a:t>
            </a:r>
          </a:p>
          <a:p>
            <a:pPr algn="just"/>
            <a:r>
              <a:rPr lang="en-US" b="1" dirty="0"/>
              <a:t>Agricultural markets</a:t>
            </a:r>
            <a:r>
              <a:rPr lang="en-US" dirty="0"/>
              <a:t>. In some cases, there are several farmers selling identical products to the market, and many buyers. At the market, it is easy to compare prices. Therefore, agricultural markets often get close to perfect competition.</a:t>
            </a:r>
          </a:p>
          <a:p>
            <a:pPr algn="just"/>
            <a:r>
              <a:rPr lang="en-US" b="1" dirty="0"/>
              <a:t>Internet related industries</a:t>
            </a:r>
            <a:r>
              <a:rPr lang="en-US" dirty="0"/>
              <a:t>. The internet has made many markets closer to perfect competition because the internet has made it very easy to compare prices, quickly and efficiently (perfect information). Also, the internet has made barriers to entry lower. For example, selling a popular good on the internet through a service like e-bay is close to perfect competition. It is easy to compare the prices of books and buy from the cheapest. The internet has enabled the price of many books to fall in price so that firms selling books on the internet are only making normal profits.</a:t>
            </a:r>
          </a:p>
          <a:p>
            <a:pPr algn="just"/>
            <a:endParaRPr lang="en-IN" dirty="0"/>
          </a:p>
        </p:txBody>
      </p:sp>
    </p:spTree>
    <p:extLst>
      <p:ext uri="{BB962C8B-B14F-4D97-AF65-F5344CB8AC3E}">
        <p14:creationId xmlns:p14="http://schemas.microsoft.com/office/powerpoint/2010/main" val="4202087049"/>
      </p:ext>
    </p:extLst>
  </p:cSld>
  <p:clrMapOvr>
    <a:masterClrMapping/>
  </p:clrMapOvr>
  <mc:AlternateContent xmlns:mc="http://schemas.openxmlformats.org/markup-compatibility/2006" xmlns:p14="http://schemas.microsoft.com/office/powerpoint/2010/main">
    <mc:Choice Requires="p14">
      <p:transition spd="slow" p14:dur="2000" advTm="39962"/>
    </mc:Choice>
    <mc:Fallback xmlns="">
      <p:transition spd="slow" advTm="39962"/>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profit maximization rule </a:t>
            </a:r>
            <a:endParaRPr lang="en-IN" dirty="0"/>
          </a:p>
        </p:txBody>
      </p:sp>
      <p:sp>
        <p:nvSpPr>
          <p:cNvPr id="3" name="Content Placeholder 2"/>
          <p:cNvSpPr>
            <a:spLocks noGrp="1"/>
          </p:cNvSpPr>
          <p:nvPr>
            <p:ph idx="1"/>
          </p:nvPr>
        </p:nvSpPr>
        <p:spPr/>
        <p:txBody>
          <a:bodyPr>
            <a:normAutofit fontScale="92500"/>
          </a:bodyPr>
          <a:lstStyle/>
          <a:p>
            <a:r>
              <a:rPr lang="el-GR" sz="2800" dirty="0" smtClean="0">
                <a:latin typeface="Garamond" panose="02020404030301010803" pitchFamily="18" charset="0"/>
              </a:rPr>
              <a:t>Π</a:t>
            </a:r>
            <a:r>
              <a:rPr lang="en-US" sz="2800" baseline="30000" dirty="0" smtClean="0">
                <a:latin typeface="Garamond" panose="02020404030301010803" pitchFamily="18" charset="0"/>
              </a:rPr>
              <a:t>* </a:t>
            </a:r>
            <a:r>
              <a:rPr lang="en-US" sz="2800" dirty="0" smtClean="0">
                <a:latin typeface="Garamond" panose="02020404030301010803" pitchFamily="18" charset="0"/>
              </a:rPr>
              <a:t> The profit is maximized at output (Q) level where MC =MR</a:t>
            </a:r>
          </a:p>
          <a:p>
            <a:r>
              <a:rPr lang="en-US" sz="2800" dirty="0" smtClean="0">
                <a:latin typeface="Garamond" panose="02020404030301010803" pitchFamily="18" charset="0"/>
              </a:rPr>
              <a:t>Marginal Cost is cost incurred to produce one extra unit of output.</a:t>
            </a:r>
          </a:p>
          <a:p>
            <a:r>
              <a:rPr lang="en-US" sz="2800" dirty="0" smtClean="0">
                <a:latin typeface="Garamond" panose="02020404030301010803" pitchFamily="18" charset="0"/>
              </a:rPr>
              <a:t>Marginal revenue is revenue generated from one extra unit of output</a:t>
            </a:r>
          </a:p>
          <a:p>
            <a:r>
              <a:rPr lang="en-US" sz="2800" dirty="0" smtClean="0">
                <a:latin typeface="Garamond" panose="02020404030301010803" pitchFamily="18" charset="0"/>
              </a:rPr>
              <a:t>This rule applies to all the four market structures (perfect competition, monopoly, monopolistic and oligopoly)</a:t>
            </a:r>
            <a:endParaRPr lang="en-IN" sz="2800" dirty="0"/>
          </a:p>
        </p:txBody>
      </p:sp>
    </p:spTree>
    <p:extLst>
      <p:ext uri="{BB962C8B-B14F-4D97-AF65-F5344CB8AC3E}">
        <p14:creationId xmlns:p14="http://schemas.microsoft.com/office/powerpoint/2010/main" val="3068709377"/>
      </p:ext>
    </p:extLst>
  </p:cSld>
  <p:clrMapOvr>
    <a:masterClrMapping/>
  </p:clrMapOvr>
  <mc:AlternateContent xmlns:mc="http://schemas.openxmlformats.org/markup-compatibility/2006" xmlns:p14="http://schemas.microsoft.com/office/powerpoint/2010/main">
    <mc:Choice Requires="p14">
      <p:transition spd="slow" p14:dur="2000" advTm="53241"/>
    </mc:Choice>
    <mc:Fallback xmlns="">
      <p:transition spd="slow" advTm="5324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Competitive market (P = </a:t>
            </a:r>
            <a:r>
              <a:rPr lang="en-US" dirty="0" err="1" smtClean="0">
                <a:latin typeface="Times New Roman" panose="02020603050405020304" pitchFamily="18" charset="0"/>
                <a:cs typeface="Times New Roman" panose="02020603050405020304" pitchFamily="18" charset="0"/>
              </a:rPr>
              <a:t>Ar</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Mr</a:t>
            </a:r>
            <a:r>
              <a:rPr lang="en-US" dirty="0" smtClean="0">
                <a:latin typeface="Times New Roman" panose="02020603050405020304" pitchFamily="18" charset="0"/>
                <a:cs typeface="Times New Roman" panose="02020603050405020304" pitchFamily="18" charset="0"/>
              </a:rPr>
              <a:t>=Demand)</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51918336"/>
              </p:ext>
            </p:extLst>
          </p:nvPr>
        </p:nvGraphicFramePr>
        <p:xfrm>
          <a:off x="1450975" y="2016125"/>
          <a:ext cx="9604375" cy="3881120"/>
        </p:xfrm>
        <a:graphic>
          <a:graphicData uri="http://schemas.openxmlformats.org/drawingml/2006/table">
            <a:tbl>
              <a:tblPr firstRow="1" bandRow="1">
                <a:tableStyleId>{5C22544A-7EE6-4342-B048-85BDC9FD1C3A}</a:tableStyleId>
              </a:tblPr>
              <a:tblGrid>
                <a:gridCol w="1920875">
                  <a:extLst>
                    <a:ext uri="{9D8B030D-6E8A-4147-A177-3AD203B41FA5}">
                      <a16:colId xmlns:a16="http://schemas.microsoft.com/office/drawing/2014/main" val="4067496771"/>
                    </a:ext>
                  </a:extLst>
                </a:gridCol>
                <a:gridCol w="1920875">
                  <a:extLst>
                    <a:ext uri="{9D8B030D-6E8A-4147-A177-3AD203B41FA5}">
                      <a16:colId xmlns:a16="http://schemas.microsoft.com/office/drawing/2014/main" val="1452419854"/>
                    </a:ext>
                  </a:extLst>
                </a:gridCol>
                <a:gridCol w="1920875">
                  <a:extLst>
                    <a:ext uri="{9D8B030D-6E8A-4147-A177-3AD203B41FA5}">
                      <a16:colId xmlns:a16="http://schemas.microsoft.com/office/drawing/2014/main" val="3133475779"/>
                    </a:ext>
                  </a:extLst>
                </a:gridCol>
                <a:gridCol w="1920875">
                  <a:extLst>
                    <a:ext uri="{9D8B030D-6E8A-4147-A177-3AD203B41FA5}">
                      <a16:colId xmlns:a16="http://schemas.microsoft.com/office/drawing/2014/main" val="818595835"/>
                    </a:ext>
                  </a:extLst>
                </a:gridCol>
                <a:gridCol w="1920875">
                  <a:extLst>
                    <a:ext uri="{9D8B030D-6E8A-4147-A177-3AD203B41FA5}">
                      <a16:colId xmlns:a16="http://schemas.microsoft.com/office/drawing/2014/main" val="831904049"/>
                    </a:ext>
                  </a:extLst>
                </a:gridCol>
              </a:tblGrid>
              <a:tr h="370840">
                <a:tc>
                  <a:txBody>
                    <a:bodyPr/>
                    <a:lstStyle/>
                    <a:p>
                      <a:r>
                        <a:rPr lang="en-US" dirty="0" smtClean="0"/>
                        <a:t>Quantity</a:t>
                      </a:r>
                      <a:r>
                        <a:rPr lang="en-US" baseline="0" dirty="0" smtClean="0"/>
                        <a:t> </a:t>
                      </a:r>
                      <a:endParaRPr lang="en-IN" dirty="0"/>
                    </a:p>
                  </a:txBody>
                  <a:tcPr/>
                </a:tc>
                <a:tc>
                  <a:txBody>
                    <a:bodyPr/>
                    <a:lstStyle/>
                    <a:p>
                      <a:r>
                        <a:rPr lang="en-US" dirty="0" smtClean="0"/>
                        <a:t>Price </a:t>
                      </a:r>
                      <a:endParaRPr lang="en-IN" dirty="0"/>
                    </a:p>
                  </a:txBody>
                  <a:tcPr/>
                </a:tc>
                <a:tc>
                  <a:txBody>
                    <a:bodyPr/>
                    <a:lstStyle/>
                    <a:p>
                      <a:r>
                        <a:rPr lang="en-US" dirty="0" smtClean="0"/>
                        <a:t>Total revenue  (P× Q)</a:t>
                      </a:r>
                      <a:endParaRPr lang="en-IN" dirty="0"/>
                    </a:p>
                  </a:txBody>
                  <a:tcPr/>
                </a:tc>
                <a:tc>
                  <a:txBody>
                    <a:bodyPr/>
                    <a:lstStyle/>
                    <a:p>
                      <a:r>
                        <a:rPr lang="en-US" dirty="0" smtClean="0"/>
                        <a:t>Average Revenue (AR = TR/ Q)</a:t>
                      </a:r>
                      <a:endParaRPr lang="en-IN" dirty="0"/>
                    </a:p>
                  </a:txBody>
                  <a:tcPr/>
                </a:tc>
                <a:tc>
                  <a:txBody>
                    <a:bodyPr/>
                    <a:lstStyle/>
                    <a:p>
                      <a:r>
                        <a:rPr lang="en-US" dirty="0" smtClean="0"/>
                        <a:t>Marginal Revenue  (MR = ∆TR</a:t>
                      </a:r>
                      <a:r>
                        <a:rPr lang="en-US" baseline="0" dirty="0" smtClean="0"/>
                        <a:t> / </a:t>
                      </a:r>
                      <a:r>
                        <a:rPr lang="en-US" dirty="0" smtClean="0"/>
                        <a:t>∆ Q)</a:t>
                      </a:r>
                      <a:endParaRPr lang="en-IN" dirty="0"/>
                    </a:p>
                  </a:txBody>
                  <a:tcPr/>
                </a:tc>
                <a:extLst>
                  <a:ext uri="{0D108BD9-81ED-4DB2-BD59-A6C34878D82A}">
                    <a16:rowId xmlns:a16="http://schemas.microsoft.com/office/drawing/2014/main" val="4114063808"/>
                  </a:ext>
                </a:extLst>
              </a:tr>
              <a:tr h="370840">
                <a:tc>
                  <a:txBody>
                    <a:bodyPr/>
                    <a:lstStyle/>
                    <a:p>
                      <a:r>
                        <a:rPr lang="en-US" dirty="0" smtClean="0"/>
                        <a:t>1</a:t>
                      </a:r>
                      <a:endParaRPr lang="en-IN" dirty="0"/>
                    </a:p>
                  </a:txBody>
                  <a:tcPr/>
                </a:tc>
                <a:tc>
                  <a:txBody>
                    <a:bodyPr/>
                    <a:lstStyle/>
                    <a:p>
                      <a:r>
                        <a:rPr lang="en-US" dirty="0" smtClean="0"/>
                        <a:t>6</a:t>
                      </a:r>
                      <a:endParaRPr lang="en-IN" dirty="0"/>
                    </a:p>
                  </a:txBody>
                  <a:tcPr/>
                </a:tc>
                <a:tc>
                  <a:txBody>
                    <a:bodyPr/>
                    <a:lstStyle/>
                    <a:p>
                      <a:r>
                        <a:rPr lang="en-US" dirty="0" smtClean="0"/>
                        <a:t>6</a:t>
                      </a:r>
                      <a:endParaRPr lang="en-IN" dirty="0"/>
                    </a:p>
                  </a:txBody>
                  <a:tcPr/>
                </a:tc>
                <a:tc>
                  <a:txBody>
                    <a:bodyPr/>
                    <a:lstStyle/>
                    <a:p>
                      <a:r>
                        <a:rPr lang="en-US" dirty="0" smtClean="0"/>
                        <a:t>6</a:t>
                      </a:r>
                      <a:endParaRPr lang="en-IN" dirty="0"/>
                    </a:p>
                  </a:txBody>
                  <a:tcPr/>
                </a:tc>
                <a:tc>
                  <a:txBody>
                    <a:bodyPr/>
                    <a:lstStyle/>
                    <a:p>
                      <a:r>
                        <a:rPr lang="en-US" dirty="0" smtClean="0"/>
                        <a:t>6</a:t>
                      </a:r>
                      <a:endParaRPr lang="en-IN" dirty="0"/>
                    </a:p>
                  </a:txBody>
                  <a:tcPr/>
                </a:tc>
                <a:extLst>
                  <a:ext uri="{0D108BD9-81ED-4DB2-BD59-A6C34878D82A}">
                    <a16:rowId xmlns:a16="http://schemas.microsoft.com/office/drawing/2014/main" val="2594371056"/>
                  </a:ext>
                </a:extLst>
              </a:tr>
              <a:tr h="370840">
                <a:tc>
                  <a:txBody>
                    <a:bodyPr/>
                    <a:lstStyle/>
                    <a:p>
                      <a:r>
                        <a:rPr lang="en-US" dirty="0" smtClean="0"/>
                        <a:t>2</a:t>
                      </a:r>
                      <a:endParaRPr lang="en-IN" dirty="0"/>
                    </a:p>
                  </a:txBody>
                  <a:tcPr/>
                </a:tc>
                <a:tc>
                  <a:txBody>
                    <a:bodyPr/>
                    <a:lstStyle/>
                    <a:p>
                      <a:r>
                        <a:rPr lang="en-US" dirty="0" smtClean="0"/>
                        <a:t>6</a:t>
                      </a:r>
                      <a:endParaRPr lang="en-IN" dirty="0"/>
                    </a:p>
                  </a:txBody>
                  <a:tcPr/>
                </a:tc>
                <a:tc>
                  <a:txBody>
                    <a:bodyPr/>
                    <a:lstStyle/>
                    <a:p>
                      <a:r>
                        <a:rPr lang="en-US" dirty="0" smtClean="0"/>
                        <a:t>12</a:t>
                      </a:r>
                      <a:endParaRPr lang="en-IN" dirty="0"/>
                    </a:p>
                  </a:txBody>
                  <a:tcPr/>
                </a:tc>
                <a:tc>
                  <a:txBody>
                    <a:bodyPr/>
                    <a:lstStyle/>
                    <a:p>
                      <a:r>
                        <a:rPr lang="en-US" dirty="0" smtClean="0"/>
                        <a:t>6</a:t>
                      </a:r>
                      <a:endParaRPr lang="en-IN" dirty="0"/>
                    </a:p>
                  </a:txBody>
                  <a:tcPr/>
                </a:tc>
                <a:tc>
                  <a:txBody>
                    <a:bodyPr/>
                    <a:lstStyle/>
                    <a:p>
                      <a:r>
                        <a:rPr lang="en-US" dirty="0" smtClean="0"/>
                        <a:t>6</a:t>
                      </a:r>
                      <a:endParaRPr lang="en-IN" dirty="0"/>
                    </a:p>
                  </a:txBody>
                  <a:tcPr/>
                </a:tc>
                <a:extLst>
                  <a:ext uri="{0D108BD9-81ED-4DB2-BD59-A6C34878D82A}">
                    <a16:rowId xmlns:a16="http://schemas.microsoft.com/office/drawing/2014/main" val="1463279690"/>
                  </a:ext>
                </a:extLst>
              </a:tr>
              <a:tr h="370840">
                <a:tc>
                  <a:txBody>
                    <a:bodyPr/>
                    <a:lstStyle/>
                    <a:p>
                      <a:r>
                        <a:rPr lang="en-US" dirty="0" smtClean="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18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3609717098"/>
                  </a:ext>
                </a:extLst>
              </a:tr>
              <a:tr h="370840">
                <a:tc>
                  <a:txBody>
                    <a:bodyPr/>
                    <a:lstStyle/>
                    <a:p>
                      <a:r>
                        <a:rPr lang="en-US" dirty="0" smtClean="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24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301498566"/>
                  </a:ext>
                </a:extLst>
              </a:tr>
              <a:tr h="370840">
                <a:tc>
                  <a:txBody>
                    <a:bodyPr/>
                    <a:lstStyle/>
                    <a:p>
                      <a:r>
                        <a:rPr lang="en-US" dirty="0" smtClean="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30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195870435"/>
                  </a:ext>
                </a:extLst>
              </a:tr>
              <a:tr h="370840">
                <a:tc>
                  <a:txBody>
                    <a:bodyPr/>
                    <a:lstStyle/>
                    <a:p>
                      <a:r>
                        <a:rPr lang="en-US" dirty="0" smtClean="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36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2498019930"/>
                  </a:ext>
                </a:extLst>
              </a:tr>
              <a:tr h="370840">
                <a:tc>
                  <a:txBody>
                    <a:bodyPr/>
                    <a:lstStyle/>
                    <a:p>
                      <a:r>
                        <a:rPr lang="en-US" dirty="0" smtClean="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42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1036099874"/>
                  </a:ext>
                </a:extLst>
              </a:tr>
              <a:tr h="370840">
                <a:tc>
                  <a:txBody>
                    <a:bodyPr/>
                    <a:lstStyle/>
                    <a:p>
                      <a:r>
                        <a:rPr lang="en-US" dirty="0" smtClean="0"/>
                        <a:t>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48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3879955652"/>
                  </a:ext>
                </a:extLst>
              </a:tr>
            </a:tbl>
          </a:graphicData>
        </a:graphic>
      </p:graphicFrame>
    </p:spTree>
    <p:extLst>
      <p:ext uri="{BB962C8B-B14F-4D97-AF65-F5344CB8AC3E}">
        <p14:creationId xmlns:p14="http://schemas.microsoft.com/office/powerpoint/2010/main" val="3917246059"/>
      </p:ext>
    </p:extLst>
  </p:cSld>
  <p:clrMapOvr>
    <a:masterClrMapping/>
  </p:clrMapOvr>
  <mc:AlternateContent xmlns:mc="http://schemas.openxmlformats.org/markup-compatibility/2006" xmlns:p14="http://schemas.microsoft.com/office/powerpoint/2010/main">
    <mc:Choice Requires="p14">
      <p:transition spd="slow" p14:dur="2000" advTm="93443"/>
    </mc:Choice>
    <mc:Fallback xmlns="">
      <p:transition spd="slow" advTm="93443"/>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 for perfect competition </a:t>
            </a:r>
            <a:endParaRPr lang="en-IN" dirty="0"/>
          </a:p>
        </p:txBody>
      </p:sp>
      <p:pic>
        <p:nvPicPr>
          <p:cNvPr id="1026" name="Picture 2" descr="https://www.economicshelp.org/wp-content/uploads/2011/09/perfect-competition.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7474" y="2001799"/>
            <a:ext cx="7680959"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220318"/>
      </p:ext>
    </p:extLst>
  </p:cSld>
  <p:clrMapOvr>
    <a:masterClrMapping/>
  </p:clrMapOvr>
  <mc:AlternateContent xmlns:mc="http://schemas.openxmlformats.org/markup-compatibility/2006" xmlns:p14="http://schemas.microsoft.com/office/powerpoint/2010/main">
    <mc:Choice Requires="p14">
      <p:transition spd="slow" p14:dur="2000" advTm="123613"/>
    </mc:Choice>
    <mc:Fallback xmlns="">
      <p:transition spd="slow" advTm="123613"/>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the above diagram…</a:t>
            </a:r>
            <a:endParaRPr lang="en-IN" dirty="0"/>
          </a:p>
        </p:txBody>
      </p:sp>
      <p:sp>
        <p:nvSpPr>
          <p:cNvPr id="3" name="Content Placeholder 2"/>
          <p:cNvSpPr>
            <a:spLocks noGrp="1"/>
          </p:cNvSpPr>
          <p:nvPr>
            <p:ph idx="1"/>
          </p:nvPr>
        </p:nvSpPr>
        <p:spPr/>
        <p:txBody>
          <a:bodyPr/>
          <a:lstStyle/>
          <a:p>
            <a:r>
              <a:rPr lang="en-US" dirty="0"/>
              <a:t>The industry price is determined by the interaction of Supply and Demand, leading to a price of </a:t>
            </a:r>
            <a:r>
              <a:rPr lang="en-US" dirty="0" err="1"/>
              <a:t>Pe</a:t>
            </a:r>
            <a:r>
              <a:rPr lang="en-US" dirty="0"/>
              <a:t>.</a:t>
            </a:r>
          </a:p>
          <a:p>
            <a:r>
              <a:rPr lang="en-US" dirty="0"/>
              <a:t>The individual firm will </a:t>
            </a:r>
            <a:r>
              <a:rPr lang="en-US" dirty="0" err="1"/>
              <a:t>maximise</a:t>
            </a:r>
            <a:r>
              <a:rPr lang="en-US" dirty="0"/>
              <a:t> output where MR = MC at Q1</a:t>
            </a:r>
          </a:p>
          <a:p>
            <a:r>
              <a:rPr lang="en-US" dirty="0"/>
              <a:t>In the long run firms will make normal profits.</a:t>
            </a:r>
          </a:p>
          <a:p>
            <a:endParaRPr lang="en-IN" dirty="0"/>
          </a:p>
        </p:txBody>
      </p:sp>
    </p:spTree>
    <p:extLst>
      <p:ext uri="{BB962C8B-B14F-4D97-AF65-F5344CB8AC3E}">
        <p14:creationId xmlns:p14="http://schemas.microsoft.com/office/powerpoint/2010/main" val="3432370416"/>
      </p:ext>
    </p:extLst>
  </p:cSld>
  <p:clrMapOvr>
    <a:masterClrMapping/>
  </p:clrMapOvr>
  <mc:AlternateContent xmlns:mc="http://schemas.openxmlformats.org/markup-compatibility/2006" xmlns:p14="http://schemas.microsoft.com/office/powerpoint/2010/main">
    <mc:Choice Requires="p14">
      <p:transition spd="slow" p14:dur="2000" advTm="44350"/>
    </mc:Choice>
    <mc:Fallback xmlns="">
      <p:transition spd="slow" advTm="4435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475997"/>
          </a:xfrm>
        </p:spPr>
        <p:txBody>
          <a:bodyPr>
            <a:normAutofit fontScale="90000"/>
          </a:bodyPr>
          <a:lstStyle/>
          <a:p>
            <a:pPr algn="ctr"/>
            <a:r>
              <a:rPr lang="en-US" dirty="0" smtClean="0"/>
              <a:t>Profit maximization for competitive firm</a:t>
            </a:r>
            <a:endParaRPr lang="en-IN" dirty="0"/>
          </a:p>
        </p:txBody>
      </p:sp>
      <p:graphicFrame>
        <p:nvGraphicFramePr>
          <p:cNvPr id="8" name="Content Placeholder 7"/>
          <p:cNvGraphicFramePr>
            <a:graphicFrameLocks noGrp="1"/>
          </p:cNvGraphicFramePr>
          <p:nvPr>
            <p:ph sz="quarter" idx="4"/>
            <p:extLst>
              <p:ext uri="{D42A27DB-BD31-4B8C-83A1-F6EECF244321}">
                <p14:modId xmlns:p14="http://schemas.microsoft.com/office/powerpoint/2010/main" val="1119287502"/>
              </p:ext>
            </p:extLst>
          </p:nvPr>
        </p:nvGraphicFramePr>
        <p:xfrm>
          <a:off x="5521235" y="2028825"/>
          <a:ext cx="5535706" cy="4251960"/>
        </p:xfrm>
        <a:graphic>
          <a:graphicData uri="http://schemas.openxmlformats.org/drawingml/2006/table">
            <a:tbl>
              <a:tblPr firstRow="1" bandRow="1">
                <a:tableStyleId>{5C22544A-7EE6-4342-B048-85BDC9FD1C3A}</a:tableStyleId>
              </a:tblPr>
              <a:tblGrid>
                <a:gridCol w="896983">
                  <a:extLst>
                    <a:ext uri="{9D8B030D-6E8A-4147-A177-3AD203B41FA5}">
                      <a16:colId xmlns:a16="http://schemas.microsoft.com/office/drawing/2014/main" val="3985564780"/>
                    </a:ext>
                  </a:extLst>
                </a:gridCol>
                <a:gridCol w="670560">
                  <a:extLst>
                    <a:ext uri="{9D8B030D-6E8A-4147-A177-3AD203B41FA5}">
                      <a16:colId xmlns:a16="http://schemas.microsoft.com/office/drawing/2014/main" val="3298525894"/>
                    </a:ext>
                  </a:extLst>
                </a:gridCol>
                <a:gridCol w="783772">
                  <a:extLst>
                    <a:ext uri="{9D8B030D-6E8A-4147-A177-3AD203B41FA5}">
                      <a16:colId xmlns:a16="http://schemas.microsoft.com/office/drawing/2014/main" val="2141280038"/>
                    </a:ext>
                  </a:extLst>
                </a:gridCol>
                <a:gridCol w="938531">
                  <a:extLst>
                    <a:ext uri="{9D8B030D-6E8A-4147-A177-3AD203B41FA5}">
                      <a16:colId xmlns:a16="http://schemas.microsoft.com/office/drawing/2014/main" val="3407137121"/>
                    </a:ext>
                  </a:extLst>
                </a:gridCol>
                <a:gridCol w="748620">
                  <a:extLst>
                    <a:ext uri="{9D8B030D-6E8A-4147-A177-3AD203B41FA5}">
                      <a16:colId xmlns:a16="http://schemas.microsoft.com/office/drawing/2014/main" val="888968761"/>
                    </a:ext>
                  </a:extLst>
                </a:gridCol>
                <a:gridCol w="748620">
                  <a:extLst>
                    <a:ext uri="{9D8B030D-6E8A-4147-A177-3AD203B41FA5}">
                      <a16:colId xmlns:a16="http://schemas.microsoft.com/office/drawing/2014/main" val="781644425"/>
                    </a:ext>
                  </a:extLst>
                </a:gridCol>
                <a:gridCol w="748620">
                  <a:extLst>
                    <a:ext uri="{9D8B030D-6E8A-4147-A177-3AD203B41FA5}">
                      <a16:colId xmlns:a16="http://schemas.microsoft.com/office/drawing/2014/main" val="3840551858"/>
                    </a:ext>
                  </a:extLst>
                </a:gridCol>
              </a:tblGrid>
              <a:tr h="370840">
                <a:tc>
                  <a:txBody>
                    <a:bodyPr/>
                    <a:lstStyle/>
                    <a:p>
                      <a:r>
                        <a:rPr lang="en-US" dirty="0" err="1" smtClean="0"/>
                        <a:t>Qty</a:t>
                      </a:r>
                      <a:r>
                        <a:rPr lang="en-US" dirty="0" smtClean="0"/>
                        <a:t> </a:t>
                      </a:r>
                      <a:endParaRPr lang="en-IN" dirty="0"/>
                    </a:p>
                  </a:txBody>
                  <a:tcPr/>
                </a:tc>
                <a:tc>
                  <a:txBody>
                    <a:bodyPr/>
                    <a:lstStyle/>
                    <a:p>
                      <a:r>
                        <a:rPr lang="en-US" dirty="0" smtClean="0"/>
                        <a:t>TR</a:t>
                      </a:r>
                      <a:endParaRPr lang="en-IN" dirty="0"/>
                    </a:p>
                  </a:txBody>
                  <a:tcPr/>
                </a:tc>
                <a:tc>
                  <a:txBody>
                    <a:bodyPr/>
                    <a:lstStyle/>
                    <a:p>
                      <a:r>
                        <a:rPr lang="en-US" dirty="0" smtClean="0"/>
                        <a:t>TC</a:t>
                      </a:r>
                      <a:endParaRPr lang="en-IN" dirty="0"/>
                    </a:p>
                  </a:txBody>
                  <a:tcPr/>
                </a:tc>
                <a:tc>
                  <a:txBody>
                    <a:bodyPr/>
                    <a:lstStyle/>
                    <a:p>
                      <a:r>
                        <a:rPr lang="en-US" dirty="0" smtClean="0"/>
                        <a:t>Profit (TR-TC)</a:t>
                      </a:r>
                      <a:endParaRPr lang="en-IN" dirty="0"/>
                    </a:p>
                  </a:txBody>
                  <a:tcPr/>
                </a:tc>
                <a:tc>
                  <a:txBody>
                    <a:bodyPr/>
                    <a:lstStyle/>
                    <a:p>
                      <a:r>
                        <a:rPr lang="en-US" dirty="0" smtClean="0"/>
                        <a:t>MR</a:t>
                      </a:r>
                      <a:endParaRPr lang="en-IN" dirty="0"/>
                    </a:p>
                  </a:txBody>
                  <a:tcPr/>
                </a:tc>
                <a:tc>
                  <a:txBody>
                    <a:bodyPr/>
                    <a:lstStyle/>
                    <a:p>
                      <a:r>
                        <a:rPr lang="en-US" dirty="0" smtClean="0"/>
                        <a:t>MC</a:t>
                      </a:r>
                      <a:endParaRPr lang="en-IN" dirty="0"/>
                    </a:p>
                  </a:txBody>
                  <a:tcPr/>
                </a:tc>
                <a:tc>
                  <a:txBody>
                    <a:bodyPr/>
                    <a:lstStyle/>
                    <a:p>
                      <a:r>
                        <a:rPr lang="en-US" dirty="0" smtClean="0"/>
                        <a:t>Change in </a:t>
                      </a:r>
                      <a:r>
                        <a:rPr lang="el-GR" dirty="0" smtClean="0">
                          <a:latin typeface="Garamond" panose="02020404030301010803" pitchFamily="18" charset="0"/>
                        </a:rPr>
                        <a:t>Π</a:t>
                      </a:r>
                      <a:endParaRPr lang="en-IN" dirty="0"/>
                    </a:p>
                  </a:txBody>
                  <a:tcPr/>
                </a:tc>
                <a:extLst>
                  <a:ext uri="{0D108BD9-81ED-4DB2-BD59-A6C34878D82A}">
                    <a16:rowId xmlns:a16="http://schemas.microsoft.com/office/drawing/2014/main" val="2351250316"/>
                  </a:ext>
                </a:extLst>
              </a:tr>
              <a:tr h="370840">
                <a:tc>
                  <a:txBody>
                    <a:bodyPr/>
                    <a:lstStyle/>
                    <a:p>
                      <a:r>
                        <a:rPr lang="en-US" dirty="0" smtClean="0"/>
                        <a:t>0</a:t>
                      </a:r>
                      <a:endParaRPr lang="en-IN" dirty="0"/>
                    </a:p>
                  </a:txBody>
                  <a:tcPr/>
                </a:tc>
                <a:tc>
                  <a:txBody>
                    <a:bodyPr/>
                    <a:lstStyle/>
                    <a:p>
                      <a:r>
                        <a:rPr lang="en-US" dirty="0" smtClean="0"/>
                        <a:t>0</a:t>
                      </a:r>
                      <a:endParaRPr lang="en-IN" dirty="0"/>
                    </a:p>
                  </a:txBody>
                  <a:tcPr/>
                </a:tc>
                <a:tc>
                  <a:txBody>
                    <a:bodyPr/>
                    <a:lstStyle/>
                    <a:p>
                      <a:r>
                        <a:rPr lang="en-US" dirty="0" smtClean="0"/>
                        <a:t>3</a:t>
                      </a:r>
                      <a:endParaRPr lang="en-IN" dirty="0"/>
                    </a:p>
                  </a:txBody>
                  <a:tcPr/>
                </a:tc>
                <a:tc>
                  <a:txBody>
                    <a:bodyPr/>
                    <a:lstStyle/>
                    <a:p>
                      <a:r>
                        <a:rPr lang="en-US" dirty="0" smtClean="0"/>
                        <a:t>-3</a:t>
                      </a:r>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285601293"/>
                  </a:ext>
                </a:extLst>
              </a:tr>
              <a:tr h="370840">
                <a:tc>
                  <a:txBody>
                    <a:bodyPr/>
                    <a:lstStyle/>
                    <a:p>
                      <a:r>
                        <a:rPr lang="en-US" dirty="0" smtClean="0"/>
                        <a:t>1</a:t>
                      </a:r>
                      <a:endParaRPr lang="en-IN" dirty="0"/>
                    </a:p>
                  </a:txBody>
                  <a:tcPr/>
                </a:tc>
                <a:tc>
                  <a:txBody>
                    <a:bodyPr/>
                    <a:lstStyle/>
                    <a:p>
                      <a:r>
                        <a:rPr lang="en-US" dirty="0" smtClean="0"/>
                        <a:t>6</a:t>
                      </a:r>
                      <a:endParaRPr lang="en-IN" dirty="0"/>
                    </a:p>
                  </a:txBody>
                  <a:tcPr/>
                </a:tc>
                <a:tc>
                  <a:txBody>
                    <a:bodyPr/>
                    <a:lstStyle/>
                    <a:p>
                      <a:r>
                        <a:rPr lang="en-US" dirty="0" smtClean="0"/>
                        <a:t>5</a:t>
                      </a:r>
                      <a:endParaRPr lang="en-IN" dirty="0"/>
                    </a:p>
                  </a:txBody>
                  <a:tcPr/>
                </a:tc>
                <a:tc>
                  <a:txBody>
                    <a:bodyPr/>
                    <a:lstStyle/>
                    <a:p>
                      <a:r>
                        <a:rPr lang="en-US" dirty="0" smtClean="0"/>
                        <a:t>1</a:t>
                      </a:r>
                      <a:endParaRPr lang="en-IN" dirty="0"/>
                    </a:p>
                  </a:txBody>
                  <a:tcPr/>
                </a:tc>
                <a:tc>
                  <a:txBody>
                    <a:bodyPr/>
                    <a:lstStyle/>
                    <a:p>
                      <a:r>
                        <a:rPr lang="en-US" dirty="0" smtClean="0"/>
                        <a:t>6</a:t>
                      </a:r>
                      <a:endParaRPr lang="en-IN" dirty="0"/>
                    </a:p>
                  </a:txBody>
                  <a:tcPr/>
                </a:tc>
                <a:tc>
                  <a:txBody>
                    <a:bodyPr/>
                    <a:lstStyle/>
                    <a:p>
                      <a:r>
                        <a:rPr lang="en-US" dirty="0" smtClean="0"/>
                        <a:t>2</a:t>
                      </a:r>
                      <a:endParaRPr lang="en-IN" dirty="0"/>
                    </a:p>
                  </a:txBody>
                  <a:tcPr/>
                </a:tc>
                <a:tc>
                  <a:txBody>
                    <a:bodyPr/>
                    <a:lstStyle/>
                    <a:p>
                      <a:r>
                        <a:rPr lang="en-US" dirty="0" smtClean="0"/>
                        <a:t>4</a:t>
                      </a:r>
                      <a:endParaRPr lang="en-IN" dirty="0"/>
                    </a:p>
                  </a:txBody>
                  <a:tcPr/>
                </a:tc>
                <a:extLst>
                  <a:ext uri="{0D108BD9-81ED-4DB2-BD59-A6C34878D82A}">
                    <a16:rowId xmlns:a16="http://schemas.microsoft.com/office/drawing/2014/main" val="992771888"/>
                  </a:ext>
                </a:extLst>
              </a:tr>
              <a:tr h="370840">
                <a:tc>
                  <a:txBody>
                    <a:bodyPr/>
                    <a:lstStyle/>
                    <a:p>
                      <a:r>
                        <a:rPr lang="en-US" dirty="0" smtClean="0"/>
                        <a:t>2</a:t>
                      </a:r>
                      <a:endParaRPr lang="en-IN" dirty="0"/>
                    </a:p>
                  </a:txBody>
                  <a:tcPr/>
                </a:tc>
                <a:tc>
                  <a:txBody>
                    <a:bodyPr/>
                    <a:lstStyle/>
                    <a:p>
                      <a:r>
                        <a:rPr lang="en-US" dirty="0" smtClean="0"/>
                        <a:t>12</a:t>
                      </a:r>
                      <a:endParaRPr lang="en-IN" dirty="0"/>
                    </a:p>
                  </a:txBody>
                  <a:tcPr/>
                </a:tc>
                <a:tc>
                  <a:txBody>
                    <a:bodyPr/>
                    <a:lstStyle/>
                    <a:p>
                      <a:r>
                        <a:rPr lang="en-US" dirty="0" smtClean="0"/>
                        <a:t>8</a:t>
                      </a:r>
                      <a:endParaRPr lang="en-IN" dirty="0"/>
                    </a:p>
                  </a:txBody>
                  <a:tcPr/>
                </a:tc>
                <a:tc>
                  <a:txBody>
                    <a:bodyPr/>
                    <a:lstStyle/>
                    <a:p>
                      <a:r>
                        <a:rPr lang="en-US" dirty="0" smtClean="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3</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1523993736"/>
                  </a:ext>
                </a:extLst>
              </a:tr>
              <a:tr h="370840">
                <a:tc>
                  <a:txBody>
                    <a:bodyPr/>
                    <a:lstStyle/>
                    <a:p>
                      <a:r>
                        <a:rPr lang="en-US" dirty="0" smtClean="0"/>
                        <a:t>3</a:t>
                      </a:r>
                      <a:endParaRPr lang="en-IN" dirty="0"/>
                    </a:p>
                  </a:txBody>
                  <a:tcPr/>
                </a:tc>
                <a:tc>
                  <a:txBody>
                    <a:bodyPr/>
                    <a:lstStyle/>
                    <a:p>
                      <a:r>
                        <a:rPr lang="en-US" dirty="0" smtClean="0"/>
                        <a:t>18</a:t>
                      </a:r>
                      <a:endParaRPr lang="en-IN" dirty="0"/>
                    </a:p>
                  </a:txBody>
                  <a:tcPr/>
                </a:tc>
                <a:tc>
                  <a:txBody>
                    <a:bodyPr/>
                    <a:lstStyle/>
                    <a:p>
                      <a:r>
                        <a:rPr lang="en-US" dirty="0" smtClean="0"/>
                        <a:t>12</a:t>
                      </a:r>
                      <a:endParaRPr lang="en-IN" dirty="0"/>
                    </a:p>
                  </a:txBody>
                  <a:tcPr/>
                </a:tc>
                <a:tc>
                  <a:txBody>
                    <a:bodyPr/>
                    <a:lstStyle/>
                    <a:p>
                      <a:r>
                        <a:rPr lang="en-US" dirty="0" smtClean="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4</a:t>
                      </a:r>
                      <a:endParaRPr lang="en-IN" dirty="0"/>
                    </a:p>
                  </a:txBody>
                  <a:tcPr/>
                </a:tc>
                <a:tc>
                  <a:txBody>
                    <a:bodyPr/>
                    <a:lstStyle/>
                    <a:p>
                      <a:r>
                        <a:rPr lang="en-US" dirty="0" smtClean="0"/>
                        <a:t>2</a:t>
                      </a:r>
                      <a:endParaRPr lang="en-IN" dirty="0"/>
                    </a:p>
                  </a:txBody>
                  <a:tcPr/>
                </a:tc>
                <a:extLst>
                  <a:ext uri="{0D108BD9-81ED-4DB2-BD59-A6C34878D82A}">
                    <a16:rowId xmlns:a16="http://schemas.microsoft.com/office/drawing/2014/main" val="2507149151"/>
                  </a:ext>
                </a:extLst>
              </a:tr>
              <a:tr h="370840">
                <a:tc>
                  <a:txBody>
                    <a:bodyPr/>
                    <a:lstStyle/>
                    <a:p>
                      <a:r>
                        <a:rPr lang="en-US" dirty="0" smtClean="0"/>
                        <a:t>4</a:t>
                      </a:r>
                      <a:endParaRPr lang="en-IN" dirty="0"/>
                    </a:p>
                  </a:txBody>
                  <a:tcPr/>
                </a:tc>
                <a:tc>
                  <a:txBody>
                    <a:bodyPr/>
                    <a:lstStyle/>
                    <a:p>
                      <a:r>
                        <a:rPr lang="en-US" dirty="0" smtClean="0"/>
                        <a:t>24</a:t>
                      </a:r>
                      <a:endParaRPr lang="en-IN" dirty="0"/>
                    </a:p>
                  </a:txBody>
                  <a:tcPr/>
                </a:tc>
                <a:tc>
                  <a:txBody>
                    <a:bodyPr/>
                    <a:lstStyle/>
                    <a:p>
                      <a:r>
                        <a:rPr lang="en-US" dirty="0" smtClean="0"/>
                        <a:t>17</a:t>
                      </a:r>
                      <a:endParaRPr lang="en-IN" dirty="0"/>
                    </a:p>
                  </a:txBody>
                  <a:tcPr/>
                </a:tc>
                <a:tc>
                  <a:txBody>
                    <a:bodyPr/>
                    <a:lstStyle/>
                    <a:p>
                      <a:r>
                        <a:rPr lang="en-US" dirty="0" smtClean="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5</a:t>
                      </a:r>
                      <a:endParaRPr lang="en-IN" dirty="0"/>
                    </a:p>
                  </a:txBody>
                  <a:tcPr/>
                </a:tc>
                <a:tc>
                  <a:txBody>
                    <a:bodyPr/>
                    <a:lstStyle/>
                    <a:p>
                      <a:r>
                        <a:rPr lang="en-US" dirty="0" smtClean="0"/>
                        <a:t>1</a:t>
                      </a:r>
                      <a:endParaRPr lang="en-IN" dirty="0"/>
                    </a:p>
                  </a:txBody>
                  <a:tcPr/>
                </a:tc>
                <a:extLst>
                  <a:ext uri="{0D108BD9-81ED-4DB2-BD59-A6C34878D82A}">
                    <a16:rowId xmlns:a16="http://schemas.microsoft.com/office/drawing/2014/main" val="2500305708"/>
                  </a:ext>
                </a:extLst>
              </a:tr>
              <a:tr h="370840">
                <a:tc>
                  <a:txBody>
                    <a:bodyPr/>
                    <a:lstStyle/>
                    <a:p>
                      <a:r>
                        <a:rPr lang="en-US" dirty="0" smtClean="0"/>
                        <a:t>5</a:t>
                      </a:r>
                      <a:endParaRPr lang="en-IN" dirty="0"/>
                    </a:p>
                  </a:txBody>
                  <a:tcPr/>
                </a:tc>
                <a:tc>
                  <a:txBody>
                    <a:bodyPr/>
                    <a:lstStyle/>
                    <a:p>
                      <a:r>
                        <a:rPr lang="en-US" dirty="0" smtClean="0"/>
                        <a:t>30</a:t>
                      </a:r>
                      <a:endParaRPr lang="en-IN" dirty="0"/>
                    </a:p>
                  </a:txBody>
                  <a:tcPr/>
                </a:tc>
                <a:tc>
                  <a:txBody>
                    <a:bodyPr/>
                    <a:lstStyle/>
                    <a:p>
                      <a:r>
                        <a:rPr lang="en-US" dirty="0" smtClean="0"/>
                        <a:t>23</a:t>
                      </a:r>
                      <a:endParaRPr lang="en-IN" dirty="0"/>
                    </a:p>
                  </a:txBody>
                  <a:tcPr/>
                </a:tc>
                <a:tc>
                  <a:txBody>
                    <a:bodyPr/>
                    <a:lstStyle/>
                    <a:p>
                      <a:r>
                        <a:rPr lang="en-US" dirty="0" smtClean="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6</a:t>
                      </a:r>
                      <a:endParaRPr lang="en-IN" dirty="0"/>
                    </a:p>
                  </a:txBody>
                  <a:tcPr/>
                </a:tc>
                <a:tc>
                  <a:txBody>
                    <a:bodyPr/>
                    <a:lstStyle/>
                    <a:p>
                      <a:r>
                        <a:rPr lang="en-US" dirty="0" smtClean="0"/>
                        <a:t>0</a:t>
                      </a:r>
                      <a:endParaRPr lang="en-IN" dirty="0"/>
                    </a:p>
                  </a:txBody>
                  <a:tcPr/>
                </a:tc>
                <a:extLst>
                  <a:ext uri="{0D108BD9-81ED-4DB2-BD59-A6C34878D82A}">
                    <a16:rowId xmlns:a16="http://schemas.microsoft.com/office/drawing/2014/main" val="2806508438"/>
                  </a:ext>
                </a:extLst>
              </a:tr>
              <a:tr h="370840">
                <a:tc>
                  <a:txBody>
                    <a:bodyPr/>
                    <a:lstStyle/>
                    <a:p>
                      <a:r>
                        <a:rPr lang="en-US" dirty="0" smtClean="0"/>
                        <a:t>6</a:t>
                      </a:r>
                      <a:endParaRPr lang="en-IN" dirty="0"/>
                    </a:p>
                  </a:txBody>
                  <a:tcPr/>
                </a:tc>
                <a:tc>
                  <a:txBody>
                    <a:bodyPr/>
                    <a:lstStyle/>
                    <a:p>
                      <a:r>
                        <a:rPr lang="en-US" dirty="0" smtClean="0"/>
                        <a:t>36</a:t>
                      </a:r>
                      <a:endParaRPr lang="en-IN" dirty="0"/>
                    </a:p>
                  </a:txBody>
                  <a:tcPr/>
                </a:tc>
                <a:tc>
                  <a:txBody>
                    <a:bodyPr/>
                    <a:lstStyle/>
                    <a:p>
                      <a:r>
                        <a:rPr lang="en-US" dirty="0" smtClean="0"/>
                        <a:t>30</a:t>
                      </a:r>
                      <a:endParaRPr lang="en-IN" dirty="0"/>
                    </a:p>
                  </a:txBody>
                  <a:tcPr/>
                </a:tc>
                <a:tc>
                  <a:txBody>
                    <a:bodyPr/>
                    <a:lstStyle/>
                    <a:p>
                      <a:r>
                        <a:rPr lang="en-US" dirty="0" smtClean="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7</a:t>
                      </a:r>
                      <a:endParaRPr lang="en-IN" dirty="0"/>
                    </a:p>
                  </a:txBody>
                  <a:tcPr/>
                </a:tc>
                <a:tc>
                  <a:txBody>
                    <a:bodyPr/>
                    <a:lstStyle/>
                    <a:p>
                      <a:r>
                        <a:rPr lang="en-US" dirty="0" smtClean="0"/>
                        <a:t>-1</a:t>
                      </a:r>
                      <a:endParaRPr lang="en-IN" dirty="0"/>
                    </a:p>
                  </a:txBody>
                  <a:tcPr/>
                </a:tc>
                <a:extLst>
                  <a:ext uri="{0D108BD9-81ED-4DB2-BD59-A6C34878D82A}">
                    <a16:rowId xmlns:a16="http://schemas.microsoft.com/office/drawing/2014/main" val="3680572863"/>
                  </a:ext>
                </a:extLst>
              </a:tr>
              <a:tr h="370840">
                <a:tc>
                  <a:txBody>
                    <a:bodyPr/>
                    <a:lstStyle/>
                    <a:p>
                      <a:r>
                        <a:rPr lang="en-US" dirty="0" smtClean="0"/>
                        <a:t>7</a:t>
                      </a:r>
                      <a:endParaRPr lang="en-IN" dirty="0"/>
                    </a:p>
                  </a:txBody>
                  <a:tcPr/>
                </a:tc>
                <a:tc>
                  <a:txBody>
                    <a:bodyPr/>
                    <a:lstStyle/>
                    <a:p>
                      <a:r>
                        <a:rPr lang="en-US" dirty="0" smtClean="0"/>
                        <a:t>42</a:t>
                      </a:r>
                      <a:endParaRPr lang="en-IN" dirty="0"/>
                    </a:p>
                  </a:txBody>
                  <a:tcPr/>
                </a:tc>
                <a:tc>
                  <a:txBody>
                    <a:bodyPr/>
                    <a:lstStyle/>
                    <a:p>
                      <a:r>
                        <a:rPr lang="en-US" dirty="0" smtClean="0"/>
                        <a:t>38</a:t>
                      </a:r>
                      <a:endParaRPr lang="en-IN" dirty="0"/>
                    </a:p>
                  </a:txBody>
                  <a:tcPr/>
                </a:tc>
                <a:tc>
                  <a:txBody>
                    <a:bodyPr/>
                    <a:lstStyle/>
                    <a:p>
                      <a:r>
                        <a:rPr lang="en-US" dirty="0" smtClean="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8</a:t>
                      </a:r>
                      <a:endParaRPr lang="en-IN" dirty="0"/>
                    </a:p>
                  </a:txBody>
                  <a:tcPr/>
                </a:tc>
                <a:tc>
                  <a:txBody>
                    <a:bodyPr/>
                    <a:lstStyle/>
                    <a:p>
                      <a:r>
                        <a:rPr lang="en-US" dirty="0" smtClean="0"/>
                        <a:t>-2</a:t>
                      </a:r>
                      <a:endParaRPr lang="en-IN" dirty="0"/>
                    </a:p>
                  </a:txBody>
                  <a:tcPr/>
                </a:tc>
                <a:extLst>
                  <a:ext uri="{0D108BD9-81ED-4DB2-BD59-A6C34878D82A}">
                    <a16:rowId xmlns:a16="http://schemas.microsoft.com/office/drawing/2014/main" val="3625741934"/>
                  </a:ext>
                </a:extLst>
              </a:tr>
              <a:tr h="370840">
                <a:tc>
                  <a:txBody>
                    <a:bodyPr/>
                    <a:lstStyle/>
                    <a:p>
                      <a:r>
                        <a:rPr lang="en-US" dirty="0" smtClean="0"/>
                        <a:t>8</a:t>
                      </a:r>
                      <a:endParaRPr lang="en-IN" dirty="0"/>
                    </a:p>
                  </a:txBody>
                  <a:tcPr/>
                </a:tc>
                <a:tc>
                  <a:txBody>
                    <a:bodyPr/>
                    <a:lstStyle/>
                    <a:p>
                      <a:r>
                        <a:rPr lang="en-US" dirty="0" smtClean="0"/>
                        <a:t>48</a:t>
                      </a:r>
                      <a:endParaRPr lang="en-IN" dirty="0"/>
                    </a:p>
                  </a:txBody>
                  <a:tcPr/>
                </a:tc>
                <a:tc>
                  <a:txBody>
                    <a:bodyPr/>
                    <a:lstStyle/>
                    <a:p>
                      <a:r>
                        <a:rPr lang="en-US" dirty="0" smtClean="0"/>
                        <a:t>47</a:t>
                      </a:r>
                      <a:endParaRPr lang="en-IN" dirty="0"/>
                    </a:p>
                  </a:txBody>
                  <a:tcPr/>
                </a:tc>
                <a:tc>
                  <a:txBody>
                    <a:bodyPr/>
                    <a:lstStyle/>
                    <a:p>
                      <a:r>
                        <a:rPr lang="en-US" dirty="0" smtClean="0"/>
                        <a:t>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panose="020B0502020104020203"/>
                          <a:ea typeface="+mn-ea"/>
                          <a:cs typeface="+mn-cs"/>
                        </a:rPr>
                        <a:t>6</a:t>
                      </a:r>
                      <a:endParaRPr kumimoji="0" lang="en-IN"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r>
                        <a:rPr lang="en-US" dirty="0" smtClean="0"/>
                        <a:t>9</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1211262366"/>
                  </a:ext>
                </a:extLst>
              </a:tr>
            </a:tbl>
          </a:graphicData>
        </a:graphic>
      </p:graphicFrame>
      <p:pic>
        <p:nvPicPr>
          <p:cNvPr id="7" name="Content Placeholder 3"/>
          <p:cNvPicPr>
            <a:picLocks noGrp="1" noChangeAspect="1"/>
          </p:cNvPicPr>
          <p:nvPr>
            <p:ph sz="half" idx="2"/>
          </p:nvPr>
        </p:nvPicPr>
        <p:blipFill>
          <a:blip r:embed="rId2"/>
          <a:stretch>
            <a:fillRect/>
          </a:stretch>
        </p:blipFill>
        <p:spPr>
          <a:xfrm>
            <a:off x="766355" y="1872343"/>
            <a:ext cx="4572000" cy="4408442"/>
          </a:xfrm>
          <a:prstGeom prst="rect">
            <a:avLst/>
          </a:prstGeom>
        </p:spPr>
      </p:pic>
    </p:spTree>
    <p:extLst>
      <p:ext uri="{BB962C8B-B14F-4D97-AF65-F5344CB8AC3E}">
        <p14:creationId xmlns:p14="http://schemas.microsoft.com/office/powerpoint/2010/main" val="2293829056"/>
      </p:ext>
    </p:extLst>
  </p:cSld>
  <p:clrMapOvr>
    <a:masterClrMapping/>
  </p:clrMapOvr>
  <mc:AlternateContent xmlns:mc="http://schemas.openxmlformats.org/markup-compatibility/2006" xmlns:p14="http://schemas.microsoft.com/office/powerpoint/2010/main">
    <mc:Choice Requires="p14">
      <p:transition spd="slow" p14:dur="2000" advTm="268151"/>
    </mc:Choice>
    <mc:Fallback xmlns="">
      <p:transition spd="slow" advTm="26815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Price = Marginal Cost (MC)</a:t>
            </a:r>
            <a:endParaRPr lang="en-IN" dirty="0"/>
          </a:p>
        </p:txBody>
      </p:sp>
      <p:sp>
        <p:nvSpPr>
          <p:cNvPr id="3" name="Content Placeholder 2"/>
          <p:cNvSpPr>
            <a:spLocks noGrp="1"/>
          </p:cNvSpPr>
          <p:nvPr>
            <p:ph idx="1"/>
          </p:nvPr>
        </p:nvSpPr>
        <p:spPr/>
        <p:txBody>
          <a:bodyPr/>
          <a:lstStyle/>
          <a:p>
            <a:r>
              <a:rPr lang="en-US" dirty="0" smtClean="0"/>
              <a:t>From the above diagram we know that </a:t>
            </a:r>
          </a:p>
          <a:p>
            <a:r>
              <a:rPr lang="en-US" dirty="0" smtClean="0"/>
              <a:t>Price = MR=AR= D</a:t>
            </a:r>
          </a:p>
          <a:p>
            <a:r>
              <a:rPr lang="en-US" dirty="0" smtClean="0"/>
              <a:t>From profit maximization rule we know MC =MR</a:t>
            </a:r>
          </a:p>
          <a:p>
            <a:r>
              <a:rPr lang="en-US" dirty="0" smtClean="0"/>
              <a:t>Then P = MC</a:t>
            </a:r>
          </a:p>
          <a:p>
            <a:endParaRPr lang="en-IN" dirty="0"/>
          </a:p>
        </p:txBody>
      </p:sp>
    </p:spTree>
    <p:extLst>
      <p:ext uri="{BB962C8B-B14F-4D97-AF65-F5344CB8AC3E}">
        <p14:creationId xmlns:p14="http://schemas.microsoft.com/office/powerpoint/2010/main" val="3874157316"/>
      </p:ext>
    </p:extLst>
  </p:cSld>
  <p:clrMapOvr>
    <a:masterClrMapping/>
  </p:clrMapOvr>
  <mc:AlternateContent xmlns:mc="http://schemas.openxmlformats.org/markup-compatibility/2006" xmlns:p14="http://schemas.microsoft.com/office/powerpoint/2010/main">
    <mc:Choice Requires="p14">
      <p:transition spd="slow" p14:dur="2000" advTm="74523"/>
    </mc:Choice>
    <mc:Fallback xmlns="">
      <p:transition spd="slow" advTm="74523"/>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Price = marginal cost</a:t>
            </a:r>
            <a:endParaRPr lang="en-IN" dirty="0"/>
          </a:p>
        </p:txBody>
      </p:sp>
      <p:pic>
        <p:nvPicPr>
          <p:cNvPr id="4" name="Content Placeholder 3"/>
          <p:cNvPicPr>
            <a:picLocks noGrp="1" noChangeAspect="1"/>
          </p:cNvPicPr>
          <p:nvPr>
            <p:ph idx="1"/>
          </p:nvPr>
        </p:nvPicPr>
        <p:blipFill>
          <a:blip r:embed="rId2"/>
          <a:stretch>
            <a:fillRect/>
          </a:stretch>
        </p:blipFill>
        <p:spPr>
          <a:xfrm>
            <a:off x="4993688" y="1789390"/>
            <a:ext cx="6061166" cy="3764996"/>
          </a:xfrm>
          <a:prstGeom prst="rect">
            <a:avLst/>
          </a:prstGeom>
        </p:spPr>
      </p:pic>
      <p:sp>
        <p:nvSpPr>
          <p:cNvPr id="6" name="Rectangle 5"/>
          <p:cNvSpPr/>
          <p:nvPr/>
        </p:nvSpPr>
        <p:spPr>
          <a:xfrm>
            <a:off x="409304" y="2307772"/>
            <a:ext cx="4406536" cy="1200329"/>
          </a:xfrm>
          <a:prstGeom prst="rect">
            <a:avLst/>
          </a:prstGeom>
        </p:spPr>
        <p:txBody>
          <a:bodyPr wrap="square">
            <a:spAutoFit/>
          </a:bodyPr>
          <a:lstStyle/>
          <a:p>
            <a:r>
              <a:rPr lang="en-US" dirty="0"/>
              <a:t>The firm’s marginal cost curve determines the quantity of good the firm is willing to supply at any price, the marginal cost curve is also competitive firm’s supply curve. </a:t>
            </a:r>
          </a:p>
        </p:txBody>
      </p:sp>
    </p:spTree>
    <p:extLst>
      <p:ext uri="{BB962C8B-B14F-4D97-AF65-F5344CB8AC3E}">
        <p14:creationId xmlns:p14="http://schemas.microsoft.com/office/powerpoint/2010/main" val="266096872"/>
      </p:ext>
    </p:extLst>
  </p:cSld>
  <p:clrMapOvr>
    <a:masterClrMapping/>
  </p:clrMapOvr>
  <mc:AlternateContent xmlns:mc="http://schemas.openxmlformats.org/markup-compatibility/2006">
    <mc:Choice xmlns:p14="http://schemas.microsoft.com/office/powerpoint/2010/main" Requires="p14">
      <p:transition spd="slow" p14:dur="2000" advTm="15874"/>
    </mc:Choice>
    <mc:Fallback>
      <p:transition spd="slow" advTm="15874"/>
    </mc:Fallback>
  </mc:AlternateContent>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578</TotalTime>
  <Words>646</Words>
  <Application>Microsoft Office PowerPoint</Application>
  <PresentationFormat>Widescreen</PresentationFormat>
  <Paragraphs>153</Paragraphs>
  <Slides>13</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Garamond</vt:lpstr>
      <vt:lpstr>Gill Sans MT</vt:lpstr>
      <vt:lpstr>Times New Roman</vt:lpstr>
      <vt:lpstr>Gallery</vt:lpstr>
      <vt:lpstr>Firms in the competitive market</vt:lpstr>
      <vt:lpstr>Market structures</vt:lpstr>
      <vt:lpstr>Competitive market or Perfect Competition </vt:lpstr>
      <vt:lpstr>Perfect competition- features</vt:lpstr>
      <vt:lpstr>Examples of competitive market</vt:lpstr>
      <vt:lpstr>Examples of perfect competition </vt:lpstr>
      <vt:lpstr>The profit maximization rule </vt:lpstr>
      <vt:lpstr>Competitive market (P = Ar=Mr=Demand)</vt:lpstr>
      <vt:lpstr>Diagram for perfect competition </vt:lpstr>
      <vt:lpstr>From the above diagram…</vt:lpstr>
      <vt:lpstr>Profit maximization for competitive firm</vt:lpstr>
      <vt:lpstr>Price = Marginal Cost (MC)</vt:lpstr>
      <vt:lpstr>Price = marginal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Chap:14 Firms in the competitive market</dc:title>
  <dc:creator>Subash S</dc:creator>
  <cp:lastModifiedBy>vaith</cp:lastModifiedBy>
  <cp:revision>33</cp:revision>
  <dcterms:created xsi:type="dcterms:W3CDTF">2020-04-03T14:34:43Z</dcterms:created>
  <dcterms:modified xsi:type="dcterms:W3CDTF">2024-08-27T06:25:05Z</dcterms:modified>
</cp:coreProperties>
</file>