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6" r:id="rId3"/>
    <p:sldId id="258" r:id="rId4"/>
    <p:sldId id="260" r:id="rId5"/>
    <p:sldId id="261" r:id="rId6"/>
    <p:sldId id="262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9/19/2023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9/19/2023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mtClean="0"/>
              <a:t>Monopoly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3705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627017"/>
            <a:ext cx="10058400" cy="5545183"/>
          </a:xfrm>
        </p:spPr>
        <p:txBody>
          <a:bodyPr/>
          <a:lstStyle/>
          <a:p>
            <a:r>
              <a:rPr lang="en-US" dirty="0" smtClean="0"/>
              <a:t>Features of Monopoly market</a:t>
            </a:r>
          </a:p>
          <a:p>
            <a:r>
              <a:rPr lang="en-US" dirty="0" smtClean="0"/>
              <a:t>How the monopolies are created?</a:t>
            </a:r>
          </a:p>
          <a:p>
            <a:pPr lvl="1"/>
            <a:r>
              <a:rPr lang="en-US" dirty="0" smtClean="0"/>
              <a:t>Natural barriers </a:t>
            </a:r>
          </a:p>
          <a:p>
            <a:pPr lvl="1"/>
            <a:r>
              <a:rPr lang="en-US" dirty="0" smtClean="0"/>
              <a:t>Government created monopolies </a:t>
            </a:r>
          </a:p>
          <a:p>
            <a:endParaRPr lang="en-US" dirty="0" smtClean="0"/>
          </a:p>
          <a:p>
            <a:r>
              <a:rPr lang="en-US" dirty="0" smtClean="0"/>
              <a:t>Demand curves of MONOPOLY and </a:t>
            </a:r>
            <a:r>
              <a:rPr lang="en-US" smtClean="0"/>
              <a:t>Perfect Competition </a:t>
            </a:r>
            <a:endParaRPr lang="en-US" dirty="0"/>
          </a:p>
          <a:p>
            <a:pPr marL="274320" lvl="1" indent="0">
              <a:buNone/>
            </a:pPr>
            <a:endParaRPr lang="en-US" dirty="0" smtClean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0250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Monopoly-Features 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 seller </a:t>
            </a:r>
          </a:p>
          <a:p>
            <a:r>
              <a:rPr lang="en-US" dirty="0" smtClean="0"/>
              <a:t>Unique product with no close substitutes </a:t>
            </a:r>
          </a:p>
          <a:p>
            <a:r>
              <a:rPr lang="en-US" dirty="0" smtClean="0"/>
              <a:t>Price maker</a:t>
            </a:r>
          </a:p>
          <a:p>
            <a:r>
              <a:rPr lang="en-US" dirty="0" smtClean="0"/>
              <a:t>High barriers to entry </a:t>
            </a:r>
          </a:p>
          <a:p>
            <a:r>
              <a:rPr lang="en-US" sz="2800" dirty="0" smtClean="0"/>
              <a:t>Examples of Monopoly </a:t>
            </a:r>
          </a:p>
          <a:p>
            <a:pPr lvl="1"/>
            <a:r>
              <a:rPr lang="en-US" sz="2600" dirty="0" smtClean="0"/>
              <a:t>Government controlled markets-Indian Railways, Electricity and all public </a:t>
            </a:r>
            <a:r>
              <a:rPr lang="en-US" sz="2600" dirty="0" err="1" smtClean="0"/>
              <a:t>untilities</a:t>
            </a:r>
            <a:r>
              <a:rPr lang="en-US" sz="2600" dirty="0" smtClean="0"/>
              <a:t> (Natural Monopoly)</a:t>
            </a:r>
          </a:p>
          <a:p>
            <a:pPr lvl="1"/>
            <a:r>
              <a:rPr lang="en-US" sz="2600" dirty="0" smtClean="0"/>
              <a:t>In Private sector-Companies which have large market share</a:t>
            </a:r>
          </a:p>
          <a:p>
            <a:pPr lvl="2"/>
            <a:r>
              <a:rPr lang="en-US" sz="2400" dirty="0" smtClean="0"/>
              <a:t>Microsoft, Gillette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9043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73905"/>
          </a:xfrm>
        </p:spPr>
        <p:txBody>
          <a:bodyPr>
            <a:norm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are monopolies are created?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541417"/>
            <a:ext cx="10058400" cy="4630783"/>
          </a:xfrm>
        </p:spPr>
        <p:txBody>
          <a:bodyPr/>
          <a:lstStyle/>
          <a:p>
            <a:r>
              <a:rPr lang="en-US" dirty="0" smtClean="0"/>
              <a:t>Features </a:t>
            </a:r>
          </a:p>
          <a:p>
            <a:r>
              <a:rPr lang="en-US" sz="2800" dirty="0" smtClean="0"/>
              <a:t>Natural Barriers </a:t>
            </a:r>
          </a:p>
          <a:p>
            <a:pPr lvl="1"/>
            <a:r>
              <a:rPr lang="en-US" sz="2600" dirty="0" smtClean="0"/>
              <a:t>Control of Resources – </a:t>
            </a:r>
            <a:r>
              <a:rPr lang="en-US" sz="2600" dirty="0" err="1" smtClean="0"/>
              <a:t>Aluminium</a:t>
            </a:r>
            <a:r>
              <a:rPr lang="en-US" sz="2600" dirty="0" smtClean="0"/>
              <a:t> company of America (ALCOA)</a:t>
            </a:r>
          </a:p>
          <a:p>
            <a:pPr lvl="1"/>
            <a:r>
              <a:rPr lang="en-US" sz="2600" dirty="0" smtClean="0"/>
              <a:t>Problems in raising capital </a:t>
            </a:r>
          </a:p>
          <a:p>
            <a:pPr lvl="1"/>
            <a:r>
              <a:rPr lang="en-US" sz="2600" dirty="0" smtClean="0"/>
              <a:t>Economies of scale </a:t>
            </a:r>
          </a:p>
          <a:p>
            <a:r>
              <a:rPr lang="en-US" sz="2800" dirty="0" smtClean="0"/>
              <a:t>Government created barriers </a:t>
            </a:r>
          </a:p>
          <a:p>
            <a:pPr lvl="1"/>
            <a:r>
              <a:rPr lang="en-US" sz="2600" dirty="0" smtClean="0"/>
              <a:t>Licensing </a:t>
            </a:r>
          </a:p>
          <a:p>
            <a:pPr lvl="1"/>
            <a:r>
              <a:rPr lang="en-US" sz="2600" dirty="0" smtClean="0"/>
              <a:t>Patents and Copy rights law –Merck’s Zocor </a:t>
            </a:r>
          </a:p>
          <a:p>
            <a:pPr lvl="1"/>
            <a:endParaRPr lang="en-US" sz="2600" dirty="0" smtClean="0"/>
          </a:p>
        </p:txBody>
      </p:sp>
    </p:spTree>
    <p:extLst>
      <p:ext uri="{BB962C8B-B14F-4D97-AF65-F5344CB8AC3E}">
        <p14:creationId xmlns:p14="http://schemas.microsoft.com/office/powerpoint/2010/main" val="1610258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Aluminum company of America (ALCOA)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 smtClean="0"/>
          </a:p>
          <a:p>
            <a:pPr algn="just"/>
            <a:r>
              <a:rPr lang="en-US" dirty="0" smtClean="0"/>
              <a:t>Alcoa </a:t>
            </a:r>
            <a:r>
              <a:rPr lang="en-US" dirty="0"/>
              <a:t>is known as an aluminum company, but that really shortchanges the breadth and depth of the company's business. Making aluminum, or products from aluminum, is the end of a process, not the start. The value chain begins with bauxite. Alcoa is the second-largest bauxite miner on planet Earth. And, in addition to that, its bauxite production costs are in the lowest 25% of the industry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Bauxite is then processed to make alumina. Up to 90% or so of Alcoa's bauxite is used internally at the company. Excluding China, it is the largest producer of alumina in the world. And, as with Bauxite, it is one of the lowest-cost players, with expenses in the bottom quartile.</a:t>
            </a:r>
            <a:endParaRPr lang="en-US" dirty="0" smtClean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990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Merck’s </a:t>
            </a:r>
            <a:r>
              <a:rPr lang="en-US" dirty="0" err="1" smtClean="0"/>
              <a:t>zocor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1985, Pharma Giant released ZOCOR the first drug for treating cholesterol. </a:t>
            </a:r>
          </a:p>
          <a:p>
            <a:r>
              <a:rPr lang="en-US" dirty="0" smtClean="0"/>
              <a:t>IT made annual revenues 4$ billion for Merck before the patent expired in 2006. </a:t>
            </a:r>
          </a:p>
          <a:p>
            <a:r>
              <a:rPr lang="en-US" dirty="0" smtClean="0"/>
              <a:t>Now Zocor is 80 % to 90% lower than original </a:t>
            </a:r>
            <a:r>
              <a:rPr lang="en-US" smtClean="0"/>
              <a:t>protected price.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653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2 Demand Curves for Competitive and Monopoly Firms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8088313" y="6680201"/>
            <a:ext cx="18034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800" b="1">
                <a:solidFill>
                  <a:schemeClr val="bg1"/>
                </a:solidFill>
                <a:latin typeface="Arial" panose="020B0604020202020204" pitchFamily="34" charset="0"/>
              </a:rPr>
              <a:t>Copyright © 2004  South-Western</a:t>
            </a: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2263775" y="2533650"/>
            <a:ext cx="3544888" cy="2647950"/>
          </a:xfrm>
          <a:prstGeom prst="rect">
            <a:avLst/>
          </a:prstGeom>
          <a:solidFill>
            <a:srgbClr val="F3F6F9"/>
          </a:solidFill>
          <a:ln w="153988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2263775" y="2533650"/>
            <a:ext cx="3544888" cy="2647950"/>
          </a:xfrm>
          <a:prstGeom prst="rect">
            <a:avLst/>
          </a:prstGeom>
          <a:solidFill>
            <a:srgbClr val="F2F4F8"/>
          </a:solidFill>
          <a:ln w="1397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auto">
          <a:xfrm>
            <a:off x="2263775" y="2533650"/>
            <a:ext cx="3544888" cy="2647950"/>
          </a:xfrm>
          <a:prstGeom prst="rect">
            <a:avLst/>
          </a:prstGeom>
          <a:solidFill>
            <a:srgbClr val="F1F4F7"/>
          </a:solidFill>
          <a:ln w="12541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2263775" y="2533650"/>
            <a:ext cx="3544888" cy="2647950"/>
          </a:xfrm>
          <a:prstGeom prst="rect">
            <a:avLst/>
          </a:prstGeom>
          <a:solidFill>
            <a:srgbClr val="F0F2F5"/>
          </a:solidFill>
          <a:ln w="112713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2263775" y="2533650"/>
            <a:ext cx="3544888" cy="2647950"/>
          </a:xfrm>
          <a:prstGeom prst="rect">
            <a:avLst/>
          </a:prstGeom>
          <a:solidFill>
            <a:srgbClr val="EEF1F4"/>
          </a:solidFill>
          <a:ln w="98425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2263775" y="2533650"/>
            <a:ext cx="3544888" cy="2647950"/>
          </a:xfrm>
          <a:prstGeom prst="rect">
            <a:avLst/>
          </a:prstGeom>
          <a:solidFill>
            <a:srgbClr val="EDEFF3"/>
          </a:solidFill>
          <a:ln w="84138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31" name="Rectangle 11"/>
          <p:cNvSpPr>
            <a:spLocks noChangeArrowheads="1"/>
          </p:cNvSpPr>
          <p:nvPr/>
        </p:nvSpPr>
        <p:spPr bwMode="auto">
          <a:xfrm>
            <a:off x="2263775" y="2533650"/>
            <a:ext cx="3544888" cy="2647950"/>
          </a:xfrm>
          <a:prstGeom prst="rect">
            <a:avLst/>
          </a:prstGeom>
          <a:solidFill>
            <a:srgbClr val="EBEEF2"/>
          </a:solidFill>
          <a:ln w="6985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32" name="Rectangle 12"/>
          <p:cNvSpPr>
            <a:spLocks noChangeArrowheads="1"/>
          </p:cNvSpPr>
          <p:nvPr/>
        </p:nvSpPr>
        <p:spPr bwMode="auto">
          <a:xfrm>
            <a:off x="2263775" y="2533650"/>
            <a:ext cx="3544888" cy="2647950"/>
          </a:xfrm>
          <a:prstGeom prst="rect">
            <a:avLst/>
          </a:prstGeom>
          <a:solidFill>
            <a:srgbClr val="EAECF1"/>
          </a:solidFill>
          <a:ln w="55563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2263775" y="2533650"/>
            <a:ext cx="3544888" cy="2647950"/>
          </a:xfrm>
          <a:prstGeom prst="rect">
            <a:avLst/>
          </a:prstGeom>
          <a:solidFill>
            <a:srgbClr val="E9EBF0"/>
          </a:solidFill>
          <a:ln w="41275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34" name="Rectangle 14"/>
          <p:cNvSpPr>
            <a:spLocks noChangeArrowheads="1"/>
          </p:cNvSpPr>
          <p:nvPr/>
        </p:nvSpPr>
        <p:spPr bwMode="auto">
          <a:xfrm>
            <a:off x="2263775" y="2533650"/>
            <a:ext cx="3544888" cy="2647950"/>
          </a:xfrm>
          <a:prstGeom prst="rect">
            <a:avLst/>
          </a:prstGeom>
          <a:solidFill>
            <a:srgbClr val="E7EAEF"/>
          </a:solidFill>
          <a:ln w="28575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35" name="Rectangle 15"/>
          <p:cNvSpPr>
            <a:spLocks noChangeArrowheads="1"/>
          </p:cNvSpPr>
          <p:nvPr/>
        </p:nvSpPr>
        <p:spPr bwMode="auto">
          <a:xfrm>
            <a:off x="2263775" y="2533650"/>
            <a:ext cx="3544888" cy="2647950"/>
          </a:xfrm>
          <a:prstGeom prst="rect">
            <a:avLst/>
          </a:prstGeom>
          <a:solidFill>
            <a:srgbClr val="E6E9EF"/>
          </a:solidFill>
          <a:ln w="14288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36" name="Rectangle 16"/>
          <p:cNvSpPr>
            <a:spLocks noChangeArrowheads="1"/>
          </p:cNvSpPr>
          <p:nvPr/>
        </p:nvSpPr>
        <p:spPr bwMode="auto">
          <a:xfrm>
            <a:off x="6635751" y="2533650"/>
            <a:ext cx="3546475" cy="2647950"/>
          </a:xfrm>
          <a:prstGeom prst="rect">
            <a:avLst/>
          </a:prstGeom>
          <a:solidFill>
            <a:srgbClr val="F3F6F9"/>
          </a:solidFill>
          <a:ln w="153988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37" name="Rectangle 17"/>
          <p:cNvSpPr>
            <a:spLocks noChangeArrowheads="1"/>
          </p:cNvSpPr>
          <p:nvPr/>
        </p:nvSpPr>
        <p:spPr bwMode="auto">
          <a:xfrm>
            <a:off x="6635751" y="2533650"/>
            <a:ext cx="3546475" cy="2647950"/>
          </a:xfrm>
          <a:prstGeom prst="rect">
            <a:avLst/>
          </a:prstGeom>
          <a:solidFill>
            <a:srgbClr val="F2F4F8"/>
          </a:solidFill>
          <a:ln w="1397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38" name="Rectangle 18"/>
          <p:cNvSpPr>
            <a:spLocks noChangeArrowheads="1"/>
          </p:cNvSpPr>
          <p:nvPr/>
        </p:nvSpPr>
        <p:spPr bwMode="auto">
          <a:xfrm>
            <a:off x="6635751" y="2533650"/>
            <a:ext cx="3546475" cy="2647950"/>
          </a:xfrm>
          <a:prstGeom prst="rect">
            <a:avLst/>
          </a:prstGeom>
          <a:solidFill>
            <a:srgbClr val="F1F4F7"/>
          </a:solidFill>
          <a:ln w="12541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39" name="Rectangle 19"/>
          <p:cNvSpPr>
            <a:spLocks noChangeArrowheads="1"/>
          </p:cNvSpPr>
          <p:nvPr/>
        </p:nvSpPr>
        <p:spPr bwMode="auto">
          <a:xfrm>
            <a:off x="6635751" y="2533650"/>
            <a:ext cx="3546475" cy="2647950"/>
          </a:xfrm>
          <a:prstGeom prst="rect">
            <a:avLst/>
          </a:prstGeom>
          <a:solidFill>
            <a:srgbClr val="F0F2F5"/>
          </a:solidFill>
          <a:ln w="112713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40" name="Rectangle 20"/>
          <p:cNvSpPr>
            <a:spLocks noChangeArrowheads="1"/>
          </p:cNvSpPr>
          <p:nvPr/>
        </p:nvSpPr>
        <p:spPr bwMode="auto">
          <a:xfrm>
            <a:off x="6635751" y="2533650"/>
            <a:ext cx="3546475" cy="2647950"/>
          </a:xfrm>
          <a:prstGeom prst="rect">
            <a:avLst/>
          </a:prstGeom>
          <a:solidFill>
            <a:srgbClr val="EEF1F4"/>
          </a:solidFill>
          <a:ln w="98425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41" name="Rectangle 21"/>
          <p:cNvSpPr>
            <a:spLocks noChangeArrowheads="1"/>
          </p:cNvSpPr>
          <p:nvPr/>
        </p:nvSpPr>
        <p:spPr bwMode="auto">
          <a:xfrm>
            <a:off x="6635751" y="2533650"/>
            <a:ext cx="3546475" cy="2647950"/>
          </a:xfrm>
          <a:prstGeom prst="rect">
            <a:avLst/>
          </a:prstGeom>
          <a:solidFill>
            <a:srgbClr val="EDEFF3"/>
          </a:solidFill>
          <a:ln w="84138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42" name="Rectangle 22"/>
          <p:cNvSpPr>
            <a:spLocks noChangeArrowheads="1"/>
          </p:cNvSpPr>
          <p:nvPr/>
        </p:nvSpPr>
        <p:spPr bwMode="auto">
          <a:xfrm>
            <a:off x="6635751" y="2533650"/>
            <a:ext cx="3546475" cy="2647950"/>
          </a:xfrm>
          <a:prstGeom prst="rect">
            <a:avLst/>
          </a:prstGeom>
          <a:solidFill>
            <a:srgbClr val="EBEEF2"/>
          </a:solidFill>
          <a:ln w="6985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43" name="Rectangle 23"/>
          <p:cNvSpPr>
            <a:spLocks noChangeArrowheads="1"/>
          </p:cNvSpPr>
          <p:nvPr/>
        </p:nvSpPr>
        <p:spPr bwMode="auto">
          <a:xfrm>
            <a:off x="6635751" y="2533650"/>
            <a:ext cx="3546475" cy="2647950"/>
          </a:xfrm>
          <a:prstGeom prst="rect">
            <a:avLst/>
          </a:prstGeom>
          <a:solidFill>
            <a:srgbClr val="EAECF1"/>
          </a:solidFill>
          <a:ln w="55563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44" name="Rectangle 24"/>
          <p:cNvSpPr>
            <a:spLocks noChangeArrowheads="1"/>
          </p:cNvSpPr>
          <p:nvPr/>
        </p:nvSpPr>
        <p:spPr bwMode="auto">
          <a:xfrm>
            <a:off x="6635751" y="2533650"/>
            <a:ext cx="3546475" cy="2647950"/>
          </a:xfrm>
          <a:prstGeom prst="rect">
            <a:avLst/>
          </a:prstGeom>
          <a:solidFill>
            <a:srgbClr val="E9EBF0"/>
          </a:solidFill>
          <a:ln w="41275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45" name="Rectangle 25"/>
          <p:cNvSpPr>
            <a:spLocks noChangeArrowheads="1"/>
          </p:cNvSpPr>
          <p:nvPr/>
        </p:nvSpPr>
        <p:spPr bwMode="auto">
          <a:xfrm>
            <a:off x="6635751" y="2533650"/>
            <a:ext cx="3546475" cy="2647950"/>
          </a:xfrm>
          <a:prstGeom prst="rect">
            <a:avLst/>
          </a:prstGeom>
          <a:solidFill>
            <a:srgbClr val="E7EAEF"/>
          </a:solidFill>
          <a:ln w="28575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46" name="Rectangle 26"/>
          <p:cNvSpPr>
            <a:spLocks noChangeArrowheads="1"/>
          </p:cNvSpPr>
          <p:nvPr/>
        </p:nvSpPr>
        <p:spPr bwMode="auto">
          <a:xfrm>
            <a:off x="6635751" y="2533650"/>
            <a:ext cx="3546475" cy="2647950"/>
          </a:xfrm>
          <a:prstGeom prst="rect">
            <a:avLst/>
          </a:prstGeom>
          <a:solidFill>
            <a:srgbClr val="E6E9EF"/>
          </a:solidFill>
          <a:ln w="14288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47" name="Rectangle 27"/>
          <p:cNvSpPr>
            <a:spLocks noChangeArrowheads="1"/>
          </p:cNvSpPr>
          <p:nvPr/>
        </p:nvSpPr>
        <p:spPr bwMode="auto">
          <a:xfrm>
            <a:off x="2165350" y="2420938"/>
            <a:ext cx="3587750" cy="27035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48" name="Rectangle 28"/>
          <p:cNvSpPr>
            <a:spLocks noChangeArrowheads="1"/>
          </p:cNvSpPr>
          <p:nvPr/>
        </p:nvSpPr>
        <p:spPr bwMode="auto">
          <a:xfrm>
            <a:off x="6580189" y="2420938"/>
            <a:ext cx="3589337" cy="27035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IN" altLang="en-US"/>
          </a:p>
        </p:txBody>
      </p:sp>
      <p:sp>
        <p:nvSpPr>
          <p:cNvPr id="5149" name="Freeform 29"/>
          <p:cNvSpPr>
            <a:spLocks/>
          </p:cNvSpPr>
          <p:nvPr/>
        </p:nvSpPr>
        <p:spPr bwMode="auto">
          <a:xfrm>
            <a:off x="6580189" y="2420938"/>
            <a:ext cx="3589337" cy="2703512"/>
          </a:xfrm>
          <a:custGeom>
            <a:avLst/>
            <a:gdLst>
              <a:gd name="T0" fmla="*/ 0 w 2261"/>
              <a:gd name="T1" fmla="*/ 0 h 1703"/>
              <a:gd name="T2" fmla="*/ 0 w 2261"/>
              <a:gd name="T3" fmla="*/ 2703512 h 1703"/>
              <a:gd name="T4" fmla="*/ 3589337 w 2261"/>
              <a:gd name="T5" fmla="*/ 2703512 h 170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61" h="1703">
                <a:moveTo>
                  <a:pt x="0" y="0"/>
                </a:moveTo>
                <a:lnTo>
                  <a:pt x="0" y="1703"/>
                </a:lnTo>
                <a:lnTo>
                  <a:pt x="2261" y="1703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50" name="Freeform 30"/>
          <p:cNvSpPr>
            <a:spLocks/>
          </p:cNvSpPr>
          <p:nvPr/>
        </p:nvSpPr>
        <p:spPr bwMode="auto">
          <a:xfrm>
            <a:off x="2165350" y="2420938"/>
            <a:ext cx="3587750" cy="2703512"/>
          </a:xfrm>
          <a:custGeom>
            <a:avLst/>
            <a:gdLst>
              <a:gd name="T0" fmla="*/ 0 w 2260"/>
              <a:gd name="T1" fmla="*/ 0 h 1703"/>
              <a:gd name="T2" fmla="*/ 0 w 2260"/>
              <a:gd name="T3" fmla="*/ 2703512 h 1703"/>
              <a:gd name="T4" fmla="*/ 3587750 w 2260"/>
              <a:gd name="T5" fmla="*/ 2703512 h 170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60" h="1703">
                <a:moveTo>
                  <a:pt x="0" y="0"/>
                </a:moveTo>
                <a:lnTo>
                  <a:pt x="0" y="1703"/>
                </a:lnTo>
                <a:lnTo>
                  <a:pt x="2260" y="1703"/>
                </a:lnTo>
              </a:path>
            </a:pathLst>
          </a:custGeom>
          <a:noFill/>
          <a:ln w="14288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51" name="Rectangle 31"/>
          <p:cNvSpPr>
            <a:spLocks noChangeArrowheads="1"/>
          </p:cNvSpPr>
          <p:nvPr/>
        </p:nvSpPr>
        <p:spPr bwMode="auto">
          <a:xfrm>
            <a:off x="4465638" y="5157788"/>
            <a:ext cx="13641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Quantity of Output</a:t>
            </a:r>
            <a:endParaRPr lang="en-US" altLang="en-US"/>
          </a:p>
        </p:txBody>
      </p:sp>
      <p:grpSp>
        <p:nvGrpSpPr>
          <p:cNvPr id="104480" name="Group 32"/>
          <p:cNvGrpSpPr>
            <a:grpSpLocks/>
          </p:cNvGrpSpPr>
          <p:nvPr/>
        </p:nvGrpSpPr>
        <p:grpSpPr bwMode="auto">
          <a:xfrm>
            <a:off x="2165350" y="3738554"/>
            <a:ext cx="3505200" cy="184149"/>
            <a:chOff x="404" y="2355"/>
            <a:chExt cx="2208" cy="116"/>
          </a:xfrm>
        </p:grpSpPr>
        <p:sp>
          <p:nvSpPr>
            <p:cNvPr id="5167" name="Line 33"/>
            <p:cNvSpPr>
              <a:spLocks noChangeShapeType="1"/>
            </p:cNvSpPr>
            <p:nvPr/>
          </p:nvSpPr>
          <p:spPr bwMode="auto">
            <a:xfrm>
              <a:off x="404" y="2403"/>
              <a:ext cx="1792" cy="1"/>
            </a:xfrm>
            <a:prstGeom prst="line">
              <a:avLst/>
            </a:prstGeom>
            <a:noFill/>
            <a:ln w="41275">
              <a:solidFill>
                <a:srgbClr val="003F9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68" name="Rectangle 34"/>
            <p:cNvSpPr>
              <a:spLocks noChangeArrowheads="1"/>
            </p:cNvSpPr>
            <p:nvPr/>
          </p:nvSpPr>
          <p:spPr bwMode="auto">
            <a:xfrm>
              <a:off x="2247" y="2355"/>
              <a:ext cx="365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Demand</a:t>
              </a:r>
              <a:endParaRPr lang="en-US" altLang="en-US"/>
            </a:p>
          </p:txBody>
        </p:sp>
      </p:grpSp>
      <p:sp>
        <p:nvSpPr>
          <p:cNvPr id="5153" name="Rectangle 35"/>
          <p:cNvSpPr>
            <a:spLocks noChangeArrowheads="1"/>
          </p:cNvSpPr>
          <p:nvPr/>
        </p:nvSpPr>
        <p:spPr bwMode="auto">
          <a:xfrm>
            <a:off x="2586038" y="2057400"/>
            <a:ext cx="16300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(a) A Competitive Firm</a:t>
            </a:r>
            <a:endParaRPr lang="en-US" altLang="en-US"/>
          </a:p>
        </p:txBody>
      </p:sp>
      <p:sp>
        <p:nvSpPr>
          <p:cNvPr id="5154" name="Rectangle 36"/>
          <p:cNvSpPr>
            <a:spLocks noChangeArrowheads="1"/>
          </p:cNvSpPr>
          <p:nvPr/>
        </p:nvSpPr>
        <p:spPr bwMode="auto">
          <a:xfrm>
            <a:off x="4176713" y="2057400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endParaRPr lang="en-US" altLang="en-US"/>
          </a:p>
        </p:txBody>
      </p:sp>
      <p:sp>
        <p:nvSpPr>
          <p:cNvPr id="5155" name="Rectangle 37"/>
          <p:cNvSpPr>
            <a:spLocks noChangeArrowheads="1"/>
          </p:cNvSpPr>
          <p:nvPr/>
        </p:nvSpPr>
        <p:spPr bwMode="auto">
          <a:xfrm>
            <a:off x="4219575" y="2057400"/>
            <a:ext cx="121187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s Demand Curve</a:t>
            </a:r>
            <a:endParaRPr lang="en-US" altLang="en-US"/>
          </a:p>
        </p:txBody>
      </p:sp>
      <p:sp>
        <p:nvSpPr>
          <p:cNvPr id="5156" name="Rectangle 38"/>
          <p:cNvSpPr>
            <a:spLocks noChangeArrowheads="1"/>
          </p:cNvSpPr>
          <p:nvPr/>
        </p:nvSpPr>
        <p:spPr bwMode="auto">
          <a:xfrm>
            <a:off x="7196139" y="2057400"/>
            <a:ext cx="120686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(b) A Monopolist</a:t>
            </a:r>
            <a:endParaRPr lang="en-US" altLang="en-US"/>
          </a:p>
        </p:txBody>
      </p:sp>
      <p:sp>
        <p:nvSpPr>
          <p:cNvPr id="5157" name="Rectangle 39"/>
          <p:cNvSpPr>
            <a:spLocks noChangeArrowheads="1"/>
          </p:cNvSpPr>
          <p:nvPr/>
        </p:nvSpPr>
        <p:spPr bwMode="auto">
          <a:xfrm>
            <a:off x="8372475" y="2057400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endParaRPr lang="en-US" altLang="en-US"/>
          </a:p>
        </p:txBody>
      </p:sp>
      <p:sp>
        <p:nvSpPr>
          <p:cNvPr id="5158" name="Rectangle 40"/>
          <p:cNvSpPr>
            <a:spLocks noChangeArrowheads="1"/>
          </p:cNvSpPr>
          <p:nvPr/>
        </p:nvSpPr>
        <p:spPr bwMode="auto">
          <a:xfrm>
            <a:off x="8415338" y="2057400"/>
            <a:ext cx="121187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s Demand Curve</a:t>
            </a:r>
            <a:endParaRPr lang="en-US" altLang="en-US"/>
          </a:p>
        </p:txBody>
      </p:sp>
      <p:sp>
        <p:nvSpPr>
          <p:cNvPr id="5159" name="Rectangle 41"/>
          <p:cNvSpPr>
            <a:spLocks noChangeArrowheads="1"/>
          </p:cNvSpPr>
          <p:nvPr/>
        </p:nvSpPr>
        <p:spPr bwMode="auto">
          <a:xfrm>
            <a:off x="2052638" y="516255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sp>
        <p:nvSpPr>
          <p:cNvPr id="5160" name="Rectangle 42"/>
          <p:cNvSpPr>
            <a:spLocks noChangeArrowheads="1"/>
          </p:cNvSpPr>
          <p:nvPr/>
        </p:nvSpPr>
        <p:spPr bwMode="auto">
          <a:xfrm>
            <a:off x="1773239" y="2398713"/>
            <a:ext cx="37510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  <p:sp>
        <p:nvSpPr>
          <p:cNvPr id="5161" name="Rectangle 43"/>
          <p:cNvSpPr>
            <a:spLocks noChangeArrowheads="1"/>
          </p:cNvSpPr>
          <p:nvPr/>
        </p:nvSpPr>
        <p:spPr bwMode="auto">
          <a:xfrm>
            <a:off x="8877300" y="5157788"/>
            <a:ext cx="13641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Quantity of Output</a:t>
            </a:r>
            <a:endParaRPr lang="en-US" altLang="en-US"/>
          </a:p>
        </p:txBody>
      </p:sp>
      <p:sp>
        <p:nvSpPr>
          <p:cNvPr id="5162" name="Rectangle 44"/>
          <p:cNvSpPr>
            <a:spLocks noChangeArrowheads="1"/>
          </p:cNvSpPr>
          <p:nvPr/>
        </p:nvSpPr>
        <p:spPr bwMode="auto">
          <a:xfrm>
            <a:off x="6464300" y="516255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sp>
        <p:nvSpPr>
          <p:cNvPr id="5163" name="Rectangle 45"/>
          <p:cNvSpPr>
            <a:spLocks noChangeArrowheads="1"/>
          </p:cNvSpPr>
          <p:nvPr/>
        </p:nvSpPr>
        <p:spPr bwMode="auto">
          <a:xfrm>
            <a:off x="6178551" y="2398713"/>
            <a:ext cx="37510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  <p:grpSp>
        <p:nvGrpSpPr>
          <p:cNvPr id="104494" name="Group 46"/>
          <p:cNvGrpSpPr>
            <a:grpSpLocks/>
          </p:cNvGrpSpPr>
          <p:nvPr/>
        </p:nvGrpSpPr>
        <p:grpSpPr bwMode="auto">
          <a:xfrm>
            <a:off x="6707189" y="2900363"/>
            <a:ext cx="3081337" cy="1854199"/>
            <a:chOff x="3265" y="1827"/>
            <a:chExt cx="1941" cy="1168"/>
          </a:xfrm>
        </p:grpSpPr>
        <p:sp>
          <p:nvSpPr>
            <p:cNvPr id="5165" name="Line 47"/>
            <p:cNvSpPr>
              <a:spLocks noChangeShapeType="1"/>
            </p:cNvSpPr>
            <p:nvPr/>
          </p:nvSpPr>
          <p:spPr bwMode="auto">
            <a:xfrm>
              <a:off x="3265" y="1827"/>
              <a:ext cx="1518" cy="1117"/>
            </a:xfrm>
            <a:prstGeom prst="line">
              <a:avLst/>
            </a:prstGeom>
            <a:noFill/>
            <a:ln w="41275">
              <a:solidFill>
                <a:srgbClr val="003F9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66" name="Rectangle 48"/>
            <p:cNvSpPr>
              <a:spLocks noChangeArrowheads="1"/>
            </p:cNvSpPr>
            <p:nvPr/>
          </p:nvSpPr>
          <p:spPr bwMode="auto">
            <a:xfrm>
              <a:off x="4841" y="2879"/>
              <a:ext cx="365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en-US" sz="1200">
                  <a:solidFill>
                    <a:srgbClr val="000000"/>
                  </a:solidFill>
                  <a:latin typeface="Arial" panose="020B0604020202020204" pitchFamily="34" charset="0"/>
                </a:rPr>
                <a:t>Demand</a:t>
              </a: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7936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04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87</TotalTime>
  <Words>339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Rockwell</vt:lpstr>
      <vt:lpstr>Rockwell Condensed</vt:lpstr>
      <vt:lpstr>Times New Roman</vt:lpstr>
      <vt:lpstr>Wingdings</vt:lpstr>
      <vt:lpstr>Wood Type</vt:lpstr>
      <vt:lpstr>Monopoly </vt:lpstr>
      <vt:lpstr>PowerPoint Presentation</vt:lpstr>
      <vt:lpstr>Monopoly-Features  </vt:lpstr>
      <vt:lpstr>How are monopolies are created?</vt:lpstr>
      <vt:lpstr>Aluminum company of America (ALCOA)</vt:lpstr>
      <vt:lpstr>Merck’s zocor</vt:lpstr>
      <vt:lpstr>Figure 2 Demand Curves for Competitive and Monopoly Firms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Chap:15 Monopoly</dc:title>
  <dc:creator>Subash S</dc:creator>
  <cp:lastModifiedBy>vaith</cp:lastModifiedBy>
  <cp:revision>13</cp:revision>
  <dcterms:created xsi:type="dcterms:W3CDTF">2020-04-11T17:41:17Z</dcterms:created>
  <dcterms:modified xsi:type="dcterms:W3CDTF">2023-09-19T10:57:25Z</dcterms:modified>
</cp:coreProperties>
</file>