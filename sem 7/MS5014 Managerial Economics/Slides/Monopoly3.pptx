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7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7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59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92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0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92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9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80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61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17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4EFE-A155-4E23-BBE3-7D1E806CF918}" type="datetimeFigureOut">
              <a:rPr lang="en-IN" smtClean="0"/>
              <a:t>15-04-2020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34734-0642-43E6-B29D-45D416700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07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Monopoly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Problems and solutions to </a:t>
            </a:r>
            <a:r>
              <a:rPr lang="en-US" smtClean="0"/>
              <a:t>Monoply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56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monopoly 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Inefficient output and price </a:t>
            </a:r>
          </a:p>
          <a:p>
            <a:pPr lvl="1"/>
            <a:r>
              <a:rPr lang="en-US" dirty="0" smtClean="0"/>
              <a:t>Monopolist charges too much and produces too little.</a:t>
            </a:r>
          </a:p>
          <a:p>
            <a:r>
              <a:rPr lang="en-US" dirty="0" smtClean="0"/>
              <a:t>Panel A: Each firm is a Price taker</a:t>
            </a:r>
          </a:p>
          <a:p>
            <a:r>
              <a:rPr lang="en-US" dirty="0" smtClean="0"/>
              <a:t>Panel B: pricing and output decision for monopoly </a:t>
            </a:r>
          </a:p>
          <a:p>
            <a:r>
              <a:rPr lang="en-US" dirty="0" smtClean="0"/>
              <a:t>MR = MC</a:t>
            </a:r>
          </a:p>
          <a:p>
            <a:r>
              <a:rPr lang="en-US" dirty="0" smtClean="0"/>
              <a:t>Output Q = (</a:t>
            </a:r>
            <a:r>
              <a:rPr lang="en-US" dirty="0" err="1" smtClean="0"/>
              <a:t>Qm</a:t>
            </a:r>
            <a:r>
              <a:rPr lang="en-US" dirty="0" smtClean="0"/>
              <a:t>&lt;Qc)</a:t>
            </a:r>
          </a:p>
          <a:p>
            <a:r>
              <a:rPr lang="en-US" dirty="0" smtClean="0"/>
              <a:t>Price P = (Pm&gt;PC)</a:t>
            </a:r>
          </a:p>
          <a:p>
            <a:r>
              <a:rPr lang="en-US" dirty="0" err="1" smtClean="0"/>
              <a:t>Competitve</a:t>
            </a:r>
            <a:r>
              <a:rPr lang="en-US" dirty="0" smtClean="0"/>
              <a:t> price P=MC</a:t>
            </a:r>
          </a:p>
          <a:p>
            <a:r>
              <a:rPr lang="en-US" dirty="0" smtClean="0"/>
              <a:t>Monopolist charges a price P &gt; MC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6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Deadweight loss of monopoly 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The monopolist charges too high a price and produces too little of the product , so some consumers who would benefit from a competitive market lose out. </a:t>
            </a:r>
          </a:p>
          <a:p>
            <a:r>
              <a:rPr lang="en-US" dirty="0" smtClean="0"/>
              <a:t>Society would be better off if the output is expanded to Qc.</a:t>
            </a:r>
          </a:p>
          <a:p>
            <a:r>
              <a:rPr lang="en-US" dirty="0" smtClean="0"/>
              <a:t>Consumer surplus is transferred to monopolist, as shown in the blue triangle.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07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monopoly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Few choices to consumers 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. Cable TV Operators</a:t>
            </a:r>
          </a:p>
          <a:p>
            <a:r>
              <a:rPr lang="en-US" dirty="0" smtClean="0"/>
              <a:t>Rent Seeking</a:t>
            </a:r>
            <a:endParaRPr lang="en-IN" dirty="0" smtClean="0"/>
          </a:p>
          <a:p>
            <a:pPr lvl="1"/>
            <a:r>
              <a:rPr lang="en-US" dirty="0" smtClean="0"/>
              <a:t>Occurs when resources are used to secure monopoly rights through political process. </a:t>
            </a:r>
          </a:p>
          <a:p>
            <a:pPr lvl="1"/>
            <a:r>
              <a:rPr lang="en-US" dirty="0" smtClean="0"/>
              <a:t>Indian Steel Industry </a:t>
            </a:r>
          </a:p>
        </p:txBody>
      </p:sp>
    </p:spTree>
    <p:extLst>
      <p:ext uri="{BB962C8B-B14F-4D97-AF65-F5344CB8AC3E}">
        <p14:creationId xmlns:p14="http://schemas.microsoft.com/office/powerpoint/2010/main" val="415928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 to the Problems of Monopoly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Breaking up the monopolist </a:t>
            </a:r>
            <a:r>
              <a:rPr lang="en-US" dirty="0" smtClean="0"/>
              <a:t> (AT &amp;T)</a:t>
            </a:r>
            <a:endParaRPr lang="en-US" dirty="0" smtClean="0"/>
          </a:p>
          <a:p>
            <a:r>
              <a:rPr lang="en-US" dirty="0" smtClean="0"/>
              <a:t>Reducing Trade barriers </a:t>
            </a:r>
          </a:p>
          <a:p>
            <a:r>
              <a:rPr lang="en-US" dirty="0" smtClean="0"/>
              <a:t>Regulating markets </a:t>
            </a:r>
          </a:p>
          <a:p>
            <a:r>
              <a:rPr lang="en-US" dirty="0" smtClean="0"/>
              <a:t>Do nothing </a:t>
            </a:r>
          </a:p>
          <a:p>
            <a:pPr lvl="1"/>
            <a:r>
              <a:rPr lang="en-US" dirty="0" smtClean="0"/>
              <a:t>Firms with profit motive have an incentive to minimize the costs of production. Lower costs translate into higher profits. If a  manager do a </a:t>
            </a:r>
            <a:r>
              <a:rPr lang="en-US" dirty="0" smtClean="0"/>
              <a:t>poor </a:t>
            </a:r>
            <a:r>
              <a:rPr lang="en-US" dirty="0" smtClean="0"/>
              <a:t>job they will be fired. </a:t>
            </a:r>
          </a:p>
          <a:p>
            <a:pPr lvl="1"/>
            <a:r>
              <a:rPr lang="en-US" dirty="0" smtClean="0"/>
              <a:t>The same cannot be said about government managers or bureaucrats. </a:t>
            </a:r>
          </a:p>
          <a:p>
            <a:pPr lvl="1"/>
            <a:r>
              <a:rPr lang="en-US" dirty="0" smtClean="0"/>
              <a:t>There are fewer incentives to keep costs in check. </a:t>
            </a:r>
          </a:p>
          <a:p>
            <a:pPr lvl="1"/>
            <a:r>
              <a:rPr lang="en-US" dirty="0" smtClean="0"/>
              <a:t>Public policy can mitigate the power of monopolies.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36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43978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Regulating Markets 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8" b="2508"/>
          <a:stretch>
            <a:fillRect/>
          </a:stretch>
        </p:blipFill>
        <p:spPr>
          <a:xfrm rot="5400000">
            <a:off x="5832475" y="338138"/>
            <a:ext cx="4873625" cy="61722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896983"/>
            <a:ext cx="3932237" cy="5808617"/>
          </a:xfrm>
        </p:spPr>
        <p:txBody>
          <a:bodyPr>
            <a:normAutofit/>
          </a:bodyPr>
          <a:lstStyle/>
          <a:p>
            <a:r>
              <a:rPr lang="en-US" dirty="0" smtClean="0"/>
              <a:t>Natural Monopoly –Breaking up would result in higher production costs.</a:t>
            </a:r>
          </a:p>
          <a:p>
            <a:r>
              <a:rPr lang="en-US" dirty="0" smtClean="0"/>
              <a:t>Keeping monopoly would be best option </a:t>
            </a:r>
          </a:p>
          <a:p>
            <a:r>
              <a:rPr lang="en-US" dirty="0" smtClean="0"/>
              <a:t>In this situation, policy makers might attempt to create a more efficient outcome and maximize the welfare of society by regulating the monopolist’s prices. </a:t>
            </a:r>
          </a:p>
          <a:p>
            <a:r>
              <a:rPr lang="en-US" dirty="0" smtClean="0"/>
              <a:t>Marginal cost pricing rule P = MC</a:t>
            </a:r>
          </a:p>
          <a:p>
            <a:r>
              <a:rPr lang="en-US" dirty="0" smtClean="0"/>
              <a:t>Unregulated monopolists sets MC =MR and produces </a:t>
            </a:r>
            <a:r>
              <a:rPr lang="en-US" dirty="0" err="1" smtClean="0"/>
              <a:t>Qm</a:t>
            </a:r>
            <a:r>
              <a:rPr lang="en-US" dirty="0" smtClean="0"/>
              <a:t> at the Price Pm. Pm is greater than average cost or Cm. Monopolists earns profit green box.</a:t>
            </a:r>
          </a:p>
          <a:p>
            <a:r>
              <a:rPr lang="en-US" dirty="0" smtClean="0"/>
              <a:t>If the firm is regulated P= MC Output expands to </a:t>
            </a:r>
            <a:r>
              <a:rPr lang="en-US" dirty="0" err="1" smtClean="0"/>
              <a:t>Qr</a:t>
            </a:r>
            <a:r>
              <a:rPr lang="en-US" dirty="0" smtClean="0"/>
              <a:t> and Price is Pr. Firm makes loss given as red box.</a:t>
            </a:r>
          </a:p>
          <a:p>
            <a:r>
              <a:rPr lang="en-US" dirty="0" smtClean="0"/>
              <a:t>Three options: make up for loss and subsidize the monopolists</a:t>
            </a:r>
          </a:p>
          <a:p>
            <a:r>
              <a:rPr lang="en-US" dirty="0" smtClean="0"/>
              <a:t>Set the Price P = ATC break even (</a:t>
            </a:r>
            <a:r>
              <a:rPr lang="en-US" dirty="0" err="1" smtClean="0"/>
              <a:t>Noprofit</a:t>
            </a:r>
            <a:r>
              <a:rPr lang="en-US" dirty="0" smtClean="0"/>
              <a:t> or no loss)</a:t>
            </a:r>
          </a:p>
          <a:p>
            <a:r>
              <a:rPr lang="en-US" dirty="0" smtClean="0"/>
              <a:t>Government could own and operate the business in lieu of private firm.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688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384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Monopoly </vt:lpstr>
      <vt:lpstr>Problems with monopoly </vt:lpstr>
      <vt:lpstr>Deadweight loss of monopoly </vt:lpstr>
      <vt:lpstr>Problems with monopoly</vt:lpstr>
      <vt:lpstr>Solutions to the Problems of Monopoly </vt:lpstr>
      <vt:lpstr>Regulating Markets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Monopoly</dc:title>
  <dc:creator>Subash S</dc:creator>
  <cp:lastModifiedBy>Subash S</cp:lastModifiedBy>
  <cp:revision>11</cp:revision>
  <dcterms:created xsi:type="dcterms:W3CDTF">2020-04-15T14:11:42Z</dcterms:created>
  <dcterms:modified xsi:type="dcterms:W3CDTF">2020-04-15T17:27:03Z</dcterms:modified>
</cp:coreProperties>
</file>