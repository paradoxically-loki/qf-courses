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66" r:id="rId4"/>
    <p:sldId id="258" r:id="rId5"/>
    <p:sldId id="259" r:id="rId6"/>
    <p:sldId id="267" r:id="rId7"/>
    <p:sldId id="260" r:id="rId8"/>
    <p:sldId id="268" r:id="rId9"/>
    <p:sldId id="269" r:id="rId10"/>
    <p:sldId id="270" r:id="rId11"/>
    <p:sldId id="262" r:id="rId12"/>
    <p:sldId id="264" r:id="rId13"/>
    <p:sldId id="265"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79" d="100"/>
          <a:sy n="79" d="100"/>
        </p:scale>
        <p:origin x="188" y="6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IN"/>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IN"/>
          </a:p>
        </p:txBody>
      </p:sp>
      <p:sp>
        <p:nvSpPr>
          <p:cNvPr id="4" name="Date Placeholder 3"/>
          <p:cNvSpPr>
            <a:spLocks noGrp="1"/>
          </p:cNvSpPr>
          <p:nvPr>
            <p:ph type="dt" sz="half" idx="10"/>
          </p:nvPr>
        </p:nvSpPr>
        <p:spPr/>
        <p:txBody>
          <a:bodyPr/>
          <a:lstStyle/>
          <a:p>
            <a:fld id="{1F3D57A0-E879-4C7B-B5AB-7A3B4EBA3833}" type="datetimeFigureOut">
              <a:rPr lang="en-IN" smtClean="0"/>
              <a:t>06-09-2024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DFE350C-9282-4FAB-B05C-013908A36DC1}" type="slidenum">
              <a:rPr lang="en-IN" smtClean="0"/>
              <a:t>‹#›</a:t>
            </a:fld>
            <a:endParaRPr lang="en-IN"/>
          </a:p>
        </p:txBody>
      </p:sp>
    </p:spTree>
    <p:extLst>
      <p:ext uri="{BB962C8B-B14F-4D97-AF65-F5344CB8AC3E}">
        <p14:creationId xmlns:p14="http://schemas.microsoft.com/office/powerpoint/2010/main" val="166701350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1F3D57A0-E879-4C7B-B5AB-7A3B4EBA3833}" type="datetimeFigureOut">
              <a:rPr lang="en-IN" smtClean="0"/>
              <a:t>06-09-2024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DFE350C-9282-4FAB-B05C-013908A36DC1}" type="slidenum">
              <a:rPr lang="en-IN" smtClean="0"/>
              <a:t>‹#›</a:t>
            </a:fld>
            <a:endParaRPr lang="en-IN"/>
          </a:p>
        </p:txBody>
      </p:sp>
    </p:spTree>
    <p:extLst>
      <p:ext uri="{BB962C8B-B14F-4D97-AF65-F5344CB8AC3E}">
        <p14:creationId xmlns:p14="http://schemas.microsoft.com/office/powerpoint/2010/main" val="284775979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IN"/>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1F3D57A0-E879-4C7B-B5AB-7A3B4EBA3833}" type="datetimeFigureOut">
              <a:rPr lang="en-IN" smtClean="0"/>
              <a:t>06-09-2024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DFE350C-9282-4FAB-B05C-013908A36DC1}" type="slidenum">
              <a:rPr lang="en-IN" smtClean="0"/>
              <a:t>‹#›</a:t>
            </a:fld>
            <a:endParaRPr lang="en-IN"/>
          </a:p>
        </p:txBody>
      </p:sp>
    </p:spTree>
    <p:extLst>
      <p:ext uri="{BB962C8B-B14F-4D97-AF65-F5344CB8AC3E}">
        <p14:creationId xmlns:p14="http://schemas.microsoft.com/office/powerpoint/2010/main" val="195753099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sz="half" idx="1"/>
          </p:nvPr>
        </p:nvSpPr>
        <p:spPr>
          <a:xfrm>
            <a:off x="838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Content Placeholder 3"/>
          <p:cNvSpPr>
            <a:spLocks noGrp="1"/>
          </p:cNvSpPr>
          <p:nvPr>
            <p:ph sz="half" idx="2"/>
          </p:nvPr>
        </p:nvSpPr>
        <p:spPr>
          <a:xfrm>
            <a:off x="6172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Date Placeholder 4"/>
          <p:cNvSpPr>
            <a:spLocks noGrp="1"/>
          </p:cNvSpPr>
          <p:nvPr>
            <p:ph type="dt" sz="half" idx="10"/>
          </p:nvPr>
        </p:nvSpPr>
        <p:spPr/>
        <p:txBody>
          <a:bodyPr/>
          <a:lstStyle/>
          <a:p>
            <a:fld id="{1F3D57A0-E879-4C7B-B5AB-7A3B4EBA3833}" type="datetimeFigureOut">
              <a:rPr lang="en-IN" smtClean="0"/>
              <a:t>06-09-2024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1DFE350C-9282-4FAB-B05C-013908A36DC1}" type="slidenum">
              <a:rPr lang="en-IN" smtClean="0"/>
              <a:t>‹#›</a:t>
            </a:fld>
            <a:endParaRPr lang="en-IN"/>
          </a:p>
        </p:txBody>
      </p:sp>
    </p:spTree>
    <p:extLst>
      <p:ext uri="{BB962C8B-B14F-4D97-AF65-F5344CB8AC3E}">
        <p14:creationId xmlns:p14="http://schemas.microsoft.com/office/powerpoint/2010/main" val="408704768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IN"/>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7" name="Date Placeholder 6"/>
          <p:cNvSpPr>
            <a:spLocks noGrp="1"/>
          </p:cNvSpPr>
          <p:nvPr>
            <p:ph type="dt" sz="half" idx="10"/>
          </p:nvPr>
        </p:nvSpPr>
        <p:spPr/>
        <p:txBody>
          <a:bodyPr/>
          <a:lstStyle/>
          <a:p>
            <a:fld id="{1F3D57A0-E879-4C7B-B5AB-7A3B4EBA3833}" type="datetimeFigureOut">
              <a:rPr lang="en-IN" smtClean="0"/>
              <a:t>06-09-2024</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1DFE350C-9282-4FAB-B05C-013908A36DC1}" type="slidenum">
              <a:rPr lang="en-IN" smtClean="0"/>
              <a:t>‹#›</a:t>
            </a:fld>
            <a:endParaRPr lang="en-IN"/>
          </a:p>
        </p:txBody>
      </p:sp>
    </p:spTree>
    <p:extLst>
      <p:ext uri="{BB962C8B-B14F-4D97-AF65-F5344CB8AC3E}">
        <p14:creationId xmlns:p14="http://schemas.microsoft.com/office/powerpoint/2010/main" val="175600452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Date Placeholder 2"/>
          <p:cNvSpPr>
            <a:spLocks noGrp="1"/>
          </p:cNvSpPr>
          <p:nvPr>
            <p:ph type="dt" sz="half" idx="10"/>
          </p:nvPr>
        </p:nvSpPr>
        <p:spPr/>
        <p:txBody>
          <a:bodyPr/>
          <a:lstStyle/>
          <a:p>
            <a:fld id="{1F3D57A0-E879-4C7B-B5AB-7A3B4EBA3833}" type="datetimeFigureOut">
              <a:rPr lang="en-IN" smtClean="0"/>
              <a:t>06-09-2024</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1DFE350C-9282-4FAB-B05C-013908A36DC1}" type="slidenum">
              <a:rPr lang="en-IN" smtClean="0"/>
              <a:t>‹#›</a:t>
            </a:fld>
            <a:endParaRPr lang="en-IN"/>
          </a:p>
        </p:txBody>
      </p:sp>
    </p:spTree>
    <p:extLst>
      <p:ext uri="{BB962C8B-B14F-4D97-AF65-F5344CB8AC3E}">
        <p14:creationId xmlns:p14="http://schemas.microsoft.com/office/powerpoint/2010/main" val="80777289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F3D57A0-E879-4C7B-B5AB-7A3B4EBA3833}" type="datetimeFigureOut">
              <a:rPr lang="en-IN" smtClean="0"/>
              <a:t>06-09-2024</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1DFE350C-9282-4FAB-B05C-013908A36DC1}" type="slidenum">
              <a:rPr lang="en-IN" smtClean="0"/>
              <a:t>‹#›</a:t>
            </a:fld>
            <a:endParaRPr lang="en-IN"/>
          </a:p>
        </p:txBody>
      </p:sp>
    </p:spTree>
    <p:extLst>
      <p:ext uri="{BB962C8B-B14F-4D97-AF65-F5344CB8AC3E}">
        <p14:creationId xmlns:p14="http://schemas.microsoft.com/office/powerpoint/2010/main" val="252662115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IN"/>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1F3D57A0-E879-4C7B-B5AB-7A3B4EBA3833}" type="datetimeFigureOut">
              <a:rPr lang="en-IN" smtClean="0"/>
              <a:t>06-09-2024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1DFE350C-9282-4FAB-B05C-013908A36DC1}" type="slidenum">
              <a:rPr lang="en-IN" smtClean="0"/>
              <a:t>‹#›</a:t>
            </a:fld>
            <a:endParaRPr lang="en-IN"/>
          </a:p>
        </p:txBody>
      </p:sp>
    </p:spTree>
    <p:extLst>
      <p:ext uri="{BB962C8B-B14F-4D97-AF65-F5344CB8AC3E}">
        <p14:creationId xmlns:p14="http://schemas.microsoft.com/office/powerpoint/2010/main" val="246160195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IN"/>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1F3D57A0-E879-4C7B-B5AB-7A3B4EBA3833}" type="datetimeFigureOut">
              <a:rPr lang="en-IN" smtClean="0"/>
              <a:t>06-09-2024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1DFE350C-9282-4FAB-B05C-013908A36DC1}" type="slidenum">
              <a:rPr lang="en-IN" smtClean="0"/>
              <a:t>‹#›</a:t>
            </a:fld>
            <a:endParaRPr lang="en-IN"/>
          </a:p>
        </p:txBody>
      </p:sp>
    </p:spTree>
    <p:extLst>
      <p:ext uri="{BB962C8B-B14F-4D97-AF65-F5344CB8AC3E}">
        <p14:creationId xmlns:p14="http://schemas.microsoft.com/office/powerpoint/2010/main" val="365373869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1F3D57A0-E879-4C7B-B5AB-7A3B4EBA3833}" type="datetimeFigureOut">
              <a:rPr lang="en-IN" smtClean="0"/>
              <a:t>06-09-2024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DFE350C-9282-4FAB-B05C-013908A36DC1}" type="slidenum">
              <a:rPr lang="en-IN" smtClean="0"/>
              <a:t>‹#›</a:t>
            </a:fld>
            <a:endParaRPr lang="en-IN"/>
          </a:p>
        </p:txBody>
      </p:sp>
    </p:spTree>
    <p:extLst>
      <p:ext uri="{BB962C8B-B14F-4D97-AF65-F5344CB8AC3E}">
        <p14:creationId xmlns:p14="http://schemas.microsoft.com/office/powerpoint/2010/main" val="211541219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IN"/>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1F3D57A0-E879-4C7B-B5AB-7A3B4EBA3833}" type="datetimeFigureOut">
              <a:rPr lang="en-IN" smtClean="0"/>
              <a:t>06-09-2024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DFE350C-9282-4FAB-B05C-013908A36DC1}" type="slidenum">
              <a:rPr lang="en-IN" smtClean="0"/>
              <a:t>‹#›</a:t>
            </a:fld>
            <a:endParaRPr lang="en-IN"/>
          </a:p>
        </p:txBody>
      </p:sp>
    </p:spTree>
    <p:extLst>
      <p:ext uri="{BB962C8B-B14F-4D97-AF65-F5344CB8AC3E}">
        <p14:creationId xmlns:p14="http://schemas.microsoft.com/office/powerpoint/2010/main" val="297438307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IN"/>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F3D57A0-E879-4C7B-B5AB-7A3B4EBA3833}" type="datetimeFigureOut">
              <a:rPr lang="en-IN" smtClean="0"/>
              <a:t>06-09-2024</a:t>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DFE350C-9282-4FAB-B05C-013908A36DC1}" type="slidenum">
              <a:rPr lang="en-IN" smtClean="0"/>
              <a:t>‹#›</a:t>
            </a:fld>
            <a:endParaRPr lang="en-IN"/>
          </a:p>
        </p:txBody>
      </p:sp>
    </p:spTree>
    <p:extLst>
      <p:ext uri="{BB962C8B-B14F-4D97-AF65-F5344CB8AC3E}">
        <p14:creationId xmlns:p14="http://schemas.microsoft.com/office/powerpoint/2010/main" val="195530950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8.xml"/></Relationships>
</file>

<file path=ppt/slides/_rels/slide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8.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10445" y="278675"/>
            <a:ext cx="2812869" cy="766354"/>
          </a:xfrm>
        </p:spPr>
        <p:txBody>
          <a:bodyPr>
            <a:normAutofit fontScale="90000"/>
          </a:bodyPr>
          <a:lstStyle/>
          <a:p>
            <a:r>
              <a:rPr lang="en-US" dirty="0" smtClean="0"/>
              <a:t>Oligopoly </a:t>
            </a:r>
            <a:endParaRPr lang="en-IN" dirty="0"/>
          </a:p>
        </p:txBody>
      </p:sp>
      <p:pic>
        <p:nvPicPr>
          <p:cNvPr id="4" name="Picture 3"/>
          <p:cNvPicPr>
            <a:picLocks noChangeAspect="1"/>
          </p:cNvPicPr>
          <p:nvPr/>
        </p:nvPicPr>
        <p:blipFill>
          <a:blip r:embed="rId2"/>
          <a:stretch>
            <a:fillRect/>
          </a:stretch>
        </p:blipFill>
        <p:spPr>
          <a:xfrm>
            <a:off x="1593667" y="1288869"/>
            <a:ext cx="8595361" cy="4815840"/>
          </a:xfrm>
          <a:prstGeom prst="rect">
            <a:avLst/>
          </a:prstGeom>
        </p:spPr>
      </p:pic>
    </p:spTree>
    <p:extLst>
      <p:ext uri="{BB962C8B-B14F-4D97-AF65-F5344CB8AC3E}">
        <p14:creationId xmlns:p14="http://schemas.microsoft.com/office/powerpoint/2010/main" val="286188902"/>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smtClean="0"/>
              <a:t>Oligopoly </a:t>
            </a:r>
            <a:endParaRPr lang="en-IN" dirty="0"/>
          </a:p>
        </p:txBody>
      </p:sp>
      <p:sp>
        <p:nvSpPr>
          <p:cNvPr id="3" name="Content Placeholder 2"/>
          <p:cNvSpPr>
            <a:spLocks noGrp="1"/>
          </p:cNvSpPr>
          <p:nvPr>
            <p:ph idx="1"/>
          </p:nvPr>
        </p:nvSpPr>
        <p:spPr/>
        <p:txBody>
          <a:bodyPr>
            <a:normAutofit lnSpcReduction="10000"/>
          </a:bodyPr>
          <a:lstStyle/>
          <a:p>
            <a:r>
              <a:rPr lang="en-US" dirty="0" smtClean="0"/>
              <a:t>Exists when a small number of firms sell a product in a market with significant barriers to entry.  </a:t>
            </a:r>
          </a:p>
          <a:p>
            <a:r>
              <a:rPr lang="en-US" dirty="0" smtClean="0"/>
              <a:t>Few Firms </a:t>
            </a:r>
          </a:p>
          <a:p>
            <a:r>
              <a:rPr lang="en-US" dirty="0" smtClean="0"/>
              <a:t>Differentiated or homogeneous product</a:t>
            </a:r>
          </a:p>
          <a:p>
            <a:r>
              <a:rPr lang="en-US" dirty="0" smtClean="0"/>
              <a:t>High barriers to entry</a:t>
            </a:r>
          </a:p>
          <a:p>
            <a:r>
              <a:rPr lang="en-US" b="1" dirty="0" smtClean="0"/>
              <a:t>Oligopolistic firms are  Mutually interdependent </a:t>
            </a:r>
          </a:p>
          <a:p>
            <a:pPr lvl="1"/>
            <a:r>
              <a:rPr lang="en-US" dirty="0"/>
              <a:t>For example, market for cars in India is dominated by few firms (</a:t>
            </a:r>
            <a:r>
              <a:rPr lang="en-US" dirty="0" err="1"/>
              <a:t>Maruti</a:t>
            </a:r>
            <a:r>
              <a:rPr lang="en-US" dirty="0"/>
              <a:t>, Tata, Hyundai, Ford, Honda, etc.). A change by any one firm (say, Tata) in any of its vehicle (say, </a:t>
            </a:r>
            <a:r>
              <a:rPr lang="en-US" dirty="0" err="1"/>
              <a:t>Indica</a:t>
            </a:r>
            <a:r>
              <a:rPr lang="en-US" dirty="0"/>
              <a:t>) will induce other firms (say, </a:t>
            </a:r>
            <a:r>
              <a:rPr lang="en-US" dirty="0" err="1"/>
              <a:t>Maruti</a:t>
            </a:r>
            <a:r>
              <a:rPr lang="en-US" dirty="0"/>
              <a:t>, Hyundai, etc.) to make changes in their respective vehicles.</a:t>
            </a:r>
            <a:endParaRPr lang="en-US" b="1" dirty="0" smtClean="0"/>
          </a:p>
          <a:p>
            <a:r>
              <a:rPr lang="en-US" b="1" dirty="0" smtClean="0"/>
              <a:t>Non price competition (Advertising, better services to customers)</a:t>
            </a:r>
          </a:p>
        </p:txBody>
      </p:sp>
    </p:spTree>
    <p:extLst>
      <p:ext uri="{BB962C8B-B14F-4D97-AF65-F5344CB8AC3E}">
        <p14:creationId xmlns:p14="http://schemas.microsoft.com/office/powerpoint/2010/main" val="1954936113"/>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smtClean="0"/>
              <a:t>Oligopoly Examples </a:t>
            </a:r>
            <a:endParaRPr lang="en-IN" dirty="0"/>
          </a:p>
        </p:txBody>
      </p:sp>
      <p:sp>
        <p:nvSpPr>
          <p:cNvPr id="3" name="Content Placeholder 2"/>
          <p:cNvSpPr>
            <a:spLocks noGrp="1"/>
          </p:cNvSpPr>
          <p:nvPr>
            <p:ph idx="1"/>
          </p:nvPr>
        </p:nvSpPr>
        <p:spPr/>
        <p:txBody>
          <a:bodyPr>
            <a:normAutofit fontScale="92500" lnSpcReduction="10000"/>
          </a:bodyPr>
          <a:lstStyle/>
          <a:p>
            <a:pPr fontAlgn="base"/>
            <a:r>
              <a:rPr lang="en-US" dirty="0" smtClean="0"/>
              <a:t>In </a:t>
            </a:r>
            <a:r>
              <a:rPr lang="en-US" dirty="0"/>
              <a:t>India, markets for automobiles, cement, steel, </a:t>
            </a:r>
            <a:r>
              <a:rPr lang="en-US" dirty="0" err="1"/>
              <a:t>aluminium</a:t>
            </a:r>
            <a:r>
              <a:rPr lang="en-US" dirty="0"/>
              <a:t>, </a:t>
            </a:r>
            <a:r>
              <a:rPr lang="en-US" dirty="0" err="1"/>
              <a:t>etc</a:t>
            </a:r>
            <a:r>
              <a:rPr lang="en-US" dirty="0"/>
              <a:t>, are the examples of oligopolistic market. In all these markets, there are few firms for each particular product</a:t>
            </a:r>
            <a:r>
              <a:rPr lang="en-US" dirty="0" smtClean="0"/>
              <a:t>.</a:t>
            </a:r>
          </a:p>
          <a:p>
            <a:pPr fontAlgn="base"/>
            <a:r>
              <a:rPr lang="en-US" dirty="0" smtClean="0"/>
              <a:t>Automobile industry, Telecom industry- Differentiated product</a:t>
            </a:r>
          </a:p>
          <a:p>
            <a:pPr algn="just" fontAlgn="base"/>
            <a:r>
              <a:rPr lang="en-US" dirty="0"/>
              <a:t>In the case of natural gas, India is an oligopoly with two big players in the exploration and production (E&amp;P) space and another two big players in the downstream, transmission and distribution (T&amp;D) sector. </a:t>
            </a:r>
            <a:endParaRPr lang="en-US" dirty="0" smtClean="0"/>
          </a:p>
          <a:p>
            <a:pPr algn="just" fontAlgn="base"/>
            <a:r>
              <a:rPr lang="en-US" dirty="0"/>
              <a:t>On the E&amp;P side, just two contractors, Oil and Natural Gas Corp. Ltd (ONGC) and Reliance Industries Ltd (RIL</a:t>
            </a:r>
            <a:r>
              <a:rPr lang="en-US" dirty="0" smtClean="0"/>
              <a:t>). In </a:t>
            </a:r>
            <a:r>
              <a:rPr lang="en-US" dirty="0"/>
              <a:t>the T&amp;D sector, again, there are only two significant players, Gas Authority of India Ltd (GAIL) and its subsidiary GAIL Gas Ltd and RIL and its subsidiary Reliance Gas Ltd. </a:t>
            </a:r>
          </a:p>
          <a:p>
            <a:endParaRPr lang="en-IN" dirty="0"/>
          </a:p>
        </p:txBody>
      </p:sp>
    </p:spTree>
    <p:extLst>
      <p:ext uri="{BB962C8B-B14F-4D97-AF65-F5344CB8AC3E}">
        <p14:creationId xmlns:p14="http://schemas.microsoft.com/office/powerpoint/2010/main" val="1246572695"/>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smtClean="0"/>
              <a:t>Game Theory </a:t>
            </a:r>
            <a:endParaRPr lang="en-IN" dirty="0"/>
          </a:p>
        </p:txBody>
      </p:sp>
      <p:sp>
        <p:nvSpPr>
          <p:cNvPr id="3" name="Content Placeholder 2"/>
          <p:cNvSpPr>
            <a:spLocks noGrp="1"/>
          </p:cNvSpPr>
          <p:nvPr>
            <p:ph idx="1"/>
          </p:nvPr>
        </p:nvSpPr>
        <p:spPr/>
        <p:txBody>
          <a:bodyPr/>
          <a:lstStyle/>
          <a:p>
            <a:pPr algn="just"/>
            <a:r>
              <a:rPr lang="en-US" b="1" dirty="0"/>
              <a:t>Game theory </a:t>
            </a:r>
            <a:r>
              <a:rPr lang="en-US" dirty="0"/>
              <a:t>the study of how people behave strategic situations. </a:t>
            </a:r>
            <a:r>
              <a:rPr lang="en-US" dirty="0" smtClean="0"/>
              <a:t>We mean a situation in which a person choosing alternative course of action must consider how others might respond to the action he takes. </a:t>
            </a:r>
          </a:p>
          <a:p>
            <a:pPr algn="just"/>
            <a:r>
              <a:rPr lang="en-US" b="1" dirty="0" smtClean="0"/>
              <a:t>Oligopolistic firms </a:t>
            </a:r>
            <a:r>
              <a:rPr lang="en-US" dirty="0" smtClean="0"/>
              <a:t>have only a small number of firms, each firm must act strategically. Each firm knows that its profit depends not only on how much it produces but also on how much other firms produce. </a:t>
            </a:r>
          </a:p>
          <a:p>
            <a:pPr algn="just"/>
            <a:r>
              <a:rPr lang="en-US" dirty="0" smtClean="0"/>
              <a:t>Oligopolistic firm should consider how its decision might affect the production decision of all other firms. </a:t>
            </a:r>
            <a:endParaRPr lang="en-IN" dirty="0"/>
          </a:p>
          <a:p>
            <a:endParaRPr lang="en-IN" dirty="0"/>
          </a:p>
        </p:txBody>
      </p:sp>
    </p:spTree>
    <p:extLst>
      <p:ext uri="{BB962C8B-B14F-4D97-AF65-F5344CB8AC3E}">
        <p14:creationId xmlns:p14="http://schemas.microsoft.com/office/powerpoint/2010/main" val="2847799764"/>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02331" y="365126"/>
            <a:ext cx="2020389" cy="444772"/>
          </a:xfrm>
        </p:spPr>
        <p:txBody>
          <a:bodyPr>
            <a:normAutofit fontScale="90000"/>
          </a:bodyPr>
          <a:lstStyle/>
          <a:p>
            <a:pPr algn="ctr"/>
            <a:r>
              <a:rPr lang="en-US" dirty="0" smtClean="0"/>
              <a:t>Duopoly </a:t>
            </a:r>
            <a:endParaRPr lang="en-IN" dirty="0"/>
          </a:p>
        </p:txBody>
      </p:sp>
      <p:sp>
        <p:nvSpPr>
          <p:cNvPr id="3" name="Content Placeholder 2"/>
          <p:cNvSpPr>
            <a:spLocks noGrp="1"/>
          </p:cNvSpPr>
          <p:nvPr>
            <p:ph idx="1"/>
          </p:nvPr>
        </p:nvSpPr>
        <p:spPr>
          <a:xfrm>
            <a:off x="838200" y="809899"/>
            <a:ext cx="10515600" cy="4650376"/>
          </a:xfrm>
        </p:spPr>
        <p:txBody>
          <a:bodyPr/>
          <a:lstStyle/>
          <a:p>
            <a:pPr algn="just"/>
            <a:r>
              <a:rPr lang="en-US" dirty="0" smtClean="0"/>
              <a:t>An industry consisting of only two firms is duopoly.</a:t>
            </a:r>
          </a:p>
          <a:p>
            <a:pPr algn="just"/>
            <a:r>
              <a:rPr lang="en-US" dirty="0"/>
              <a:t>DUOPOLY is a special case of oligopoly, in which there are exactly two sellers. Under duopoly, it is assumed that the product sold by the two firms is homogeneous and there is no substitute for it. </a:t>
            </a:r>
            <a:endParaRPr lang="en-US" dirty="0" smtClean="0"/>
          </a:p>
          <a:p>
            <a:pPr algn="just"/>
            <a:r>
              <a:rPr lang="en-US" dirty="0" smtClean="0"/>
              <a:t>Examples </a:t>
            </a:r>
            <a:r>
              <a:rPr lang="en-US" dirty="0"/>
              <a:t>where two companies control a large proportion of a market are: (</a:t>
            </a:r>
            <a:r>
              <a:rPr lang="en-US" dirty="0" err="1"/>
              <a:t>i</a:t>
            </a:r>
            <a:r>
              <a:rPr lang="en-US" dirty="0"/>
              <a:t>) Pepsi and Coca-Cola in the soft drink market; (ii) Airbus and Boeing in the commercial large jet aircraft market; (iii) Intel and AMD in the consumer desktop computer microprocessor market.</a:t>
            </a:r>
          </a:p>
          <a:p>
            <a:pPr marL="0" indent="0">
              <a:buNone/>
            </a:pPr>
            <a:endParaRPr lang="en-IN" dirty="0"/>
          </a:p>
        </p:txBody>
      </p:sp>
    </p:spTree>
    <p:extLst>
      <p:ext uri="{BB962C8B-B14F-4D97-AF65-F5344CB8AC3E}">
        <p14:creationId xmlns:p14="http://schemas.microsoft.com/office/powerpoint/2010/main" val="1497188365"/>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extLst>
              <p:ext uri="{D42A27DB-BD31-4B8C-83A1-F6EECF244321}">
                <p14:modId xmlns:p14="http://schemas.microsoft.com/office/powerpoint/2010/main" val="1112816036"/>
              </p:ext>
            </p:extLst>
          </p:nvPr>
        </p:nvGraphicFramePr>
        <p:xfrm>
          <a:off x="1062446" y="1193078"/>
          <a:ext cx="8043816" cy="5259968"/>
        </p:xfrm>
        <a:graphic>
          <a:graphicData uri="http://schemas.openxmlformats.org/drawingml/2006/table">
            <a:tbl>
              <a:tblPr firstRow="1" bandRow="1">
                <a:tableStyleId>{5C22544A-7EE6-4342-B048-85BDC9FD1C3A}</a:tableStyleId>
              </a:tblPr>
              <a:tblGrid>
                <a:gridCol w="2681272">
                  <a:extLst>
                    <a:ext uri="{9D8B030D-6E8A-4147-A177-3AD203B41FA5}">
                      <a16:colId xmlns:a16="http://schemas.microsoft.com/office/drawing/2014/main" val="1863009098"/>
                    </a:ext>
                  </a:extLst>
                </a:gridCol>
                <a:gridCol w="2681272">
                  <a:extLst>
                    <a:ext uri="{9D8B030D-6E8A-4147-A177-3AD203B41FA5}">
                      <a16:colId xmlns:a16="http://schemas.microsoft.com/office/drawing/2014/main" val="401570472"/>
                    </a:ext>
                  </a:extLst>
                </a:gridCol>
                <a:gridCol w="2681272">
                  <a:extLst>
                    <a:ext uri="{9D8B030D-6E8A-4147-A177-3AD203B41FA5}">
                      <a16:colId xmlns:a16="http://schemas.microsoft.com/office/drawing/2014/main" val="65591164"/>
                    </a:ext>
                  </a:extLst>
                </a:gridCol>
              </a:tblGrid>
              <a:tr h="375712">
                <a:tc>
                  <a:txBody>
                    <a:bodyPr/>
                    <a:lstStyle/>
                    <a:p>
                      <a:r>
                        <a:rPr lang="en-US" dirty="0" smtClean="0"/>
                        <a:t>Price </a:t>
                      </a:r>
                      <a:endParaRPr lang="en-IN" dirty="0"/>
                    </a:p>
                  </a:txBody>
                  <a:tcPr/>
                </a:tc>
                <a:tc>
                  <a:txBody>
                    <a:bodyPr/>
                    <a:lstStyle/>
                    <a:p>
                      <a:r>
                        <a:rPr lang="en-US" dirty="0" smtClean="0"/>
                        <a:t>Number of customers </a:t>
                      </a:r>
                      <a:endParaRPr lang="en-IN" dirty="0"/>
                    </a:p>
                  </a:txBody>
                  <a:tcPr/>
                </a:tc>
                <a:tc>
                  <a:txBody>
                    <a:bodyPr/>
                    <a:lstStyle/>
                    <a:p>
                      <a:r>
                        <a:rPr lang="en-US" dirty="0" smtClean="0"/>
                        <a:t>Total revenue TR P ×Q</a:t>
                      </a:r>
                      <a:endParaRPr lang="en-IN" dirty="0"/>
                    </a:p>
                  </a:txBody>
                  <a:tcPr/>
                </a:tc>
                <a:extLst>
                  <a:ext uri="{0D108BD9-81ED-4DB2-BD59-A6C34878D82A}">
                    <a16:rowId xmlns:a16="http://schemas.microsoft.com/office/drawing/2014/main" val="3282138104"/>
                  </a:ext>
                </a:extLst>
              </a:tr>
              <a:tr h="375712">
                <a:tc>
                  <a:txBody>
                    <a:bodyPr/>
                    <a:lstStyle/>
                    <a:p>
                      <a:r>
                        <a:rPr lang="en-US" dirty="0" smtClean="0"/>
                        <a:t>180</a:t>
                      </a:r>
                      <a:endParaRPr lang="en-IN" dirty="0"/>
                    </a:p>
                  </a:txBody>
                  <a:tcPr/>
                </a:tc>
                <a:tc>
                  <a:txBody>
                    <a:bodyPr/>
                    <a:lstStyle/>
                    <a:p>
                      <a:r>
                        <a:rPr lang="en-US" dirty="0" smtClean="0"/>
                        <a:t>0</a:t>
                      </a:r>
                      <a:endParaRPr lang="en-IN" dirty="0"/>
                    </a:p>
                  </a:txBody>
                  <a:tcPr/>
                </a:tc>
                <a:tc>
                  <a:txBody>
                    <a:bodyPr/>
                    <a:lstStyle/>
                    <a:p>
                      <a:r>
                        <a:rPr lang="en-US" dirty="0" smtClean="0"/>
                        <a:t>0</a:t>
                      </a:r>
                      <a:endParaRPr lang="en-IN" dirty="0"/>
                    </a:p>
                  </a:txBody>
                  <a:tcPr/>
                </a:tc>
                <a:extLst>
                  <a:ext uri="{0D108BD9-81ED-4DB2-BD59-A6C34878D82A}">
                    <a16:rowId xmlns:a16="http://schemas.microsoft.com/office/drawing/2014/main" val="2134058022"/>
                  </a:ext>
                </a:extLst>
              </a:tr>
              <a:tr h="375712">
                <a:tc>
                  <a:txBody>
                    <a:bodyPr/>
                    <a:lstStyle/>
                    <a:p>
                      <a:r>
                        <a:rPr lang="en-US" dirty="0" smtClean="0"/>
                        <a:t>165</a:t>
                      </a:r>
                      <a:endParaRPr lang="en-IN" dirty="0"/>
                    </a:p>
                  </a:txBody>
                  <a:tcPr/>
                </a:tc>
                <a:tc>
                  <a:txBody>
                    <a:bodyPr/>
                    <a:lstStyle/>
                    <a:p>
                      <a:r>
                        <a:rPr lang="en-US" dirty="0" smtClean="0"/>
                        <a:t>100</a:t>
                      </a:r>
                      <a:endParaRPr lang="en-IN" dirty="0"/>
                    </a:p>
                  </a:txBody>
                  <a:tcPr/>
                </a:tc>
                <a:tc>
                  <a:txBody>
                    <a:bodyPr/>
                    <a:lstStyle/>
                    <a:p>
                      <a:r>
                        <a:rPr lang="en-US" dirty="0" smtClean="0"/>
                        <a:t>16500</a:t>
                      </a:r>
                      <a:endParaRPr lang="en-IN" dirty="0"/>
                    </a:p>
                  </a:txBody>
                  <a:tcPr/>
                </a:tc>
                <a:extLst>
                  <a:ext uri="{0D108BD9-81ED-4DB2-BD59-A6C34878D82A}">
                    <a16:rowId xmlns:a16="http://schemas.microsoft.com/office/drawing/2014/main" val="2247969933"/>
                  </a:ext>
                </a:extLst>
              </a:tr>
              <a:tr h="375712">
                <a:tc>
                  <a:txBody>
                    <a:bodyPr/>
                    <a:lstStyle/>
                    <a:p>
                      <a:r>
                        <a:rPr lang="en-US" dirty="0" smtClean="0"/>
                        <a:t>150</a:t>
                      </a:r>
                      <a:endParaRPr lang="en-IN" dirty="0"/>
                    </a:p>
                  </a:txBody>
                  <a:tcPr/>
                </a:tc>
                <a:tc>
                  <a:txBody>
                    <a:bodyPr/>
                    <a:lstStyle/>
                    <a:p>
                      <a:r>
                        <a:rPr lang="en-US" dirty="0" smtClean="0"/>
                        <a:t>200</a:t>
                      </a:r>
                      <a:endParaRPr lang="en-IN" dirty="0"/>
                    </a:p>
                  </a:txBody>
                  <a:tcPr/>
                </a:tc>
                <a:tc>
                  <a:txBody>
                    <a:bodyPr/>
                    <a:lstStyle/>
                    <a:p>
                      <a:r>
                        <a:rPr lang="en-US" dirty="0" smtClean="0"/>
                        <a:t>30,000</a:t>
                      </a:r>
                      <a:endParaRPr lang="en-IN" dirty="0"/>
                    </a:p>
                  </a:txBody>
                  <a:tcPr/>
                </a:tc>
                <a:extLst>
                  <a:ext uri="{0D108BD9-81ED-4DB2-BD59-A6C34878D82A}">
                    <a16:rowId xmlns:a16="http://schemas.microsoft.com/office/drawing/2014/main" val="971019197"/>
                  </a:ext>
                </a:extLst>
              </a:tr>
              <a:tr h="375712">
                <a:tc>
                  <a:txBody>
                    <a:bodyPr/>
                    <a:lstStyle/>
                    <a:p>
                      <a:r>
                        <a:rPr lang="en-US" dirty="0" smtClean="0"/>
                        <a:t>135</a:t>
                      </a:r>
                      <a:endParaRPr lang="en-IN" dirty="0"/>
                    </a:p>
                  </a:txBody>
                  <a:tcPr/>
                </a:tc>
                <a:tc>
                  <a:txBody>
                    <a:bodyPr/>
                    <a:lstStyle/>
                    <a:p>
                      <a:r>
                        <a:rPr lang="en-US" dirty="0" smtClean="0"/>
                        <a:t>300</a:t>
                      </a:r>
                      <a:endParaRPr lang="en-IN" dirty="0"/>
                    </a:p>
                  </a:txBody>
                  <a:tcPr/>
                </a:tc>
                <a:tc>
                  <a:txBody>
                    <a:bodyPr/>
                    <a:lstStyle/>
                    <a:p>
                      <a:r>
                        <a:rPr lang="en-US" dirty="0" smtClean="0"/>
                        <a:t>40,500</a:t>
                      </a:r>
                      <a:endParaRPr lang="en-IN" dirty="0"/>
                    </a:p>
                  </a:txBody>
                  <a:tcPr/>
                </a:tc>
                <a:extLst>
                  <a:ext uri="{0D108BD9-81ED-4DB2-BD59-A6C34878D82A}">
                    <a16:rowId xmlns:a16="http://schemas.microsoft.com/office/drawing/2014/main" val="2669683467"/>
                  </a:ext>
                </a:extLst>
              </a:tr>
              <a:tr h="375712">
                <a:tc>
                  <a:txBody>
                    <a:bodyPr/>
                    <a:lstStyle/>
                    <a:p>
                      <a:r>
                        <a:rPr lang="en-US" dirty="0" smtClean="0"/>
                        <a:t>120</a:t>
                      </a:r>
                      <a:endParaRPr lang="en-IN" dirty="0"/>
                    </a:p>
                  </a:txBody>
                  <a:tcPr/>
                </a:tc>
                <a:tc>
                  <a:txBody>
                    <a:bodyPr/>
                    <a:lstStyle/>
                    <a:p>
                      <a:r>
                        <a:rPr lang="en-US" dirty="0" smtClean="0"/>
                        <a:t>400</a:t>
                      </a:r>
                      <a:endParaRPr lang="en-IN" dirty="0"/>
                    </a:p>
                  </a:txBody>
                  <a:tcPr/>
                </a:tc>
                <a:tc>
                  <a:txBody>
                    <a:bodyPr/>
                    <a:lstStyle/>
                    <a:p>
                      <a:r>
                        <a:rPr lang="en-US" dirty="0" smtClean="0"/>
                        <a:t>48,000</a:t>
                      </a:r>
                      <a:endParaRPr lang="en-IN" dirty="0"/>
                    </a:p>
                  </a:txBody>
                  <a:tcPr/>
                </a:tc>
                <a:extLst>
                  <a:ext uri="{0D108BD9-81ED-4DB2-BD59-A6C34878D82A}">
                    <a16:rowId xmlns:a16="http://schemas.microsoft.com/office/drawing/2014/main" val="4262191339"/>
                  </a:ext>
                </a:extLst>
              </a:tr>
              <a:tr h="375712">
                <a:tc>
                  <a:txBody>
                    <a:bodyPr/>
                    <a:lstStyle/>
                    <a:p>
                      <a:r>
                        <a:rPr lang="en-US" dirty="0" smtClean="0"/>
                        <a:t>105</a:t>
                      </a:r>
                      <a:endParaRPr lang="en-IN" dirty="0"/>
                    </a:p>
                  </a:txBody>
                  <a:tcPr/>
                </a:tc>
                <a:tc>
                  <a:txBody>
                    <a:bodyPr/>
                    <a:lstStyle/>
                    <a:p>
                      <a:r>
                        <a:rPr lang="en-US" dirty="0" smtClean="0"/>
                        <a:t>500</a:t>
                      </a:r>
                      <a:endParaRPr lang="en-IN" dirty="0"/>
                    </a:p>
                  </a:txBody>
                  <a:tcPr/>
                </a:tc>
                <a:tc>
                  <a:txBody>
                    <a:bodyPr/>
                    <a:lstStyle/>
                    <a:p>
                      <a:r>
                        <a:rPr lang="en-US" dirty="0" smtClean="0"/>
                        <a:t>52,500</a:t>
                      </a:r>
                      <a:endParaRPr lang="en-IN" dirty="0"/>
                    </a:p>
                  </a:txBody>
                  <a:tcPr/>
                </a:tc>
                <a:extLst>
                  <a:ext uri="{0D108BD9-81ED-4DB2-BD59-A6C34878D82A}">
                    <a16:rowId xmlns:a16="http://schemas.microsoft.com/office/drawing/2014/main" val="4227071842"/>
                  </a:ext>
                </a:extLst>
              </a:tr>
              <a:tr h="375712">
                <a:tc>
                  <a:txBody>
                    <a:bodyPr/>
                    <a:lstStyle/>
                    <a:p>
                      <a:r>
                        <a:rPr lang="en-US" dirty="0" smtClean="0"/>
                        <a:t>90</a:t>
                      </a:r>
                      <a:endParaRPr lang="en-IN" dirty="0"/>
                    </a:p>
                  </a:txBody>
                  <a:tcPr/>
                </a:tc>
                <a:tc>
                  <a:txBody>
                    <a:bodyPr/>
                    <a:lstStyle/>
                    <a:p>
                      <a:r>
                        <a:rPr lang="en-US" dirty="0" smtClean="0"/>
                        <a:t>600</a:t>
                      </a:r>
                      <a:endParaRPr lang="en-IN" dirty="0"/>
                    </a:p>
                  </a:txBody>
                  <a:tcPr/>
                </a:tc>
                <a:tc>
                  <a:txBody>
                    <a:bodyPr/>
                    <a:lstStyle/>
                    <a:p>
                      <a:r>
                        <a:rPr lang="en-US" dirty="0" smtClean="0"/>
                        <a:t>54,000</a:t>
                      </a:r>
                      <a:endParaRPr lang="en-IN" dirty="0"/>
                    </a:p>
                  </a:txBody>
                  <a:tcPr/>
                </a:tc>
                <a:extLst>
                  <a:ext uri="{0D108BD9-81ED-4DB2-BD59-A6C34878D82A}">
                    <a16:rowId xmlns:a16="http://schemas.microsoft.com/office/drawing/2014/main" val="2342442255"/>
                  </a:ext>
                </a:extLst>
              </a:tr>
              <a:tr h="375712">
                <a:tc>
                  <a:txBody>
                    <a:bodyPr/>
                    <a:lstStyle/>
                    <a:p>
                      <a:r>
                        <a:rPr lang="en-US" dirty="0" smtClean="0"/>
                        <a:t>75</a:t>
                      </a:r>
                      <a:endParaRPr lang="en-IN" dirty="0"/>
                    </a:p>
                  </a:txBody>
                  <a:tcPr/>
                </a:tc>
                <a:tc>
                  <a:txBody>
                    <a:bodyPr/>
                    <a:lstStyle/>
                    <a:p>
                      <a:r>
                        <a:rPr lang="en-US" dirty="0" smtClean="0"/>
                        <a:t>700</a:t>
                      </a:r>
                      <a:endParaRPr lang="en-IN" dirty="0"/>
                    </a:p>
                  </a:txBody>
                  <a:tcPr/>
                </a:tc>
                <a:tc>
                  <a:txBody>
                    <a:bodyPr/>
                    <a:lstStyle/>
                    <a:p>
                      <a:r>
                        <a:rPr lang="en-US" dirty="0" smtClean="0"/>
                        <a:t>52,500</a:t>
                      </a:r>
                      <a:endParaRPr lang="en-IN" dirty="0"/>
                    </a:p>
                  </a:txBody>
                  <a:tcPr/>
                </a:tc>
                <a:extLst>
                  <a:ext uri="{0D108BD9-81ED-4DB2-BD59-A6C34878D82A}">
                    <a16:rowId xmlns:a16="http://schemas.microsoft.com/office/drawing/2014/main" val="213620339"/>
                  </a:ext>
                </a:extLst>
              </a:tr>
              <a:tr h="375712">
                <a:tc>
                  <a:txBody>
                    <a:bodyPr/>
                    <a:lstStyle/>
                    <a:p>
                      <a:r>
                        <a:rPr lang="en-US" b="1" dirty="0" smtClean="0"/>
                        <a:t>60</a:t>
                      </a:r>
                      <a:endParaRPr lang="en-IN" b="1" dirty="0"/>
                    </a:p>
                  </a:txBody>
                  <a:tcPr/>
                </a:tc>
                <a:tc>
                  <a:txBody>
                    <a:bodyPr/>
                    <a:lstStyle/>
                    <a:p>
                      <a:r>
                        <a:rPr lang="en-US" b="1" dirty="0" smtClean="0"/>
                        <a:t>800</a:t>
                      </a:r>
                      <a:endParaRPr lang="en-IN" b="1" dirty="0"/>
                    </a:p>
                  </a:txBody>
                  <a:tcPr/>
                </a:tc>
                <a:tc>
                  <a:txBody>
                    <a:bodyPr/>
                    <a:lstStyle/>
                    <a:p>
                      <a:r>
                        <a:rPr lang="en-US" b="1" dirty="0" smtClean="0"/>
                        <a:t>48,000</a:t>
                      </a:r>
                      <a:endParaRPr lang="en-IN" b="1" dirty="0"/>
                    </a:p>
                  </a:txBody>
                  <a:tcPr/>
                </a:tc>
                <a:extLst>
                  <a:ext uri="{0D108BD9-81ED-4DB2-BD59-A6C34878D82A}">
                    <a16:rowId xmlns:a16="http://schemas.microsoft.com/office/drawing/2014/main" val="2366747785"/>
                  </a:ext>
                </a:extLst>
              </a:tr>
              <a:tr h="375712">
                <a:tc>
                  <a:txBody>
                    <a:bodyPr/>
                    <a:lstStyle/>
                    <a:p>
                      <a:r>
                        <a:rPr lang="en-US" dirty="0" smtClean="0"/>
                        <a:t>45</a:t>
                      </a:r>
                      <a:endParaRPr lang="en-IN" dirty="0"/>
                    </a:p>
                  </a:txBody>
                  <a:tcPr/>
                </a:tc>
                <a:tc>
                  <a:txBody>
                    <a:bodyPr/>
                    <a:lstStyle/>
                    <a:p>
                      <a:r>
                        <a:rPr lang="en-US" dirty="0" smtClean="0"/>
                        <a:t>900</a:t>
                      </a:r>
                      <a:endParaRPr lang="en-IN" dirty="0"/>
                    </a:p>
                  </a:txBody>
                  <a:tcPr/>
                </a:tc>
                <a:tc>
                  <a:txBody>
                    <a:bodyPr/>
                    <a:lstStyle/>
                    <a:p>
                      <a:r>
                        <a:rPr lang="en-US" dirty="0" smtClean="0"/>
                        <a:t>40,500</a:t>
                      </a:r>
                      <a:endParaRPr lang="en-IN" dirty="0"/>
                    </a:p>
                  </a:txBody>
                  <a:tcPr/>
                </a:tc>
                <a:extLst>
                  <a:ext uri="{0D108BD9-81ED-4DB2-BD59-A6C34878D82A}">
                    <a16:rowId xmlns:a16="http://schemas.microsoft.com/office/drawing/2014/main" val="1802467035"/>
                  </a:ext>
                </a:extLst>
              </a:tr>
              <a:tr h="375712">
                <a:tc>
                  <a:txBody>
                    <a:bodyPr/>
                    <a:lstStyle/>
                    <a:p>
                      <a:r>
                        <a:rPr lang="en-US" dirty="0" smtClean="0"/>
                        <a:t>30</a:t>
                      </a:r>
                      <a:endParaRPr lang="en-IN" dirty="0"/>
                    </a:p>
                  </a:txBody>
                  <a:tcPr/>
                </a:tc>
                <a:tc>
                  <a:txBody>
                    <a:bodyPr/>
                    <a:lstStyle/>
                    <a:p>
                      <a:r>
                        <a:rPr lang="en-US" dirty="0" smtClean="0"/>
                        <a:t>1000</a:t>
                      </a:r>
                      <a:endParaRPr lang="en-IN" dirty="0"/>
                    </a:p>
                  </a:txBody>
                  <a:tcPr/>
                </a:tc>
                <a:tc>
                  <a:txBody>
                    <a:bodyPr/>
                    <a:lstStyle/>
                    <a:p>
                      <a:r>
                        <a:rPr lang="en-US" dirty="0" smtClean="0"/>
                        <a:t>30,000</a:t>
                      </a:r>
                      <a:endParaRPr lang="en-IN" dirty="0"/>
                    </a:p>
                  </a:txBody>
                  <a:tcPr/>
                </a:tc>
                <a:extLst>
                  <a:ext uri="{0D108BD9-81ED-4DB2-BD59-A6C34878D82A}">
                    <a16:rowId xmlns:a16="http://schemas.microsoft.com/office/drawing/2014/main" val="2110868601"/>
                  </a:ext>
                </a:extLst>
              </a:tr>
              <a:tr h="375712">
                <a:tc>
                  <a:txBody>
                    <a:bodyPr/>
                    <a:lstStyle/>
                    <a:p>
                      <a:r>
                        <a:rPr lang="en-US" dirty="0" smtClean="0"/>
                        <a:t>15</a:t>
                      </a:r>
                      <a:endParaRPr lang="en-IN" dirty="0"/>
                    </a:p>
                  </a:txBody>
                  <a:tcPr/>
                </a:tc>
                <a:tc>
                  <a:txBody>
                    <a:bodyPr/>
                    <a:lstStyle/>
                    <a:p>
                      <a:r>
                        <a:rPr lang="en-US" dirty="0" smtClean="0"/>
                        <a:t>1100</a:t>
                      </a:r>
                      <a:endParaRPr lang="en-IN" dirty="0"/>
                    </a:p>
                  </a:txBody>
                  <a:tcPr/>
                </a:tc>
                <a:tc>
                  <a:txBody>
                    <a:bodyPr/>
                    <a:lstStyle/>
                    <a:p>
                      <a:r>
                        <a:rPr lang="en-US" dirty="0" smtClean="0"/>
                        <a:t>16,500</a:t>
                      </a:r>
                      <a:endParaRPr lang="en-IN" dirty="0"/>
                    </a:p>
                  </a:txBody>
                  <a:tcPr/>
                </a:tc>
                <a:extLst>
                  <a:ext uri="{0D108BD9-81ED-4DB2-BD59-A6C34878D82A}">
                    <a16:rowId xmlns:a16="http://schemas.microsoft.com/office/drawing/2014/main" val="3142385441"/>
                  </a:ext>
                </a:extLst>
              </a:tr>
              <a:tr h="375712">
                <a:tc>
                  <a:txBody>
                    <a:bodyPr/>
                    <a:lstStyle/>
                    <a:p>
                      <a:r>
                        <a:rPr lang="en-US" dirty="0" smtClean="0"/>
                        <a:t>0</a:t>
                      </a:r>
                      <a:endParaRPr lang="en-IN" dirty="0"/>
                    </a:p>
                  </a:txBody>
                  <a:tcPr/>
                </a:tc>
                <a:tc>
                  <a:txBody>
                    <a:bodyPr/>
                    <a:lstStyle/>
                    <a:p>
                      <a:r>
                        <a:rPr lang="en-US" dirty="0" smtClean="0"/>
                        <a:t>1200</a:t>
                      </a:r>
                      <a:endParaRPr lang="en-IN" dirty="0"/>
                    </a:p>
                  </a:txBody>
                  <a:tcPr/>
                </a:tc>
                <a:tc>
                  <a:txBody>
                    <a:bodyPr/>
                    <a:lstStyle/>
                    <a:p>
                      <a:r>
                        <a:rPr lang="en-US" dirty="0" smtClean="0"/>
                        <a:t>0</a:t>
                      </a:r>
                      <a:endParaRPr lang="en-IN" dirty="0"/>
                    </a:p>
                  </a:txBody>
                  <a:tcPr/>
                </a:tc>
                <a:extLst>
                  <a:ext uri="{0D108BD9-81ED-4DB2-BD59-A6C34878D82A}">
                    <a16:rowId xmlns:a16="http://schemas.microsoft.com/office/drawing/2014/main" val="2122296077"/>
                  </a:ext>
                </a:extLst>
              </a:tr>
            </a:tbl>
          </a:graphicData>
        </a:graphic>
      </p:graphicFrame>
    </p:spTree>
    <p:extLst>
      <p:ext uri="{BB962C8B-B14F-4D97-AF65-F5344CB8AC3E}">
        <p14:creationId xmlns:p14="http://schemas.microsoft.com/office/powerpoint/2010/main" val="1720954999"/>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Collusions and cartels</a:t>
            </a:r>
            <a:endParaRPr lang="en-IN" dirty="0"/>
          </a:p>
        </p:txBody>
      </p:sp>
      <p:sp>
        <p:nvSpPr>
          <p:cNvPr id="3" name="Content Placeholder 2"/>
          <p:cNvSpPr>
            <a:spLocks noGrp="1"/>
          </p:cNvSpPr>
          <p:nvPr>
            <p:ph idx="1"/>
          </p:nvPr>
        </p:nvSpPr>
        <p:spPr/>
        <p:txBody>
          <a:bodyPr/>
          <a:lstStyle/>
          <a:p>
            <a:r>
              <a:rPr lang="en-US" dirty="0" smtClean="0"/>
              <a:t>Collusions Is an agreement among rival firms that specifies the price each firm charges and quantity it produces. </a:t>
            </a:r>
          </a:p>
          <a:p>
            <a:r>
              <a:rPr lang="en-US" dirty="0" smtClean="0"/>
              <a:t>A cartel is a group of two or more firms that act in unison. </a:t>
            </a:r>
          </a:p>
          <a:p>
            <a:r>
              <a:rPr lang="en-US" dirty="0" err="1" smtClean="0"/>
              <a:t>Eg</a:t>
            </a:r>
            <a:r>
              <a:rPr lang="en-US" dirty="0" smtClean="0"/>
              <a:t>. OPEC Cartel, Vitamin Cartel, Maple syrup cartel. </a:t>
            </a:r>
          </a:p>
          <a:p>
            <a:r>
              <a:rPr lang="en-US" dirty="0" smtClean="0"/>
              <a:t>Mutual interdependence is a market situation where the actions of one firm have an impact on the price and output of its competitors. </a:t>
            </a:r>
            <a:endParaRPr lang="en-IN" dirty="0"/>
          </a:p>
        </p:txBody>
      </p:sp>
    </p:spTree>
    <p:extLst>
      <p:ext uri="{BB962C8B-B14F-4D97-AF65-F5344CB8AC3E}">
        <p14:creationId xmlns:p14="http://schemas.microsoft.com/office/powerpoint/2010/main" val="775920215"/>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IN" dirty="0" smtClean="0"/>
              <a:t>Vitamin Cartel </a:t>
            </a:r>
            <a:endParaRPr lang="en-IN" dirty="0"/>
          </a:p>
        </p:txBody>
      </p:sp>
      <p:sp>
        <p:nvSpPr>
          <p:cNvPr id="3" name="Content Placeholder 2"/>
          <p:cNvSpPr>
            <a:spLocks noGrp="1"/>
          </p:cNvSpPr>
          <p:nvPr>
            <p:ph idx="1"/>
          </p:nvPr>
        </p:nvSpPr>
        <p:spPr/>
        <p:txBody>
          <a:bodyPr/>
          <a:lstStyle/>
          <a:p>
            <a:pPr algn="just"/>
            <a:r>
              <a:rPr lang="en-US" dirty="0"/>
              <a:t>The European Commission has imposed record fines of 855.22 million euros (£534m; $753m) on eight pharmaceutical companies for operating secret </a:t>
            </a:r>
            <a:r>
              <a:rPr lang="en-US" b="1" dirty="0"/>
              <a:t>market sharing and price fixing cartels </a:t>
            </a:r>
            <a:r>
              <a:rPr lang="en-US" dirty="0"/>
              <a:t>in the supply </a:t>
            </a:r>
            <a:r>
              <a:rPr lang="en-US" dirty="0" smtClean="0"/>
              <a:t>of </a:t>
            </a:r>
            <a:r>
              <a:rPr lang="en-US" dirty="0"/>
              <a:t>vitamins throughout the 1990s</a:t>
            </a:r>
            <a:r>
              <a:rPr lang="en-US" dirty="0" smtClean="0"/>
              <a:t>.</a:t>
            </a:r>
          </a:p>
          <a:p>
            <a:pPr algn="just"/>
            <a:r>
              <a:rPr lang="en-US" dirty="0"/>
              <a:t>The heaviest penalty of 462 million euros was handed out to the Swiss based multinational Hoffman-La Roche. </a:t>
            </a:r>
            <a:endParaRPr lang="en-US" dirty="0" smtClean="0"/>
          </a:p>
          <a:p>
            <a:pPr algn="just"/>
            <a:r>
              <a:rPr lang="en-US" dirty="0" smtClean="0"/>
              <a:t>The </a:t>
            </a:r>
            <a:r>
              <a:rPr lang="en-US" dirty="0"/>
              <a:t>investigators maintain that the company was the chief instigator and was involved in all 12 cartels that they uncovered. </a:t>
            </a:r>
            <a:endParaRPr lang="en-US" dirty="0" smtClean="0"/>
          </a:p>
          <a:p>
            <a:pPr algn="just"/>
            <a:r>
              <a:rPr lang="en-US" b="1" dirty="0" smtClean="0"/>
              <a:t>Hoffmann-La </a:t>
            </a:r>
            <a:r>
              <a:rPr lang="en-US" b="1" dirty="0"/>
              <a:t>Roche is the largest vitamin producer in the world, with about half of the overall market share</a:t>
            </a:r>
            <a:r>
              <a:rPr lang="en-US" b="1" dirty="0" smtClean="0"/>
              <a:t>.</a:t>
            </a:r>
          </a:p>
          <a:p>
            <a:pPr algn="just"/>
            <a:endParaRPr lang="en-IN" dirty="0"/>
          </a:p>
        </p:txBody>
      </p:sp>
    </p:spTree>
    <p:extLst>
      <p:ext uri="{BB962C8B-B14F-4D97-AF65-F5344CB8AC3E}">
        <p14:creationId xmlns:p14="http://schemas.microsoft.com/office/powerpoint/2010/main" val="80677397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IN" dirty="0" smtClean="0"/>
              <a:t>Vitamin Cartel </a:t>
            </a:r>
            <a:endParaRPr lang="en-IN" dirty="0"/>
          </a:p>
        </p:txBody>
      </p:sp>
      <p:sp>
        <p:nvSpPr>
          <p:cNvPr id="3" name="Content Placeholder 2"/>
          <p:cNvSpPr>
            <a:spLocks noGrp="1"/>
          </p:cNvSpPr>
          <p:nvPr>
            <p:ph idx="1"/>
          </p:nvPr>
        </p:nvSpPr>
        <p:spPr>
          <a:xfrm>
            <a:off x="724911" y="1817532"/>
            <a:ext cx="10515600" cy="4351338"/>
          </a:xfrm>
        </p:spPr>
        <p:txBody>
          <a:bodyPr/>
          <a:lstStyle/>
          <a:p>
            <a:pPr algn="just"/>
            <a:r>
              <a:rPr lang="en-US" dirty="0"/>
              <a:t>The German company BASF, which is second in size only to Hoffman-La Roche, was accused of following its lead and was handed a penalty of 296.1 million euros. </a:t>
            </a:r>
            <a:endParaRPr lang="en-US" dirty="0" smtClean="0"/>
          </a:p>
          <a:p>
            <a:pPr algn="just"/>
            <a:r>
              <a:rPr lang="en-US" dirty="0"/>
              <a:t>Lower fines were imposed on three Japanese manufacturers and on a further trio of European companies—Merck </a:t>
            </a:r>
            <a:r>
              <a:rPr lang="en-US" dirty="0" err="1"/>
              <a:t>KgaA</a:t>
            </a:r>
            <a:r>
              <a:rPr lang="en-US" dirty="0"/>
              <a:t> (Germany), Solvay Pharmaceuticals BV (Netherlands), and </a:t>
            </a:r>
            <a:r>
              <a:rPr lang="en-US" dirty="0" smtClean="0"/>
              <a:t>Aventis </a:t>
            </a:r>
            <a:r>
              <a:rPr lang="en-US" dirty="0"/>
              <a:t>SA (France</a:t>
            </a:r>
            <a:r>
              <a:rPr lang="en-US" dirty="0" smtClean="0"/>
              <a:t>).</a:t>
            </a:r>
          </a:p>
          <a:p>
            <a:pPr algn="just"/>
            <a:r>
              <a:rPr lang="en-US" dirty="0"/>
              <a:t>The cartels concerned bulk synthetic substances which belong to the following groups of vitamins and closely related products: A, E, B1, B2, B5, B6, C, D3, Biotin (H), Folic Acid (M), Beta Carotene and </a:t>
            </a:r>
            <a:r>
              <a:rPr lang="en-US" dirty="0" err="1"/>
              <a:t>carotinoids</a:t>
            </a:r>
            <a:r>
              <a:rPr lang="en-US" dirty="0"/>
              <a:t>.</a:t>
            </a:r>
            <a:endParaRPr lang="en-IN" dirty="0"/>
          </a:p>
        </p:txBody>
      </p:sp>
    </p:spTree>
    <p:extLst>
      <p:ext uri="{BB962C8B-B14F-4D97-AF65-F5344CB8AC3E}">
        <p14:creationId xmlns:p14="http://schemas.microsoft.com/office/powerpoint/2010/main" val="95163655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IN" dirty="0" smtClean="0"/>
              <a:t>Vitamin Cartel </a:t>
            </a:r>
            <a:endParaRPr lang="en-IN" dirty="0"/>
          </a:p>
        </p:txBody>
      </p:sp>
      <p:sp>
        <p:nvSpPr>
          <p:cNvPr id="3" name="Content Placeholder 2"/>
          <p:cNvSpPr>
            <a:spLocks noGrp="1"/>
          </p:cNvSpPr>
          <p:nvPr>
            <p:ph idx="1"/>
          </p:nvPr>
        </p:nvSpPr>
        <p:spPr/>
        <p:txBody>
          <a:bodyPr/>
          <a:lstStyle/>
          <a:p>
            <a:r>
              <a:rPr lang="en-IN" dirty="0"/>
              <a:t>F. Hoffmann-La Roche AG (Switzerland): € 462 million</a:t>
            </a:r>
          </a:p>
          <a:p>
            <a:r>
              <a:rPr lang="en-IN" dirty="0"/>
              <a:t>BASF AG (Germany): € 296.16 million</a:t>
            </a:r>
          </a:p>
          <a:p>
            <a:r>
              <a:rPr lang="en-IN" dirty="0"/>
              <a:t>Aventis SA (France): € 5.04 million</a:t>
            </a:r>
          </a:p>
          <a:p>
            <a:r>
              <a:rPr lang="en-IN" dirty="0"/>
              <a:t>Solvay Pharmaceuticals BV (Netherlands): € 9.10 million</a:t>
            </a:r>
          </a:p>
          <a:p>
            <a:r>
              <a:rPr lang="en-IN" dirty="0"/>
              <a:t>Merck </a:t>
            </a:r>
            <a:r>
              <a:rPr lang="en-IN" dirty="0" err="1"/>
              <a:t>KgaA</a:t>
            </a:r>
            <a:r>
              <a:rPr lang="en-IN" dirty="0"/>
              <a:t> (Germany):€ 9.24 million</a:t>
            </a:r>
          </a:p>
          <a:p>
            <a:r>
              <a:rPr lang="en-IN" dirty="0"/>
              <a:t>Daiichi Pharmaceutical Co Ltd (Japan): € 23.4 million</a:t>
            </a:r>
          </a:p>
          <a:p>
            <a:r>
              <a:rPr lang="en-IN" dirty="0"/>
              <a:t>Eisai Co Ltd (Japan): € 13.23 million</a:t>
            </a:r>
          </a:p>
          <a:p>
            <a:r>
              <a:rPr lang="en-IN" dirty="0"/>
              <a:t>Takeda Chemical Industries Ltd (Japan): € 37.05 million</a:t>
            </a:r>
          </a:p>
        </p:txBody>
      </p:sp>
    </p:spTree>
    <p:extLst>
      <p:ext uri="{BB962C8B-B14F-4D97-AF65-F5344CB8AC3E}">
        <p14:creationId xmlns:p14="http://schemas.microsoft.com/office/powerpoint/2010/main" val="99894968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910046"/>
          </a:xfrm>
        </p:spPr>
        <p:txBody>
          <a:bodyPr/>
          <a:lstStyle/>
          <a:p>
            <a:r>
              <a:rPr lang="en-US" dirty="0" smtClean="0"/>
              <a:t>Nash Equilibrium </a:t>
            </a:r>
            <a:endParaRPr lang="en-IN" dirty="0"/>
          </a:p>
        </p:txBody>
      </p:sp>
      <p:pic>
        <p:nvPicPr>
          <p:cNvPr id="5" name="Content Placeholder 4"/>
          <p:cNvPicPr>
            <a:picLocks noGrp="1" noChangeAspect="1"/>
          </p:cNvPicPr>
          <p:nvPr>
            <p:ph idx="1"/>
          </p:nvPr>
        </p:nvPicPr>
        <p:blipFill>
          <a:blip r:embed="rId2"/>
          <a:stretch>
            <a:fillRect/>
          </a:stretch>
        </p:blipFill>
        <p:spPr>
          <a:xfrm>
            <a:off x="5947954" y="827314"/>
            <a:ext cx="4650377" cy="5312229"/>
          </a:xfrm>
          <a:prstGeom prst="rect">
            <a:avLst/>
          </a:prstGeom>
        </p:spPr>
      </p:pic>
      <p:sp>
        <p:nvSpPr>
          <p:cNvPr id="4" name="Text Placeholder 3"/>
          <p:cNvSpPr>
            <a:spLocks noGrp="1"/>
          </p:cNvSpPr>
          <p:nvPr>
            <p:ph type="body" sz="half" idx="2"/>
          </p:nvPr>
        </p:nvSpPr>
        <p:spPr/>
        <p:txBody>
          <a:bodyPr>
            <a:normAutofit/>
          </a:bodyPr>
          <a:lstStyle/>
          <a:p>
            <a:pPr algn="just"/>
            <a:r>
              <a:rPr lang="en-US" sz="2000" dirty="0" smtClean="0"/>
              <a:t>A Nash equilibrium or second best outcome occurs when an economic decision maker has nothing to gain by changing strategy unless it can collude. </a:t>
            </a:r>
            <a:endParaRPr lang="en-IN" sz="2000" dirty="0"/>
          </a:p>
        </p:txBody>
      </p:sp>
    </p:spTree>
    <p:extLst>
      <p:ext uri="{BB962C8B-B14F-4D97-AF65-F5344CB8AC3E}">
        <p14:creationId xmlns:p14="http://schemas.microsoft.com/office/powerpoint/2010/main" val="4136073441"/>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005840"/>
          </a:xfrm>
        </p:spPr>
        <p:txBody>
          <a:bodyPr>
            <a:normAutofit fontScale="90000"/>
          </a:bodyPr>
          <a:lstStyle/>
          <a:p>
            <a:r>
              <a:rPr lang="en-US" dirty="0"/>
              <a:t>How does Game theory explain strategic behavior?</a:t>
            </a:r>
            <a:endParaRPr lang="en-IN" dirty="0"/>
          </a:p>
        </p:txBody>
      </p:sp>
      <p:pic>
        <p:nvPicPr>
          <p:cNvPr id="5" name="Content Placeholder 4"/>
          <p:cNvPicPr>
            <a:picLocks noGrp="1" noChangeAspect="1"/>
          </p:cNvPicPr>
          <p:nvPr>
            <p:ph idx="1"/>
          </p:nvPr>
        </p:nvPicPr>
        <p:blipFill>
          <a:blip r:embed="rId2"/>
          <a:stretch>
            <a:fillRect/>
          </a:stretch>
        </p:blipFill>
        <p:spPr>
          <a:xfrm>
            <a:off x="5199016" y="984070"/>
            <a:ext cx="5747657" cy="5050970"/>
          </a:xfrm>
          <a:prstGeom prst="rect">
            <a:avLst/>
          </a:prstGeom>
        </p:spPr>
      </p:pic>
      <p:sp>
        <p:nvSpPr>
          <p:cNvPr id="4" name="Text Placeholder 3"/>
          <p:cNvSpPr>
            <a:spLocks noGrp="1"/>
          </p:cNvSpPr>
          <p:nvPr>
            <p:ph type="body" sz="half" idx="2"/>
          </p:nvPr>
        </p:nvSpPr>
        <p:spPr>
          <a:xfrm>
            <a:off x="839788" y="1463040"/>
            <a:ext cx="3932237" cy="4405948"/>
          </a:xfrm>
        </p:spPr>
        <p:txBody>
          <a:bodyPr/>
          <a:lstStyle/>
          <a:p>
            <a:pPr algn="just"/>
            <a:r>
              <a:rPr lang="en-US" sz="2400" b="1" dirty="0" smtClean="0"/>
              <a:t>The prisoner’s dilemma </a:t>
            </a:r>
            <a:r>
              <a:rPr lang="en-US" sz="2400" dirty="0" smtClean="0"/>
              <a:t>occurs when decision makers face incentives that make it difficult to achieve mutually beneficial outcomes. </a:t>
            </a:r>
          </a:p>
          <a:p>
            <a:pPr algn="just"/>
            <a:r>
              <a:rPr lang="en-US" sz="2400" b="1" dirty="0" smtClean="0"/>
              <a:t>A dominant strategy </a:t>
            </a:r>
            <a:r>
              <a:rPr lang="en-US" sz="2400" dirty="0" smtClean="0"/>
              <a:t>exists when a player will always prefer one strategy regardless of what his opponent chooses. </a:t>
            </a:r>
            <a:endParaRPr lang="en-IN" sz="2400" dirty="0"/>
          </a:p>
        </p:txBody>
      </p:sp>
    </p:spTree>
    <p:extLst>
      <p:ext uri="{BB962C8B-B14F-4D97-AF65-F5344CB8AC3E}">
        <p14:creationId xmlns:p14="http://schemas.microsoft.com/office/powerpoint/2010/main" val="3252004504"/>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Duopoly and Prisoner's dilemma </a:t>
            </a:r>
            <a:endParaRPr lang="en-IN" dirty="0"/>
          </a:p>
        </p:txBody>
      </p:sp>
      <p:sp>
        <p:nvSpPr>
          <p:cNvPr id="4" name="Text Placeholder 3"/>
          <p:cNvSpPr>
            <a:spLocks noGrp="1"/>
          </p:cNvSpPr>
          <p:nvPr>
            <p:ph type="body" sz="half" idx="2"/>
          </p:nvPr>
        </p:nvSpPr>
        <p:spPr/>
        <p:txBody>
          <a:bodyPr>
            <a:normAutofit/>
          </a:bodyPr>
          <a:lstStyle/>
          <a:p>
            <a:pPr algn="just"/>
            <a:r>
              <a:rPr lang="en-US" sz="2000" dirty="0" smtClean="0"/>
              <a:t>Each company has a dominant strategy to serve more customers because it  makes the most revenue even if its competitor also expands production. A high level of production leads to a Nash equilibrium at which both firms make $ 24000.</a:t>
            </a:r>
          </a:p>
          <a:p>
            <a:pPr algn="just"/>
            <a:r>
              <a:rPr lang="en-US" sz="2000" dirty="0" smtClean="0"/>
              <a:t>75*400= 30,000</a:t>
            </a:r>
          </a:p>
          <a:p>
            <a:pPr algn="just"/>
            <a:r>
              <a:rPr lang="en-US" sz="2000" dirty="0" smtClean="0"/>
              <a:t>75*300=22,500</a:t>
            </a:r>
          </a:p>
          <a:p>
            <a:pPr algn="just"/>
            <a:r>
              <a:rPr lang="en-US" sz="2000" dirty="0" smtClean="0"/>
              <a:t>60*400=24000</a:t>
            </a:r>
            <a:endParaRPr lang="en-IN" sz="2000" dirty="0"/>
          </a:p>
        </p:txBody>
      </p:sp>
      <p:graphicFrame>
        <p:nvGraphicFramePr>
          <p:cNvPr id="6" name="Content Placeholder 5"/>
          <p:cNvGraphicFramePr>
            <a:graphicFrameLocks noGrp="1"/>
          </p:cNvGraphicFramePr>
          <p:nvPr>
            <p:ph idx="1"/>
            <p:extLst>
              <p:ext uri="{D42A27DB-BD31-4B8C-83A1-F6EECF244321}">
                <p14:modId xmlns:p14="http://schemas.microsoft.com/office/powerpoint/2010/main" val="4014887352"/>
              </p:ext>
            </p:extLst>
          </p:nvPr>
        </p:nvGraphicFramePr>
        <p:xfrm>
          <a:off x="5217433" y="1030441"/>
          <a:ext cx="6172200" cy="4880946"/>
        </p:xfrm>
        <a:graphic>
          <a:graphicData uri="http://schemas.openxmlformats.org/drawingml/2006/table">
            <a:tbl>
              <a:tblPr firstRow="1" bandRow="1">
                <a:tableStyleId>{5C22544A-7EE6-4342-B048-85BDC9FD1C3A}</a:tableStyleId>
              </a:tblPr>
              <a:tblGrid>
                <a:gridCol w="451258">
                  <a:extLst>
                    <a:ext uri="{9D8B030D-6E8A-4147-A177-3AD203B41FA5}">
                      <a16:colId xmlns:a16="http://schemas.microsoft.com/office/drawing/2014/main" val="3098946873"/>
                    </a:ext>
                  </a:extLst>
                </a:gridCol>
                <a:gridCol w="740228">
                  <a:extLst>
                    <a:ext uri="{9D8B030D-6E8A-4147-A177-3AD203B41FA5}">
                      <a16:colId xmlns:a16="http://schemas.microsoft.com/office/drawing/2014/main" val="3241732242"/>
                    </a:ext>
                  </a:extLst>
                </a:gridCol>
                <a:gridCol w="2490357">
                  <a:extLst>
                    <a:ext uri="{9D8B030D-6E8A-4147-A177-3AD203B41FA5}">
                      <a16:colId xmlns:a16="http://schemas.microsoft.com/office/drawing/2014/main" val="4203368518"/>
                    </a:ext>
                  </a:extLst>
                </a:gridCol>
                <a:gridCol w="2490357">
                  <a:extLst>
                    <a:ext uri="{9D8B030D-6E8A-4147-A177-3AD203B41FA5}">
                      <a16:colId xmlns:a16="http://schemas.microsoft.com/office/drawing/2014/main" val="469640550"/>
                    </a:ext>
                  </a:extLst>
                </a:gridCol>
              </a:tblGrid>
              <a:tr h="491826">
                <a:tc rowSpan="4">
                  <a:txBody>
                    <a:bodyPr/>
                    <a:lstStyle/>
                    <a:p>
                      <a:pPr algn="ctr"/>
                      <a:r>
                        <a:rPr lang="en-US" dirty="0" smtClean="0"/>
                        <a:t>Horizon </a:t>
                      </a:r>
                      <a:endParaRPr lang="en-IN" dirty="0"/>
                    </a:p>
                  </a:txBody>
                  <a:tcPr vert="wordArtVert"/>
                </a:tc>
                <a:tc rowSpan="3">
                  <a:txBody>
                    <a:bodyPr/>
                    <a:lstStyle/>
                    <a:p>
                      <a:r>
                        <a:rPr lang="en-US" dirty="0" smtClean="0"/>
                        <a:t>Low production 300 customers </a:t>
                      </a:r>
                      <a:endParaRPr lang="en-IN" dirty="0"/>
                    </a:p>
                  </a:txBody>
                  <a:tcPr anchor="ctr"/>
                </a:tc>
                <a:tc gridSpan="2">
                  <a:txBody>
                    <a:bodyPr/>
                    <a:lstStyle/>
                    <a:p>
                      <a:pPr algn="ctr"/>
                      <a:r>
                        <a:rPr lang="en-US" dirty="0" smtClean="0"/>
                        <a:t>AT Phone </a:t>
                      </a:r>
                      <a:endParaRPr lang="en-IN" dirty="0"/>
                    </a:p>
                  </a:txBody>
                  <a:tcPr/>
                </a:tc>
                <a:tc hMerge="1">
                  <a:txBody>
                    <a:bodyPr/>
                    <a:lstStyle/>
                    <a:p>
                      <a:endParaRPr lang="en-IN"/>
                    </a:p>
                  </a:txBody>
                  <a:tcPr/>
                </a:tc>
                <a:extLst>
                  <a:ext uri="{0D108BD9-81ED-4DB2-BD59-A6C34878D82A}">
                    <a16:rowId xmlns:a16="http://schemas.microsoft.com/office/drawing/2014/main" val="578431401"/>
                  </a:ext>
                </a:extLst>
              </a:tr>
              <a:tr h="580643">
                <a:tc vMerge="1">
                  <a:txBody>
                    <a:bodyPr/>
                    <a:lstStyle/>
                    <a:p>
                      <a:endParaRPr lang="en-IN"/>
                    </a:p>
                  </a:txBody>
                  <a:tcPr/>
                </a:tc>
                <a:tc vMerge="1">
                  <a:txBody>
                    <a:bodyPr/>
                    <a:lstStyle/>
                    <a:p>
                      <a:endParaRPr lang="en-IN"/>
                    </a:p>
                  </a:txBody>
                  <a:tcPr/>
                </a:tc>
                <a:tc>
                  <a:txBody>
                    <a:bodyPr/>
                    <a:lstStyle/>
                    <a:p>
                      <a:r>
                        <a:rPr lang="en-US" dirty="0" smtClean="0"/>
                        <a:t>Low production 300 customers </a:t>
                      </a:r>
                      <a:endParaRPr lang="en-IN" dirty="0"/>
                    </a:p>
                  </a:txBody>
                  <a:tcPr/>
                </a:tc>
                <a:tc>
                  <a:txBody>
                    <a:bodyPr/>
                    <a:lstStyle/>
                    <a:p>
                      <a:r>
                        <a:rPr lang="en-US" dirty="0" smtClean="0"/>
                        <a:t>High production 400 customers </a:t>
                      </a:r>
                      <a:endParaRPr lang="en-IN" dirty="0"/>
                    </a:p>
                  </a:txBody>
                  <a:tcPr/>
                </a:tc>
                <a:extLst>
                  <a:ext uri="{0D108BD9-81ED-4DB2-BD59-A6C34878D82A}">
                    <a16:rowId xmlns:a16="http://schemas.microsoft.com/office/drawing/2014/main" val="2749925062"/>
                  </a:ext>
                </a:extLst>
              </a:tr>
              <a:tr h="1327183">
                <a:tc vMerge="1">
                  <a:txBody>
                    <a:bodyPr/>
                    <a:lstStyle/>
                    <a:p>
                      <a:endParaRPr lang="en-IN" dirty="0"/>
                    </a:p>
                  </a:txBody>
                  <a:tcPr/>
                </a:tc>
                <a:tc vMerge="1">
                  <a:txBody>
                    <a:bodyPr/>
                    <a:lstStyle/>
                    <a:p>
                      <a:endParaRPr lang="en-IN"/>
                    </a:p>
                  </a:txBody>
                  <a:tcPr/>
                </a:tc>
                <a:tc>
                  <a:txBody>
                    <a:bodyPr/>
                    <a:lstStyle/>
                    <a:p>
                      <a:r>
                        <a:rPr lang="en-US" dirty="0" smtClean="0"/>
                        <a:t>$ 27000 revenue </a:t>
                      </a:r>
                    </a:p>
                    <a:p>
                      <a:endParaRPr lang="en-US" dirty="0" smtClean="0"/>
                    </a:p>
                    <a:p>
                      <a:endParaRPr lang="en-US" dirty="0" smtClean="0"/>
                    </a:p>
                    <a:p>
                      <a:endParaRPr lang="en-US" dirty="0" smtClean="0"/>
                    </a:p>
                    <a:p>
                      <a:r>
                        <a:rPr lang="en-US" dirty="0" smtClean="0"/>
                        <a:t>$ 27,000 revenue </a:t>
                      </a:r>
                      <a:endParaRPr lang="en-IN" dirty="0"/>
                    </a:p>
                  </a:txBody>
                  <a:tcPr/>
                </a:tc>
                <a:tc>
                  <a:txBody>
                    <a:bodyPr/>
                    <a:lstStyle/>
                    <a:p>
                      <a:r>
                        <a:rPr lang="en-US" dirty="0" smtClean="0"/>
                        <a:t>$ 30,000 revenue</a:t>
                      </a:r>
                    </a:p>
                    <a:p>
                      <a:endParaRPr lang="en-US" dirty="0" smtClean="0"/>
                    </a:p>
                    <a:p>
                      <a:endParaRPr lang="en-US" dirty="0" smtClean="0"/>
                    </a:p>
                    <a:p>
                      <a:endParaRPr lang="en-US" dirty="0" smtClean="0"/>
                    </a:p>
                    <a:p>
                      <a:r>
                        <a:rPr lang="en-US" dirty="0" smtClean="0"/>
                        <a:t>$ 22,500 revenue  </a:t>
                      </a:r>
                      <a:endParaRPr lang="en-IN" dirty="0"/>
                    </a:p>
                  </a:txBody>
                  <a:tcPr/>
                </a:tc>
                <a:extLst>
                  <a:ext uri="{0D108BD9-81ED-4DB2-BD59-A6C34878D82A}">
                    <a16:rowId xmlns:a16="http://schemas.microsoft.com/office/drawing/2014/main" val="1264806067"/>
                  </a:ext>
                </a:extLst>
              </a:tr>
              <a:tr h="2073724">
                <a:tc vMerge="1">
                  <a:txBody>
                    <a:bodyPr/>
                    <a:lstStyle/>
                    <a:p>
                      <a:endParaRPr lang="en-IN" dirty="0"/>
                    </a:p>
                  </a:txBody>
                  <a:tcPr/>
                </a:tc>
                <a:tc>
                  <a:txBody>
                    <a:bodyPr/>
                    <a:lstStyle/>
                    <a:p>
                      <a:r>
                        <a:rPr lang="en-US" dirty="0" smtClean="0"/>
                        <a:t>High production 400 customers </a:t>
                      </a:r>
                      <a:endParaRPr lang="en-IN" dirty="0"/>
                    </a:p>
                  </a:txBody>
                  <a:tcPr/>
                </a:tc>
                <a:tc>
                  <a:txBody>
                    <a:bodyPr/>
                    <a:lstStyle/>
                    <a:p>
                      <a:r>
                        <a:rPr lang="en-US" dirty="0" smtClean="0"/>
                        <a:t>$ 22,500 revenue </a:t>
                      </a:r>
                    </a:p>
                    <a:p>
                      <a:endParaRPr lang="en-US" dirty="0" smtClean="0"/>
                    </a:p>
                    <a:p>
                      <a:endParaRPr lang="en-US" dirty="0" smtClean="0"/>
                    </a:p>
                    <a:p>
                      <a:endParaRPr lang="en-US" dirty="0" smtClean="0"/>
                    </a:p>
                    <a:p>
                      <a:endParaRPr lang="en-US" dirty="0" smtClean="0"/>
                    </a:p>
                    <a:p>
                      <a:endParaRPr lang="en-US" dirty="0" smtClean="0"/>
                    </a:p>
                    <a:p>
                      <a:endParaRPr lang="en-US" dirty="0" smtClean="0"/>
                    </a:p>
                    <a:p>
                      <a:r>
                        <a:rPr lang="en-US" dirty="0" smtClean="0"/>
                        <a:t>$ 30,000 revenue </a:t>
                      </a:r>
                      <a:endParaRPr lang="en-IN" dirty="0"/>
                    </a:p>
                  </a:txBody>
                  <a:tcPr/>
                </a:tc>
                <a:tc>
                  <a:txBody>
                    <a:bodyPr/>
                    <a:lstStyle/>
                    <a:p>
                      <a:r>
                        <a:rPr lang="en-US" dirty="0" smtClean="0"/>
                        <a:t>$24,000</a:t>
                      </a:r>
                      <a:r>
                        <a:rPr lang="en-US" baseline="0" dirty="0" smtClean="0"/>
                        <a:t> revenue </a:t>
                      </a:r>
                    </a:p>
                    <a:p>
                      <a:endParaRPr lang="en-US" baseline="0" dirty="0" smtClean="0"/>
                    </a:p>
                    <a:p>
                      <a:endParaRPr lang="en-US" baseline="0" dirty="0" smtClean="0"/>
                    </a:p>
                    <a:p>
                      <a:endParaRPr lang="en-US" baseline="0" dirty="0" smtClean="0"/>
                    </a:p>
                    <a:p>
                      <a:endParaRPr lang="en-US" baseline="0" dirty="0" smtClean="0"/>
                    </a:p>
                    <a:p>
                      <a:endParaRPr lang="en-US" baseline="0" dirty="0" smtClean="0"/>
                    </a:p>
                    <a:p>
                      <a:endParaRPr lang="en-US" baseline="0" dirty="0" smtClean="0"/>
                    </a:p>
                    <a:p>
                      <a:r>
                        <a:rPr lang="en-US" baseline="0" dirty="0" smtClean="0"/>
                        <a:t>$ 24,000 revenue </a:t>
                      </a:r>
                      <a:endParaRPr lang="en-IN" dirty="0"/>
                    </a:p>
                  </a:txBody>
                  <a:tcPr/>
                </a:tc>
                <a:extLst>
                  <a:ext uri="{0D108BD9-81ED-4DB2-BD59-A6C34878D82A}">
                    <a16:rowId xmlns:a16="http://schemas.microsoft.com/office/drawing/2014/main" val="1184870737"/>
                  </a:ext>
                </a:extLst>
              </a:tr>
            </a:tbl>
          </a:graphicData>
        </a:graphic>
      </p:graphicFrame>
      <p:cxnSp>
        <p:nvCxnSpPr>
          <p:cNvPr id="10" name="Straight Connector 9"/>
          <p:cNvCxnSpPr/>
          <p:nvPr/>
        </p:nvCxnSpPr>
        <p:spPr>
          <a:xfrm>
            <a:off x="8882743" y="2290354"/>
            <a:ext cx="0" cy="17417"/>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76479019"/>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881</TotalTime>
  <Words>977</Words>
  <Application>Microsoft Office PowerPoint</Application>
  <PresentationFormat>Widescreen</PresentationFormat>
  <Paragraphs>129</Paragraphs>
  <Slides>13</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13</vt:i4>
      </vt:variant>
    </vt:vector>
  </HeadingPairs>
  <TitlesOfParts>
    <vt:vector size="17" baseType="lpstr">
      <vt:lpstr>Arial</vt:lpstr>
      <vt:lpstr>Calibri</vt:lpstr>
      <vt:lpstr>Calibri Light</vt:lpstr>
      <vt:lpstr>Office Theme</vt:lpstr>
      <vt:lpstr>Oligopoly </vt:lpstr>
      <vt:lpstr>Oligopoly </vt:lpstr>
      <vt:lpstr>Oligopoly Examples </vt:lpstr>
      <vt:lpstr>Game Theory </vt:lpstr>
      <vt:lpstr>Duopoly </vt:lpstr>
      <vt:lpstr>PowerPoint Presentation</vt:lpstr>
      <vt:lpstr>Collusions and cartels</vt:lpstr>
      <vt:lpstr>Vitamin Cartel </vt:lpstr>
      <vt:lpstr>Vitamin Cartel </vt:lpstr>
      <vt:lpstr>Vitamin Cartel </vt:lpstr>
      <vt:lpstr>Nash Equilibrium </vt:lpstr>
      <vt:lpstr>How does Game theory explain strategic behavior?</vt:lpstr>
      <vt:lpstr>Duopoly and Prisoner's dilemma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Oligopoly</dc:title>
  <dc:creator>Subash S</dc:creator>
  <cp:lastModifiedBy>vaith</cp:lastModifiedBy>
  <cp:revision>34</cp:revision>
  <dcterms:created xsi:type="dcterms:W3CDTF">2020-04-18T09:46:46Z</dcterms:created>
  <dcterms:modified xsi:type="dcterms:W3CDTF">2024-09-06T00:49:35Z</dcterms:modified>
</cp:coreProperties>
</file>