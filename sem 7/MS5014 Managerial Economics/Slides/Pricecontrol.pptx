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6" r:id="rId2"/>
    <p:sldId id="258" r:id="rId3"/>
    <p:sldId id="259" r:id="rId4"/>
    <p:sldId id="260" r:id="rId5"/>
    <p:sldId id="261" r:id="rId6"/>
    <p:sldId id="262" r:id="rId7"/>
    <p:sldId id="265" r:id="rId8"/>
    <p:sldId id="266" r:id="rId9"/>
    <p:sldId id="263" r:id="rId10"/>
    <p:sldId id="264" r:id="rId11"/>
    <p:sldId id="272" r:id="rId12"/>
    <p:sldId id="277" r:id="rId13"/>
    <p:sldId id="278" r:id="rId14"/>
    <p:sldId id="273" r:id="rId15"/>
    <p:sldId id="267" r:id="rId16"/>
    <p:sldId id="268" r:id="rId17"/>
    <p:sldId id="269" r:id="rId18"/>
    <p:sldId id="270"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1195D3-6D9E-4DB8-83DD-6151F4D99CB9}" type="doc">
      <dgm:prSet loTypeId="urn:microsoft.com/office/officeart/2011/layout/HexagonRadial" loCatId="cycle" qsTypeId="urn:microsoft.com/office/officeart/2005/8/quickstyle/simple1" qsCatId="simple" csTypeId="urn:microsoft.com/office/officeart/2005/8/colors/accent1_2" csCatId="accent1" phldr="1"/>
      <dgm:spPr/>
      <dgm:t>
        <a:bodyPr/>
        <a:lstStyle/>
        <a:p>
          <a:endParaRPr lang="en-US"/>
        </a:p>
      </dgm:t>
    </dgm:pt>
    <dgm:pt modelId="{6EA22042-B534-4A8C-9381-86B35C2C23EE}">
      <dgm:prSet phldrT="[Text]"/>
      <dgm:spPr/>
      <dgm:t>
        <a:bodyPr/>
        <a:lstStyle/>
        <a:p>
          <a:r>
            <a:rPr lang="en-US" dirty="0" smtClean="0">
              <a:solidFill>
                <a:schemeClr val="tx1"/>
              </a:solidFill>
            </a:rPr>
            <a:t>Indian Steel Industry JSW </a:t>
          </a:r>
          <a:r>
            <a:rPr lang="en-US" dirty="0" err="1" smtClean="0">
              <a:solidFill>
                <a:schemeClr val="tx1"/>
              </a:solidFill>
            </a:rPr>
            <a:t>steel,Tata</a:t>
          </a:r>
          <a:r>
            <a:rPr lang="en-US" dirty="0" smtClean="0">
              <a:solidFill>
                <a:schemeClr val="tx1"/>
              </a:solidFill>
            </a:rPr>
            <a:t> Steel </a:t>
          </a:r>
          <a:r>
            <a:rPr lang="en-US" dirty="0" err="1" smtClean="0">
              <a:solidFill>
                <a:schemeClr val="tx1"/>
              </a:solidFill>
            </a:rPr>
            <a:t>Ltd,Jindal</a:t>
          </a:r>
          <a:r>
            <a:rPr lang="en-US" dirty="0" smtClean="0">
              <a:solidFill>
                <a:schemeClr val="tx1"/>
              </a:solidFill>
            </a:rPr>
            <a:t> steel and </a:t>
          </a:r>
          <a:r>
            <a:rPr lang="en-US" dirty="0" err="1" smtClean="0">
              <a:solidFill>
                <a:schemeClr val="tx1"/>
              </a:solidFill>
            </a:rPr>
            <a:t>power,and</a:t>
          </a:r>
          <a:r>
            <a:rPr lang="en-US" dirty="0" smtClean="0">
              <a:solidFill>
                <a:schemeClr val="tx1"/>
              </a:solidFill>
            </a:rPr>
            <a:t> </a:t>
          </a:r>
          <a:r>
            <a:rPr lang="en-US" dirty="0" err="1" smtClean="0">
              <a:solidFill>
                <a:schemeClr val="tx1"/>
              </a:solidFill>
            </a:rPr>
            <a:t>Kalyani</a:t>
          </a:r>
          <a:r>
            <a:rPr lang="en-US" dirty="0" smtClean="0">
              <a:solidFill>
                <a:schemeClr val="tx1"/>
              </a:solidFill>
            </a:rPr>
            <a:t> steels</a:t>
          </a:r>
          <a:endParaRPr lang="en-US" dirty="0">
            <a:solidFill>
              <a:schemeClr val="tx1"/>
            </a:solidFill>
          </a:endParaRPr>
        </a:p>
      </dgm:t>
    </dgm:pt>
    <dgm:pt modelId="{BEA2E2B2-DF38-46A6-BD51-9E68AFAA9295}" type="parTrans" cxnId="{A4E8E3BD-3462-4ADB-9929-6FA256951827}">
      <dgm:prSet/>
      <dgm:spPr/>
      <dgm:t>
        <a:bodyPr/>
        <a:lstStyle/>
        <a:p>
          <a:endParaRPr lang="en-US"/>
        </a:p>
      </dgm:t>
    </dgm:pt>
    <dgm:pt modelId="{C63319E1-6F3E-4DB3-8125-74A14D6A479D}" type="sibTrans" cxnId="{A4E8E3BD-3462-4ADB-9929-6FA256951827}">
      <dgm:prSet/>
      <dgm:spPr/>
      <dgm:t>
        <a:bodyPr/>
        <a:lstStyle/>
        <a:p>
          <a:endParaRPr lang="en-US"/>
        </a:p>
      </dgm:t>
    </dgm:pt>
    <dgm:pt modelId="{BCE61E14-1E12-4C59-8993-BDAF6A118494}">
      <dgm:prSet phldrT="[Text]" custT="1"/>
      <dgm:spPr/>
      <dgm:t>
        <a:bodyPr/>
        <a:lstStyle/>
        <a:p>
          <a:r>
            <a:rPr lang="en-US" sz="1050" dirty="0" smtClean="0">
              <a:solidFill>
                <a:schemeClr val="tx1"/>
              </a:solidFill>
            </a:rPr>
            <a:t>Indian Steel </a:t>
          </a:r>
          <a:r>
            <a:rPr lang="en-US" sz="1050" dirty="0" err="1" smtClean="0">
              <a:solidFill>
                <a:schemeClr val="tx1"/>
              </a:solidFill>
            </a:rPr>
            <a:t>Manufactures</a:t>
          </a:r>
          <a:r>
            <a:rPr lang="en-US" sz="1050" b="0" i="0" dirty="0" err="1" smtClean="0">
              <a:solidFill>
                <a:schemeClr val="tx1"/>
              </a:solidFill>
            </a:rPr>
            <a:t>have</a:t>
          </a:r>
          <a:r>
            <a:rPr lang="en-US" sz="1050" b="0" i="0" dirty="0" smtClean="0">
              <a:solidFill>
                <a:schemeClr val="tx1"/>
              </a:solidFill>
            </a:rPr>
            <a:t> been lobbying the government to take more steps to protect their margins after a hike in the import duty last year failed to cut shipments from China.</a:t>
          </a:r>
          <a:r>
            <a:rPr lang="en-US" sz="1050" dirty="0" smtClean="0">
              <a:solidFill>
                <a:schemeClr val="tx1"/>
              </a:solidFill>
            </a:rPr>
            <a:t> </a:t>
          </a:r>
          <a:endParaRPr lang="en-US" sz="1050" dirty="0">
            <a:solidFill>
              <a:schemeClr val="tx1"/>
            </a:solidFill>
          </a:endParaRPr>
        </a:p>
      </dgm:t>
    </dgm:pt>
    <dgm:pt modelId="{F9B53C90-40DC-4AEF-8F05-53D9EA9B7B0F}" type="parTrans" cxnId="{89DFCB36-2362-4D16-95BF-8519798C1A2D}">
      <dgm:prSet/>
      <dgm:spPr/>
      <dgm:t>
        <a:bodyPr/>
        <a:lstStyle/>
        <a:p>
          <a:endParaRPr lang="en-US"/>
        </a:p>
      </dgm:t>
    </dgm:pt>
    <dgm:pt modelId="{7A23B49C-74A6-47A0-81D5-66E672B12347}" type="sibTrans" cxnId="{89DFCB36-2362-4D16-95BF-8519798C1A2D}">
      <dgm:prSet/>
      <dgm:spPr/>
      <dgm:t>
        <a:bodyPr/>
        <a:lstStyle/>
        <a:p>
          <a:endParaRPr lang="en-US"/>
        </a:p>
      </dgm:t>
    </dgm:pt>
    <dgm:pt modelId="{A8420BA8-EE8C-4E83-B038-7CFDA9571D68}">
      <dgm:prSet phldrT="[Text]"/>
      <dgm:spPr/>
      <dgm:t>
        <a:bodyPr/>
        <a:lstStyle/>
        <a:p>
          <a:r>
            <a:rPr lang="en-US" b="0" i="0" dirty="0" smtClean="0">
              <a:solidFill>
                <a:schemeClr val="tx1"/>
              </a:solidFill>
            </a:rPr>
            <a:t>The duty on various steel products ranges between $341 per </a:t>
          </a:r>
          <a:r>
            <a:rPr lang="en-US" b="0" i="0" dirty="0" err="1" smtClean="0">
              <a:solidFill>
                <a:schemeClr val="tx1"/>
              </a:solidFill>
            </a:rPr>
            <a:t>tonne</a:t>
          </a:r>
          <a:r>
            <a:rPr lang="en-US" b="0" i="0" dirty="0" smtClean="0">
              <a:solidFill>
                <a:schemeClr val="tx1"/>
              </a:solidFill>
            </a:rPr>
            <a:t> and $752 a </a:t>
          </a:r>
          <a:r>
            <a:rPr lang="en-US" b="0" i="0" dirty="0" err="1" smtClean="0">
              <a:solidFill>
                <a:schemeClr val="tx1"/>
              </a:solidFill>
            </a:rPr>
            <a:t>tonne</a:t>
          </a:r>
          <a:r>
            <a:rPr lang="en-US" b="0" i="0" dirty="0" smtClean="0">
              <a:solidFill>
                <a:schemeClr val="tx1"/>
              </a:solidFill>
            </a:rPr>
            <a:t>, the government said in a statement</a:t>
          </a:r>
          <a:endParaRPr lang="en-US" dirty="0">
            <a:solidFill>
              <a:schemeClr val="tx1"/>
            </a:solidFill>
          </a:endParaRPr>
        </a:p>
      </dgm:t>
    </dgm:pt>
    <dgm:pt modelId="{91A71AE8-ACC9-4C1C-A2B1-83A24C496888}" type="parTrans" cxnId="{9A3CEFA2-0822-4080-A22F-2E74F9E665C9}">
      <dgm:prSet/>
      <dgm:spPr/>
      <dgm:t>
        <a:bodyPr/>
        <a:lstStyle/>
        <a:p>
          <a:endParaRPr lang="en-US"/>
        </a:p>
      </dgm:t>
    </dgm:pt>
    <dgm:pt modelId="{9FBA0F0D-2658-4808-B37E-CAF147C1B1B0}" type="sibTrans" cxnId="{9A3CEFA2-0822-4080-A22F-2E74F9E665C9}">
      <dgm:prSet/>
      <dgm:spPr/>
      <dgm:t>
        <a:bodyPr/>
        <a:lstStyle/>
        <a:p>
          <a:endParaRPr lang="en-US"/>
        </a:p>
      </dgm:t>
    </dgm:pt>
    <dgm:pt modelId="{A797B5ED-6B40-42AF-A1CA-720593524098}">
      <dgm:prSet phldrT="[Text]"/>
      <dgm:spPr/>
      <dgm:t>
        <a:bodyPr/>
        <a:lstStyle/>
        <a:p>
          <a:r>
            <a:rPr lang="en-US" dirty="0" smtClean="0">
              <a:solidFill>
                <a:schemeClr val="tx1"/>
              </a:solidFill>
            </a:rPr>
            <a:t>China </a:t>
          </a:r>
        </a:p>
        <a:p>
          <a:r>
            <a:rPr lang="en-US" dirty="0" smtClean="0">
              <a:solidFill>
                <a:schemeClr val="tx1"/>
              </a:solidFill>
            </a:rPr>
            <a:t>Japan </a:t>
          </a:r>
        </a:p>
        <a:p>
          <a:r>
            <a:rPr lang="en-US" dirty="0" smtClean="0">
              <a:solidFill>
                <a:schemeClr val="tx1"/>
              </a:solidFill>
            </a:rPr>
            <a:t>South Korea </a:t>
          </a:r>
          <a:endParaRPr lang="en-US" dirty="0">
            <a:solidFill>
              <a:schemeClr val="tx1"/>
            </a:solidFill>
          </a:endParaRPr>
        </a:p>
      </dgm:t>
    </dgm:pt>
    <dgm:pt modelId="{982E9E4B-3EB7-4631-85F4-FECB1E62EC1B}" type="parTrans" cxnId="{1C89EF28-B83E-46FD-869E-785EE45FF993}">
      <dgm:prSet/>
      <dgm:spPr/>
      <dgm:t>
        <a:bodyPr/>
        <a:lstStyle/>
        <a:p>
          <a:endParaRPr lang="en-US"/>
        </a:p>
      </dgm:t>
    </dgm:pt>
    <dgm:pt modelId="{6DF5EFAD-720F-49B1-85C0-D78CA54622D5}" type="sibTrans" cxnId="{1C89EF28-B83E-46FD-869E-785EE45FF993}">
      <dgm:prSet/>
      <dgm:spPr/>
      <dgm:t>
        <a:bodyPr/>
        <a:lstStyle/>
        <a:p>
          <a:endParaRPr lang="en-US"/>
        </a:p>
      </dgm:t>
    </dgm:pt>
    <dgm:pt modelId="{490A7765-2E1F-4401-A617-998C86018BFD}">
      <dgm:prSet phldrT="[Text]"/>
      <dgm:spPr/>
      <dgm:t>
        <a:bodyPr/>
        <a:lstStyle/>
        <a:p>
          <a:r>
            <a:rPr lang="en-US" dirty="0" smtClean="0">
              <a:solidFill>
                <a:schemeClr val="tx1"/>
              </a:solidFill>
            </a:rPr>
            <a:t>Imports of steel surged by 22.8 percent in 2015</a:t>
          </a:r>
          <a:endParaRPr lang="en-US" dirty="0">
            <a:solidFill>
              <a:schemeClr val="tx1"/>
            </a:solidFill>
          </a:endParaRPr>
        </a:p>
      </dgm:t>
    </dgm:pt>
    <dgm:pt modelId="{A7644A46-EAFD-48DD-A514-2313859DAA97}" type="parTrans" cxnId="{863F374B-D0D0-43E9-BAFA-694E2C74FECB}">
      <dgm:prSet/>
      <dgm:spPr/>
      <dgm:t>
        <a:bodyPr/>
        <a:lstStyle/>
        <a:p>
          <a:endParaRPr lang="en-US"/>
        </a:p>
      </dgm:t>
    </dgm:pt>
    <dgm:pt modelId="{BAA09D50-EC4D-4B84-BC33-2D2595563FBF}" type="sibTrans" cxnId="{863F374B-D0D0-43E9-BAFA-694E2C74FECB}">
      <dgm:prSet/>
      <dgm:spPr/>
      <dgm:t>
        <a:bodyPr/>
        <a:lstStyle/>
        <a:p>
          <a:endParaRPr lang="en-US"/>
        </a:p>
      </dgm:t>
    </dgm:pt>
    <dgm:pt modelId="{C752E7CF-9056-4251-872C-ACCCD09B2CC3}">
      <dgm:prSet phldrT="[Text]"/>
      <dgm:spPr/>
      <dgm:t>
        <a:bodyPr/>
        <a:lstStyle/>
        <a:p>
          <a:r>
            <a:rPr lang="en-US" dirty="0" smtClean="0">
              <a:solidFill>
                <a:schemeClr val="tx1"/>
              </a:solidFill>
            </a:rPr>
            <a:t>China Produces half the world’s total 1.6 billion </a:t>
          </a:r>
          <a:r>
            <a:rPr lang="en-US" dirty="0" err="1" smtClean="0">
              <a:solidFill>
                <a:schemeClr val="tx1"/>
              </a:solidFill>
            </a:rPr>
            <a:t>tonnes</a:t>
          </a:r>
          <a:r>
            <a:rPr lang="en-US" dirty="0" smtClean="0">
              <a:solidFill>
                <a:schemeClr val="tx1"/>
              </a:solidFill>
            </a:rPr>
            <a:t> and exports 100 million </a:t>
          </a:r>
          <a:r>
            <a:rPr lang="en-US" dirty="0" err="1" smtClean="0">
              <a:solidFill>
                <a:schemeClr val="tx1"/>
              </a:solidFill>
            </a:rPr>
            <a:t>tonnes</a:t>
          </a:r>
          <a:r>
            <a:rPr lang="en-US" dirty="0" smtClean="0">
              <a:solidFill>
                <a:schemeClr val="tx1"/>
              </a:solidFill>
            </a:rPr>
            <a:t> {2014}</a:t>
          </a:r>
        </a:p>
        <a:p>
          <a:endParaRPr lang="en-US" dirty="0"/>
        </a:p>
      </dgm:t>
    </dgm:pt>
    <dgm:pt modelId="{C0220BC3-8E87-4E07-96C8-0F4EE7683553}" type="parTrans" cxnId="{F063AEED-9B0E-4E3C-81AE-14D27E6DE86A}">
      <dgm:prSet/>
      <dgm:spPr/>
      <dgm:t>
        <a:bodyPr/>
        <a:lstStyle/>
        <a:p>
          <a:endParaRPr lang="en-US"/>
        </a:p>
      </dgm:t>
    </dgm:pt>
    <dgm:pt modelId="{BC926116-1F21-4541-B0A1-5386D4D6D23D}" type="sibTrans" cxnId="{F063AEED-9B0E-4E3C-81AE-14D27E6DE86A}">
      <dgm:prSet/>
      <dgm:spPr/>
      <dgm:t>
        <a:bodyPr/>
        <a:lstStyle/>
        <a:p>
          <a:endParaRPr lang="en-US"/>
        </a:p>
      </dgm:t>
    </dgm:pt>
    <dgm:pt modelId="{9EEA4E0C-F816-4601-9A36-E87053821B35}">
      <dgm:prSet phldrT="[Text]"/>
      <dgm:spPr/>
      <dgm:t>
        <a:bodyPr/>
        <a:lstStyle/>
        <a:p>
          <a:r>
            <a:rPr lang="en-US" b="0" i="0" dirty="0" smtClean="0">
              <a:solidFill>
                <a:schemeClr val="tx1"/>
              </a:solidFill>
            </a:rPr>
            <a:t>India is the third largest steel producer in the world with a total installed capacity of 110 million </a:t>
          </a:r>
          <a:r>
            <a:rPr lang="en-US" b="0" i="0" dirty="0" err="1" smtClean="0">
              <a:solidFill>
                <a:schemeClr val="tx1"/>
              </a:solidFill>
            </a:rPr>
            <a:t>tonnes</a:t>
          </a:r>
          <a:r>
            <a:rPr lang="en-US" b="0" i="0" dirty="0" smtClean="0">
              <a:solidFill>
                <a:schemeClr val="tx1"/>
              </a:solidFill>
            </a:rPr>
            <a:t>.</a:t>
          </a:r>
          <a:endParaRPr lang="en-US" dirty="0">
            <a:solidFill>
              <a:schemeClr val="tx1"/>
            </a:solidFill>
          </a:endParaRPr>
        </a:p>
      </dgm:t>
    </dgm:pt>
    <dgm:pt modelId="{AE01B91D-9AE7-44C4-9439-3B797D882D69}" type="parTrans" cxnId="{77011377-7D60-4194-A2D5-B3D2CD790F6F}">
      <dgm:prSet/>
      <dgm:spPr/>
      <dgm:t>
        <a:bodyPr/>
        <a:lstStyle/>
        <a:p>
          <a:endParaRPr lang="en-US"/>
        </a:p>
      </dgm:t>
    </dgm:pt>
    <dgm:pt modelId="{E43DB732-C7FB-404F-8505-48CEA2A23B1C}" type="sibTrans" cxnId="{77011377-7D60-4194-A2D5-B3D2CD790F6F}">
      <dgm:prSet/>
      <dgm:spPr/>
      <dgm:t>
        <a:bodyPr/>
        <a:lstStyle/>
        <a:p>
          <a:endParaRPr lang="en-US"/>
        </a:p>
      </dgm:t>
    </dgm:pt>
    <dgm:pt modelId="{E0F97CE0-5202-4BF6-AAA2-EDB7BED35A31}" type="pres">
      <dgm:prSet presAssocID="{0E1195D3-6D9E-4DB8-83DD-6151F4D99CB9}" presName="Name0" presStyleCnt="0">
        <dgm:presLayoutVars>
          <dgm:chMax val="1"/>
          <dgm:chPref val="1"/>
          <dgm:dir/>
          <dgm:animOne val="branch"/>
          <dgm:animLvl val="lvl"/>
        </dgm:presLayoutVars>
      </dgm:prSet>
      <dgm:spPr/>
      <dgm:t>
        <a:bodyPr/>
        <a:lstStyle/>
        <a:p>
          <a:endParaRPr lang="en-US"/>
        </a:p>
      </dgm:t>
    </dgm:pt>
    <dgm:pt modelId="{D79C2F29-F616-4065-913F-28C785E6E14F}" type="pres">
      <dgm:prSet presAssocID="{6EA22042-B534-4A8C-9381-86B35C2C23EE}" presName="Parent" presStyleLbl="node0" presStyleIdx="0" presStyleCnt="1">
        <dgm:presLayoutVars>
          <dgm:chMax val="6"/>
          <dgm:chPref val="6"/>
        </dgm:presLayoutVars>
      </dgm:prSet>
      <dgm:spPr/>
      <dgm:t>
        <a:bodyPr/>
        <a:lstStyle/>
        <a:p>
          <a:endParaRPr lang="en-US"/>
        </a:p>
      </dgm:t>
    </dgm:pt>
    <dgm:pt modelId="{20643A9C-EC6F-4815-8A8F-1B6A34DD602D}" type="pres">
      <dgm:prSet presAssocID="{BCE61E14-1E12-4C59-8993-BDAF6A118494}" presName="Accent1" presStyleCnt="0"/>
      <dgm:spPr/>
    </dgm:pt>
    <dgm:pt modelId="{238D498B-73EE-4CAE-9517-791CA5C71F64}" type="pres">
      <dgm:prSet presAssocID="{BCE61E14-1E12-4C59-8993-BDAF6A118494}" presName="Accent" presStyleLbl="bgShp" presStyleIdx="0" presStyleCnt="6"/>
      <dgm:spPr/>
    </dgm:pt>
    <dgm:pt modelId="{DB5DA343-F429-404E-8750-3C0CF6B242BA}" type="pres">
      <dgm:prSet presAssocID="{BCE61E14-1E12-4C59-8993-BDAF6A118494}" presName="Child1" presStyleLbl="node1" presStyleIdx="0" presStyleCnt="6" custScaleX="99202">
        <dgm:presLayoutVars>
          <dgm:chMax val="0"/>
          <dgm:chPref val="0"/>
          <dgm:bulletEnabled val="1"/>
        </dgm:presLayoutVars>
      </dgm:prSet>
      <dgm:spPr/>
      <dgm:t>
        <a:bodyPr/>
        <a:lstStyle/>
        <a:p>
          <a:endParaRPr lang="en-US"/>
        </a:p>
      </dgm:t>
    </dgm:pt>
    <dgm:pt modelId="{785AF37C-82DC-43CD-B2D4-820A3F6B7C54}" type="pres">
      <dgm:prSet presAssocID="{A8420BA8-EE8C-4E83-B038-7CFDA9571D68}" presName="Accent2" presStyleCnt="0"/>
      <dgm:spPr/>
    </dgm:pt>
    <dgm:pt modelId="{A2F6C406-1D43-4393-826F-8718182A8A59}" type="pres">
      <dgm:prSet presAssocID="{A8420BA8-EE8C-4E83-B038-7CFDA9571D68}" presName="Accent" presStyleLbl="bgShp" presStyleIdx="1" presStyleCnt="6"/>
      <dgm:spPr/>
    </dgm:pt>
    <dgm:pt modelId="{4A49EBAB-882C-4A25-BF49-7D7B6AD4483B}" type="pres">
      <dgm:prSet presAssocID="{A8420BA8-EE8C-4E83-B038-7CFDA9571D68}" presName="Child2" presStyleLbl="node1" presStyleIdx="1" presStyleCnt="6">
        <dgm:presLayoutVars>
          <dgm:chMax val="0"/>
          <dgm:chPref val="0"/>
          <dgm:bulletEnabled val="1"/>
        </dgm:presLayoutVars>
      </dgm:prSet>
      <dgm:spPr/>
      <dgm:t>
        <a:bodyPr/>
        <a:lstStyle/>
        <a:p>
          <a:endParaRPr lang="en-US"/>
        </a:p>
      </dgm:t>
    </dgm:pt>
    <dgm:pt modelId="{11693827-89EE-4B3D-A91D-9152E84AC3DE}" type="pres">
      <dgm:prSet presAssocID="{A797B5ED-6B40-42AF-A1CA-720593524098}" presName="Accent3" presStyleCnt="0"/>
      <dgm:spPr/>
    </dgm:pt>
    <dgm:pt modelId="{AB9B4AA4-7DD0-473A-AA02-4878282930AB}" type="pres">
      <dgm:prSet presAssocID="{A797B5ED-6B40-42AF-A1CA-720593524098}" presName="Accent" presStyleLbl="bgShp" presStyleIdx="2" presStyleCnt="6"/>
      <dgm:spPr/>
    </dgm:pt>
    <dgm:pt modelId="{B600372D-CCB4-4DCE-881F-E032D1855BB8}" type="pres">
      <dgm:prSet presAssocID="{A797B5ED-6B40-42AF-A1CA-720593524098}" presName="Child3" presStyleLbl="node1" presStyleIdx="2" presStyleCnt="6">
        <dgm:presLayoutVars>
          <dgm:chMax val="0"/>
          <dgm:chPref val="0"/>
          <dgm:bulletEnabled val="1"/>
        </dgm:presLayoutVars>
      </dgm:prSet>
      <dgm:spPr/>
      <dgm:t>
        <a:bodyPr/>
        <a:lstStyle/>
        <a:p>
          <a:endParaRPr lang="en-US"/>
        </a:p>
      </dgm:t>
    </dgm:pt>
    <dgm:pt modelId="{204C5B5C-5457-43D3-9290-5015B3992E61}" type="pres">
      <dgm:prSet presAssocID="{490A7765-2E1F-4401-A617-998C86018BFD}" presName="Accent4" presStyleCnt="0"/>
      <dgm:spPr/>
    </dgm:pt>
    <dgm:pt modelId="{DCC249B2-4F66-4CA4-A6E7-87BED93D380C}" type="pres">
      <dgm:prSet presAssocID="{490A7765-2E1F-4401-A617-998C86018BFD}" presName="Accent" presStyleLbl="bgShp" presStyleIdx="3" presStyleCnt="6"/>
      <dgm:spPr/>
    </dgm:pt>
    <dgm:pt modelId="{C4837BE4-9825-411B-AB21-693CB93BFA76}" type="pres">
      <dgm:prSet presAssocID="{490A7765-2E1F-4401-A617-998C86018BFD}" presName="Child4" presStyleLbl="node1" presStyleIdx="3" presStyleCnt="6">
        <dgm:presLayoutVars>
          <dgm:chMax val="0"/>
          <dgm:chPref val="0"/>
          <dgm:bulletEnabled val="1"/>
        </dgm:presLayoutVars>
      </dgm:prSet>
      <dgm:spPr/>
      <dgm:t>
        <a:bodyPr/>
        <a:lstStyle/>
        <a:p>
          <a:endParaRPr lang="en-US"/>
        </a:p>
      </dgm:t>
    </dgm:pt>
    <dgm:pt modelId="{8BCF5E51-E1DC-4868-98EC-550D2E7744C1}" type="pres">
      <dgm:prSet presAssocID="{C752E7CF-9056-4251-872C-ACCCD09B2CC3}" presName="Accent5" presStyleCnt="0"/>
      <dgm:spPr/>
    </dgm:pt>
    <dgm:pt modelId="{C653CD3C-EB97-4315-B34A-C69173DF6853}" type="pres">
      <dgm:prSet presAssocID="{C752E7CF-9056-4251-872C-ACCCD09B2CC3}" presName="Accent" presStyleLbl="bgShp" presStyleIdx="4" presStyleCnt="6"/>
      <dgm:spPr/>
    </dgm:pt>
    <dgm:pt modelId="{AAD402E2-087A-44DC-B5FA-91EA13CC571F}" type="pres">
      <dgm:prSet presAssocID="{C752E7CF-9056-4251-872C-ACCCD09B2CC3}" presName="Child5" presStyleLbl="node1" presStyleIdx="4" presStyleCnt="6">
        <dgm:presLayoutVars>
          <dgm:chMax val="0"/>
          <dgm:chPref val="0"/>
          <dgm:bulletEnabled val="1"/>
        </dgm:presLayoutVars>
      </dgm:prSet>
      <dgm:spPr/>
      <dgm:t>
        <a:bodyPr/>
        <a:lstStyle/>
        <a:p>
          <a:endParaRPr lang="en-US"/>
        </a:p>
      </dgm:t>
    </dgm:pt>
    <dgm:pt modelId="{341E26B3-6DB4-4213-A27E-E08146234176}" type="pres">
      <dgm:prSet presAssocID="{9EEA4E0C-F816-4601-9A36-E87053821B35}" presName="Accent6" presStyleCnt="0"/>
      <dgm:spPr/>
    </dgm:pt>
    <dgm:pt modelId="{C53A874B-E5D8-4C8E-A78C-185B5A54113C}" type="pres">
      <dgm:prSet presAssocID="{9EEA4E0C-F816-4601-9A36-E87053821B35}" presName="Accent" presStyleLbl="bgShp" presStyleIdx="5" presStyleCnt="6"/>
      <dgm:spPr/>
    </dgm:pt>
    <dgm:pt modelId="{5403EA21-A047-4BDE-9188-E1A62654E8FC}" type="pres">
      <dgm:prSet presAssocID="{9EEA4E0C-F816-4601-9A36-E87053821B35}" presName="Child6" presStyleLbl="node1" presStyleIdx="5" presStyleCnt="6">
        <dgm:presLayoutVars>
          <dgm:chMax val="0"/>
          <dgm:chPref val="0"/>
          <dgm:bulletEnabled val="1"/>
        </dgm:presLayoutVars>
      </dgm:prSet>
      <dgm:spPr/>
      <dgm:t>
        <a:bodyPr/>
        <a:lstStyle/>
        <a:p>
          <a:endParaRPr lang="en-US"/>
        </a:p>
      </dgm:t>
    </dgm:pt>
  </dgm:ptLst>
  <dgm:cxnLst>
    <dgm:cxn modelId="{89DFCB36-2362-4D16-95BF-8519798C1A2D}" srcId="{6EA22042-B534-4A8C-9381-86B35C2C23EE}" destId="{BCE61E14-1E12-4C59-8993-BDAF6A118494}" srcOrd="0" destOrd="0" parTransId="{F9B53C90-40DC-4AEF-8F05-53D9EA9B7B0F}" sibTransId="{7A23B49C-74A6-47A0-81D5-66E672B12347}"/>
    <dgm:cxn modelId="{3D3E2262-A878-4914-9FE9-941BEC0AF219}" type="presOf" srcId="{490A7765-2E1F-4401-A617-998C86018BFD}" destId="{C4837BE4-9825-411B-AB21-693CB93BFA76}" srcOrd="0" destOrd="0" presId="urn:microsoft.com/office/officeart/2011/layout/HexagonRadial"/>
    <dgm:cxn modelId="{863F374B-D0D0-43E9-BAFA-694E2C74FECB}" srcId="{6EA22042-B534-4A8C-9381-86B35C2C23EE}" destId="{490A7765-2E1F-4401-A617-998C86018BFD}" srcOrd="3" destOrd="0" parTransId="{A7644A46-EAFD-48DD-A514-2313859DAA97}" sibTransId="{BAA09D50-EC4D-4B84-BC33-2D2595563FBF}"/>
    <dgm:cxn modelId="{1C89EF28-B83E-46FD-869E-785EE45FF993}" srcId="{6EA22042-B534-4A8C-9381-86B35C2C23EE}" destId="{A797B5ED-6B40-42AF-A1CA-720593524098}" srcOrd="2" destOrd="0" parTransId="{982E9E4B-3EB7-4631-85F4-FECB1E62EC1B}" sibTransId="{6DF5EFAD-720F-49B1-85C0-D78CA54622D5}"/>
    <dgm:cxn modelId="{6936CFC1-8919-467B-BD4F-638472ED717D}" type="presOf" srcId="{A8420BA8-EE8C-4E83-B038-7CFDA9571D68}" destId="{4A49EBAB-882C-4A25-BF49-7D7B6AD4483B}" srcOrd="0" destOrd="0" presId="urn:microsoft.com/office/officeart/2011/layout/HexagonRadial"/>
    <dgm:cxn modelId="{BBC19967-7DD5-46BF-B005-E6BA2BBEFAF9}" type="presOf" srcId="{A797B5ED-6B40-42AF-A1CA-720593524098}" destId="{B600372D-CCB4-4DCE-881F-E032D1855BB8}" srcOrd="0" destOrd="0" presId="urn:microsoft.com/office/officeart/2011/layout/HexagonRadial"/>
    <dgm:cxn modelId="{B53ECC25-24DC-4A1C-8A67-EEC6973CD2A1}" type="presOf" srcId="{6EA22042-B534-4A8C-9381-86B35C2C23EE}" destId="{D79C2F29-F616-4065-913F-28C785E6E14F}" srcOrd="0" destOrd="0" presId="urn:microsoft.com/office/officeart/2011/layout/HexagonRadial"/>
    <dgm:cxn modelId="{0E215AB6-C7DA-4075-B3AF-9CF151BC453A}" type="presOf" srcId="{0E1195D3-6D9E-4DB8-83DD-6151F4D99CB9}" destId="{E0F97CE0-5202-4BF6-AAA2-EDB7BED35A31}" srcOrd="0" destOrd="0" presId="urn:microsoft.com/office/officeart/2011/layout/HexagonRadial"/>
    <dgm:cxn modelId="{9A3CEFA2-0822-4080-A22F-2E74F9E665C9}" srcId="{6EA22042-B534-4A8C-9381-86B35C2C23EE}" destId="{A8420BA8-EE8C-4E83-B038-7CFDA9571D68}" srcOrd="1" destOrd="0" parTransId="{91A71AE8-ACC9-4C1C-A2B1-83A24C496888}" sibTransId="{9FBA0F0D-2658-4808-B37E-CAF147C1B1B0}"/>
    <dgm:cxn modelId="{5608705E-9CB9-4408-9656-0D85D23C4F71}" type="presOf" srcId="{9EEA4E0C-F816-4601-9A36-E87053821B35}" destId="{5403EA21-A047-4BDE-9188-E1A62654E8FC}" srcOrd="0" destOrd="0" presId="urn:microsoft.com/office/officeart/2011/layout/HexagonRadial"/>
    <dgm:cxn modelId="{36521F1C-AAD6-4E5D-877D-178D882CBFDD}" type="presOf" srcId="{BCE61E14-1E12-4C59-8993-BDAF6A118494}" destId="{DB5DA343-F429-404E-8750-3C0CF6B242BA}" srcOrd="0" destOrd="0" presId="urn:microsoft.com/office/officeart/2011/layout/HexagonRadial"/>
    <dgm:cxn modelId="{77011377-7D60-4194-A2D5-B3D2CD790F6F}" srcId="{6EA22042-B534-4A8C-9381-86B35C2C23EE}" destId="{9EEA4E0C-F816-4601-9A36-E87053821B35}" srcOrd="5" destOrd="0" parTransId="{AE01B91D-9AE7-44C4-9439-3B797D882D69}" sibTransId="{E43DB732-C7FB-404F-8505-48CEA2A23B1C}"/>
    <dgm:cxn modelId="{E59EBD42-12A1-4E5E-BAC6-04EE9170ED53}" type="presOf" srcId="{C752E7CF-9056-4251-872C-ACCCD09B2CC3}" destId="{AAD402E2-087A-44DC-B5FA-91EA13CC571F}" srcOrd="0" destOrd="0" presId="urn:microsoft.com/office/officeart/2011/layout/HexagonRadial"/>
    <dgm:cxn modelId="{A4E8E3BD-3462-4ADB-9929-6FA256951827}" srcId="{0E1195D3-6D9E-4DB8-83DD-6151F4D99CB9}" destId="{6EA22042-B534-4A8C-9381-86B35C2C23EE}" srcOrd="0" destOrd="0" parTransId="{BEA2E2B2-DF38-46A6-BD51-9E68AFAA9295}" sibTransId="{C63319E1-6F3E-4DB3-8125-74A14D6A479D}"/>
    <dgm:cxn modelId="{F063AEED-9B0E-4E3C-81AE-14D27E6DE86A}" srcId="{6EA22042-B534-4A8C-9381-86B35C2C23EE}" destId="{C752E7CF-9056-4251-872C-ACCCD09B2CC3}" srcOrd="4" destOrd="0" parTransId="{C0220BC3-8E87-4E07-96C8-0F4EE7683553}" sibTransId="{BC926116-1F21-4541-B0A1-5386D4D6D23D}"/>
    <dgm:cxn modelId="{4E5D18C3-E955-4B1D-992C-25DF3F3A5EAC}" type="presParOf" srcId="{E0F97CE0-5202-4BF6-AAA2-EDB7BED35A31}" destId="{D79C2F29-F616-4065-913F-28C785E6E14F}" srcOrd="0" destOrd="0" presId="urn:microsoft.com/office/officeart/2011/layout/HexagonRadial"/>
    <dgm:cxn modelId="{FBB43276-BBC4-4FF3-933A-A8FDB34A7477}" type="presParOf" srcId="{E0F97CE0-5202-4BF6-AAA2-EDB7BED35A31}" destId="{20643A9C-EC6F-4815-8A8F-1B6A34DD602D}" srcOrd="1" destOrd="0" presId="urn:microsoft.com/office/officeart/2011/layout/HexagonRadial"/>
    <dgm:cxn modelId="{08065321-C7F7-4FF3-B9E5-58690F27EFB9}" type="presParOf" srcId="{20643A9C-EC6F-4815-8A8F-1B6A34DD602D}" destId="{238D498B-73EE-4CAE-9517-791CA5C71F64}" srcOrd="0" destOrd="0" presId="urn:microsoft.com/office/officeart/2011/layout/HexagonRadial"/>
    <dgm:cxn modelId="{43B6750A-79FD-4062-A3FB-62DD234CDD9E}" type="presParOf" srcId="{E0F97CE0-5202-4BF6-AAA2-EDB7BED35A31}" destId="{DB5DA343-F429-404E-8750-3C0CF6B242BA}" srcOrd="2" destOrd="0" presId="urn:microsoft.com/office/officeart/2011/layout/HexagonRadial"/>
    <dgm:cxn modelId="{8E290A5F-2C7E-4BDB-BF3B-70FEF5B0F2CA}" type="presParOf" srcId="{E0F97CE0-5202-4BF6-AAA2-EDB7BED35A31}" destId="{785AF37C-82DC-43CD-B2D4-820A3F6B7C54}" srcOrd="3" destOrd="0" presId="urn:microsoft.com/office/officeart/2011/layout/HexagonRadial"/>
    <dgm:cxn modelId="{5139789C-91FB-4B2D-8196-818BDCA79DAD}" type="presParOf" srcId="{785AF37C-82DC-43CD-B2D4-820A3F6B7C54}" destId="{A2F6C406-1D43-4393-826F-8718182A8A59}" srcOrd="0" destOrd="0" presId="urn:microsoft.com/office/officeart/2011/layout/HexagonRadial"/>
    <dgm:cxn modelId="{ED9B5B85-E55B-4A6B-A16A-EDD3BC9BA9DD}" type="presParOf" srcId="{E0F97CE0-5202-4BF6-AAA2-EDB7BED35A31}" destId="{4A49EBAB-882C-4A25-BF49-7D7B6AD4483B}" srcOrd="4" destOrd="0" presId="urn:microsoft.com/office/officeart/2011/layout/HexagonRadial"/>
    <dgm:cxn modelId="{A7DB34B7-2A37-4F5E-8FFF-89A41747F972}" type="presParOf" srcId="{E0F97CE0-5202-4BF6-AAA2-EDB7BED35A31}" destId="{11693827-89EE-4B3D-A91D-9152E84AC3DE}" srcOrd="5" destOrd="0" presId="urn:microsoft.com/office/officeart/2011/layout/HexagonRadial"/>
    <dgm:cxn modelId="{7B4D2B9D-166C-4271-A7D7-7C818ECECF3D}" type="presParOf" srcId="{11693827-89EE-4B3D-A91D-9152E84AC3DE}" destId="{AB9B4AA4-7DD0-473A-AA02-4878282930AB}" srcOrd="0" destOrd="0" presId="urn:microsoft.com/office/officeart/2011/layout/HexagonRadial"/>
    <dgm:cxn modelId="{FCE90740-AB8E-4B74-8CEB-06EF78A42506}" type="presParOf" srcId="{E0F97CE0-5202-4BF6-AAA2-EDB7BED35A31}" destId="{B600372D-CCB4-4DCE-881F-E032D1855BB8}" srcOrd="6" destOrd="0" presId="urn:microsoft.com/office/officeart/2011/layout/HexagonRadial"/>
    <dgm:cxn modelId="{AD408776-3B8E-42FF-BBD1-D51919E5F56A}" type="presParOf" srcId="{E0F97CE0-5202-4BF6-AAA2-EDB7BED35A31}" destId="{204C5B5C-5457-43D3-9290-5015B3992E61}" srcOrd="7" destOrd="0" presId="urn:microsoft.com/office/officeart/2011/layout/HexagonRadial"/>
    <dgm:cxn modelId="{47B3F838-CA90-45E7-9FD8-CF6F7C947632}" type="presParOf" srcId="{204C5B5C-5457-43D3-9290-5015B3992E61}" destId="{DCC249B2-4F66-4CA4-A6E7-87BED93D380C}" srcOrd="0" destOrd="0" presId="urn:microsoft.com/office/officeart/2011/layout/HexagonRadial"/>
    <dgm:cxn modelId="{A2D4F4AB-00E8-4991-8906-BD0B8A0B621C}" type="presParOf" srcId="{E0F97CE0-5202-4BF6-AAA2-EDB7BED35A31}" destId="{C4837BE4-9825-411B-AB21-693CB93BFA76}" srcOrd="8" destOrd="0" presId="urn:microsoft.com/office/officeart/2011/layout/HexagonRadial"/>
    <dgm:cxn modelId="{980B4A41-FAC5-426C-A79C-22FF267326F6}" type="presParOf" srcId="{E0F97CE0-5202-4BF6-AAA2-EDB7BED35A31}" destId="{8BCF5E51-E1DC-4868-98EC-550D2E7744C1}" srcOrd="9" destOrd="0" presId="urn:microsoft.com/office/officeart/2011/layout/HexagonRadial"/>
    <dgm:cxn modelId="{8E72566F-2B16-419B-9930-67A121EC77FC}" type="presParOf" srcId="{8BCF5E51-E1DC-4868-98EC-550D2E7744C1}" destId="{C653CD3C-EB97-4315-B34A-C69173DF6853}" srcOrd="0" destOrd="0" presId="urn:microsoft.com/office/officeart/2011/layout/HexagonRadial"/>
    <dgm:cxn modelId="{85626CCD-AE3E-4E2A-A3D0-D68D21DC7F94}" type="presParOf" srcId="{E0F97CE0-5202-4BF6-AAA2-EDB7BED35A31}" destId="{AAD402E2-087A-44DC-B5FA-91EA13CC571F}" srcOrd="10" destOrd="0" presId="urn:microsoft.com/office/officeart/2011/layout/HexagonRadial"/>
    <dgm:cxn modelId="{67E79F2D-2F6A-4E57-BB92-6D44F5C42062}" type="presParOf" srcId="{E0F97CE0-5202-4BF6-AAA2-EDB7BED35A31}" destId="{341E26B3-6DB4-4213-A27E-E08146234176}" srcOrd="11" destOrd="0" presId="urn:microsoft.com/office/officeart/2011/layout/HexagonRadial"/>
    <dgm:cxn modelId="{F55CFC2E-7FC2-4736-9405-23CE2061DD72}" type="presParOf" srcId="{341E26B3-6DB4-4213-A27E-E08146234176}" destId="{C53A874B-E5D8-4C8E-A78C-185B5A54113C}" srcOrd="0" destOrd="0" presId="urn:microsoft.com/office/officeart/2011/layout/HexagonRadial"/>
    <dgm:cxn modelId="{6BACDE43-958C-42FF-9A9C-5EC7944A7002}" type="presParOf" srcId="{E0F97CE0-5202-4BF6-AAA2-EDB7BED35A31}" destId="{5403EA21-A047-4BDE-9188-E1A62654E8FC}"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2F29-F616-4065-913F-28C785E6E14F}">
      <dsp:nvSpPr>
        <dsp:cNvPr id="0" name=""/>
        <dsp:cNvSpPr/>
      </dsp:nvSpPr>
      <dsp:spPr>
        <a:xfrm>
          <a:off x="4522820" y="1675681"/>
          <a:ext cx="2129863" cy="1842418"/>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smtClean="0">
              <a:solidFill>
                <a:schemeClr val="tx1"/>
              </a:solidFill>
            </a:rPr>
            <a:t>Indian Steel Industry JSW </a:t>
          </a:r>
          <a:r>
            <a:rPr lang="en-US" sz="1000" kern="1200" dirty="0" err="1" smtClean="0">
              <a:solidFill>
                <a:schemeClr val="tx1"/>
              </a:solidFill>
            </a:rPr>
            <a:t>steel,Tata</a:t>
          </a:r>
          <a:r>
            <a:rPr lang="en-US" sz="1000" kern="1200" dirty="0" smtClean="0">
              <a:solidFill>
                <a:schemeClr val="tx1"/>
              </a:solidFill>
            </a:rPr>
            <a:t> Steel </a:t>
          </a:r>
          <a:r>
            <a:rPr lang="en-US" sz="1000" kern="1200" dirty="0" err="1" smtClean="0">
              <a:solidFill>
                <a:schemeClr val="tx1"/>
              </a:solidFill>
            </a:rPr>
            <a:t>Ltd,Jindal</a:t>
          </a:r>
          <a:r>
            <a:rPr lang="en-US" sz="1000" kern="1200" dirty="0" smtClean="0">
              <a:solidFill>
                <a:schemeClr val="tx1"/>
              </a:solidFill>
            </a:rPr>
            <a:t> steel and </a:t>
          </a:r>
          <a:r>
            <a:rPr lang="en-US" sz="1000" kern="1200" dirty="0" err="1" smtClean="0">
              <a:solidFill>
                <a:schemeClr val="tx1"/>
              </a:solidFill>
            </a:rPr>
            <a:t>power,and</a:t>
          </a:r>
          <a:r>
            <a:rPr lang="en-US" sz="1000" kern="1200" dirty="0" smtClean="0">
              <a:solidFill>
                <a:schemeClr val="tx1"/>
              </a:solidFill>
            </a:rPr>
            <a:t> </a:t>
          </a:r>
          <a:r>
            <a:rPr lang="en-US" sz="1000" kern="1200" dirty="0" err="1" smtClean="0">
              <a:solidFill>
                <a:schemeClr val="tx1"/>
              </a:solidFill>
            </a:rPr>
            <a:t>Kalyani</a:t>
          </a:r>
          <a:r>
            <a:rPr lang="en-US" sz="1000" kern="1200" dirty="0" smtClean="0">
              <a:solidFill>
                <a:schemeClr val="tx1"/>
              </a:solidFill>
            </a:rPr>
            <a:t> steels</a:t>
          </a:r>
          <a:endParaRPr lang="en-US" sz="1000" kern="1200" dirty="0">
            <a:solidFill>
              <a:schemeClr val="tx1"/>
            </a:solidFill>
          </a:endParaRPr>
        </a:p>
      </dsp:txBody>
      <dsp:txXfrm>
        <a:off x="4875768" y="1980996"/>
        <a:ext cx="1423967" cy="1231788"/>
      </dsp:txXfrm>
    </dsp:sp>
    <dsp:sp modelId="{A2F6C406-1D43-4393-826F-8718182A8A59}">
      <dsp:nvSpPr>
        <dsp:cNvPr id="0" name=""/>
        <dsp:cNvSpPr/>
      </dsp:nvSpPr>
      <dsp:spPr>
        <a:xfrm>
          <a:off x="5856524" y="794208"/>
          <a:ext cx="803591" cy="692400"/>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5DA343-F429-404E-8750-3C0CF6B242BA}">
      <dsp:nvSpPr>
        <dsp:cNvPr id="0" name=""/>
        <dsp:cNvSpPr/>
      </dsp:nvSpPr>
      <dsp:spPr>
        <a:xfrm>
          <a:off x="4725975" y="0"/>
          <a:ext cx="1731479" cy="1509983"/>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66725">
            <a:lnSpc>
              <a:spcPct val="90000"/>
            </a:lnSpc>
            <a:spcBef>
              <a:spcPct val="0"/>
            </a:spcBef>
            <a:spcAft>
              <a:spcPct val="35000"/>
            </a:spcAft>
          </a:pPr>
          <a:r>
            <a:rPr lang="en-US" sz="1050" kern="1200" dirty="0" smtClean="0">
              <a:solidFill>
                <a:schemeClr val="tx1"/>
              </a:solidFill>
            </a:rPr>
            <a:t>Indian Steel </a:t>
          </a:r>
          <a:r>
            <a:rPr lang="en-US" sz="1050" kern="1200" dirty="0" err="1" smtClean="0">
              <a:solidFill>
                <a:schemeClr val="tx1"/>
              </a:solidFill>
            </a:rPr>
            <a:t>Manufactures</a:t>
          </a:r>
          <a:r>
            <a:rPr lang="en-US" sz="1050" b="0" i="0" kern="1200" dirty="0" err="1" smtClean="0">
              <a:solidFill>
                <a:schemeClr val="tx1"/>
              </a:solidFill>
            </a:rPr>
            <a:t>have</a:t>
          </a:r>
          <a:r>
            <a:rPr lang="en-US" sz="1050" b="0" i="0" kern="1200" dirty="0" smtClean="0">
              <a:solidFill>
                <a:schemeClr val="tx1"/>
              </a:solidFill>
            </a:rPr>
            <a:t> been lobbying the government to take more steps to protect their margins after a hike in the import duty last year failed to cut shipments from China.</a:t>
          </a:r>
          <a:r>
            <a:rPr lang="en-US" sz="1050" kern="1200" dirty="0" smtClean="0">
              <a:solidFill>
                <a:schemeClr val="tx1"/>
              </a:solidFill>
            </a:rPr>
            <a:t> </a:t>
          </a:r>
          <a:endParaRPr lang="en-US" sz="1050" kern="1200" dirty="0">
            <a:solidFill>
              <a:schemeClr val="tx1"/>
            </a:solidFill>
          </a:endParaRPr>
        </a:p>
      </dsp:txBody>
      <dsp:txXfrm>
        <a:off x="5014066" y="251237"/>
        <a:ext cx="1155297" cy="1007509"/>
      </dsp:txXfrm>
    </dsp:sp>
    <dsp:sp modelId="{AB9B4AA4-7DD0-473A-AA02-4878282930AB}">
      <dsp:nvSpPr>
        <dsp:cNvPr id="0" name=""/>
        <dsp:cNvSpPr/>
      </dsp:nvSpPr>
      <dsp:spPr>
        <a:xfrm>
          <a:off x="6794377" y="2088628"/>
          <a:ext cx="803591" cy="692400"/>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49EBAB-882C-4A25-BF49-7D7B6AD4483B}">
      <dsp:nvSpPr>
        <dsp:cNvPr id="0" name=""/>
        <dsp:cNvSpPr/>
      </dsp:nvSpPr>
      <dsp:spPr>
        <a:xfrm>
          <a:off x="6319753" y="928740"/>
          <a:ext cx="1745408" cy="1509983"/>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b="0" i="0" kern="1200" dirty="0" smtClean="0">
              <a:solidFill>
                <a:schemeClr val="tx1"/>
              </a:solidFill>
            </a:rPr>
            <a:t>The duty on various steel products ranges between $341 per </a:t>
          </a:r>
          <a:r>
            <a:rPr lang="en-US" sz="1000" b="0" i="0" kern="1200" dirty="0" err="1" smtClean="0">
              <a:solidFill>
                <a:schemeClr val="tx1"/>
              </a:solidFill>
            </a:rPr>
            <a:t>tonne</a:t>
          </a:r>
          <a:r>
            <a:rPr lang="en-US" sz="1000" b="0" i="0" kern="1200" dirty="0" smtClean="0">
              <a:solidFill>
                <a:schemeClr val="tx1"/>
              </a:solidFill>
            </a:rPr>
            <a:t> and $752 a </a:t>
          </a:r>
          <a:r>
            <a:rPr lang="en-US" sz="1000" b="0" i="0" kern="1200" dirty="0" err="1" smtClean="0">
              <a:solidFill>
                <a:schemeClr val="tx1"/>
              </a:solidFill>
            </a:rPr>
            <a:t>tonne</a:t>
          </a:r>
          <a:r>
            <a:rPr lang="en-US" sz="1000" b="0" i="0" kern="1200" dirty="0" smtClean="0">
              <a:solidFill>
                <a:schemeClr val="tx1"/>
              </a:solidFill>
            </a:rPr>
            <a:t>, the government said in a statement</a:t>
          </a:r>
          <a:endParaRPr lang="en-US" sz="1000" kern="1200" dirty="0">
            <a:solidFill>
              <a:schemeClr val="tx1"/>
            </a:solidFill>
          </a:endParaRPr>
        </a:p>
      </dsp:txBody>
      <dsp:txXfrm>
        <a:off x="6609004" y="1178976"/>
        <a:ext cx="1166906" cy="1009511"/>
      </dsp:txXfrm>
    </dsp:sp>
    <dsp:sp modelId="{DCC249B2-4F66-4CA4-A6E7-87BED93D380C}">
      <dsp:nvSpPr>
        <dsp:cNvPr id="0" name=""/>
        <dsp:cNvSpPr/>
      </dsp:nvSpPr>
      <dsp:spPr>
        <a:xfrm>
          <a:off x="6142884" y="3549784"/>
          <a:ext cx="803591" cy="692400"/>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00372D-CCB4-4DCE-881F-E032D1855BB8}">
      <dsp:nvSpPr>
        <dsp:cNvPr id="0" name=""/>
        <dsp:cNvSpPr/>
      </dsp:nvSpPr>
      <dsp:spPr>
        <a:xfrm>
          <a:off x="6319753" y="2754537"/>
          <a:ext cx="1745408" cy="1509983"/>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smtClean="0">
              <a:solidFill>
                <a:schemeClr val="tx1"/>
              </a:solidFill>
            </a:rPr>
            <a:t>China </a:t>
          </a:r>
        </a:p>
        <a:p>
          <a:pPr lvl="0" algn="ctr" defTabSz="444500">
            <a:lnSpc>
              <a:spcPct val="90000"/>
            </a:lnSpc>
            <a:spcBef>
              <a:spcPct val="0"/>
            </a:spcBef>
            <a:spcAft>
              <a:spcPct val="35000"/>
            </a:spcAft>
          </a:pPr>
          <a:r>
            <a:rPr lang="en-US" sz="1000" kern="1200" dirty="0" smtClean="0">
              <a:solidFill>
                <a:schemeClr val="tx1"/>
              </a:solidFill>
            </a:rPr>
            <a:t>Japan </a:t>
          </a:r>
        </a:p>
        <a:p>
          <a:pPr lvl="0" algn="ctr" defTabSz="444500">
            <a:lnSpc>
              <a:spcPct val="90000"/>
            </a:lnSpc>
            <a:spcBef>
              <a:spcPct val="0"/>
            </a:spcBef>
            <a:spcAft>
              <a:spcPct val="35000"/>
            </a:spcAft>
          </a:pPr>
          <a:r>
            <a:rPr lang="en-US" sz="1000" kern="1200" dirty="0" smtClean="0">
              <a:solidFill>
                <a:schemeClr val="tx1"/>
              </a:solidFill>
            </a:rPr>
            <a:t>South Korea </a:t>
          </a:r>
          <a:endParaRPr lang="en-US" sz="1000" kern="1200" dirty="0">
            <a:solidFill>
              <a:schemeClr val="tx1"/>
            </a:solidFill>
          </a:endParaRPr>
        </a:p>
      </dsp:txBody>
      <dsp:txXfrm>
        <a:off x="6609004" y="3004773"/>
        <a:ext cx="1166906" cy="1009511"/>
      </dsp:txXfrm>
    </dsp:sp>
    <dsp:sp modelId="{C653CD3C-EB97-4315-B34A-C69173DF6853}">
      <dsp:nvSpPr>
        <dsp:cNvPr id="0" name=""/>
        <dsp:cNvSpPr/>
      </dsp:nvSpPr>
      <dsp:spPr>
        <a:xfrm>
          <a:off x="4526783" y="3701458"/>
          <a:ext cx="803591" cy="692400"/>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837BE4-9825-411B-AB21-693CB93BFA76}">
      <dsp:nvSpPr>
        <dsp:cNvPr id="0" name=""/>
        <dsp:cNvSpPr/>
      </dsp:nvSpPr>
      <dsp:spPr>
        <a:xfrm>
          <a:off x="4719011" y="3684316"/>
          <a:ext cx="1745408" cy="1509983"/>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smtClean="0">
              <a:solidFill>
                <a:schemeClr val="tx1"/>
              </a:solidFill>
            </a:rPr>
            <a:t>Imports of steel surged by 22.8 percent in 2015</a:t>
          </a:r>
          <a:endParaRPr lang="en-US" sz="1000" kern="1200" dirty="0">
            <a:solidFill>
              <a:schemeClr val="tx1"/>
            </a:solidFill>
          </a:endParaRPr>
        </a:p>
      </dsp:txBody>
      <dsp:txXfrm>
        <a:off x="5008262" y="3934552"/>
        <a:ext cx="1166906" cy="1009511"/>
      </dsp:txXfrm>
    </dsp:sp>
    <dsp:sp modelId="{C53A874B-E5D8-4C8E-A78C-185B5A54113C}">
      <dsp:nvSpPr>
        <dsp:cNvPr id="0" name=""/>
        <dsp:cNvSpPr/>
      </dsp:nvSpPr>
      <dsp:spPr>
        <a:xfrm>
          <a:off x="3573572" y="2407558"/>
          <a:ext cx="803591" cy="692400"/>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D402E2-087A-44DC-B5FA-91EA13CC571F}">
      <dsp:nvSpPr>
        <dsp:cNvPr id="0" name=""/>
        <dsp:cNvSpPr/>
      </dsp:nvSpPr>
      <dsp:spPr>
        <a:xfrm>
          <a:off x="3110838" y="2755576"/>
          <a:ext cx="1745408" cy="1509983"/>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smtClean="0">
              <a:solidFill>
                <a:schemeClr val="tx1"/>
              </a:solidFill>
            </a:rPr>
            <a:t>China Produces half the world’s total 1.6 billion </a:t>
          </a:r>
          <a:r>
            <a:rPr lang="en-US" sz="1000" kern="1200" dirty="0" err="1" smtClean="0">
              <a:solidFill>
                <a:schemeClr val="tx1"/>
              </a:solidFill>
            </a:rPr>
            <a:t>tonnes</a:t>
          </a:r>
          <a:r>
            <a:rPr lang="en-US" sz="1000" kern="1200" dirty="0" smtClean="0">
              <a:solidFill>
                <a:schemeClr val="tx1"/>
              </a:solidFill>
            </a:rPr>
            <a:t> and exports 100 million </a:t>
          </a:r>
          <a:r>
            <a:rPr lang="en-US" sz="1000" kern="1200" dirty="0" err="1" smtClean="0">
              <a:solidFill>
                <a:schemeClr val="tx1"/>
              </a:solidFill>
            </a:rPr>
            <a:t>tonnes</a:t>
          </a:r>
          <a:r>
            <a:rPr lang="en-US" sz="1000" kern="1200" dirty="0" smtClean="0">
              <a:solidFill>
                <a:schemeClr val="tx1"/>
              </a:solidFill>
            </a:rPr>
            <a:t> {2014}</a:t>
          </a:r>
        </a:p>
        <a:p>
          <a:pPr lvl="0" algn="ctr" defTabSz="444500">
            <a:lnSpc>
              <a:spcPct val="90000"/>
            </a:lnSpc>
            <a:spcBef>
              <a:spcPct val="0"/>
            </a:spcBef>
            <a:spcAft>
              <a:spcPct val="35000"/>
            </a:spcAft>
          </a:pPr>
          <a:endParaRPr lang="en-US" sz="1000" kern="1200" dirty="0"/>
        </a:p>
      </dsp:txBody>
      <dsp:txXfrm>
        <a:off x="3400089" y="3005812"/>
        <a:ext cx="1166906" cy="1009511"/>
      </dsp:txXfrm>
    </dsp:sp>
    <dsp:sp modelId="{5403EA21-A047-4BDE-9188-E1A62654E8FC}">
      <dsp:nvSpPr>
        <dsp:cNvPr id="0" name=""/>
        <dsp:cNvSpPr/>
      </dsp:nvSpPr>
      <dsp:spPr>
        <a:xfrm>
          <a:off x="3110838" y="926663"/>
          <a:ext cx="1745408" cy="1509983"/>
        </a:xfrm>
        <a:prstGeom prst="hexagon">
          <a:avLst>
            <a:gd name="adj" fmla="val 2857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b="0" i="0" kern="1200" dirty="0" smtClean="0">
              <a:solidFill>
                <a:schemeClr val="tx1"/>
              </a:solidFill>
            </a:rPr>
            <a:t>India is the third largest steel producer in the world with a total installed capacity of 110 million </a:t>
          </a:r>
          <a:r>
            <a:rPr lang="en-US" sz="1000" b="0" i="0" kern="1200" dirty="0" err="1" smtClean="0">
              <a:solidFill>
                <a:schemeClr val="tx1"/>
              </a:solidFill>
            </a:rPr>
            <a:t>tonnes</a:t>
          </a:r>
          <a:r>
            <a:rPr lang="en-US" sz="1000" b="0" i="0" kern="1200" dirty="0" smtClean="0">
              <a:solidFill>
                <a:schemeClr val="tx1"/>
              </a:solidFill>
            </a:rPr>
            <a:t>.</a:t>
          </a:r>
          <a:endParaRPr lang="en-US" sz="1000" kern="1200" dirty="0">
            <a:solidFill>
              <a:schemeClr val="tx1"/>
            </a:solidFill>
          </a:endParaRPr>
        </a:p>
      </dsp:txBody>
      <dsp:txXfrm>
        <a:off x="3400089" y="1176899"/>
        <a:ext cx="1166906" cy="1009511"/>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876546" name="Rectangle 2"/>
          <p:cNvSpPr>
            <a:spLocks noChangeArrowheads="1"/>
          </p:cNvSpPr>
          <p:nvPr/>
        </p:nvSpPr>
        <p:spPr bwMode="auto">
          <a:xfrm>
            <a:off x="11480800" y="0"/>
            <a:ext cx="711200" cy="6858000"/>
          </a:xfrm>
          <a:prstGeom prst="rect">
            <a:avLst/>
          </a:prstGeom>
          <a:solidFill>
            <a:srgbClr val="411D7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876547" name="Oval 3"/>
          <p:cNvSpPr>
            <a:spLocks noChangeArrowheads="1"/>
          </p:cNvSpPr>
          <p:nvPr/>
        </p:nvSpPr>
        <p:spPr bwMode="auto">
          <a:xfrm>
            <a:off x="10261600" y="2514600"/>
            <a:ext cx="1422400" cy="182880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876548" name="Rectangle 4"/>
          <p:cNvSpPr>
            <a:spLocks noGrp="1" noChangeArrowheads="1"/>
          </p:cNvSpPr>
          <p:nvPr>
            <p:ph type="ctrTitle"/>
          </p:nvPr>
        </p:nvSpPr>
        <p:spPr>
          <a:xfrm>
            <a:off x="7620000" y="2895600"/>
            <a:ext cx="4165600" cy="1143000"/>
          </a:xfrm>
          <a:extLst>
            <a:ext uri="{909E8E84-426E-40DD-AFC4-6F175D3DCCD1}">
              <a14:hiddenFill xmlns:a14="http://schemas.microsoft.com/office/drawing/2010/main">
                <a:solidFill>
                  <a:schemeClr val="accent1"/>
                </a:solidFill>
              </a14:hiddenFill>
            </a:ext>
          </a:extLst>
        </p:spPr>
        <p:txBody>
          <a:bodyPr anchorCtr="1"/>
          <a:lstStyle>
            <a:lvl1pPr>
              <a:defRPr sz="15000" b="1">
                <a:solidFill>
                  <a:schemeClr val="tx1"/>
                </a:solidFill>
                <a:effectLst>
                  <a:outerShdw blurRad="38100" dist="38100" dir="2700000" algn="tl">
                    <a:srgbClr val="C0C0C0"/>
                  </a:outerShdw>
                </a:effectLst>
              </a:defRPr>
            </a:lvl1pPr>
          </a:lstStyle>
          <a:p>
            <a:pPr lvl="0"/>
            <a:r>
              <a:rPr lang="en-US" altLang="en-US" noProof="0" smtClean="0"/>
              <a:t>Click to editaster title style</a:t>
            </a:r>
          </a:p>
        </p:txBody>
      </p:sp>
      <p:sp>
        <p:nvSpPr>
          <p:cNvPr id="876550" name="Rectangle 6"/>
          <p:cNvSpPr>
            <a:spLocks noGrp="1" noChangeArrowheads="1"/>
          </p:cNvSpPr>
          <p:nvPr>
            <p:ph type="subTitle" idx="1"/>
          </p:nvPr>
        </p:nvSpPr>
        <p:spPr>
          <a:xfrm>
            <a:off x="508000" y="3810000"/>
            <a:ext cx="7112000" cy="2590800"/>
          </a:xfrm>
        </p:spPr>
        <p:txBody>
          <a:bodyPr/>
          <a:lstStyle>
            <a:lvl1pPr marL="0" indent="0" algn="ctr">
              <a:buFontTx/>
              <a:buNone/>
              <a:defRPr sz="4000" b="1">
                <a:solidFill>
                  <a:srgbClr val="0094B9"/>
                </a:solidFill>
                <a:latin typeface="Arial" panose="020B0604020202020204" pitchFamily="34" charset="0"/>
              </a:defRPr>
            </a:lvl1pPr>
          </a:lstStyle>
          <a:p>
            <a:pPr lvl="0"/>
            <a:r>
              <a:rPr lang="en-US" altLang="en-US" noProof="0" smtClean="0"/>
              <a:t>Click to edit Master subtitle style</a:t>
            </a:r>
          </a:p>
        </p:txBody>
      </p:sp>
      <p:sp>
        <p:nvSpPr>
          <p:cNvPr id="876553" name="Text Box 9"/>
          <p:cNvSpPr txBox="1">
            <a:spLocks noChangeArrowheads="1"/>
          </p:cNvSpPr>
          <p:nvPr/>
        </p:nvSpPr>
        <p:spPr bwMode="auto">
          <a:xfrm>
            <a:off x="508000" y="6553200"/>
            <a:ext cx="183736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i="0">
                <a:solidFill>
                  <a:srgbClr val="411D72"/>
                </a:solidFill>
              </a:rPr>
              <a:t>Copyright © 2006 Thomson Learning</a:t>
            </a:r>
          </a:p>
        </p:txBody>
      </p:sp>
      <p:pic>
        <p:nvPicPr>
          <p:cNvPr id="876555" name="Picture 11" descr="PO_1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8000" y="304800"/>
            <a:ext cx="7010400" cy="31242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185211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283335571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Tree>
    <p:extLst>
      <p:ext uri="{BB962C8B-B14F-4D97-AF65-F5344CB8AC3E}">
        <p14:creationId xmlns:p14="http://schemas.microsoft.com/office/powerpoint/2010/main" val="341806711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600" y="1447800"/>
            <a:ext cx="5486400" cy="5194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299200" y="1447800"/>
            <a:ext cx="5486400" cy="5194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1345258158"/>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298873511"/>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Tree>
    <p:extLst>
      <p:ext uri="{BB962C8B-B14F-4D97-AF65-F5344CB8AC3E}">
        <p14:creationId xmlns:p14="http://schemas.microsoft.com/office/powerpoint/2010/main" val="958025984"/>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0847178"/>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11220721"/>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36490877"/>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3853150807"/>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152400"/>
            <a:ext cx="2794000" cy="6489700"/>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600" y="152400"/>
            <a:ext cx="8178800" cy="64897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34762754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C4C7C"/>
        </a:solidFill>
        <a:effectLst/>
      </p:bgPr>
    </p:bg>
    <p:spTree>
      <p:nvGrpSpPr>
        <p:cNvPr id="1" name=""/>
        <p:cNvGrpSpPr/>
        <p:nvPr/>
      </p:nvGrpSpPr>
      <p:grpSpPr>
        <a:xfrm>
          <a:off x="0" y="0"/>
          <a:ext cx="0" cy="0"/>
          <a:chOff x="0" y="0"/>
          <a:chExt cx="0" cy="0"/>
        </a:xfrm>
      </p:grpSpPr>
      <p:pic>
        <p:nvPicPr>
          <p:cNvPr id="875522"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7485" y="1455739"/>
            <a:ext cx="11186583" cy="5195887"/>
          </a:xfrm>
          <a:prstGeom prst="rect">
            <a:avLst/>
          </a:prstGeom>
          <a:noFill/>
          <a:extLst>
            <a:ext uri="{909E8E84-426E-40DD-AFC4-6F175D3DCCD1}">
              <a14:hiddenFill xmlns:a14="http://schemas.microsoft.com/office/drawing/2010/main">
                <a:solidFill>
                  <a:srgbClr val="FFFFFF"/>
                </a:solidFill>
              </a14:hiddenFill>
            </a:ext>
          </a:extLst>
        </p:spPr>
      </p:pic>
      <p:sp>
        <p:nvSpPr>
          <p:cNvPr id="875523" name="Rectangle 3"/>
          <p:cNvSpPr>
            <a:spLocks noGrp="1" noChangeArrowheads="1"/>
          </p:cNvSpPr>
          <p:nvPr>
            <p:ph type="title"/>
          </p:nvPr>
        </p:nvSpPr>
        <p:spPr bwMode="auto">
          <a:xfrm>
            <a:off x="609600" y="152400"/>
            <a:ext cx="11176000" cy="1219200"/>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875524" name="Text Box 4"/>
          <p:cNvSpPr txBox="1">
            <a:spLocks noChangeArrowheads="1"/>
          </p:cNvSpPr>
          <p:nvPr/>
        </p:nvSpPr>
        <p:spPr bwMode="auto">
          <a:xfrm>
            <a:off x="10369456" y="6675438"/>
            <a:ext cx="183736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800" b="1" i="0">
                <a:solidFill>
                  <a:schemeClr val="bg1"/>
                </a:solidFill>
              </a:rPr>
              <a:t>Copyright © 2006 Thomson Learning</a:t>
            </a:r>
          </a:p>
        </p:txBody>
      </p:sp>
      <p:sp>
        <p:nvSpPr>
          <p:cNvPr id="875525" name="Rectangle 5"/>
          <p:cNvSpPr>
            <a:spLocks noGrp="1" noChangeArrowheads="1"/>
          </p:cNvSpPr>
          <p:nvPr>
            <p:ph type="body" idx="1"/>
          </p:nvPr>
        </p:nvSpPr>
        <p:spPr bwMode="auto">
          <a:xfrm>
            <a:off x="609600" y="1447800"/>
            <a:ext cx="11176000" cy="5194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Tree>
    <p:extLst>
      <p:ext uri="{BB962C8B-B14F-4D97-AF65-F5344CB8AC3E}">
        <p14:creationId xmlns:p14="http://schemas.microsoft.com/office/powerpoint/2010/main" val="27303856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75525">
                                            <p:txEl>
                                              <p:pRg st="0" end="0"/>
                                            </p:txEl>
                                          </p:spTgt>
                                        </p:tgtEl>
                                        <p:attrNameLst>
                                          <p:attrName>style.visibility</p:attrName>
                                        </p:attrNameLst>
                                      </p:cBhvr>
                                      <p:to>
                                        <p:strVal val="visible"/>
                                      </p:to>
                                    </p:set>
                                    <p:animEffect transition="in" filter="wipe(up)">
                                      <p:cBhvr>
                                        <p:cTn id="7" dur="500"/>
                                        <p:tgtEl>
                                          <p:spTgt spid="87552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75525">
                                            <p:txEl>
                                              <p:pRg st="1" end="1"/>
                                            </p:txEl>
                                          </p:spTgt>
                                        </p:tgtEl>
                                        <p:attrNameLst>
                                          <p:attrName>style.visibility</p:attrName>
                                        </p:attrNameLst>
                                      </p:cBhvr>
                                      <p:to>
                                        <p:strVal val="visible"/>
                                      </p:to>
                                    </p:set>
                                    <p:animEffect transition="in" filter="wipe(up)">
                                      <p:cBhvr>
                                        <p:cTn id="12" dur="500"/>
                                        <p:tgtEl>
                                          <p:spTgt spid="875525">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875525">
                                            <p:txEl>
                                              <p:pRg st="2" end="2"/>
                                            </p:txEl>
                                          </p:spTgt>
                                        </p:tgtEl>
                                        <p:attrNameLst>
                                          <p:attrName>style.visibility</p:attrName>
                                        </p:attrNameLst>
                                      </p:cBhvr>
                                      <p:to>
                                        <p:strVal val="visible"/>
                                      </p:to>
                                    </p:set>
                                    <p:animEffect transition="in" filter="wipe(up)">
                                      <p:cBhvr>
                                        <p:cTn id="15" dur="500"/>
                                        <p:tgtEl>
                                          <p:spTgt spid="875525">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875525">
                                            <p:txEl>
                                              <p:pRg st="3" end="3"/>
                                            </p:txEl>
                                          </p:spTgt>
                                        </p:tgtEl>
                                        <p:attrNameLst>
                                          <p:attrName>style.visibility</p:attrName>
                                        </p:attrNameLst>
                                      </p:cBhvr>
                                      <p:to>
                                        <p:strVal val="visible"/>
                                      </p:to>
                                    </p:set>
                                    <p:animEffect transition="in" filter="wipe(up)">
                                      <p:cBhvr>
                                        <p:cTn id="18" dur="500"/>
                                        <p:tgtEl>
                                          <p:spTgt spid="875525">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875525">
                                            <p:txEl>
                                              <p:pRg st="4" end="4"/>
                                            </p:txEl>
                                          </p:spTgt>
                                        </p:tgtEl>
                                        <p:attrNameLst>
                                          <p:attrName>style.visibility</p:attrName>
                                        </p:attrNameLst>
                                      </p:cBhvr>
                                      <p:to>
                                        <p:strVal val="visible"/>
                                      </p:to>
                                    </p:set>
                                    <p:animEffect transition="in" filter="wipe(up)">
                                      <p:cBhvr>
                                        <p:cTn id="21" dur="500"/>
                                        <p:tgtEl>
                                          <p:spTgt spid="8755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5525" grpId="0" build="p" bldLvl="2" autoUpdateAnimBg="0">
        <p:tmplLst>
          <p:tmpl lvl="1">
            <p:tnLst>
              <p:par>
                <p:cTn presetID="22" presetClass="entr" presetSubtype="1" fill="hold" nodeType="clickEffect">
                  <p:stCondLst>
                    <p:cond delay="0"/>
                  </p:stCondLst>
                  <p:childTnLst>
                    <p:set>
                      <p:cBhvr>
                        <p:cTn dur="1" fill="hold">
                          <p:stCondLst>
                            <p:cond delay="0"/>
                          </p:stCondLst>
                        </p:cTn>
                        <p:tgtEl>
                          <p:spTgt spid="875525"/>
                        </p:tgtEl>
                        <p:attrNameLst>
                          <p:attrName>style.visibility</p:attrName>
                        </p:attrNameLst>
                      </p:cBhvr>
                      <p:to>
                        <p:strVal val="visible"/>
                      </p:to>
                    </p:set>
                    <p:animEffect transition="in" filter="wipe(up)">
                      <p:cBhvr>
                        <p:cTn dur="500"/>
                        <p:tgtEl>
                          <p:spTgt spid="875525"/>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875525"/>
                        </p:tgtEl>
                        <p:attrNameLst>
                          <p:attrName>style.visibility</p:attrName>
                        </p:attrNameLst>
                      </p:cBhvr>
                      <p:to>
                        <p:strVal val="visible"/>
                      </p:to>
                    </p:set>
                    <p:animEffect transition="in" filter="wipe(up)">
                      <p:cBhvr>
                        <p:cTn dur="500"/>
                        <p:tgtEl>
                          <p:spTgt spid="875525"/>
                        </p:tgtEl>
                      </p:cBhvr>
                    </p:animEffect>
                  </p:childTnLst>
                </p:cTn>
              </p:par>
            </p:tnLst>
          </p:tmpl>
          <p:tmpl lvl="3">
            <p:tnLst>
              <p:par>
                <p:cTn presetID="22" presetClass="entr" presetSubtype="1" fill="hold" nodeType="withEffect">
                  <p:stCondLst>
                    <p:cond delay="0"/>
                  </p:stCondLst>
                  <p:childTnLst>
                    <p:set>
                      <p:cBhvr>
                        <p:cTn dur="1" fill="hold">
                          <p:stCondLst>
                            <p:cond delay="0"/>
                          </p:stCondLst>
                        </p:cTn>
                        <p:tgtEl>
                          <p:spTgt spid="875525"/>
                        </p:tgtEl>
                        <p:attrNameLst>
                          <p:attrName>style.visibility</p:attrName>
                        </p:attrNameLst>
                      </p:cBhvr>
                      <p:to>
                        <p:strVal val="visible"/>
                      </p:to>
                    </p:set>
                    <p:animEffect transition="in" filter="wipe(up)">
                      <p:cBhvr>
                        <p:cTn dur="500"/>
                        <p:tgtEl>
                          <p:spTgt spid="875525"/>
                        </p:tgtEl>
                      </p:cBhvr>
                    </p:animEffect>
                  </p:childTnLst>
                </p:cTn>
              </p:par>
            </p:tnLst>
          </p:tmpl>
          <p:tmpl lvl="4">
            <p:tnLst>
              <p:par>
                <p:cTn presetID="22" presetClass="entr" presetSubtype="1" fill="hold" nodeType="withEffect">
                  <p:stCondLst>
                    <p:cond delay="0"/>
                  </p:stCondLst>
                  <p:childTnLst>
                    <p:set>
                      <p:cBhvr>
                        <p:cTn dur="1" fill="hold">
                          <p:stCondLst>
                            <p:cond delay="0"/>
                          </p:stCondLst>
                        </p:cTn>
                        <p:tgtEl>
                          <p:spTgt spid="875525"/>
                        </p:tgtEl>
                        <p:attrNameLst>
                          <p:attrName>style.visibility</p:attrName>
                        </p:attrNameLst>
                      </p:cBhvr>
                      <p:to>
                        <p:strVal val="visible"/>
                      </p:to>
                    </p:set>
                    <p:animEffect transition="in" filter="wipe(up)">
                      <p:cBhvr>
                        <p:cTn dur="500"/>
                        <p:tgtEl>
                          <p:spTgt spid="875525"/>
                        </p:tgtEl>
                      </p:cBhvr>
                    </p:animEffect>
                  </p:childTnLst>
                </p:cTn>
              </p:par>
            </p:tnLst>
          </p:tmpl>
          <p:tmpl lvl="5">
            <p:tnLst>
              <p:par>
                <p:cTn presetID="22" presetClass="entr" presetSubtype="1" fill="hold" nodeType="withEffect">
                  <p:stCondLst>
                    <p:cond delay="0"/>
                  </p:stCondLst>
                  <p:childTnLst>
                    <p:set>
                      <p:cBhvr>
                        <p:cTn dur="1" fill="hold">
                          <p:stCondLst>
                            <p:cond delay="0"/>
                          </p:stCondLst>
                        </p:cTn>
                        <p:tgtEl>
                          <p:spTgt spid="875525"/>
                        </p:tgtEl>
                        <p:attrNameLst>
                          <p:attrName>style.visibility</p:attrName>
                        </p:attrNameLst>
                      </p:cBhvr>
                      <p:to>
                        <p:strVal val="visible"/>
                      </p:to>
                    </p:set>
                    <p:animEffect transition="in" filter="wipe(up)">
                      <p:cBhvr>
                        <p:cTn dur="500"/>
                        <p:tgtEl>
                          <p:spTgt spid="875525"/>
                        </p:tgtEl>
                      </p:cBhvr>
                    </p:animEffect>
                  </p:childTnLst>
                </p:cTn>
              </p:par>
            </p:tnLst>
          </p:tmpl>
        </p:tmplLst>
      </p:bldP>
    </p:bldLst>
  </p:timing>
  <p:txStyles>
    <p:titleStyle>
      <a:lvl1pPr algn="ctr" rtl="0" eaLnBrk="0" fontAlgn="base" hangingPunct="0">
        <a:lnSpc>
          <a:spcPct val="90000"/>
        </a:lnSpc>
        <a:spcBef>
          <a:spcPct val="0"/>
        </a:spcBef>
        <a:spcAft>
          <a:spcPct val="0"/>
        </a:spcAft>
        <a:defRPr sz="4000" kern="1200">
          <a:solidFill>
            <a:srgbClr val="FFFFCC"/>
          </a:solidFill>
          <a:latin typeface="+mj-lt"/>
          <a:ea typeface="+mj-ea"/>
          <a:cs typeface="+mj-cs"/>
        </a:defRPr>
      </a:lvl1pPr>
      <a:lvl2pPr algn="ctr" rtl="0" eaLnBrk="0" fontAlgn="base" hangingPunct="0">
        <a:lnSpc>
          <a:spcPct val="90000"/>
        </a:lnSpc>
        <a:spcBef>
          <a:spcPct val="0"/>
        </a:spcBef>
        <a:spcAft>
          <a:spcPct val="0"/>
        </a:spcAft>
        <a:defRPr sz="4000">
          <a:solidFill>
            <a:srgbClr val="FFFFCC"/>
          </a:solidFill>
          <a:latin typeface="Arial" panose="020B0604020202020204" pitchFamily="34" charset="0"/>
        </a:defRPr>
      </a:lvl2pPr>
      <a:lvl3pPr algn="ctr" rtl="0" eaLnBrk="0" fontAlgn="base" hangingPunct="0">
        <a:lnSpc>
          <a:spcPct val="90000"/>
        </a:lnSpc>
        <a:spcBef>
          <a:spcPct val="0"/>
        </a:spcBef>
        <a:spcAft>
          <a:spcPct val="0"/>
        </a:spcAft>
        <a:defRPr sz="4000">
          <a:solidFill>
            <a:srgbClr val="FFFFCC"/>
          </a:solidFill>
          <a:latin typeface="Arial" panose="020B0604020202020204" pitchFamily="34" charset="0"/>
        </a:defRPr>
      </a:lvl3pPr>
      <a:lvl4pPr algn="ctr" rtl="0" eaLnBrk="0" fontAlgn="base" hangingPunct="0">
        <a:lnSpc>
          <a:spcPct val="90000"/>
        </a:lnSpc>
        <a:spcBef>
          <a:spcPct val="0"/>
        </a:spcBef>
        <a:spcAft>
          <a:spcPct val="0"/>
        </a:spcAft>
        <a:defRPr sz="4000">
          <a:solidFill>
            <a:srgbClr val="FFFFCC"/>
          </a:solidFill>
          <a:latin typeface="Arial" panose="020B0604020202020204" pitchFamily="34" charset="0"/>
        </a:defRPr>
      </a:lvl4pPr>
      <a:lvl5pPr algn="ctr" rtl="0" eaLnBrk="0" fontAlgn="base" hangingPunct="0">
        <a:lnSpc>
          <a:spcPct val="90000"/>
        </a:lnSpc>
        <a:spcBef>
          <a:spcPct val="0"/>
        </a:spcBef>
        <a:spcAft>
          <a:spcPct val="0"/>
        </a:spcAft>
        <a:defRPr sz="4000">
          <a:solidFill>
            <a:srgbClr val="FFFFCC"/>
          </a:solidFill>
          <a:latin typeface="Arial" panose="020B0604020202020204" pitchFamily="34" charset="0"/>
        </a:defRPr>
      </a:lvl5pPr>
      <a:lvl6pPr marL="457200" algn="ctr" rtl="0" eaLnBrk="0" fontAlgn="base" hangingPunct="0">
        <a:lnSpc>
          <a:spcPct val="90000"/>
        </a:lnSpc>
        <a:spcBef>
          <a:spcPct val="0"/>
        </a:spcBef>
        <a:spcAft>
          <a:spcPct val="0"/>
        </a:spcAft>
        <a:defRPr sz="4000">
          <a:solidFill>
            <a:srgbClr val="FFFFCC"/>
          </a:solidFill>
          <a:latin typeface="Arial" panose="020B0604020202020204" pitchFamily="34" charset="0"/>
        </a:defRPr>
      </a:lvl6pPr>
      <a:lvl7pPr marL="914400" algn="ctr" rtl="0" eaLnBrk="0" fontAlgn="base" hangingPunct="0">
        <a:lnSpc>
          <a:spcPct val="90000"/>
        </a:lnSpc>
        <a:spcBef>
          <a:spcPct val="0"/>
        </a:spcBef>
        <a:spcAft>
          <a:spcPct val="0"/>
        </a:spcAft>
        <a:defRPr sz="4000">
          <a:solidFill>
            <a:srgbClr val="FFFFCC"/>
          </a:solidFill>
          <a:latin typeface="Arial" panose="020B0604020202020204" pitchFamily="34" charset="0"/>
        </a:defRPr>
      </a:lvl7pPr>
      <a:lvl8pPr marL="1371600" algn="ctr" rtl="0" eaLnBrk="0" fontAlgn="base" hangingPunct="0">
        <a:lnSpc>
          <a:spcPct val="90000"/>
        </a:lnSpc>
        <a:spcBef>
          <a:spcPct val="0"/>
        </a:spcBef>
        <a:spcAft>
          <a:spcPct val="0"/>
        </a:spcAft>
        <a:defRPr sz="4000">
          <a:solidFill>
            <a:srgbClr val="FFFFCC"/>
          </a:solidFill>
          <a:latin typeface="Arial" panose="020B0604020202020204" pitchFamily="34" charset="0"/>
        </a:defRPr>
      </a:lvl8pPr>
      <a:lvl9pPr marL="1828800" algn="ctr" rtl="0" eaLnBrk="0" fontAlgn="base" hangingPunct="0">
        <a:lnSpc>
          <a:spcPct val="90000"/>
        </a:lnSpc>
        <a:spcBef>
          <a:spcPct val="0"/>
        </a:spcBef>
        <a:spcAft>
          <a:spcPct val="0"/>
        </a:spcAft>
        <a:defRPr sz="4000">
          <a:solidFill>
            <a:srgbClr val="FFFFCC"/>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Effects of Government Intervention-Price Control </a:t>
            </a:r>
            <a:endParaRPr lang="en-IN" dirty="0"/>
          </a:p>
        </p:txBody>
      </p:sp>
    </p:spTree>
    <p:extLst>
      <p:ext uri="{BB962C8B-B14F-4D97-AF65-F5344CB8AC3E}">
        <p14:creationId xmlns:p14="http://schemas.microsoft.com/office/powerpoint/2010/main" val="1545380109"/>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Control on Prices </a:t>
            </a:r>
            <a:endParaRPr lang="en-IN" dirty="0"/>
          </a:p>
        </p:txBody>
      </p:sp>
      <p:sp>
        <p:nvSpPr>
          <p:cNvPr id="3" name="Content Placeholder 2"/>
          <p:cNvSpPr>
            <a:spLocks noGrp="1"/>
          </p:cNvSpPr>
          <p:nvPr>
            <p:ph idx="1"/>
          </p:nvPr>
        </p:nvSpPr>
        <p:spPr/>
        <p:txBody>
          <a:bodyPr/>
          <a:lstStyle/>
          <a:p>
            <a:pPr algn="just"/>
            <a:r>
              <a:rPr lang="en-US" dirty="0"/>
              <a:t>Controversy sometimes surrounds the prices and quantities established by demand and supply, especially for products that are considered necessities. In some cases, discontent over prices turns into public pressure on politicians, who may then pass legislation to prevent a certain price from climbing “too high” or falling “too low.”</a:t>
            </a:r>
            <a:endParaRPr lang="en-IN" dirty="0"/>
          </a:p>
        </p:txBody>
      </p:sp>
    </p:spTree>
    <p:extLst>
      <p:ext uri="{BB962C8B-B14F-4D97-AF65-F5344CB8AC3E}">
        <p14:creationId xmlns:p14="http://schemas.microsoft.com/office/powerpoint/2010/main" val="169451059"/>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Control on Prices </a:t>
            </a:r>
            <a:endParaRPr lang="en-IN" dirty="0"/>
          </a:p>
        </p:txBody>
      </p:sp>
      <p:sp>
        <p:nvSpPr>
          <p:cNvPr id="3" name="Text Placeholder 2"/>
          <p:cNvSpPr>
            <a:spLocks noGrp="1"/>
          </p:cNvSpPr>
          <p:nvPr>
            <p:ph type="body" idx="1"/>
          </p:nvPr>
        </p:nvSpPr>
        <p:spPr/>
        <p:txBody>
          <a:bodyPr/>
          <a:lstStyle/>
          <a:p>
            <a:r>
              <a:rPr lang="en-IN" dirty="0" smtClean="0"/>
              <a:t>Price Ceiling </a:t>
            </a:r>
            <a:endParaRPr lang="en-IN" dirty="0"/>
          </a:p>
        </p:txBody>
      </p:sp>
      <p:sp>
        <p:nvSpPr>
          <p:cNvPr id="4" name="Content Placeholder 3"/>
          <p:cNvSpPr>
            <a:spLocks noGrp="1"/>
          </p:cNvSpPr>
          <p:nvPr>
            <p:ph sz="half" idx="2"/>
          </p:nvPr>
        </p:nvSpPr>
        <p:spPr/>
        <p:txBody>
          <a:bodyPr/>
          <a:lstStyle/>
          <a:p>
            <a:r>
              <a:rPr lang="en-IN" dirty="0" smtClean="0"/>
              <a:t>To support the consumers.</a:t>
            </a:r>
          </a:p>
          <a:p>
            <a:r>
              <a:rPr lang="en-IN" dirty="0" smtClean="0"/>
              <a:t>A legal maximum on the price of good at which a good can be sold.  </a:t>
            </a:r>
            <a:endParaRPr lang="en-IN" dirty="0"/>
          </a:p>
        </p:txBody>
      </p:sp>
      <p:sp>
        <p:nvSpPr>
          <p:cNvPr id="5" name="Text Placeholder 4"/>
          <p:cNvSpPr>
            <a:spLocks noGrp="1"/>
          </p:cNvSpPr>
          <p:nvPr>
            <p:ph type="body" sz="quarter" idx="3"/>
          </p:nvPr>
        </p:nvSpPr>
        <p:spPr/>
        <p:txBody>
          <a:bodyPr/>
          <a:lstStyle/>
          <a:p>
            <a:r>
              <a:rPr lang="en-IN" dirty="0" smtClean="0"/>
              <a:t>Price Floor </a:t>
            </a:r>
            <a:endParaRPr lang="en-IN" dirty="0"/>
          </a:p>
        </p:txBody>
      </p:sp>
      <p:sp>
        <p:nvSpPr>
          <p:cNvPr id="6" name="Content Placeholder 5"/>
          <p:cNvSpPr>
            <a:spLocks noGrp="1"/>
          </p:cNvSpPr>
          <p:nvPr>
            <p:ph sz="quarter" idx="4"/>
          </p:nvPr>
        </p:nvSpPr>
        <p:spPr/>
        <p:txBody>
          <a:bodyPr/>
          <a:lstStyle/>
          <a:p>
            <a:r>
              <a:rPr lang="en-IN" dirty="0" smtClean="0"/>
              <a:t>To support the sellers </a:t>
            </a:r>
          </a:p>
          <a:p>
            <a:r>
              <a:rPr lang="en-IN" dirty="0" smtClean="0"/>
              <a:t>A legal minimum on the prices at which a good can be sold. </a:t>
            </a:r>
            <a:endParaRPr lang="en-IN" dirty="0"/>
          </a:p>
        </p:txBody>
      </p:sp>
    </p:spTree>
    <p:extLst>
      <p:ext uri="{BB962C8B-B14F-4D97-AF65-F5344CB8AC3E}">
        <p14:creationId xmlns:p14="http://schemas.microsoft.com/office/powerpoint/2010/main" val="1239430321"/>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Price Ceiling </a:t>
            </a:r>
            <a:endParaRPr lang="en-IN" dirty="0"/>
          </a:p>
        </p:txBody>
      </p:sp>
      <p:sp>
        <p:nvSpPr>
          <p:cNvPr id="3" name="Content Placeholder 2"/>
          <p:cNvSpPr>
            <a:spLocks noGrp="1"/>
          </p:cNvSpPr>
          <p:nvPr>
            <p:ph idx="1"/>
          </p:nvPr>
        </p:nvSpPr>
        <p:spPr/>
        <p:txBody>
          <a:bodyPr/>
          <a:lstStyle/>
          <a:p>
            <a:pPr algn="just"/>
            <a:r>
              <a:rPr lang="en-US" sz="2800" dirty="0" smtClean="0"/>
              <a:t>The </a:t>
            </a:r>
            <a:r>
              <a:rPr lang="en-US" sz="2800" dirty="0"/>
              <a:t>National Pharmaceuticals Pricing Authority (NPPA)’s decision to create a ceiling for drug prices to keep them reasonably </a:t>
            </a:r>
            <a:r>
              <a:rPr lang="en-US" sz="2800" dirty="0" smtClean="0"/>
              <a:t>priced. </a:t>
            </a:r>
          </a:p>
          <a:p>
            <a:pPr algn="just"/>
            <a:r>
              <a:rPr lang="en-US" sz="2800" dirty="0" smtClean="0"/>
              <a:t>The role of NPPA  is to fixes </a:t>
            </a:r>
            <a:r>
              <a:rPr lang="en-US" sz="2800" dirty="0"/>
              <a:t>and revises the prices of essential drugs and monitors the prices of decontrolled drugs to keep them at reasonable levels</a:t>
            </a:r>
            <a:r>
              <a:rPr lang="en-US" sz="2800" dirty="0" smtClean="0"/>
              <a:t>.</a:t>
            </a:r>
          </a:p>
          <a:p>
            <a:pPr algn="just"/>
            <a:r>
              <a:rPr lang="en-US" sz="2800" dirty="0"/>
              <a:t>Mira Shiva pointed out, “Nearly 80% of medical care costs have to be borne by patients out of pocket of which 70% is on medicines. Denial of essential life saving medicines due to lack of affordability and indebtedness is a harsh reality. A distorted market cannot and should not be the basis of drug pricing and policy, especially when the sale price has no bearing on the cost of production and purchasing power of our people.”</a:t>
            </a:r>
            <a:endParaRPr lang="en-IN" sz="2800" dirty="0"/>
          </a:p>
        </p:txBody>
      </p:sp>
    </p:spTree>
    <p:extLst>
      <p:ext uri="{BB962C8B-B14F-4D97-AF65-F5344CB8AC3E}">
        <p14:creationId xmlns:p14="http://schemas.microsoft.com/office/powerpoint/2010/main" val="1049069383"/>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892930"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92931"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1 A Market with a Price Ceiling</a:t>
            </a:r>
          </a:p>
        </p:txBody>
      </p:sp>
      <p:sp>
        <p:nvSpPr>
          <p:cNvPr id="892977" name="Rectangle 49"/>
          <p:cNvSpPr>
            <a:spLocks noChangeArrowheads="1"/>
          </p:cNvSpPr>
          <p:nvPr/>
        </p:nvSpPr>
        <p:spPr bwMode="auto">
          <a:xfrm>
            <a:off x="3860801" y="1790701"/>
            <a:ext cx="4905375" cy="4035425"/>
          </a:xfrm>
          <a:prstGeom prst="rect">
            <a:avLst/>
          </a:prstGeom>
          <a:solidFill>
            <a:srgbClr val="F3F6F9"/>
          </a:solidFill>
          <a:ln w="227013">
            <a:solidFill>
              <a:srgbClr val="F3F6F9"/>
            </a:solidFill>
            <a:miter lim="800000"/>
            <a:headEnd/>
            <a:tailEnd/>
          </a:ln>
        </p:spPr>
        <p:txBody>
          <a:bodyPr/>
          <a:lstStyle/>
          <a:p>
            <a:endParaRPr lang="en-IN"/>
          </a:p>
        </p:txBody>
      </p:sp>
      <p:sp>
        <p:nvSpPr>
          <p:cNvPr id="892978" name="Rectangle 50"/>
          <p:cNvSpPr>
            <a:spLocks noChangeArrowheads="1"/>
          </p:cNvSpPr>
          <p:nvPr/>
        </p:nvSpPr>
        <p:spPr bwMode="auto">
          <a:xfrm>
            <a:off x="3860801" y="1790701"/>
            <a:ext cx="4905375" cy="4035425"/>
          </a:xfrm>
          <a:prstGeom prst="rect">
            <a:avLst/>
          </a:prstGeom>
          <a:solidFill>
            <a:srgbClr val="F2F4F8"/>
          </a:solidFill>
          <a:ln w="206375">
            <a:solidFill>
              <a:srgbClr val="F2F4F8"/>
            </a:solidFill>
            <a:miter lim="800000"/>
            <a:headEnd/>
            <a:tailEnd/>
          </a:ln>
        </p:spPr>
        <p:txBody>
          <a:bodyPr/>
          <a:lstStyle/>
          <a:p>
            <a:endParaRPr lang="en-IN"/>
          </a:p>
        </p:txBody>
      </p:sp>
      <p:sp>
        <p:nvSpPr>
          <p:cNvPr id="892979" name="Rectangle 51"/>
          <p:cNvSpPr>
            <a:spLocks noChangeArrowheads="1"/>
          </p:cNvSpPr>
          <p:nvPr/>
        </p:nvSpPr>
        <p:spPr bwMode="auto">
          <a:xfrm>
            <a:off x="3860801" y="1790701"/>
            <a:ext cx="4905375" cy="4035425"/>
          </a:xfrm>
          <a:prstGeom prst="rect">
            <a:avLst/>
          </a:prstGeom>
          <a:solidFill>
            <a:srgbClr val="F1F4F7"/>
          </a:solidFill>
          <a:ln w="185738">
            <a:solidFill>
              <a:srgbClr val="F1F4F7"/>
            </a:solidFill>
            <a:miter lim="800000"/>
            <a:headEnd/>
            <a:tailEnd/>
          </a:ln>
        </p:spPr>
        <p:txBody>
          <a:bodyPr/>
          <a:lstStyle/>
          <a:p>
            <a:endParaRPr lang="en-IN"/>
          </a:p>
        </p:txBody>
      </p:sp>
      <p:sp>
        <p:nvSpPr>
          <p:cNvPr id="892980" name="Rectangle 52"/>
          <p:cNvSpPr>
            <a:spLocks noChangeArrowheads="1"/>
          </p:cNvSpPr>
          <p:nvPr/>
        </p:nvSpPr>
        <p:spPr bwMode="auto">
          <a:xfrm>
            <a:off x="3860801" y="1790701"/>
            <a:ext cx="4905375" cy="4035425"/>
          </a:xfrm>
          <a:prstGeom prst="rect">
            <a:avLst/>
          </a:prstGeom>
          <a:solidFill>
            <a:srgbClr val="F0F2F5"/>
          </a:solidFill>
          <a:ln w="165100">
            <a:solidFill>
              <a:srgbClr val="F0F2F5"/>
            </a:solidFill>
            <a:miter lim="800000"/>
            <a:headEnd/>
            <a:tailEnd/>
          </a:ln>
        </p:spPr>
        <p:txBody>
          <a:bodyPr/>
          <a:lstStyle/>
          <a:p>
            <a:endParaRPr lang="en-IN"/>
          </a:p>
        </p:txBody>
      </p:sp>
      <p:sp>
        <p:nvSpPr>
          <p:cNvPr id="892981" name="Rectangle 53"/>
          <p:cNvSpPr>
            <a:spLocks noChangeArrowheads="1"/>
          </p:cNvSpPr>
          <p:nvPr/>
        </p:nvSpPr>
        <p:spPr bwMode="auto">
          <a:xfrm>
            <a:off x="3860801" y="1790701"/>
            <a:ext cx="4905375" cy="4035425"/>
          </a:xfrm>
          <a:prstGeom prst="rect">
            <a:avLst/>
          </a:prstGeom>
          <a:solidFill>
            <a:srgbClr val="EEF1F4"/>
          </a:solidFill>
          <a:ln w="144463">
            <a:solidFill>
              <a:srgbClr val="EEF1F4"/>
            </a:solidFill>
            <a:miter lim="800000"/>
            <a:headEnd/>
            <a:tailEnd/>
          </a:ln>
        </p:spPr>
        <p:txBody>
          <a:bodyPr/>
          <a:lstStyle/>
          <a:p>
            <a:endParaRPr lang="en-IN"/>
          </a:p>
        </p:txBody>
      </p:sp>
      <p:sp>
        <p:nvSpPr>
          <p:cNvPr id="892982" name="Rectangle 54"/>
          <p:cNvSpPr>
            <a:spLocks noChangeArrowheads="1"/>
          </p:cNvSpPr>
          <p:nvPr/>
        </p:nvSpPr>
        <p:spPr bwMode="auto">
          <a:xfrm>
            <a:off x="3860801" y="1790701"/>
            <a:ext cx="4905375" cy="4035425"/>
          </a:xfrm>
          <a:prstGeom prst="rect">
            <a:avLst/>
          </a:prstGeom>
          <a:solidFill>
            <a:srgbClr val="EDEFF3"/>
          </a:solidFill>
          <a:ln w="123825">
            <a:solidFill>
              <a:srgbClr val="EDEFF3"/>
            </a:solidFill>
            <a:miter lim="800000"/>
            <a:headEnd/>
            <a:tailEnd/>
          </a:ln>
        </p:spPr>
        <p:txBody>
          <a:bodyPr/>
          <a:lstStyle/>
          <a:p>
            <a:endParaRPr lang="en-IN"/>
          </a:p>
        </p:txBody>
      </p:sp>
      <p:sp>
        <p:nvSpPr>
          <p:cNvPr id="892983" name="Rectangle 55"/>
          <p:cNvSpPr>
            <a:spLocks noChangeArrowheads="1"/>
          </p:cNvSpPr>
          <p:nvPr/>
        </p:nvSpPr>
        <p:spPr bwMode="auto">
          <a:xfrm>
            <a:off x="3860801" y="1790701"/>
            <a:ext cx="4905375" cy="4035425"/>
          </a:xfrm>
          <a:prstGeom prst="rect">
            <a:avLst/>
          </a:prstGeom>
          <a:solidFill>
            <a:srgbClr val="EBEEF2"/>
          </a:solidFill>
          <a:ln w="103188">
            <a:solidFill>
              <a:srgbClr val="EBEEF2"/>
            </a:solidFill>
            <a:miter lim="800000"/>
            <a:headEnd/>
            <a:tailEnd/>
          </a:ln>
        </p:spPr>
        <p:txBody>
          <a:bodyPr/>
          <a:lstStyle/>
          <a:p>
            <a:endParaRPr lang="en-IN"/>
          </a:p>
        </p:txBody>
      </p:sp>
      <p:sp>
        <p:nvSpPr>
          <p:cNvPr id="892984" name="Rectangle 56"/>
          <p:cNvSpPr>
            <a:spLocks noChangeArrowheads="1"/>
          </p:cNvSpPr>
          <p:nvPr/>
        </p:nvSpPr>
        <p:spPr bwMode="auto">
          <a:xfrm>
            <a:off x="3860801" y="1790701"/>
            <a:ext cx="4905375" cy="4035425"/>
          </a:xfrm>
          <a:prstGeom prst="rect">
            <a:avLst/>
          </a:prstGeom>
          <a:solidFill>
            <a:srgbClr val="EAECF1"/>
          </a:solidFill>
          <a:ln w="82550">
            <a:solidFill>
              <a:srgbClr val="EAECF1"/>
            </a:solidFill>
            <a:miter lim="800000"/>
            <a:headEnd/>
            <a:tailEnd/>
          </a:ln>
        </p:spPr>
        <p:txBody>
          <a:bodyPr/>
          <a:lstStyle/>
          <a:p>
            <a:endParaRPr lang="en-IN"/>
          </a:p>
        </p:txBody>
      </p:sp>
      <p:sp>
        <p:nvSpPr>
          <p:cNvPr id="892985" name="Rectangle 57"/>
          <p:cNvSpPr>
            <a:spLocks noChangeArrowheads="1"/>
          </p:cNvSpPr>
          <p:nvPr/>
        </p:nvSpPr>
        <p:spPr bwMode="auto">
          <a:xfrm>
            <a:off x="3860801" y="1790701"/>
            <a:ext cx="4905375" cy="4035425"/>
          </a:xfrm>
          <a:prstGeom prst="rect">
            <a:avLst/>
          </a:prstGeom>
          <a:solidFill>
            <a:srgbClr val="E9EBF0"/>
          </a:solidFill>
          <a:ln w="61913">
            <a:solidFill>
              <a:srgbClr val="E9EBF0"/>
            </a:solidFill>
            <a:miter lim="800000"/>
            <a:headEnd/>
            <a:tailEnd/>
          </a:ln>
        </p:spPr>
        <p:txBody>
          <a:bodyPr/>
          <a:lstStyle/>
          <a:p>
            <a:endParaRPr lang="en-IN"/>
          </a:p>
        </p:txBody>
      </p:sp>
      <p:sp>
        <p:nvSpPr>
          <p:cNvPr id="892986" name="Rectangle 58"/>
          <p:cNvSpPr>
            <a:spLocks noChangeArrowheads="1"/>
          </p:cNvSpPr>
          <p:nvPr/>
        </p:nvSpPr>
        <p:spPr bwMode="auto">
          <a:xfrm>
            <a:off x="3860801" y="1790701"/>
            <a:ext cx="4905375" cy="4035425"/>
          </a:xfrm>
          <a:prstGeom prst="rect">
            <a:avLst/>
          </a:prstGeom>
          <a:solidFill>
            <a:srgbClr val="E7EAEF"/>
          </a:solidFill>
          <a:ln w="41275">
            <a:solidFill>
              <a:srgbClr val="E7EAEF"/>
            </a:solidFill>
            <a:miter lim="800000"/>
            <a:headEnd/>
            <a:tailEnd/>
          </a:ln>
        </p:spPr>
        <p:txBody>
          <a:bodyPr/>
          <a:lstStyle/>
          <a:p>
            <a:endParaRPr lang="en-IN"/>
          </a:p>
        </p:txBody>
      </p:sp>
      <p:sp>
        <p:nvSpPr>
          <p:cNvPr id="892987" name="Rectangle 59"/>
          <p:cNvSpPr>
            <a:spLocks noChangeArrowheads="1"/>
          </p:cNvSpPr>
          <p:nvPr/>
        </p:nvSpPr>
        <p:spPr bwMode="auto">
          <a:xfrm>
            <a:off x="3860801" y="1790701"/>
            <a:ext cx="4905375" cy="4035425"/>
          </a:xfrm>
          <a:prstGeom prst="rect">
            <a:avLst/>
          </a:prstGeom>
          <a:solidFill>
            <a:srgbClr val="E6E9EF"/>
          </a:solidFill>
          <a:ln w="20638">
            <a:solidFill>
              <a:srgbClr val="E6E9EF"/>
            </a:solidFill>
            <a:miter lim="800000"/>
            <a:headEnd/>
            <a:tailEnd/>
          </a:ln>
        </p:spPr>
        <p:txBody>
          <a:bodyPr/>
          <a:lstStyle/>
          <a:p>
            <a:endParaRPr lang="en-IN"/>
          </a:p>
        </p:txBody>
      </p:sp>
      <p:sp>
        <p:nvSpPr>
          <p:cNvPr id="892988" name="Rectangle 60"/>
          <p:cNvSpPr>
            <a:spLocks noChangeArrowheads="1"/>
          </p:cNvSpPr>
          <p:nvPr/>
        </p:nvSpPr>
        <p:spPr bwMode="auto">
          <a:xfrm>
            <a:off x="3757614" y="1708150"/>
            <a:ext cx="4905375" cy="4014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892989" name="Rectangle 61"/>
          <p:cNvSpPr>
            <a:spLocks noChangeArrowheads="1"/>
          </p:cNvSpPr>
          <p:nvPr/>
        </p:nvSpPr>
        <p:spPr bwMode="auto">
          <a:xfrm>
            <a:off x="4152901" y="1176338"/>
            <a:ext cx="3612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 A Price Ceiling That Is Not Binding</a:t>
            </a:r>
            <a:endParaRPr lang="en-US" altLang="en-US" sz="2400">
              <a:latin typeface="Times New Roman" panose="02020603050405020304" pitchFamily="18" charset="0"/>
            </a:endParaRPr>
          </a:p>
        </p:txBody>
      </p:sp>
      <p:sp>
        <p:nvSpPr>
          <p:cNvPr id="892990" name="Rectangle 62"/>
          <p:cNvSpPr>
            <a:spLocks noChangeArrowheads="1"/>
          </p:cNvSpPr>
          <p:nvPr/>
        </p:nvSpPr>
        <p:spPr bwMode="auto">
          <a:xfrm>
            <a:off x="7489826" y="5795963"/>
            <a:ext cx="107240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endParaRPr lang="en-US" altLang="en-US" sz="2400">
              <a:latin typeface="Times New Roman" panose="02020603050405020304" pitchFamily="18" charset="0"/>
            </a:endParaRPr>
          </a:p>
        </p:txBody>
      </p:sp>
      <p:sp>
        <p:nvSpPr>
          <p:cNvPr id="892991" name="Rectangle 63"/>
          <p:cNvSpPr>
            <a:spLocks noChangeArrowheads="1"/>
          </p:cNvSpPr>
          <p:nvPr/>
        </p:nvSpPr>
        <p:spPr bwMode="auto">
          <a:xfrm>
            <a:off x="7593014" y="6070600"/>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892992" name="Rectangle 64"/>
          <p:cNvSpPr>
            <a:spLocks noChangeArrowheads="1"/>
          </p:cNvSpPr>
          <p:nvPr/>
        </p:nvSpPr>
        <p:spPr bwMode="auto">
          <a:xfrm>
            <a:off x="7977189" y="6345238"/>
            <a:ext cx="56906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Cones</a:t>
            </a:r>
            <a:endParaRPr lang="en-US" altLang="en-US" sz="2400">
              <a:latin typeface="Times New Roman" panose="02020603050405020304" pitchFamily="18" charset="0"/>
            </a:endParaRPr>
          </a:p>
        </p:txBody>
      </p:sp>
      <p:sp>
        <p:nvSpPr>
          <p:cNvPr id="892993" name="Rectangle 65"/>
          <p:cNvSpPr>
            <a:spLocks noChangeArrowheads="1"/>
          </p:cNvSpPr>
          <p:nvPr/>
        </p:nvSpPr>
        <p:spPr bwMode="auto">
          <a:xfrm>
            <a:off x="3527425" y="5802313"/>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sp>
        <p:nvSpPr>
          <p:cNvPr id="892994" name="Rectangle 66"/>
          <p:cNvSpPr>
            <a:spLocks noChangeArrowheads="1"/>
          </p:cNvSpPr>
          <p:nvPr/>
        </p:nvSpPr>
        <p:spPr bwMode="auto">
          <a:xfrm>
            <a:off x="2846389" y="1663700"/>
            <a:ext cx="718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Price of</a:t>
            </a:r>
            <a:endParaRPr lang="en-US" altLang="en-US" sz="2400">
              <a:latin typeface="Times New Roman" panose="02020603050405020304" pitchFamily="18" charset="0"/>
            </a:endParaRPr>
          </a:p>
        </p:txBody>
      </p:sp>
      <p:sp>
        <p:nvSpPr>
          <p:cNvPr id="892995" name="Rectangle 67"/>
          <p:cNvSpPr>
            <a:spLocks noChangeArrowheads="1"/>
          </p:cNvSpPr>
          <p:nvPr/>
        </p:nvSpPr>
        <p:spPr bwMode="auto">
          <a:xfrm>
            <a:off x="2586039" y="1938338"/>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892996" name="Rectangle 68"/>
          <p:cNvSpPr>
            <a:spLocks noChangeArrowheads="1"/>
          </p:cNvSpPr>
          <p:nvPr/>
        </p:nvSpPr>
        <p:spPr bwMode="auto">
          <a:xfrm>
            <a:off x="3101976" y="2214563"/>
            <a:ext cx="4841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a:t>
            </a:r>
            <a:endParaRPr lang="en-US" altLang="en-US" sz="2400">
              <a:latin typeface="Times New Roman" panose="02020603050405020304" pitchFamily="18" charset="0"/>
            </a:endParaRPr>
          </a:p>
        </p:txBody>
      </p:sp>
      <p:grpSp>
        <p:nvGrpSpPr>
          <p:cNvPr id="892997" name="Group 69"/>
          <p:cNvGrpSpPr>
            <a:grpSpLocks/>
          </p:cNvGrpSpPr>
          <p:nvPr/>
        </p:nvGrpSpPr>
        <p:grpSpPr bwMode="auto">
          <a:xfrm>
            <a:off x="5403848" y="6132514"/>
            <a:ext cx="1054100" cy="536575"/>
            <a:chOff x="2444" y="3863"/>
            <a:chExt cx="664" cy="338"/>
          </a:xfrm>
        </p:grpSpPr>
        <p:sp>
          <p:nvSpPr>
            <p:cNvPr id="892998" name="Rectangle 70"/>
            <p:cNvSpPr>
              <a:spLocks noChangeArrowheads="1"/>
            </p:cNvSpPr>
            <p:nvPr/>
          </p:nvSpPr>
          <p:spPr bwMode="auto">
            <a:xfrm>
              <a:off x="2444" y="3863"/>
              <a:ext cx="6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Equilibrium</a:t>
              </a:r>
              <a:endParaRPr lang="en-US" altLang="en-US" sz="2400">
                <a:latin typeface="Times New Roman" panose="02020603050405020304" pitchFamily="18" charset="0"/>
              </a:endParaRPr>
            </a:p>
          </p:txBody>
        </p:sp>
        <p:sp>
          <p:nvSpPr>
            <p:cNvPr id="892999" name="Rectangle 71"/>
            <p:cNvSpPr>
              <a:spLocks noChangeArrowheads="1"/>
            </p:cNvSpPr>
            <p:nvPr/>
          </p:nvSpPr>
          <p:spPr bwMode="auto">
            <a:xfrm>
              <a:off x="2550" y="4036"/>
              <a:ext cx="45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quantity</a:t>
              </a:r>
              <a:endParaRPr lang="en-US" altLang="en-US" sz="2400">
                <a:latin typeface="Times New Roman" panose="02020603050405020304" pitchFamily="18" charset="0"/>
              </a:endParaRPr>
            </a:p>
          </p:txBody>
        </p:sp>
      </p:grpSp>
      <p:grpSp>
        <p:nvGrpSpPr>
          <p:cNvPr id="893000" name="Group 72"/>
          <p:cNvGrpSpPr>
            <a:grpSpLocks/>
          </p:cNvGrpSpPr>
          <p:nvPr/>
        </p:nvGrpSpPr>
        <p:grpSpPr bwMode="auto">
          <a:xfrm>
            <a:off x="3403600" y="3114676"/>
            <a:ext cx="5037138" cy="549275"/>
            <a:chOff x="1184" y="1962"/>
            <a:chExt cx="3173" cy="346"/>
          </a:xfrm>
        </p:grpSpPr>
        <p:sp>
          <p:nvSpPr>
            <p:cNvPr id="893001" name="Line 73"/>
            <p:cNvSpPr>
              <a:spLocks noChangeShapeType="1"/>
            </p:cNvSpPr>
            <p:nvPr/>
          </p:nvSpPr>
          <p:spPr bwMode="auto">
            <a:xfrm flipH="1">
              <a:off x="1407" y="2041"/>
              <a:ext cx="2570" cy="1"/>
            </a:xfrm>
            <a:prstGeom prst="line">
              <a:avLst/>
            </a:prstGeom>
            <a:noFill/>
            <a:ln w="61913">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93002" name="Rectangle 74"/>
            <p:cNvSpPr>
              <a:spLocks noChangeArrowheads="1"/>
            </p:cNvSpPr>
            <p:nvPr/>
          </p:nvSpPr>
          <p:spPr bwMode="auto">
            <a:xfrm>
              <a:off x="1184" y="1962"/>
              <a:ext cx="13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700">
                  <a:solidFill>
                    <a:srgbClr val="000000"/>
                  </a:solidFill>
                </a:rPr>
                <a:t>€</a:t>
              </a:r>
              <a:r>
                <a:rPr lang="en-US" altLang="en-US" sz="1700">
                  <a:solidFill>
                    <a:srgbClr val="000000"/>
                  </a:solidFill>
                </a:rPr>
                <a:t>4</a:t>
              </a:r>
            </a:p>
          </p:txBody>
        </p:sp>
        <p:sp>
          <p:nvSpPr>
            <p:cNvPr id="893003" name="Rectangle 75"/>
            <p:cNvSpPr>
              <a:spLocks noChangeArrowheads="1"/>
            </p:cNvSpPr>
            <p:nvPr/>
          </p:nvSpPr>
          <p:spPr bwMode="auto">
            <a:xfrm>
              <a:off x="4022" y="1970"/>
              <a:ext cx="28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sp>
          <p:nvSpPr>
            <p:cNvPr id="893004" name="Rectangle 76"/>
            <p:cNvSpPr>
              <a:spLocks noChangeArrowheads="1"/>
            </p:cNvSpPr>
            <p:nvPr/>
          </p:nvSpPr>
          <p:spPr bwMode="auto">
            <a:xfrm>
              <a:off x="3983" y="2143"/>
              <a:ext cx="3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ceiling</a:t>
              </a:r>
              <a:endParaRPr lang="en-US" altLang="en-US" sz="2400">
                <a:latin typeface="Times New Roman" panose="02020603050405020304" pitchFamily="18" charset="0"/>
              </a:endParaRPr>
            </a:p>
          </p:txBody>
        </p:sp>
      </p:grpSp>
      <p:grpSp>
        <p:nvGrpSpPr>
          <p:cNvPr id="893005" name="Group 77"/>
          <p:cNvGrpSpPr>
            <a:grpSpLocks/>
          </p:cNvGrpSpPr>
          <p:nvPr/>
        </p:nvGrpSpPr>
        <p:grpSpPr bwMode="auto">
          <a:xfrm>
            <a:off x="2571750" y="3860800"/>
            <a:ext cx="1054100" cy="814388"/>
            <a:chOff x="660" y="2432"/>
            <a:chExt cx="664" cy="513"/>
          </a:xfrm>
        </p:grpSpPr>
        <p:sp>
          <p:nvSpPr>
            <p:cNvPr id="893006" name="Line 78"/>
            <p:cNvSpPr>
              <a:spLocks noChangeShapeType="1"/>
            </p:cNvSpPr>
            <p:nvPr/>
          </p:nvSpPr>
          <p:spPr bwMode="auto">
            <a:xfrm flipV="1">
              <a:off x="1018" y="2432"/>
              <a:ext cx="207" cy="156"/>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93007" name="Rectangle 79"/>
            <p:cNvSpPr>
              <a:spLocks noChangeArrowheads="1"/>
            </p:cNvSpPr>
            <p:nvPr/>
          </p:nvSpPr>
          <p:spPr bwMode="auto">
            <a:xfrm>
              <a:off x="660" y="2607"/>
              <a:ext cx="6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Equilibrium</a:t>
              </a:r>
              <a:endParaRPr lang="en-US" altLang="en-US" sz="2400">
                <a:latin typeface="Times New Roman" panose="02020603050405020304" pitchFamily="18" charset="0"/>
              </a:endParaRPr>
            </a:p>
          </p:txBody>
        </p:sp>
        <p:sp>
          <p:nvSpPr>
            <p:cNvPr id="893008" name="Rectangle 80"/>
            <p:cNvSpPr>
              <a:spLocks noChangeArrowheads="1"/>
            </p:cNvSpPr>
            <p:nvPr/>
          </p:nvSpPr>
          <p:spPr bwMode="auto">
            <a:xfrm>
              <a:off x="855" y="2780"/>
              <a:ext cx="2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grpSp>
      <p:grpSp>
        <p:nvGrpSpPr>
          <p:cNvPr id="893009" name="Group 81"/>
          <p:cNvGrpSpPr>
            <a:grpSpLocks/>
          </p:cNvGrpSpPr>
          <p:nvPr/>
        </p:nvGrpSpPr>
        <p:grpSpPr bwMode="auto">
          <a:xfrm>
            <a:off x="4705350" y="2701926"/>
            <a:ext cx="3595688" cy="2798763"/>
            <a:chOff x="2004" y="1702"/>
            <a:chExt cx="2265" cy="1763"/>
          </a:xfrm>
        </p:grpSpPr>
        <p:sp>
          <p:nvSpPr>
            <p:cNvPr id="893010" name="Line 82"/>
            <p:cNvSpPr>
              <a:spLocks noChangeShapeType="1"/>
            </p:cNvSpPr>
            <p:nvPr/>
          </p:nvSpPr>
          <p:spPr bwMode="auto">
            <a:xfrm>
              <a:off x="2004" y="1702"/>
              <a:ext cx="1779" cy="1668"/>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93011" name="Rectangle 83"/>
            <p:cNvSpPr>
              <a:spLocks noChangeArrowheads="1"/>
            </p:cNvSpPr>
            <p:nvPr/>
          </p:nvSpPr>
          <p:spPr bwMode="auto">
            <a:xfrm>
              <a:off x="3805" y="3300"/>
              <a:ext cx="4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893012" name="Group 84"/>
          <p:cNvGrpSpPr>
            <a:grpSpLocks/>
          </p:cNvGrpSpPr>
          <p:nvPr/>
        </p:nvGrpSpPr>
        <p:grpSpPr bwMode="auto">
          <a:xfrm>
            <a:off x="4395789" y="2363789"/>
            <a:ext cx="3141663" cy="2924175"/>
            <a:chOff x="1809" y="1489"/>
            <a:chExt cx="1979" cy="1842"/>
          </a:xfrm>
        </p:grpSpPr>
        <p:sp>
          <p:nvSpPr>
            <p:cNvPr id="893013" name="Line 85"/>
            <p:cNvSpPr>
              <a:spLocks noChangeShapeType="1"/>
            </p:cNvSpPr>
            <p:nvPr/>
          </p:nvSpPr>
          <p:spPr bwMode="auto">
            <a:xfrm flipV="1">
              <a:off x="1809" y="1663"/>
              <a:ext cx="1792" cy="1668"/>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893014" name="Rectangle 86"/>
            <p:cNvSpPr>
              <a:spLocks noChangeArrowheads="1"/>
            </p:cNvSpPr>
            <p:nvPr/>
          </p:nvSpPr>
          <p:spPr bwMode="auto">
            <a:xfrm>
              <a:off x="3398" y="1489"/>
              <a:ext cx="3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893015" name="Group 87"/>
          <p:cNvGrpSpPr>
            <a:grpSpLocks/>
          </p:cNvGrpSpPr>
          <p:nvPr/>
        </p:nvGrpSpPr>
        <p:grpSpPr bwMode="auto">
          <a:xfrm>
            <a:off x="3527426" y="3732214"/>
            <a:ext cx="2555875" cy="2332037"/>
            <a:chOff x="1262" y="2351"/>
            <a:chExt cx="1610" cy="1469"/>
          </a:xfrm>
        </p:grpSpPr>
        <p:sp>
          <p:nvSpPr>
            <p:cNvPr id="893016" name="Freeform 88"/>
            <p:cNvSpPr>
              <a:spLocks/>
            </p:cNvSpPr>
            <p:nvPr/>
          </p:nvSpPr>
          <p:spPr bwMode="auto">
            <a:xfrm>
              <a:off x="1407" y="2432"/>
              <a:ext cx="1376" cy="1173"/>
            </a:xfrm>
            <a:custGeom>
              <a:avLst/>
              <a:gdLst>
                <a:gd name="T0" fmla="*/ 1376 w 1376"/>
                <a:gd name="T1" fmla="*/ 1173 h 1173"/>
                <a:gd name="T2" fmla="*/ 1376 w 1376"/>
                <a:gd name="T3" fmla="*/ 0 h 1173"/>
                <a:gd name="T4" fmla="*/ 0 w 1376"/>
                <a:gd name="T5" fmla="*/ 0 h 1173"/>
              </a:gdLst>
              <a:ahLst/>
              <a:cxnLst>
                <a:cxn ang="0">
                  <a:pos x="T0" y="T1"/>
                </a:cxn>
                <a:cxn ang="0">
                  <a:pos x="T2" y="T3"/>
                </a:cxn>
                <a:cxn ang="0">
                  <a:pos x="T4" y="T5"/>
                </a:cxn>
              </a:cxnLst>
              <a:rect l="0" t="0" r="r" b="b"/>
              <a:pathLst>
                <a:path w="1376" h="1173">
                  <a:moveTo>
                    <a:pt x="1376" y="1173"/>
                  </a:moveTo>
                  <a:lnTo>
                    <a:pt x="1376" y="0"/>
                  </a:lnTo>
                  <a:lnTo>
                    <a:pt x="0" y="0"/>
                  </a:lnTo>
                </a:path>
              </a:pathLst>
            </a:custGeom>
            <a:noFill/>
            <a:ln w="20638" cap="flat">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893017" name="Oval 89"/>
            <p:cNvSpPr>
              <a:spLocks noChangeArrowheads="1"/>
            </p:cNvSpPr>
            <p:nvPr/>
          </p:nvSpPr>
          <p:spPr bwMode="auto">
            <a:xfrm>
              <a:off x="2731" y="2380"/>
              <a:ext cx="91" cy="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893018" name="Rectangle 90"/>
            <p:cNvSpPr>
              <a:spLocks noChangeArrowheads="1"/>
            </p:cNvSpPr>
            <p:nvPr/>
          </p:nvSpPr>
          <p:spPr bwMode="auto">
            <a:xfrm>
              <a:off x="1262" y="2351"/>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3</a:t>
              </a:r>
              <a:endParaRPr lang="en-US" altLang="en-US" sz="2400">
                <a:latin typeface="Times New Roman" panose="02020603050405020304" pitchFamily="18" charset="0"/>
              </a:endParaRPr>
            </a:p>
          </p:txBody>
        </p:sp>
        <p:sp>
          <p:nvSpPr>
            <p:cNvPr id="893019" name="Rectangle 91"/>
            <p:cNvSpPr>
              <a:spLocks noChangeArrowheads="1"/>
            </p:cNvSpPr>
            <p:nvPr/>
          </p:nvSpPr>
          <p:spPr bwMode="auto">
            <a:xfrm>
              <a:off x="2666" y="3655"/>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100</a:t>
              </a:r>
              <a:endParaRPr lang="en-US" altLang="en-US" sz="2400">
                <a:latin typeface="Times New Roman" panose="02020603050405020304" pitchFamily="18" charset="0"/>
              </a:endParaRPr>
            </a:p>
          </p:txBody>
        </p:sp>
      </p:grpSp>
      <p:sp>
        <p:nvSpPr>
          <p:cNvPr id="893020" name="Freeform 92"/>
          <p:cNvSpPr>
            <a:spLocks/>
          </p:cNvSpPr>
          <p:nvPr/>
        </p:nvSpPr>
        <p:spPr bwMode="auto">
          <a:xfrm>
            <a:off x="3757614" y="1708150"/>
            <a:ext cx="4905375" cy="4014788"/>
          </a:xfrm>
          <a:custGeom>
            <a:avLst/>
            <a:gdLst>
              <a:gd name="T0" fmla="*/ 0 w 3090"/>
              <a:gd name="T1" fmla="*/ 0 h 2529"/>
              <a:gd name="T2" fmla="*/ 0 w 3090"/>
              <a:gd name="T3" fmla="*/ 2529 h 2529"/>
              <a:gd name="T4" fmla="*/ 3090 w 3090"/>
              <a:gd name="T5" fmla="*/ 2529 h 2529"/>
            </a:gdLst>
            <a:ahLst/>
            <a:cxnLst>
              <a:cxn ang="0">
                <a:pos x="T0" y="T1"/>
              </a:cxn>
              <a:cxn ang="0">
                <a:pos x="T2" y="T3"/>
              </a:cxn>
              <a:cxn ang="0">
                <a:pos x="T4" y="T5"/>
              </a:cxn>
            </a:cxnLst>
            <a:rect l="0" t="0" r="r" b="b"/>
            <a:pathLst>
              <a:path w="3090" h="2529">
                <a:moveTo>
                  <a:pt x="0" y="0"/>
                </a:moveTo>
                <a:lnTo>
                  <a:pt x="0" y="2529"/>
                </a:lnTo>
                <a:lnTo>
                  <a:pt x="3090" y="2529"/>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Tree>
    <p:extLst>
      <p:ext uri="{BB962C8B-B14F-4D97-AF65-F5344CB8AC3E}">
        <p14:creationId xmlns:p14="http://schemas.microsoft.com/office/powerpoint/2010/main" val="1072480732"/>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893012"/>
                                        </p:tgtEl>
                                        <p:attrNameLst>
                                          <p:attrName>style.visibility</p:attrName>
                                        </p:attrNameLst>
                                      </p:cBhvr>
                                      <p:to>
                                        <p:strVal val="visible"/>
                                      </p:to>
                                    </p:set>
                                    <p:animEffect transition="in" filter="strips(upRight)">
                                      <p:cBhvr>
                                        <p:cTn id="7" dur="500"/>
                                        <p:tgtEl>
                                          <p:spTgt spid="8930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893009"/>
                                        </p:tgtEl>
                                        <p:attrNameLst>
                                          <p:attrName>style.visibility</p:attrName>
                                        </p:attrNameLst>
                                      </p:cBhvr>
                                      <p:to>
                                        <p:strVal val="visible"/>
                                      </p:to>
                                    </p:set>
                                    <p:animEffect transition="in" filter="strips(downRight)">
                                      <p:cBhvr>
                                        <p:cTn id="12" dur="500"/>
                                        <p:tgtEl>
                                          <p:spTgt spid="8930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nodeType="clickEffect">
                                  <p:stCondLst>
                                    <p:cond delay="0"/>
                                  </p:stCondLst>
                                  <p:childTnLst>
                                    <p:set>
                                      <p:cBhvr>
                                        <p:cTn id="16" dur="1" fill="hold">
                                          <p:stCondLst>
                                            <p:cond delay="0"/>
                                          </p:stCondLst>
                                        </p:cTn>
                                        <p:tgtEl>
                                          <p:spTgt spid="893015"/>
                                        </p:tgtEl>
                                        <p:attrNameLst>
                                          <p:attrName>style.visibility</p:attrName>
                                        </p:attrNameLst>
                                      </p:cBhvr>
                                      <p:to>
                                        <p:strVal val="visible"/>
                                      </p:to>
                                    </p:set>
                                    <p:animEffect transition="in" filter="strips(upRight)">
                                      <p:cBhvr>
                                        <p:cTn id="17" dur="500"/>
                                        <p:tgtEl>
                                          <p:spTgt spid="8930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93005"/>
                                        </p:tgtEl>
                                        <p:attrNameLst>
                                          <p:attrName>style.visibility</p:attrName>
                                        </p:attrNameLst>
                                      </p:cBhvr>
                                      <p:to>
                                        <p:strVal val="visible"/>
                                      </p:to>
                                    </p:set>
                                    <p:animEffect transition="in" filter="wipe(up)">
                                      <p:cBhvr>
                                        <p:cTn id="22" dur="500"/>
                                        <p:tgtEl>
                                          <p:spTgt spid="8930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92997"/>
                                        </p:tgtEl>
                                        <p:attrNameLst>
                                          <p:attrName>style.visibility</p:attrName>
                                        </p:attrNameLst>
                                      </p:cBhvr>
                                      <p:to>
                                        <p:strVal val="visible"/>
                                      </p:to>
                                    </p:set>
                                    <p:animEffect transition="in" filter="wipe(up)">
                                      <p:cBhvr>
                                        <p:cTn id="27" dur="500"/>
                                        <p:tgtEl>
                                          <p:spTgt spid="8929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93000"/>
                                        </p:tgtEl>
                                        <p:attrNameLst>
                                          <p:attrName>style.visibility</p:attrName>
                                        </p:attrNameLst>
                                      </p:cBhvr>
                                      <p:to>
                                        <p:strVal val="visible"/>
                                      </p:to>
                                    </p:set>
                                    <p:animEffect transition="in" filter="wipe(left)">
                                      <p:cBhvr>
                                        <p:cTn id="32" dur="500"/>
                                        <p:tgtEl>
                                          <p:spTgt spid="8930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7266"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07267"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1 A Market with a Price Ceiling</a:t>
            </a:r>
          </a:p>
        </p:txBody>
      </p:sp>
      <p:sp>
        <p:nvSpPr>
          <p:cNvPr id="907268"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07269" name="Rectangle 5"/>
          <p:cNvSpPr>
            <a:spLocks noChangeArrowheads="1"/>
          </p:cNvSpPr>
          <p:nvPr/>
        </p:nvSpPr>
        <p:spPr bwMode="auto">
          <a:xfrm>
            <a:off x="3990976" y="1790701"/>
            <a:ext cx="4905375" cy="4035425"/>
          </a:xfrm>
          <a:prstGeom prst="rect">
            <a:avLst/>
          </a:prstGeom>
          <a:solidFill>
            <a:srgbClr val="F3F6F9"/>
          </a:solidFill>
          <a:ln w="227013">
            <a:solidFill>
              <a:srgbClr val="F3F6F9"/>
            </a:solidFill>
            <a:miter lim="800000"/>
            <a:headEnd/>
            <a:tailEnd/>
          </a:ln>
        </p:spPr>
        <p:txBody>
          <a:bodyPr/>
          <a:lstStyle/>
          <a:p>
            <a:endParaRPr lang="en-IN"/>
          </a:p>
        </p:txBody>
      </p:sp>
      <p:sp>
        <p:nvSpPr>
          <p:cNvPr id="907270" name="Rectangle 6"/>
          <p:cNvSpPr>
            <a:spLocks noChangeArrowheads="1"/>
          </p:cNvSpPr>
          <p:nvPr/>
        </p:nvSpPr>
        <p:spPr bwMode="auto">
          <a:xfrm>
            <a:off x="3990976" y="1790701"/>
            <a:ext cx="4905375" cy="4035425"/>
          </a:xfrm>
          <a:prstGeom prst="rect">
            <a:avLst/>
          </a:prstGeom>
          <a:solidFill>
            <a:srgbClr val="F2F4F8"/>
          </a:solidFill>
          <a:ln w="206375">
            <a:solidFill>
              <a:srgbClr val="F2F4F8"/>
            </a:solidFill>
            <a:miter lim="800000"/>
            <a:headEnd/>
            <a:tailEnd/>
          </a:ln>
        </p:spPr>
        <p:txBody>
          <a:bodyPr/>
          <a:lstStyle/>
          <a:p>
            <a:endParaRPr lang="en-IN"/>
          </a:p>
        </p:txBody>
      </p:sp>
      <p:sp>
        <p:nvSpPr>
          <p:cNvPr id="907271" name="Rectangle 7"/>
          <p:cNvSpPr>
            <a:spLocks noChangeArrowheads="1"/>
          </p:cNvSpPr>
          <p:nvPr/>
        </p:nvSpPr>
        <p:spPr bwMode="auto">
          <a:xfrm>
            <a:off x="3990976" y="1790701"/>
            <a:ext cx="4905375" cy="4035425"/>
          </a:xfrm>
          <a:prstGeom prst="rect">
            <a:avLst/>
          </a:prstGeom>
          <a:solidFill>
            <a:srgbClr val="F1F4F7"/>
          </a:solidFill>
          <a:ln w="185738">
            <a:solidFill>
              <a:srgbClr val="F1F4F7"/>
            </a:solidFill>
            <a:miter lim="800000"/>
            <a:headEnd/>
            <a:tailEnd/>
          </a:ln>
        </p:spPr>
        <p:txBody>
          <a:bodyPr/>
          <a:lstStyle/>
          <a:p>
            <a:endParaRPr lang="en-IN"/>
          </a:p>
        </p:txBody>
      </p:sp>
      <p:sp>
        <p:nvSpPr>
          <p:cNvPr id="907272" name="Rectangle 8"/>
          <p:cNvSpPr>
            <a:spLocks noChangeArrowheads="1"/>
          </p:cNvSpPr>
          <p:nvPr/>
        </p:nvSpPr>
        <p:spPr bwMode="auto">
          <a:xfrm>
            <a:off x="3990976" y="1790701"/>
            <a:ext cx="4905375" cy="4035425"/>
          </a:xfrm>
          <a:prstGeom prst="rect">
            <a:avLst/>
          </a:prstGeom>
          <a:solidFill>
            <a:srgbClr val="F0F2F5"/>
          </a:solidFill>
          <a:ln w="165100">
            <a:solidFill>
              <a:srgbClr val="F0F2F5"/>
            </a:solidFill>
            <a:miter lim="800000"/>
            <a:headEnd/>
            <a:tailEnd/>
          </a:ln>
        </p:spPr>
        <p:txBody>
          <a:bodyPr/>
          <a:lstStyle/>
          <a:p>
            <a:endParaRPr lang="en-IN"/>
          </a:p>
        </p:txBody>
      </p:sp>
      <p:sp>
        <p:nvSpPr>
          <p:cNvPr id="907273" name="Rectangle 9"/>
          <p:cNvSpPr>
            <a:spLocks noChangeArrowheads="1"/>
          </p:cNvSpPr>
          <p:nvPr/>
        </p:nvSpPr>
        <p:spPr bwMode="auto">
          <a:xfrm>
            <a:off x="3990976" y="1790701"/>
            <a:ext cx="4905375" cy="4035425"/>
          </a:xfrm>
          <a:prstGeom prst="rect">
            <a:avLst/>
          </a:prstGeom>
          <a:solidFill>
            <a:srgbClr val="EEF1F4"/>
          </a:solidFill>
          <a:ln w="144463">
            <a:solidFill>
              <a:srgbClr val="EEF1F4"/>
            </a:solidFill>
            <a:miter lim="800000"/>
            <a:headEnd/>
            <a:tailEnd/>
          </a:ln>
        </p:spPr>
        <p:txBody>
          <a:bodyPr/>
          <a:lstStyle/>
          <a:p>
            <a:endParaRPr lang="en-IN"/>
          </a:p>
        </p:txBody>
      </p:sp>
      <p:sp>
        <p:nvSpPr>
          <p:cNvPr id="907274" name="Rectangle 10"/>
          <p:cNvSpPr>
            <a:spLocks noChangeArrowheads="1"/>
          </p:cNvSpPr>
          <p:nvPr/>
        </p:nvSpPr>
        <p:spPr bwMode="auto">
          <a:xfrm>
            <a:off x="3990976" y="1790701"/>
            <a:ext cx="4905375" cy="4035425"/>
          </a:xfrm>
          <a:prstGeom prst="rect">
            <a:avLst/>
          </a:prstGeom>
          <a:solidFill>
            <a:srgbClr val="EDEFF3"/>
          </a:solidFill>
          <a:ln w="123825">
            <a:solidFill>
              <a:srgbClr val="EDEFF3"/>
            </a:solidFill>
            <a:miter lim="800000"/>
            <a:headEnd/>
            <a:tailEnd/>
          </a:ln>
        </p:spPr>
        <p:txBody>
          <a:bodyPr/>
          <a:lstStyle/>
          <a:p>
            <a:endParaRPr lang="en-IN"/>
          </a:p>
        </p:txBody>
      </p:sp>
      <p:sp>
        <p:nvSpPr>
          <p:cNvPr id="907275" name="Rectangle 11"/>
          <p:cNvSpPr>
            <a:spLocks noChangeArrowheads="1"/>
          </p:cNvSpPr>
          <p:nvPr/>
        </p:nvSpPr>
        <p:spPr bwMode="auto">
          <a:xfrm>
            <a:off x="3990976" y="1790701"/>
            <a:ext cx="4905375" cy="4035425"/>
          </a:xfrm>
          <a:prstGeom prst="rect">
            <a:avLst/>
          </a:prstGeom>
          <a:solidFill>
            <a:srgbClr val="EBEEF2"/>
          </a:solidFill>
          <a:ln w="103188">
            <a:solidFill>
              <a:srgbClr val="EBEEF2"/>
            </a:solidFill>
            <a:miter lim="800000"/>
            <a:headEnd/>
            <a:tailEnd/>
          </a:ln>
        </p:spPr>
        <p:txBody>
          <a:bodyPr/>
          <a:lstStyle/>
          <a:p>
            <a:endParaRPr lang="en-IN"/>
          </a:p>
        </p:txBody>
      </p:sp>
      <p:sp>
        <p:nvSpPr>
          <p:cNvPr id="907276" name="Rectangle 12"/>
          <p:cNvSpPr>
            <a:spLocks noChangeArrowheads="1"/>
          </p:cNvSpPr>
          <p:nvPr/>
        </p:nvSpPr>
        <p:spPr bwMode="auto">
          <a:xfrm>
            <a:off x="3990976" y="1790701"/>
            <a:ext cx="4905375" cy="4035425"/>
          </a:xfrm>
          <a:prstGeom prst="rect">
            <a:avLst/>
          </a:prstGeom>
          <a:solidFill>
            <a:srgbClr val="EAECF1"/>
          </a:solidFill>
          <a:ln w="82550">
            <a:solidFill>
              <a:srgbClr val="EAECF1"/>
            </a:solidFill>
            <a:miter lim="800000"/>
            <a:headEnd/>
            <a:tailEnd/>
          </a:ln>
        </p:spPr>
        <p:txBody>
          <a:bodyPr/>
          <a:lstStyle/>
          <a:p>
            <a:endParaRPr lang="en-IN"/>
          </a:p>
        </p:txBody>
      </p:sp>
      <p:sp>
        <p:nvSpPr>
          <p:cNvPr id="907277" name="Rectangle 13"/>
          <p:cNvSpPr>
            <a:spLocks noChangeArrowheads="1"/>
          </p:cNvSpPr>
          <p:nvPr/>
        </p:nvSpPr>
        <p:spPr bwMode="auto">
          <a:xfrm>
            <a:off x="3990976" y="1790701"/>
            <a:ext cx="4905375" cy="4035425"/>
          </a:xfrm>
          <a:prstGeom prst="rect">
            <a:avLst/>
          </a:prstGeom>
          <a:solidFill>
            <a:srgbClr val="E9EBF0"/>
          </a:solidFill>
          <a:ln w="61913">
            <a:solidFill>
              <a:srgbClr val="E9EBF0"/>
            </a:solidFill>
            <a:miter lim="800000"/>
            <a:headEnd/>
            <a:tailEnd/>
          </a:ln>
        </p:spPr>
        <p:txBody>
          <a:bodyPr/>
          <a:lstStyle/>
          <a:p>
            <a:endParaRPr lang="en-IN"/>
          </a:p>
        </p:txBody>
      </p:sp>
      <p:sp>
        <p:nvSpPr>
          <p:cNvPr id="907278" name="Rectangle 14"/>
          <p:cNvSpPr>
            <a:spLocks noChangeArrowheads="1"/>
          </p:cNvSpPr>
          <p:nvPr/>
        </p:nvSpPr>
        <p:spPr bwMode="auto">
          <a:xfrm>
            <a:off x="3990976" y="1790701"/>
            <a:ext cx="4905375" cy="4035425"/>
          </a:xfrm>
          <a:prstGeom prst="rect">
            <a:avLst/>
          </a:prstGeom>
          <a:solidFill>
            <a:srgbClr val="E7EAEF"/>
          </a:solidFill>
          <a:ln w="41275">
            <a:solidFill>
              <a:srgbClr val="E7EAEF"/>
            </a:solidFill>
            <a:miter lim="800000"/>
            <a:headEnd/>
            <a:tailEnd/>
          </a:ln>
        </p:spPr>
        <p:txBody>
          <a:bodyPr/>
          <a:lstStyle/>
          <a:p>
            <a:endParaRPr lang="en-IN"/>
          </a:p>
        </p:txBody>
      </p:sp>
      <p:sp>
        <p:nvSpPr>
          <p:cNvPr id="907279" name="Rectangle 15"/>
          <p:cNvSpPr>
            <a:spLocks noChangeArrowheads="1"/>
          </p:cNvSpPr>
          <p:nvPr/>
        </p:nvSpPr>
        <p:spPr bwMode="auto">
          <a:xfrm>
            <a:off x="3990976" y="1790701"/>
            <a:ext cx="4905375" cy="4035425"/>
          </a:xfrm>
          <a:prstGeom prst="rect">
            <a:avLst/>
          </a:prstGeom>
          <a:solidFill>
            <a:srgbClr val="E6E9EF"/>
          </a:solidFill>
          <a:ln w="20638">
            <a:solidFill>
              <a:srgbClr val="E6E9EF"/>
            </a:solidFill>
            <a:miter lim="800000"/>
            <a:headEnd/>
            <a:tailEnd/>
          </a:ln>
        </p:spPr>
        <p:txBody>
          <a:bodyPr/>
          <a:lstStyle/>
          <a:p>
            <a:endParaRPr lang="en-IN"/>
          </a:p>
        </p:txBody>
      </p:sp>
      <p:sp>
        <p:nvSpPr>
          <p:cNvPr id="907280" name="Rectangle 16"/>
          <p:cNvSpPr>
            <a:spLocks noChangeArrowheads="1"/>
          </p:cNvSpPr>
          <p:nvPr/>
        </p:nvSpPr>
        <p:spPr bwMode="auto">
          <a:xfrm>
            <a:off x="3887789" y="1708150"/>
            <a:ext cx="4905375" cy="4014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07281" name="Rectangle 17"/>
          <p:cNvSpPr>
            <a:spLocks noChangeArrowheads="1"/>
          </p:cNvSpPr>
          <p:nvPr/>
        </p:nvSpPr>
        <p:spPr bwMode="auto">
          <a:xfrm>
            <a:off x="4525963" y="1176338"/>
            <a:ext cx="323248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(b) A Price Ceiling That Is Binding</a:t>
            </a:r>
            <a:endParaRPr lang="en-US" altLang="en-US" sz="2400">
              <a:latin typeface="Times New Roman" panose="02020603050405020304" pitchFamily="18" charset="0"/>
            </a:endParaRPr>
          </a:p>
        </p:txBody>
      </p:sp>
      <p:sp>
        <p:nvSpPr>
          <p:cNvPr id="907282" name="Rectangle 18"/>
          <p:cNvSpPr>
            <a:spLocks noChangeArrowheads="1"/>
          </p:cNvSpPr>
          <p:nvPr/>
        </p:nvSpPr>
        <p:spPr bwMode="auto">
          <a:xfrm>
            <a:off x="7634289" y="5795963"/>
            <a:ext cx="107240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endParaRPr lang="en-US" altLang="en-US" sz="2400">
              <a:latin typeface="Times New Roman" panose="02020603050405020304" pitchFamily="18" charset="0"/>
            </a:endParaRPr>
          </a:p>
        </p:txBody>
      </p:sp>
      <p:sp>
        <p:nvSpPr>
          <p:cNvPr id="907283" name="Rectangle 19"/>
          <p:cNvSpPr>
            <a:spLocks noChangeArrowheads="1"/>
          </p:cNvSpPr>
          <p:nvPr/>
        </p:nvSpPr>
        <p:spPr bwMode="auto">
          <a:xfrm>
            <a:off x="7731126" y="6070600"/>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907284" name="Rectangle 20"/>
          <p:cNvSpPr>
            <a:spLocks noChangeArrowheads="1"/>
          </p:cNvSpPr>
          <p:nvPr/>
        </p:nvSpPr>
        <p:spPr bwMode="auto">
          <a:xfrm>
            <a:off x="8121651" y="6345238"/>
            <a:ext cx="56906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Cones</a:t>
            </a:r>
            <a:endParaRPr lang="en-US" altLang="en-US" sz="2400">
              <a:latin typeface="Times New Roman" panose="02020603050405020304" pitchFamily="18" charset="0"/>
            </a:endParaRPr>
          </a:p>
        </p:txBody>
      </p:sp>
      <p:sp>
        <p:nvSpPr>
          <p:cNvPr id="907285" name="Rectangle 21"/>
          <p:cNvSpPr>
            <a:spLocks noChangeArrowheads="1"/>
          </p:cNvSpPr>
          <p:nvPr/>
        </p:nvSpPr>
        <p:spPr bwMode="auto">
          <a:xfrm>
            <a:off x="3665538" y="5802313"/>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sp>
        <p:nvSpPr>
          <p:cNvPr id="907286" name="Rectangle 22"/>
          <p:cNvSpPr>
            <a:spLocks noChangeArrowheads="1"/>
          </p:cNvSpPr>
          <p:nvPr/>
        </p:nvSpPr>
        <p:spPr bwMode="auto">
          <a:xfrm>
            <a:off x="2984501" y="1663700"/>
            <a:ext cx="718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Price of</a:t>
            </a:r>
            <a:endParaRPr lang="en-US" altLang="en-US" sz="2400">
              <a:latin typeface="Times New Roman" panose="02020603050405020304" pitchFamily="18" charset="0"/>
            </a:endParaRPr>
          </a:p>
        </p:txBody>
      </p:sp>
      <p:sp>
        <p:nvSpPr>
          <p:cNvPr id="907287" name="Rectangle 23"/>
          <p:cNvSpPr>
            <a:spLocks noChangeArrowheads="1"/>
          </p:cNvSpPr>
          <p:nvPr/>
        </p:nvSpPr>
        <p:spPr bwMode="auto">
          <a:xfrm>
            <a:off x="2724151" y="1938338"/>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907288" name="Rectangle 24"/>
          <p:cNvSpPr>
            <a:spLocks noChangeArrowheads="1"/>
          </p:cNvSpPr>
          <p:nvPr/>
        </p:nvSpPr>
        <p:spPr bwMode="auto">
          <a:xfrm>
            <a:off x="3240089" y="2214563"/>
            <a:ext cx="4841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a:t>
            </a:r>
            <a:endParaRPr lang="en-US" altLang="en-US" sz="2400">
              <a:latin typeface="Times New Roman" panose="02020603050405020304" pitchFamily="18" charset="0"/>
            </a:endParaRPr>
          </a:p>
        </p:txBody>
      </p:sp>
      <p:grpSp>
        <p:nvGrpSpPr>
          <p:cNvPr id="907289" name="Group 25"/>
          <p:cNvGrpSpPr>
            <a:grpSpLocks/>
          </p:cNvGrpSpPr>
          <p:nvPr/>
        </p:nvGrpSpPr>
        <p:grpSpPr bwMode="auto">
          <a:xfrm>
            <a:off x="4814889" y="2681288"/>
            <a:ext cx="3611563" cy="2819400"/>
            <a:chOff x="2073" y="1689"/>
            <a:chExt cx="2275" cy="1776"/>
          </a:xfrm>
        </p:grpSpPr>
        <p:sp>
          <p:nvSpPr>
            <p:cNvPr id="907290" name="Line 26"/>
            <p:cNvSpPr>
              <a:spLocks noChangeShapeType="1"/>
            </p:cNvSpPr>
            <p:nvPr/>
          </p:nvSpPr>
          <p:spPr bwMode="auto">
            <a:xfrm>
              <a:off x="2073" y="1689"/>
              <a:ext cx="1779" cy="1668"/>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7291" name="Rectangle 27"/>
            <p:cNvSpPr>
              <a:spLocks noChangeArrowheads="1"/>
            </p:cNvSpPr>
            <p:nvPr/>
          </p:nvSpPr>
          <p:spPr bwMode="auto">
            <a:xfrm>
              <a:off x="3884" y="3300"/>
              <a:ext cx="4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907292" name="Group 28"/>
          <p:cNvGrpSpPr>
            <a:grpSpLocks/>
          </p:cNvGrpSpPr>
          <p:nvPr/>
        </p:nvGrpSpPr>
        <p:grpSpPr bwMode="auto">
          <a:xfrm>
            <a:off x="4506914" y="2363789"/>
            <a:ext cx="3154363" cy="2924175"/>
            <a:chOff x="1879" y="1489"/>
            <a:chExt cx="1987" cy="1842"/>
          </a:xfrm>
        </p:grpSpPr>
        <p:sp>
          <p:nvSpPr>
            <p:cNvPr id="907293" name="Line 29"/>
            <p:cNvSpPr>
              <a:spLocks noChangeShapeType="1"/>
            </p:cNvSpPr>
            <p:nvPr/>
          </p:nvSpPr>
          <p:spPr bwMode="auto">
            <a:xfrm flipV="1">
              <a:off x="1879" y="1650"/>
              <a:ext cx="1804" cy="1681"/>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7294" name="Rectangle 30"/>
            <p:cNvSpPr>
              <a:spLocks noChangeArrowheads="1"/>
            </p:cNvSpPr>
            <p:nvPr/>
          </p:nvSpPr>
          <p:spPr bwMode="auto">
            <a:xfrm>
              <a:off x="3476" y="1489"/>
              <a:ext cx="3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07295" name="Group 31"/>
          <p:cNvGrpSpPr>
            <a:grpSpLocks/>
          </p:cNvGrpSpPr>
          <p:nvPr/>
        </p:nvGrpSpPr>
        <p:grpSpPr bwMode="auto">
          <a:xfrm>
            <a:off x="3665539" y="4365626"/>
            <a:ext cx="4872037" cy="536575"/>
            <a:chOff x="1349" y="2750"/>
            <a:chExt cx="3069" cy="338"/>
          </a:xfrm>
        </p:grpSpPr>
        <p:sp>
          <p:nvSpPr>
            <p:cNvPr id="907296" name="Line 32"/>
            <p:cNvSpPr>
              <a:spLocks noChangeShapeType="1"/>
            </p:cNvSpPr>
            <p:nvPr/>
          </p:nvSpPr>
          <p:spPr bwMode="auto">
            <a:xfrm flipH="1">
              <a:off x="1489" y="2823"/>
              <a:ext cx="2545" cy="1"/>
            </a:xfrm>
            <a:prstGeom prst="line">
              <a:avLst/>
            </a:prstGeom>
            <a:noFill/>
            <a:ln w="61913">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7297" name="Rectangle 33"/>
            <p:cNvSpPr>
              <a:spLocks noChangeArrowheads="1"/>
            </p:cNvSpPr>
            <p:nvPr/>
          </p:nvSpPr>
          <p:spPr bwMode="auto">
            <a:xfrm>
              <a:off x="1349" y="2750"/>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2</a:t>
              </a:r>
              <a:endParaRPr lang="en-US" altLang="en-US" sz="2400">
                <a:latin typeface="Times New Roman" panose="02020603050405020304" pitchFamily="18" charset="0"/>
              </a:endParaRPr>
            </a:p>
          </p:txBody>
        </p:sp>
        <p:sp>
          <p:nvSpPr>
            <p:cNvPr id="907298" name="Rectangle 34"/>
            <p:cNvSpPr>
              <a:spLocks noChangeArrowheads="1"/>
            </p:cNvSpPr>
            <p:nvPr/>
          </p:nvSpPr>
          <p:spPr bwMode="auto">
            <a:xfrm>
              <a:off x="4083" y="2750"/>
              <a:ext cx="28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sp>
          <p:nvSpPr>
            <p:cNvPr id="907299" name="Rectangle 35"/>
            <p:cNvSpPr>
              <a:spLocks noChangeArrowheads="1"/>
            </p:cNvSpPr>
            <p:nvPr/>
          </p:nvSpPr>
          <p:spPr bwMode="auto">
            <a:xfrm>
              <a:off x="4044" y="2923"/>
              <a:ext cx="3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ceiling</a:t>
              </a:r>
              <a:endParaRPr lang="en-US" altLang="en-US" sz="2400">
                <a:latin typeface="Times New Roman" panose="02020603050405020304" pitchFamily="18" charset="0"/>
              </a:endParaRPr>
            </a:p>
          </p:txBody>
        </p:sp>
      </p:grpSp>
      <p:grpSp>
        <p:nvGrpSpPr>
          <p:cNvPr id="907300" name="Group 36"/>
          <p:cNvGrpSpPr>
            <a:grpSpLocks/>
          </p:cNvGrpSpPr>
          <p:nvPr/>
        </p:nvGrpSpPr>
        <p:grpSpPr bwMode="auto">
          <a:xfrm>
            <a:off x="5392738" y="4564063"/>
            <a:ext cx="1319212" cy="400050"/>
            <a:chOff x="2437" y="2875"/>
            <a:chExt cx="831" cy="252"/>
          </a:xfrm>
        </p:grpSpPr>
        <p:sp>
          <p:nvSpPr>
            <p:cNvPr id="907301" name="Freeform 37"/>
            <p:cNvSpPr>
              <a:spLocks/>
            </p:cNvSpPr>
            <p:nvPr/>
          </p:nvSpPr>
          <p:spPr bwMode="auto">
            <a:xfrm>
              <a:off x="2437" y="2875"/>
              <a:ext cx="831" cy="91"/>
            </a:xfrm>
            <a:custGeom>
              <a:avLst/>
              <a:gdLst>
                <a:gd name="T0" fmla="*/ 64 w 64"/>
                <a:gd name="T1" fmla="*/ 0 h 7"/>
                <a:gd name="T2" fmla="*/ 60 w 64"/>
                <a:gd name="T3" fmla="*/ 3 h 7"/>
                <a:gd name="T4" fmla="*/ 35 w 64"/>
                <a:gd name="T5" fmla="*/ 3 h 7"/>
                <a:gd name="T6" fmla="*/ 32 w 64"/>
                <a:gd name="T7" fmla="*/ 7 h 7"/>
                <a:gd name="T8" fmla="*/ 29 w 64"/>
                <a:gd name="T9" fmla="*/ 3 h 7"/>
                <a:gd name="T10" fmla="*/ 5 w 64"/>
                <a:gd name="T11" fmla="*/ 3 h 7"/>
                <a:gd name="T12" fmla="*/ 0 w 64"/>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64" h="7">
                  <a:moveTo>
                    <a:pt x="64" y="0"/>
                  </a:moveTo>
                  <a:cubicBezTo>
                    <a:pt x="64" y="2"/>
                    <a:pt x="62" y="3"/>
                    <a:pt x="60" y="3"/>
                  </a:cubicBezTo>
                  <a:cubicBezTo>
                    <a:pt x="35" y="3"/>
                    <a:pt x="35" y="3"/>
                    <a:pt x="35" y="3"/>
                  </a:cubicBezTo>
                  <a:cubicBezTo>
                    <a:pt x="34" y="3"/>
                    <a:pt x="32" y="5"/>
                    <a:pt x="32" y="7"/>
                  </a:cubicBezTo>
                  <a:cubicBezTo>
                    <a:pt x="32" y="5"/>
                    <a:pt x="31" y="3"/>
                    <a:pt x="29" y="3"/>
                  </a:cubicBezTo>
                  <a:cubicBezTo>
                    <a:pt x="5" y="3"/>
                    <a:pt x="5" y="3"/>
                    <a:pt x="5" y="3"/>
                  </a:cubicBezTo>
                  <a:cubicBezTo>
                    <a:pt x="3" y="3"/>
                    <a:pt x="0" y="2"/>
                    <a:pt x="0" y="0"/>
                  </a:cubicBez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7302" name="Rectangle 38"/>
            <p:cNvSpPr>
              <a:spLocks noChangeArrowheads="1"/>
            </p:cNvSpPr>
            <p:nvPr/>
          </p:nvSpPr>
          <p:spPr bwMode="auto">
            <a:xfrm>
              <a:off x="2567" y="2962"/>
              <a:ext cx="48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Shortage</a:t>
              </a:r>
              <a:endParaRPr lang="en-US" altLang="en-US" sz="2400">
                <a:latin typeface="Times New Roman" panose="02020603050405020304" pitchFamily="18" charset="0"/>
              </a:endParaRPr>
            </a:p>
          </p:txBody>
        </p:sp>
      </p:grpSp>
      <p:grpSp>
        <p:nvGrpSpPr>
          <p:cNvPr id="907303" name="Group 39"/>
          <p:cNvGrpSpPr>
            <a:grpSpLocks/>
          </p:cNvGrpSpPr>
          <p:nvPr/>
        </p:nvGrpSpPr>
        <p:grpSpPr bwMode="auto">
          <a:xfrm>
            <a:off x="5281622" y="4419600"/>
            <a:ext cx="217488" cy="1638300"/>
            <a:chOff x="2367" y="2784"/>
            <a:chExt cx="137" cy="1032"/>
          </a:xfrm>
        </p:grpSpPr>
        <p:sp>
          <p:nvSpPr>
            <p:cNvPr id="907304" name="Line 40"/>
            <p:cNvSpPr>
              <a:spLocks noChangeShapeType="1"/>
            </p:cNvSpPr>
            <p:nvPr/>
          </p:nvSpPr>
          <p:spPr bwMode="auto">
            <a:xfrm flipV="1">
              <a:off x="2437" y="2823"/>
              <a:ext cx="1" cy="782"/>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07305" name="Oval 41"/>
            <p:cNvSpPr>
              <a:spLocks noChangeArrowheads="1"/>
            </p:cNvSpPr>
            <p:nvPr/>
          </p:nvSpPr>
          <p:spPr bwMode="auto">
            <a:xfrm>
              <a:off x="2385" y="2784"/>
              <a:ext cx="91" cy="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7306" name="Rectangle 42"/>
            <p:cNvSpPr>
              <a:spLocks noChangeArrowheads="1"/>
            </p:cNvSpPr>
            <p:nvPr/>
          </p:nvSpPr>
          <p:spPr bwMode="auto">
            <a:xfrm>
              <a:off x="2367" y="3651"/>
              <a:ext cx="13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75</a:t>
              </a:r>
              <a:endParaRPr lang="en-US" altLang="en-US" sz="2400">
                <a:latin typeface="Times New Roman" panose="02020603050405020304" pitchFamily="18" charset="0"/>
              </a:endParaRPr>
            </a:p>
          </p:txBody>
        </p:sp>
      </p:grpSp>
      <p:grpSp>
        <p:nvGrpSpPr>
          <p:cNvPr id="907307" name="Group 43"/>
          <p:cNvGrpSpPr>
            <a:grpSpLocks/>
          </p:cNvGrpSpPr>
          <p:nvPr/>
        </p:nvGrpSpPr>
        <p:grpSpPr bwMode="auto">
          <a:xfrm>
            <a:off x="4992690" y="6132514"/>
            <a:ext cx="763588" cy="536575"/>
            <a:chOff x="2185" y="3863"/>
            <a:chExt cx="481" cy="338"/>
          </a:xfrm>
        </p:grpSpPr>
        <p:sp>
          <p:nvSpPr>
            <p:cNvPr id="907308" name="Rectangle 44"/>
            <p:cNvSpPr>
              <a:spLocks noChangeArrowheads="1"/>
            </p:cNvSpPr>
            <p:nvPr/>
          </p:nvSpPr>
          <p:spPr bwMode="auto">
            <a:xfrm>
              <a:off x="2185" y="3863"/>
              <a:ext cx="48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Quantity</a:t>
              </a:r>
              <a:endParaRPr lang="en-US" altLang="en-US" sz="2400">
                <a:latin typeface="Times New Roman" panose="02020603050405020304" pitchFamily="18" charset="0"/>
              </a:endParaRPr>
            </a:p>
          </p:txBody>
        </p:sp>
        <p:sp>
          <p:nvSpPr>
            <p:cNvPr id="907309" name="Rectangle 45"/>
            <p:cNvSpPr>
              <a:spLocks noChangeArrowheads="1"/>
            </p:cNvSpPr>
            <p:nvPr/>
          </p:nvSpPr>
          <p:spPr bwMode="auto">
            <a:xfrm>
              <a:off x="2185" y="4036"/>
              <a:ext cx="46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supplied</a:t>
              </a:r>
              <a:endParaRPr lang="en-US" altLang="en-US" sz="2400">
                <a:latin typeface="Times New Roman" panose="02020603050405020304" pitchFamily="18" charset="0"/>
              </a:endParaRPr>
            </a:p>
          </p:txBody>
        </p:sp>
      </p:grpSp>
      <p:grpSp>
        <p:nvGrpSpPr>
          <p:cNvPr id="907310" name="Group 46"/>
          <p:cNvGrpSpPr>
            <a:grpSpLocks/>
          </p:cNvGrpSpPr>
          <p:nvPr/>
        </p:nvGrpSpPr>
        <p:grpSpPr bwMode="auto">
          <a:xfrm>
            <a:off x="6554789" y="4419600"/>
            <a:ext cx="327025" cy="1638300"/>
            <a:chOff x="3169" y="2784"/>
            <a:chExt cx="206" cy="1032"/>
          </a:xfrm>
        </p:grpSpPr>
        <p:sp>
          <p:nvSpPr>
            <p:cNvPr id="907311" name="Line 47"/>
            <p:cNvSpPr>
              <a:spLocks noChangeShapeType="1"/>
            </p:cNvSpPr>
            <p:nvPr/>
          </p:nvSpPr>
          <p:spPr bwMode="auto">
            <a:xfrm flipV="1">
              <a:off x="3294" y="2823"/>
              <a:ext cx="1" cy="782"/>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07312" name="Oval 48"/>
            <p:cNvSpPr>
              <a:spLocks noChangeArrowheads="1"/>
            </p:cNvSpPr>
            <p:nvPr/>
          </p:nvSpPr>
          <p:spPr bwMode="auto">
            <a:xfrm>
              <a:off x="3242" y="2784"/>
              <a:ext cx="91" cy="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7313" name="Rectangle 49"/>
            <p:cNvSpPr>
              <a:spLocks noChangeArrowheads="1"/>
            </p:cNvSpPr>
            <p:nvPr/>
          </p:nvSpPr>
          <p:spPr bwMode="auto">
            <a:xfrm>
              <a:off x="3169" y="3651"/>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125</a:t>
              </a:r>
              <a:endParaRPr lang="en-US" altLang="en-US" sz="2400">
                <a:latin typeface="Times New Roman" panose="02020603050405020304" pitchFamily="18" charset="0"/>
              </a:endParaRPr>
            </a:p>
          </p:txBody>
        </p:sp>
      </p:grpSp>
      <p:grpSp>
        <p:nvGrpSpPr>
          <p:cNvPr id="907314" name="Group 50"/>
          <p:cNvGrpSpPr>
            <a:grpSpLocks/>
          </p:cNvGrpSpPr>
          <p:nvPr/>
        </p:nvGrpSpPr>
        <p:grpSpPr bwMode="auto">
          <a:xfrm>
            <a:off x="6216651" y="6132514"/>
            <a:ext cx="893763" cy="536575"/>
            <a:chOff x="2956" y="3863"/>
            <a:chExt cx="563" cy="338"/>
          </a:xfrm>
        </p:grpSpPr>
        <p:sp>
          <p:nvSpPr>
            <p:cNvPr id="907315" name="Rectangle 51"/>
            <p:cNvSpPr>
              <a:spLocks noChangeArrowheads="1"/>
            </p:cNvSpPr>
            <p:nvPr/>
          </p:nvSpPr>
          <p:spPr bwMode="auto">
            <a:xfrm>
              <a:off x="3026" y="3863"/>
              <a:ext cx="48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Quantity</a:t>
              </a:r>
              <a:endParaRPr lang="en-US" altLang="en-US" sz="2400">
                <a:latin typeface="Times New Roman" panose="02020603050405020304" pitchFamily="18" charset="0"/>
              </a:endParaRPr>
            </a:p>
          </p:txBody>
        </p:sp>
        <p:sp>
          <p:nvSpPr>
            <p:cNvPr id="907316" name="Rectangle 52"/>
            <p:cNvSpPr>
              <a:spLocks noChangeArrowheads="1"/>
            </p:cNvSpPr>
            <p:nvPr/>
          </p:nvSpPr>
          <p:spPr bwMode="auto">
            <a:xfrm>
              <a:off x="2956" y="4036"/>
              <a:ext cx="56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demanded</a:t>
              </a:r>
              <a:endParaRPr lang="en-US" altLang="en-US" sz="2400">
                <a:latin typeface="Times New Roman" panose="02020603050405020304" pitchFamily="18" charset="0"/>
              </a:endParaRPr>
            </a:p>
          </p:txBody>
        </p:sp>
      </p:grpSp>
      <p:grpSp>
        <p:nvGrpSpPr>
          <p:cNvPr id="907317" name="Group 53"/>
          <p:cNvGrpSpPr>
            <a:grpSpLocks/>
          </p:cNvGrpSpPr>
          <p:nvPr/>
        </p:nvGrpSpPr>
        <p:grpSpPr bwMode="auto">
          <a:xfrm>
            <a:off x="2709864" y="2900363"/>
            <a:ext cx="1054100" cy="793750"/>
            <a:chOff x="747" y="1827"/>
            <a:chExt cx="664" cy="500"/>
          </a:xfrm>
        </p:grpSpPr>
        <p:sp>
          <p:nvSpPr>
            <p:cNvPr id="907318" name="Line 54"/>
            <p:cNvSpPr>
              <a:spLocks noChangeShapeType="1"/>
            </p:cNvSpPr>
            <p:nvPr/>
          </p:nvSpPr>
          <p:spPr bwMode="auto">
            <a:xfrm flipH="1" flipV="1">
              <a:off x="1139" y="2158"/>
              <a:ext cx="143" cy="169"/>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7319" name="Rectangle 55"/>
            <p:cNvSpPr>
              <a:spLocks noChangeArrowheads="1"/>
            </p:cNvSpPr>
            <p:nvPr/>
          </p:nvSpPr>
          <p:spPr bwMode="auto">
            <a:xfrm>
              <a:off x="747" y="1827"/>
              <a:ext cx="6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Equilibrium</a:t>
              </a:r>
              <a:endParaRPr lang="en-US" altLang="en-US" sz="2400">
                <a:latin typeface="Times New Roman" panose="02020603050405020304" pitchFamily="18" charset="0"/>
              </a:endParaRPr>
            </a:p>
          </p:txBody>
        </p:sp>
        <p:sp>
          <p:nvSpPr>
            <p:cNvPr id="907320" name="Rectangle 56"/>
            <p:cNvSpPr>
              <a:spLocks noChangeArrowheads="1"/>
            </p:cNvSpPr>
            <p:nvPr/>
          </p:nvSpPr>
          <p:spPr bwMode="auto">
            <a:xfrm>
              <a:off x="938" y="2001"/>
              <a:ext cx="2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grpSp>
      <p:grpSp>
        <p:nvGrpSpPr>
          <p:cNvPr id="907321" name="Group 57"/>
          <p:cNvGrpSpPr>
            <a:grpSpLocks/>
          </p:cNvGrpSpPr>
          <p:nvPr/>
        </p:nvGrpSpPr>
        <p:grpSpPr bwMode="auto">
          <a:xfrm>
            <a:off x="3541714" y="3732214"/>
            <a:ext cx="2592387" cy="261937"/>
            <a:chOff x="1271" y="2351"/>
            <a:chExt cx="1633" cy="165"/>
          </a:xfrm>
        </p:grpSpPr>
        <p:grpSp>
          <p:nvGrpSpPr>
            <p:cNvPr id="907322" name="Group 58"/>
            <p:cNvGrpSpPr>
              <a:grpSpLocks/>
            </p:cNvGrpSpPr>
            <p:nvPr/>
          </p:nvGrpSpPr>
          <p:grpSpPr bwMode="auto">
            <a:xfrm>
              <a:off x="1489" y="2380"/>
              <a:ext cx="1415" cy="91"/>
              <a:chOff x="1489" y="2380"/>
              <a:chExt cx="1415" cy="91"/>
            </a:xfrm>
          </p:grpSpPr>
          <p:sp>
            <p:nvSpPr>
              <p:cNvPr id="907323" name="Line 59"/>
              <p:cNvSpPr>
                <a:spLocks noChangeShapeType="1"/>
              </p:cNvSpPr>
              <p:nvPr/>
            </p:nvSpPr>
            <p:spPr bwMode="auto">
              <a:xfrm flipH="1">
                <a:off x="1489" y="2432"/>
                <a:ext cx="1376" cy="1"/>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07324" name="Oval 60"/>
              <p:cNvSpPr>
                <a:spLocks noChangeArrowheads="1"/>
              </p:cNvSpPr>
              <p:nvPr/>
            </p:nvSpPr>
            <p:spPr bwMode="auto">
              <a:xfrm>
                <a:off x="2813" y="2380"/>
                <a:ext cx="91" cy="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907325" name="Rectangle 61"/>
            <p:cNvSpPr>
              <a:spLocks noChangeArrowheads="1"/>
            </p:cNvSpPr>
            <p:nvPr/>
          </p:nvSpPr>
          <p:spPr bwMode="auto">
            <a:xfrm>
              <a:off x="1271" y="2351"/>
              <a:ext cx="13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700">
                  <a:solidFill>
                    <a:srgbClr val="000000"/>
                  </a:solidFill>
                </a:rPr>
                <a:t>€</a:t>
              </a:r>
              <a:r>
                <a:rPr lang="en-US" altLang="en-US" sz="1700">
                  <a:solidFill>
                    <a:srgbClr val="000000"/>
                  </a:solidFill>
                </a:rPr>
                <a:t>3</a:t>
              </a:r>
            </a:p>
          </p:txBody>
        </p:sp>
      </p:grpSp>
      <p:sp>
        <p:nvSpPr>
          <p:cNvPr id="907326" name="Freeform 62"/>
          <p:cNvSpPr>
            <a:spLocks/>
          </p:cNvSpPr>
          <p:nvPr/>
        </p:nvSpPr>
        <p:spPr bwMode="auto">
          <a:xfrm>
            <a:off x="3881439" y="1708150"/>
            <a:ext cx="4905375" cy="4014788"/>
          </a:xfrm>
          <a:custGeom>
            <a:avLst/>
            <a:gdLst>
              <a:gd name="T0" fmla="*/ 0 w 3090"/>
              <a:gd name="T1" fmla="*/ 0 h 2529"/>
              <a:gd name="T2" fmla="*/ 0 w 3090"/>
              <a:gd name="T3" fmla="*/ 2529 h 2529"/>
              <a:gd name="T4" fmla="*/ 3090 w 3090"/>
              <a:gd name="T5" fmla="*/ 2529 h 2529"/>
            </a:gdLst>
            <a:ahLst/>
            <a:cxnLst>
              <a:cxn ang="0">
                <a:pos x="T0" y="T1"/>
              </a:cxn>
              <a:cxn ang="0">
                <a:pos x="T2" y="T3"/>
              </a:cxn>
              <a:cxn ang="0">
                <a:pos x="T4" y="T5"/>
              </a:cxn>
            </a:cxnLst>
            <a:rect l="0" t="0" r="r" b="b"/>
            <a:pathLst>
              <a:path w="3090" h="2529">
                <a:moveTo>
                  <a:pt x="0" y="0"/>
                </a:moveTo>
                <a:lnTo>
                  <a:pt x="0" y="2529"/>
                </a:lnTo>
                <a:lnTo>
                  <a:pt x="3090" y="2529"/>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Tree>
    <p:extLst>
      <p:ext uri="{BB962C8B-B14F-4D97-AF65-F5344CB8AC3E}">
        <p14:creationId xmlns:p14="http://schemas.microsoft.com/office/powerpoint/2010/main" val="14471754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907292"/>
                                        </p:tgtEl>
                                        <p:attrNameLst>
                                          <p:attrName>style.visibility</p:attrName>
                                        </p:attrNameLst>
                                      </p:cBhvr>
                                      <p:to>
                                        <p:strVal val="visible"/>
                                      </p:to>
                                    </p:set>
                                    <p:animEffect transition="in" filter="strips(upRight)">
                                      <p:cBhvr>
                                        <p:cTn id="7" dur="500"/>
                                        <p:tgtEl>
                                          <p:spTgt spid="9072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907289"/>
                                        </p:tgtEl>
                                        <p:attrNameLst>
                                          <p:attrName>style.visibility</p:attrName>
                                        </p:attrNameLst>
                                      </p:cBhvr>
                                      <p:to>
                                        <p:strVal val="visible"/>
                                      </p:to>
                                    </p:set>
                                    <p:animEffect transition="in" filter="strips(downRight)">
                                      <p:cBhvr>
                                        <p:cTn id="12" dur="500"/>
                                        <p:tgtEl>
                                          <p:spTgt spid="9072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07321"/>
                                        </p:tgtEl>
                                        <p:attrNameLst>
                                          <p:attrName>style.visibility</p:attrName>
                                        </p:attrNameLst>
                                      </p:cBhvr>
                                      <p:to>
                                        <p:strVal val="visible"/>
                                      </p:to>
                                    </p:set>
                                    <p:animEffect transition="in" filter="wipe(left)">
                                      <p:cBhvr>
                                        <p:cTn id="17" dur="500"/>
                                        <p:tgtEl>
                                          <p:spTgt spid="9073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907317"/>
                                        </p:tgtEl>
                                        <p:attrNameLst>
                                          <p:attrName>style.visibility</p:attrName>
                                        </p:attrNameLst>
                                      </p:cBhvr>
                                      <p:to>
                                        <p:strVal val="visible"/>
                                      </p:to>
                                    </p:set>
                                    <p:animEffect transition="in" filter="wipe(down)">
                                      <p:cBhvr>
                                        <p:cTn id="22" dur="500"/>
                                        <p:tgtEl>
                                          <p:spTgt spid="9073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07295"/>
                                        </p:tgtEl>
                                        <p:attrNameLst>
                                          <p:attrName>style.visibility</p:attrName>
                                        </p:attrNameLst>
                                      </p:cBhvr>
                                      <p:to>
                                        <p:strVal val="visible"/>
                                      </p:to>
                                    </p:set>
                                    <p:animEffect transition="in" filter="wipe(left)">
                                      <p:cBhvr>
                                        <p:cTn id="27" dur="500"/>
                                        <p:tgtEl>
                                          <p:spTgt spid="9072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907303"/>
                                        </p:tgtEl>
                                        <p:attrNameLst>
                                          <p:attrName>style.visibility</p:attrName>
                                        </p:attrNameLst>
                                      </p:cBhvr>
                                      <p:to>
                                        <p:strVal val="visible"/>
                                      </p:to>
                                    </p:set>
                                    <p:animEffect transition="in" filter="wipe(down)">
                                      <p:cBhvr>
                                        <p:cTn id="32" dur="500"/>
                                        <p:tgtEl>
                                          <p:spTgt spid="90730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907307"/>
                                        </p:tgtEl>
                                        <p:attrNameLst>
                                          <p:attrName>style.visibility</p:attrName>
                                        </p:attrNameLst>
                                      </p:cBhvr>
                                      <p:to>
                                        <p:strVal val="visible"/>
                                      </p:to>
                                    </p:set>
                                    <p:animEffect transition="in" filter="dissolve">
                                      <p:cBhvr>
                                        <p:cTn id="37" dur="500"/>
                                        <p:tgtEl>
                                          <p:spTgt spid="90730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907310"/>
                                        </p:tgtEl>
                                        <p:attrNameLst>
                                          <p:attrName>style.visibility</p:attrName>
                                        </p:attrNameLst>
                                      </p:cBhvr>
                                      <p:to>
                                        <p:strVal val="visible"/>
                                      </p:to>
                                    </p:set>
                                    <p:animEffect transition="in" filter="wipe(down)">
                                      <p:cBhvr>
                                        <p:cTn id="42" dur="500"/>
                                        <p:tgtEl>
                                          <p:spTgt spid="90731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907314"/>
                                        </p:tgtEl>
                                        <p:attrNameLst>
                                          <p:attrName>style.visibility</p:attrName>
                                        </p:attrNameLst>
                                      </p:cBhvr>
                                      <p:to>
                                        <p:strVal val="visible"/>
                                      </p:to>
                                    </p:set>
                                    <p:animEffect transition="in" filter="dissolve">
                                      <p:cBhvr>
                                        <p:cTn id="47" dur="500"/>
                                        <p:tgtEl>
                                          <p:spTgt spid="90731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907300"/>
                                        </p:tgtEl>
                                        <p:attrNameLst>
                                          <p:attrName>style.visibility</p:attrName>
                                        </p:attrNameLst>
                                      </p:cBhvr>
                                      <p:to>
                                        <p:strVal val="visible"/>
                                      </p:to>
                                    </p:set>
                                    <p:animEffect transition="in" filter="wipe(up)">
                                      <p:cBhvr>
                                        <p:cTn id="52" dur="500"/>
                                        <p:tgtEl>
                                          <p:spTgt spid="907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 Twisted Tale of Rent Control in the Maximum City - Marginal REVOLU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757" y="1537421"/>
            <a:ext cx="3816060" cy="258127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nt Control in Mumbai - The Takshashila Institu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7503" y="838055"/>
            <a:ext cx="7229475" cy="58306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ent Control Act Archives - PGuru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756" y="4118697"/>
            <a:ext cx="3816061" cy="2549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253288"/>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Rent Control Act in Mumbai</a:t>
            </a:r>
            <a:endParaRPr lang="en-IN" dirty="0"/>
          </a:p>
        </p:txBody>
      </p:sp>
      <p:sp>
        <p:nvSpPr>
          <p:cNvPr id="3" name="Content Placeholder 2"/>
          <p:cNvSpPr>
            <a:spLocks noGrp="1"/>
          </p:cNvSpPr>
          <p:nvPr>
            <p:ph idx="1"/>
          </p:nvPr>
        </p:nvSpPr>
        <p:spPr/>
        <p:txBody>
          <a:bodyPr/>
          <a:lstStyle/>
          <a:p>
            <a:pPr algn="just"/>
            <a:r>
              <a:rPr lang="en-US" sz="2400" dirty="0"/>
              <a:t>The ‘Bombay Rents, Hotel and lodging House Rates Control Act, 1947’ served its purpose in the short term but in the longer term it led to reduced supply of houses for rents, dilapidated houses, black income and reduced taxes to the government. </a:t>
            </a:r>
            <a:endParaRPr lang="en-US" sz="2400" dirty="0" smtClean="0"/>
          </a:p>
          <a:p>
            <a:pPr algn="just"/>
            <a:r>
              <a:rPr lang="en-US" sz="2400" dirty="0"/>
              <a:t>The ‘Bombay Rents, Hotel and lodging House Rates Control Act’ was introduced because of the acute shortage of houses in Bombay due to the world war and partition of colonial India. The purpose of the act was to prevent exploitation of the tenants and to prevent speculation. The prices were kept low to provide relief to the city’s migrants after the partition. It was supposed to benefit the tenants.</a:t>
            </a:r>
          </a:p>
          <a:p>
            <a:pPr algn="just"/>
            <a:r>
              <a:rPr lang="en-US" sz="2400" dirty="0"/>
              <a:t>Under it, the state put a cap on the amount of rent a tenant paid to a landlord, and this amount remained virtually frozen irrespective of inflation and the consistent rise in the market rates over time. Rents at about 19,000 buildings were set at 1940 levels to prevent owners from charging excessive rates during a time of distress.</a:t>
            </a:r>
          </a:p>
          <a:p>
            <a:pPr algn="just"/>
            <a:endParaRPr lang="en-IN" dirty="0"/>
          </a:p>
        </p:txBody>
      </p:sp>
    </p:spTree>
    <p:extLst>
      <p:ext uri="{BB962C8B-B14F-4D97-AF65-F5344CB8AC3E}">
        <p14:creationId xmlns:p14="http://schemas.microsoft.com/office/powerpoint/2010/main" val="2670489197"/>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4194"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04195"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2 Rent Control in the Short Run and in the Long Run</a:t>
            </a:r>
          </a:p>
        </p:txBody>
      </p:sp>
      <p:sp>
        <p:nvSpPr>
          <p:cNvPr id="904196"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04197" name="Rectangle 5"/>
          <p:cNvSpPr>
            <a:spLocks noChangeArrowheads="1"/>
          </p:cNvSpPr>
          <p:nvPr/>
        </p:nvSpPr>
        <p:spPr bwMode="auto">
          <a:xfrm>
            <a:off x="3859214" y="1892301"/>
            <a:ext cx="4694237" cy="4251325"/>
          </a:xfrm>
          <a:prstGeom prst="rect">
            <a:avLst/>
          </a:prstGeom>
          <a:solidFill>
            <a:srgbClr val="F3F6F9"/>
          </a:solidFill>
          <a:ln w="223838">
            <a:solidFill>
              <a:srgbClr val="F3F6F9"/>
            </a:solidFill>
            <a:miter lim="800000"/>
            <a:headEnd/>
            <a:tailEnd/>
          </a:ln>
        </p:spPr>
        <p:txBody>
          <a:bodyPr/>
          <a:lstStyle/>
          <a:p>
            <a:endParaRPr lang="en-IN"/>
          </a:p>
        </p:txBody>
      </p:sp>
      <p:sp>
        <p:nvSpPr>
          <p:cNvPr id="904198" name="Rectangle 6"/>
          <p:cNvSpPr>
            <a:spLocks noChangeArrowheads="1"/>
          </p:cNvSpPr>
          <p:nvPr/>
        </p:nvSpPr>
        <p:spPr bwMode="auto">
          <a:xfrm>
            <a:off x="3859214" y="1892301"/>
            <a:ext cx="4694237" cy="4251325"/>
          </a:xfrm>
          <a:prstGeom prst="rect">
            <a:avLst/>
          </a:prstGeom>
          <a:solidFill>
            <a:srgbClr val="F2F4F8"/>
          </a:solidFill>
          <a:ln w="204788">
            <a:solidFill>
              <a:srgbClr val="F2F4F8"/>
            </a:solidFill>
            <a:miter lim="800000"/>
            <a:headEnd/>
            <a:tailEnd/>
          </a:ln>
        </p:spPr>
        <p:txBody>
          <a:bodyPr/>
          <a:lstStyle/>
          <a:p>
            <a:endParaRPr lang="en-IN"/>
          </a:p>
        </p:txBody>
      </p:sp>
      <p:sp>
        <p:nvSpPr>
          <p:cNvPr id="904199" name="Rectangle 7"/>
          <p:cNvSpPr>
            <a:spLocks noChangeArrowheads="1"/>
          </p:cNvSpPr>
          <p:nvPr/>
        </p:nvSpPr>
        <p:spPr bwMode="auto">
          <a:xfrm>
            <a:off x="3859214" y="1892301"/>
            <a:ext cx="4694237" cy="4251325"/>
          </a:xfrm>
          <a:prstGeom prst="rect">
            <a:avLst/>
          </a:prstGeom>
          <a:solidFill>
            <a:srgbClr val="F1F4F7"/>
          </a:solidFill>
          <a:ln w="184150">
            <a:solidFill>
              <a:srgbClr val="F1F4F7"/>
            </a:solidFill>
            <a:miter lim="800000"/>
            <a:headEnd/>
            <a:tailEnd/>
          </a:ln>
        </p:spPr>
        <p:txBody>
          <a:bodyPr/>
          <a:lstStyle/>
          <a:p>
            <a:endParaRPr lang="en-IN"/>
          </a:p>
        </p:txBody>
      </p:sp>
      <p:sp>
        <p:nvSpPr>
          <p:cNvPr id="904200" name="Rectangle 8"/>
          <p:cNvSpPr>
            <a:spLocks noChangeArrowheads="1"/>
          </p:cNvSpPr>
          <p:nvPr/>
        </p:nvSpPr>
        <p:spPr bwMode="auto">
          <a:xfrm>
            <a:off x="3859214" y="1892301"/>
            <a:ext cx="4694237" cy="4251325"/>
          </a:xfrm>
          <a:prstGeom prst="rect">
            <a:avLst/>
          </a:prstGeom>
          <a:solidFill>
            <a:srgbClr val="F0F2F5"/>
          </a:solidFill>
          <a:ln w="163513">
            <a:solidFill>
              <a:srgbClr val="F0F2F5"/>
            </a:solidFill>
            <a:miter lim="800000"/>
            <a:headEnd/>
            <a:tailEnd/>
          </a:ln>
        </p:spPr>
        <p:txBody>
          <a:bodyPr/>
          <a:lstStyle/>
          <a:p>
            <a:endParaRPr lang="en-IN"/>
          </a:p>
        </p:txBody>
      </p:sp>
      <p:sp>
        <p:nvSpPr>
          <p:cNvPr id="904201" name="Rectangle 9"/>
          <p:cNvSpPr>
            <a:spLocks noChangeArrowheads="1"/>
          </p:cNvSpPr>
          <p:nvPr/>
        </p:nvSpPr>
        <p:spPr bwMode="auto">
          <a:xfrm>
            <a:off x="3859214" y="1892301"/>
            <a:ext cx="4694237" cy="4251325"/>
          </a:xfrm>
          <a:prstGeom prst="rect">
            <a:avLst/>
          </a:prstGeom>
          <a:solidFill>
            <a:srgbClr val="EEF1F4"/>
          </a:solidFill>
          <a:ln w="142875">
            <a:solidFill>
              <a:srgbClr val="EEF1F4"/>
            </a:solidFill>
            <a:miter lim="800000"/>
            <a:headEnd/>
            <a:tailEnd/>
          </a:ln>
        </p:spPr>
        <p:txBody>
          <a:bodyPr/>
          <a:lstStyle/>
          <a:p>
            <a:endParaRPr lang="en-IN"/>
          </a:p>
        </p:txBody>
      </p:sp>
      <p:sp>
        <p:nvSpPr>
          <p:cNvPr id="904202" name="Rectangle 10"/>
          <p:cNvSpPr>
            <a:spLocks noChangeArrowheads="1"/>
          </p:cNvSpPr>
          <p:nvPr/>
        </p:nvSpPr>
        <p:spPr bwMode="auto">
          <a:xfrm>
            <a:off x="3859214" y="1892301"/>
            <a:ext cx="4694237" cy="4251325"/>
          </a:xfrm>
          <a:prstGeom prst="rect">
            <a:avLst/>
          </a:prstGeom>
          <a:solidFill>
            <a:srgbClr val="EDEFF3"/>
          </a:solidFill>
          <a:ln w="122238">
            <a:solidFill>
              <a:srgbClr val="EDEFF3"/>
            </a:solidFill>
            <a:miter lim="800000"/>
            <a:headEnd/>
            <a:tailEnd/>
          </a:ln>
        </p:spPr>
        <p:txBody>
          <a:bodyPr/>
          <a:lstStyle/>
          <a:p>
            <a:endParaRPr lang="en-IN"/>
          </a:p>
        </p:txBody>
      </p:sp>
      <p:sp>
        <p:nvSpPr>
          <p:cNvPr id="904203" name="Rectangle 11"/>
          <p:cNvSpPr>
            <a:spLocks noChangeArrowheads="1"/>
          </p:cNvSpPr>
          <p:nvPr/>
        </p:nvSpPr>
        <p:spPr bwMode="auto">
          <a:xfrm>
            <a:off x="3859214" y="1892301"/>
            <a:ext cx="4694237" cy="4251325"/>
          </a:xfrm>
          <a:prstGeom prst="rect">
            <a:avLst/>
          </a:prstGeom>
          <a:solidFill>
            <a:srgbClr val="EBEEF2"/>
          </a:solidFill>
          <a:ln w="101600">
            <a:solidFill>
              <a:srgbClr val="EBEEF2"/>
            </a:solidFill>
            <a:miter lim="800000"/>
            <a:headEnd/>
            <a:tailEnd/>
          </a:ln>
        </p:spPr>
        <p:txBody>
          <a:bodyPr/>
          <a:lstStyle/>
          <a:p>
            <a:endParaRPr lang="en-IN"/>
          </a:p>
        </p:txBody>
      </p:sp>
      <p:sp>
        <p:nvSpPr>
          <p:cNvPr id="904204" name="Rectangle 12"/>
          <p:cNvSpPr>
            <a:spLocks noChangeArrowheads="1"/>
          </p:cNvSpPr>
          <p:nvPr/>
        </p:nvSpPr>
        <p:spPr bwMode="auto">
          <a:xfrm>
            <a:off x="3859214" y="1892301"/>
            <a:ext cx="4694237" cy="4251325"/>
          </a:xfrm>
          <a:prstGeom prst="rect">
            <a:avLst/>
          </a:prstGeom>
          <a:solidFill>
            <a:srgbClr val="EAECF1"/>
          </a:solidFill>
          <a:ln w="80963">
            <a:solidFill>
              <a:srgbClr val="EAECF1"/>
            </a:solidFill>
            <a:miter lim="800000"/>
            <a:headEnd/>
            <a:tailEnd/>
          </a:ln>
        </p:spPr>
        <p:txBody>
          <a:bodyPr/>
          <a:lstStyle/>
          <a:p>
            <a:endParaRPr lang="en-IN"/>
          </a:p>
        </p:txBody>
      </p:sp>
      <p:sp>
        <p:nvSpPr>
          <p:cNvPr id="904205" name="Rectangle 13"/>
          <p:cNvSpPr>
            <a:spLocks noChangeArrowheads="1"/>
          </p:cNvSpPr>
          <p:nvPr/>
        </p:nvSpPr>
        <p:spPr bwMode="auto">
          <a:xfrm>
            <a:off x="3859214" y="1892301"/>
            <a:ext cx="4694237" cy="4251325"/>
          </a:xfrm>
          <a:prstGeom prst="rect">
            <a:avLst/>
          </a:prstGeom>
          <a:solidFill>
            <a:srgbClr val="E9EBF0"/>
          </a:solidFill>
          <a:ln w="61913">
            <a:solidFill>
              <a:srgbClr val="E9EBF0"/>
            </a:solidFill>
            <a:miter lim="800000"/>
            <a:headEnd/>
            <a:tailEnd/>
          </a:ln>
        </p:spPr>
        <p:txBody>
          <a:bodyPr/>
          <a:lstStyle/>
          <a:p>
            <a:endParaRPr lang="en-IN"/>
          </a:p>
        </p:txBody>
      </p:sp>
      <p:sp>
        <p:nvSpPr>
          <p:cNvPr id="904206" name="Rectangle 14"/>
          <p:cNvSpPr>
            <a:spLocks noChangeArrowheads="1"/>
          </p:cNvSpPr>
          <p:nvPr/>
        </p:nvSpPr>
        <p:spPr bwMode="auto">
          <a:xfrm>
            <a:off x="3859214" y="1892301"/>
            <a:ext cx="4694237" cy="4251325"/>
          </a:xfrm>
          <a:prstGeom prst="rect">
            <a:avLst/>
          </a:prstGeom>
          <a:solidFill>
            <a:srgbClr val="E7EAEF"/>
          </a:solidFill>
          <a:ln w="41275">
            <a:solidFill>
              <a:srgbClr val="E7EAEF"/>
            </a:solidFill>
            <a:miter lim="800000"/>
            <a:headEnd/>
            <a:tailEnd/>
          </a:ln>
        </p:spPr>
        <p:txBody>
          <a:bodyPr/>
          <a:lstStyle/>
          <a:p>
            <a:endParaRPr lang="en-IN"/>
          </a:p>
        </p:txBody>
      </p:sp>
      <p:sp>
        <p:nvSpPr>
          <p:cNvPr id="904207" name="Rectangle 15"/>
          <p:cNvSpPr>
            <a:spLocks noChangeArrowheads="1"/>
          </p:cNvSpPr>
          <p:nvPr/>
        </p:nvSpPr>
        <p:spPr bwMode="auto">
          <a:xfrm>
            <a:off x="3859214" y="1892301"/>
            <a:ext cx="4694237" cy="4251325"/>
          </a:xfrm>
          <a:prstGeom prst="rect">
            <a:avLst/>
          </a:prstGeom>
          <a:solidFill>
            <a:srgbClr val="E6E9EF"/>
          </a:solidFill>
          <a:ln w="20638">
            <a:solidFill>
              <a:srgbClr val="E6E9EF"/>
            </a:solidFill>
            <a:miter lim="800000"/>
            <a:headEnd/>
            <a:tailEnd/>
          </a:ln>
        </p:spPr>
        <p:txBody>
          <a:bodyPr/>
          <a:lstStyle/>
          <a:p>
            <a:endParaRPr lang="en-IN"/>
          </a:p>
        </p:txBody>
      </p:sp>
      <p:sp>
        <p:nvSpPr>
          <p:cNvPr id="904208" name="Rectangle 16"/>
          <p:cNvSpPr>
            <a:spLocks noChangeArrowheads="1"/>
          </p:cNvSpPr>
          <p:nvPr/>
        </p:nvSpPr>
        <p:spPr bwMode="auto">
          <a:xfrm>
            <a:off x="3776664" y="1789114"/>
            <a:ext cx="4675187" cy="42513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04209" name="Freeform 17"/>
          <p:cNvSpPr>
            <a:spLocks/>
          </p:cNvSpPr>
          <p:nvPr/>
        </p:nvSpPr>
        <p:spPr bwMode="auto">
          <a:xfrm>
            <a:off x="3757614" y="1789114"/>
            <a:ext cx="4675187" cy="4251325"/>
          </a:xfrm>
          <a:custGeom>
            <a:avLst/>
            <a:gdLst>
              <a:gd name="T0" fmla="*/ 0 w 2945"/>
              <a:gd name="T1" fmla="*/ 0 h 2678"/>
              <a:gd name="T2" fmla="*/ 0 w 2945"/>
              <a:gd name="T3" fmla="*/ 2678 h 2678"/>
              <a:gd name="T4" fmla="*/ 2945 w 2945"/>
              <a:gd name="T5" fmla="*/ 2678 h 2678"/>
            </a:gdLst>
            <a:ahLst/>
            <a:cxnLst>
              <a:cxn ang="0">
                <a:pos x="T0" y="T1"/>
              </a:cxn>
              <a:cxn ang="0">
                <a:pos x="T2" y="T3"/>
              </a:cxn>
              <a:cxn ang="0">
                <a:pos x="T4" y="T5"/>
              </a:cxn>
            </a:cxnLst>
            <a:rect l="0" t="0" r="r" b="b"/>
            <a:pathLst>
              <a:path w="2945" h="2678">
                <a:moveTo>
                  <a:pt x="0" y="0"/>
                </a:moveTo>
                <a:lnTo>
                  <a:pt x="0" y="2678"/>
                </a:lnTo>
                <a:lnTo>
                  <a:pt x="2945" y="2678"/>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4210" name="Rectangle 18"/>
          <p:cNvSpPr>
            <a:spLocks noChangeArrowheads="1"/>
          </p:cNvSpPr>
          <p:nvPr/>
        </p:nvSpPr>
        <p:spPr bwMode="auto">
          <a:xfrm>
            <a:off x="4395789" y="1131888"/>
            <a:ext cx="314438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 Rent Control in the Short Run</a:t>
            </a:r>
            <a:endParaRPr lang="en-US" altLang="en-US" sz="2400">
              <a:latin typeface="Times New Roman" panose="02020603050405020304" pitchFamily="18" charset="0"/>
            </a:endParaRPr>
          </a:p>
        </p:txBody>
      </p:sp>
      <p:sp>
        <p:nvSpPr>
          <p:cNvPr id="904211" name="Rectangle 19"/>
          <p:cNvSpPr>
            <a:spLocks noChangeArrowheads="1"/>
          </p:cNvSpPr>
          <p:nvPr/>
        </p:nvSpPr>
        <p:spPr bwMode="auto">
          <a:xfrm>
            <a:off x="4341814" y="1401763"/>
            <a:ext cx="31475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(supply and demand are inelastic)</a:t>
            </a:r>
            <a:endParaRPr lang="en-US" altLang="en-US" sz="2400">
              <a:latin typeface="Times New Roman" panose="02020603050405020304" pitchFamily="18" charset="0"/>
            </a:endParaRPr>
          </a:p>
        </p:txBody>
      </p:sp>
      <p:sp>
        <p:nvSpPr>
          <p:cNvPr id="904212" name="Rectangle 20"/>
          <p:cNvSpPr>
            <a:spLocks noChangeArrowheads="1"/>
          </p:cNvSpPr>
          <p:nvPr/>
        </p:nvSpPr>
        <p:spPr bwMode="auto">
          <a:xfrm>
            <a:off x="7281864" y="6089650"/>
            <a:ext cx="107240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endParaRPr lang="en-US" altLang="en-US" sz="2400">
              <a:latin typeface="Times New Roman" panose="02020603050405020304" pitchFamily="18" charset="0"/>
            </a:endParaRPr>
          </a:p>
        </p:txBody>
      </p:sp>
      <p:sp>
        <p:nvSpPr>
          <p:cNvPr id="904213" name="Rectangle 21"/>
          <p:cNvSpPr>
            <a:spLocks noChangeArrowheads="1"/>
          </p:cNvSpPr>
          <p:nvPr/>
        </p:nvSpPr>
        <p:spPr bwMode="auto">
          <a:xfrm>
            <a:off x="7221538" y="6359525"/>
            <a:ext cx="111248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Apartments</a:t>
            </a:r>
            <a:endParaRPr lang="en-US" altLang="en-US" sz="2400">
              <a:latin typeface="Times New Roman" panose="02020603050405020304" pitchFamily="18" charset="0"/>
            </a:endParaRPr>
          </a:p>
        </p:txBody>
      </p:sp>
      <p:sp>
        <p:nvSpPr>
          <p:cNvPr id="904214" name="Rectangle 22"/>
          <p:cNvSpPr>
            <a:spLocks noChangeArrowheads="1"/>
          </p:cNvSpPr>
          <p:nvPr/>
        </p:nvSpPr>
        <p:spPr bwMode="auto">
          <a:xfrm>
            <a:off x="3549650" y="6096000"/>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grpSp>
        <p:nvGrpSpPr>
          <p:cNvPr id="904215" name="Group 23"/>
          <p:cNvGrpSpPr>
            <a:grpSpLocks/>
          </p:cNvGrpSpPr>
          <p:nvPr/>
        </p:nvGrpSpPr>
        <p:grpSpPr bwMode="auto">
          <a:xfrm>
            <a:off x="5411792" y="2255838"/>
            <a:ext cx="619125" cy="3784600"/>
            <a:chOff x="2449" y="1421"/>
            <a:chExt cx="390" cy="2384"/>
          </a:xfrm>
        </p:grpSpPr>
        <p:sp>
          <p:nvSpPr>
            <p:cNvPr id="904216" name="Line 24"/>
            <p:cNvSpPr>
              <a:spLocks noChangeShapeType="1"/>
            </p:cNvSpPr>
            <p:nvPr/>
          </p:nvSpPr>
          <p:spPr bwMode="auto">
            <a:xfrm flipV="1">
              <a:off x="2628" y="1617"/>
              <a:ext cx="1" cy="2188"/>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4217" name="Rectangle 25"/>
            <p:cNvSpPr>
              <a:spLocks noChangeArrowheads="1"/>
            </p:cNvSpPr>
            <p:nvPr/>
          </p:nvSpPr>
          <p:spPr bwMode="auto">
            <a:xfrm>
              <a:off x="2449" y="1421"/>
              <a:ext cx="3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04218" name="Group 26"/>
          <p:cNvGrpSpPr>
            <a:grpSpLocks/>
          </p:cNvGrpSpPr>
          <p:nvPr/>
        </p:nvGrpSpPr>
        <p:grpSpPr bwMode="auto">
          <a:xfrm>
            <a:off x="3763963" y="4491038"/>
            <a:ext cx="4408488" cy="304800"/>
            <a:chOff x="1411" y="2829"/>
            <a:chExt cx="2777" cy="192"/>
          </a:xfrm>
        </p:grpSpPr>
        <p:sp>
          <p:nvSpPr>
            <p:cNvPr id="904219" name="Line 27"/>
            <p:cNvSpPr>
              <a:spLocks noChangeShapeType="1"/>
            </p:cNvSpPr>
            <p:nvPr/>
          </p:nvSpPr>
          <p:spPr bwMode="auto">
            <a:xfrm flipH="1">
              <a:off x="1411" y="3020"/>
              <a:ext cx="2777" cy="1"/>
            </a:xfrm>
            <a:prstGeom prst="line">
              <a:avLst/>
            </a:prstGeom>
            <a:noFill/>
            <a:ln w="61913">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4220" name="Rectangle 28"/>
            <p:cNvSpPr>
              <a:spLocks noChangeArrowheads="1"/>
            </p:cNvSpPr>
            <p:nvPr/>
          </p:nvSpPr>
          <p:spPr bwMode="auto">
            <a:xfrm>
              <a:off x="3307" y="2829"/>
              <a:ext cx="83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Controlled rent</a:t>
              </a:r>
              <a:endParaRPr lang="en-US" altLang="en-US" sz="2400">
                <a:latin typeface="Times New Roman" panose="02020603050405020304" pitchFamily="18" charset="0"/>
              </a:endParaRPr>
            </a:p>
          </p:txBody>
        </p:sp>
      </p:grpSp>
      <p:sp>
        <p:nvSpPr>
          <p:cNvPr id="904221" name="Rectangle 29"/>
          <p:cNvSpPr>
            <a:spLocks noChangeArrowheads="1"/>
          </p:cNvSpPr>
          <p:nvPr/>
        </p:nvSpPr>
        <p:spPr bwMode="auto">
          <a:xfrm>
            <a:off x="3008314" y="1747838"/>
            <a:ext cx="61715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Rental</a:t>
            </a:r>
            <a:endParaRPr lang="en-US" altLang="en-US" sz="2400">
              <a:latin typeface="Times New Roman" panose="02020603050405020304" pitchFamily="18" charset="0"/>
            </a:endParaRPr>
          </a:p>
        </p:txBody>
      </p:sp>
      <p:sp>
        <p:nvSpPr>
          <p:cNvPr id="904222" name="Rectangle 30"/>
          <p:cNvSpPr>
            <a:spLocks noChangeArrowheads="1"/>
          </p:cNvSpPr>
          <p:nvPr/>
        </p:nvSpPr>
        <p:spPr bwMode="auto">
          <a:xfrm>
            <a:off x="2871789" y="2019300"/>
            <a:ext cx="718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Price of</a:t>
            </a:r>
            <a:endParaRPr lang="en-US" altLang="en-US" sz="2400">
              <a:latin typeface="Times New Roman" panose="02020603050405020304" pitchFamily="18" charset="0"/>
            </a:endParaRPr>
          </a:p>
        </p:txBody>
      </p:sp>
      <p:sp>
        <p:nvSpPr>
          <p:cNvPr id="904223" name="Rectangle 31"/>
          <p:cNvSpPr>
            <a:spLocks noChangeArrowheads="1"/>
          </p:cNvSpPr>
          <p:nvPr/>
        </p:nvSpPr>
        <p:spPr bwMode="auto">
          <a:xfrm>
            <a:off x="2587626" y="2289175"/>
            <a:ext cx="10275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Apartment</a:t>
            </a:r>
            <a:endParaRPr lang="en-US" altLang="en-US" sz="2400">
              <a:latin typeface="Times New Roman" panose="02020603050405020304" pitchFamily="18" charset="0"/>
            </a:endParaRPr>
          </a:p>
        </p:txBody>
      </p:sp>
      <p:grpSp>
        <p:nvGrpSpPr>
          <p:cNvPr id="904224" name="Group 32"/>
          <p:cNvGrpSpPr>
            <a:grpSpLocks/>
          </p:cNvGrpSpPr>
          <p:nvPr/>
        </p:nvGrpSpPr>
        <p:grpSpPr bwMode="auto">
          <a:xfrm>
            <a:off x="4368801" y="3138488"/>
            <a:ext cx="3629025" cy="2717800"/>
            <a:chOff x="1792" y="1977"/>
            <a:chExt cx="2286" cy="1712"/>
          </a:xfrm>
        </p:grpSpPr>
        <p:sp>
          <p:nvSpPr>
            <p:cNvPr id="904225" name="Line 33"/>
            <p:cNvSpPr>
              <a:spLocks noChangeShapeType="1"/>
            </p:cNvSpPr>
            <p:nvPr/>
          </p:nvSpPr>
          <p:spPr bwMode="auto">
            <a:xfrm>
              <a:off x="1792" y="1977"/>
              <a:ext cx="1787" cy="1609"/>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4226" name="Rectangle 34"/>
            <p:cNvSpPr>
              <a:spLocks noChangeArrowheads="1"/>
            </p:cNvSpPr>
            <p:nvPr/>
          </p:nvSpPr>
          <p:spPr bwMode="auto">
            <a:xfrm>
              <a:off x="3614" y="3524"/>
              <a:ext cx="4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904227" name="Group 35"/>
          <p:cNvGrpSpPr>
            <a:grpSpLocks/>
          </p:cNvGrpSpPr>
          <p:nvPr/>
        </p:nvGrpSpPr>
        <p:grpSpPr bwMode="auto">
          <a:xfrm>
            <a:off x="5613401" y="4732338"/>
            <a:ext cx="898525" cy="819150"/>
            <a:chOff x="2576" y="2981"/>
            <a:chExt cx="566" cy="516"/>
          </a:xfrm>
        </p:grpSpPr>
        <p:sp>
          <p:nvSpPr>
            <p:cNvPr id="904228" name="Line 36"/>
            <p:cNvSpPr>
              <a:spLocks noChangeShapeType="1"/>
            </p:cNvSpPr>
            <p:nvPr/>
          </p:nvSpPr>
          <p:spPr bwMode="auto">
            <a:xfrm>
              <a:off x="2795" y="3200"/>
              <a:ext cx="77" cy="142"/>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4229" name="Freeform 37"/>
            <p:cNvSpPr>
              <a:spLocks/>
            </p:cNvSpPr>
            <p:nvPr/>
          </p:nvSpPr>
          <p:spPr bwMode="auto">
            <a:xfrm>
              <a:off x="2628" y="3071"/>
              <a:ext cx="321" cy="90"/>
            </a:xfrm>
            <a:custGeom>
              <a:avLst/>
              <a:gdLst>
                <a:gd name="T0" fmla="*/ 25 w 25"/>
                <a:gd name="T1" fmla="*/ 0 h 7"/>
                <a:gd name="T2" fmla="*/ 21 w 25"/>
                <a:gd name="T3" fmla="*/ 3 h 7"/>
                <a:gd name="T4" fmla="*/ 16 w 25"/>
                <a:gd name="T5" fmla="*/ 3 h 7"/>
                <a:gd name="T6" fmla="*/ 13 w 25"/>
                <a:gd name="T7" fmla="*/ 7 h 7"/>
                <a:gd name="T8" fmla="*/ 9 w 25"/>
                <a:gd name="T9" fmla="*/ 3 h 7"/>
                <a:gd name="T10" fmla="*/ 5 w 25"/>
                <a:gd name="T11" fmla="*/ 3 h 7"/>
                <a:gd name="T12" fmla="*/ 0 w 2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25" h="7">
                  <a:moveTo>
                    <a:pt x="25" y="0"/>
                  </a:moveTo>
                  <a:cubicBezTo>
                    <a:pt x="25" y="2"/>
                    <a:pt x="23" y="3"/>
                    <a:pt x="21" y="3"/>
                  </a:cubicBezTo>
                  <a:cubicBezTo>
                    <a:pt x="16" y="3"/>
                    <a:pt x="16" y="3"/>
                    <a:pt x="16" y="3"/>
                  </a:cubicBezTo>
                  <a:cubicBezTo>
                    <a:pt x="14" y="3"/>
                    <a:pt x="13" y="5"/>
                    <a:pt x="13" y="7"/>
                  </a:cubicBezTo>
                  <a:cubicBezTo>
                    <a:pt x="13" y="5"/>
                    <a:pt x="11" y="3"/>
                    <a:pt x="9" y="3"/>
                  </a:cubicBezTo>
                  <a:cubicBezTo>
                    <a:pt x="5" y="3"/>
                    <a:pt x="5" y="3"/>
                    <a:pt x="5" y="3"/>
                  </a:cubicBezTo>
                  <a:cubicBezTo>
                    <a:pt x="3" y="3"/>
                    <a:pt x="0" y="2"/>
                    <a:pt x="0" y="0"/>
                  </a:cubicBez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4230" name="Oval 38"/>
            <p:cNvSpPr>
              <a:spLocks noChangeArrowheads="1"/>
            </p:cNvSpPr>
            <p:nvPr/>
          </p:nvSpPr>
          <p:spPr bwMode="auto">
            <a:xfrm>
              <a:off x="2911" y="2981"/>
              <a:ext cx="75" cy="7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4231" name="Oval 39"/>
            <p:cNvSpPr>
              <a:spLocks noChangeArrowheads="1"/>
            </p:cNvSpPr>
            <p:nvPr/>
          </p:nvSpPr>
          <p:spPr bwMode="auto">
            <a:xfrm>
              <a:off x="2576" y="2981"/>
              <a:ext cx="75" cy="7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4232" name="Rectangle 40"/>
            <p:cNvSpPr>
              <a:spLocks noChangeArrowheads="1"/>
            </p:cNvSpPr>
            <p:nvPr/>
          </p:nvSpPr>
          <p:spPr bwMode="auto">
            <a:xfrm>
              <a:off x="2654" y="3332"/>
              <a:ext cx="48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Shortage</a:t>
              </a:r>
              <a:endParaRPr lang="en-US" altLang="en-US" sz="2400">
                <a:latin typeface="Times New Roman" panose="02020603050405020304" pitchFamily="18" charset="0"/>
              </a:endParaRPr>
            </a:p>
          </p:txBody>
        </p:sp>
      </p:grpSp>
    </p:spTree>
    <p:extLst>
      <p:ext uri="{BB962C8B-B14F-4D97-AF65-F5344CB8AC3E}">
        <p14:creationId xmlns:p14="http://schemas.microsoft.com/office/powerpoint/2010/main" val="35635149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904215"/>
                                        </p:tgtEl>
                                        <p:attrNameLst>
                                          <p:attrName>style.visibility</p:attrName>
                                        </p:attrNameLst>
                                      </p:cBhvr>
                                      <p:to>
                                        <p:strVal val="visible"/>
                                      </p:to>
                                    </p:set>
                                    <p:animEffect transition="in" filter="wipe(down)">
                                      <p:cBhvr>
                                        <p:cTn id="7" dur="500"/>
                                        <p:tgtEl>
                                          <p:spTgt spid="9042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904224"/>
                                        </p:tgtEl>
                                        <p:attrNameLst>
                                          <p:attrName>style.visibility</p:attrName>
                                        </p:attrNameLst>
                                      </p:cBhvr>
                                      <p:to>
                                        <p:strVal val="visible"/>
                                      </p:to>
                                    </p:set>
                                    <p:animEffect transition="in" filter="strips(downRight)">
                                      <p:cBhvr>
                                        <p:cTn id="12" dur="500"/>
                                        <p:tgtEl>
                                          <p:spTgt spid="9042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04218"/>
                                        </p:tgtEl>
                                        <p:attrNameLst>
                                          <p:attrName>style.visibility</p:attrName>
                                        </p:attrNameLst>
                                      </p:cBhvr>
                                      <p:to>
                                        <p:strVal val="visible"/>
                                      </p:to>
                                    </p:set>
                                    <p:animEffect transition="in" filter="wipe(left)">
                                      <p:cBhvr>
                                        <p:cTn id="17" dur="500"/>
                                        <p:tgtEl>
                                          <p:spTgt spid="9042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04227"/>
                                        </p:tgtEl>
                                        <p:attrNameLst>
                                          <p:attrName>style.visibility</p:attrName>
                                        </p:attrNameLst>
                                      </p:cBhvr>
                                      <p:to>
                                        <p:strVal val="visible"/>
                                      </p:to>
                                    </p:set>
                                    <p:animEffect transition="in" filter="wipe(up)">
                                      <p:cBhvr>
                                        <p:cTn id="22" dur="500"/>
                                        <p:tgtEl>
                                          <p:spTgt spid="904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3170"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03171"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2 Rent Control in the Short Run and in the Long Run</a:t>
            </a:r>
          </a:p>
        </p:txBody>
      </p:sp>
      <p:sp>
        <p:nvSpPr>
          <p:cNvPr id="903172"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03173" name="Rectangle 5"/>
          <p:cNvSpPr>
            <a:spLocks noChangeArrowheads="1"/>
          </p:cNvSpPr>
          <p:nvPr/>
        </p:nvSpPr>
        <p:spPr bwMode="auto">
          <a:xfrm>
            <a:off x="4019550" y="1892301"/>
            <a:ext cx="4675188" cy="4251325"/>
          </a:xfrm>
          <a:prstGeom prst="rect">
            <a:avLst/>
          </a:prstGeom>
          <a:solidFill>
            <a:srgbClr val="F3F6F9"/>
          </a:solidFill>
          <a:ln w="223838">
            <a:solidFill>
              <a:srgbClr val="F3F6F9"/>
            </a:solidFill>
            <a:miter lim="800000"/>
            <a:headEnd/>
            <a:tailEnd/>
          </a:ln>
        </p:spPr>
        <p:txBody>
          <a:bodyPr/>
          <a:lstStyle/>
          <a:p>
            <a:endParaRPr lang="en-IN"/>
          </a:p>
        </p:txBody>
      </p:sp>
      <p:sp>
        <p:nvSpPr>
          <p:cNvPr id="903174" name="Rectangle 6"/>
          <p:cNvSpPr>
            <a:spLocks noChangeArrowheads="1"/>
          </p:cNvSpPr>
          <p:nvPr/>
        </p:nvSpPr>
        <p:spPr bwMode="auto">
          <a:xfrm>
            <a:off x="4019550" y="1892301"/>
            <a:ext cx="4675188" cy="4251325"/>
          </a:xfrm>
          <a:prstGeom prst="rect">
            <a:avLst/>
          </a:prstGeom>
          <a:solidFill>
            <a:srgbClr val="F2F4F8"/>
          </a:solidFill>
          <a:ln w="204788">
            <a:solidFill>
              <a:srgbClr val="F2F4F8"/>
            </a:solidFill>
            <a:miter lim="800000"/>
            <a:headEnd/>
            <a:tailEnd/>
          </a:ln>
        </p:spPr>
        <p:txBody>
          <a:bodyPr/>
          <a:lstStyle/>
          <a:p>
            <a:endParaRPr lang="en-IN"/>
          </a:p>
        </p:txBody>
      </p:sp>
      <p:sp>
        <p:nvSpPr>
          <p:cNvPr id="903175" name="Rectangle 7"/>
          <p:cNvSpPr>
            <a:spLocks noChangeArrowheads="1"/>
          </p:cNvSpPr>
          <p:nvPr/>
        </p:nvSpPr>
        <p:spPr bwMode="auto">
          <a:xfrm>
            <a:off x="4019550" y="1892301"/>
            <a:ext cx="4675188" cy="4251325"/>
          </a:xfrm>
          <a:prstGeom prst="rect">
            <a:avLst/>
          </a:prstGeom>
          <a:solidFill>
            <a:srgbClr val="F1F4F7"/>
          </a:solidFill>
          <a:ln w="184150">
            <a:solidFill>
              <a:srgbClr val="F1F4F7"/>
            </a:solidFill>
            <a:miter lim="800000"/>
            <a:headEnd/>
            <a:tailEnd/>
          </a:ln>
        </p:spPr>
        <p:txBody>
          <a:bodyPr/>
          <a:lstStyle/>
          <a:p>
            <a:endParaRPr lang="en-IN"/>
          </a:p>
        </p:txBody>
      </p:sp>
      <p:sp>
        <p:nvSpPr>
          <p:cNvPr id="903176" name="Rectangle 8"/>
          <p:cNvSpPr>
            <a:spLocks noChangeArrowheads="1"/>
          </p:cNvSpPr>
          <p:nvPr/>
        </p:nvSpPr>
        <p:spPr bwMode="auto">
          <a:xfrm>
            <a:off x="4019550" y="1892301"/>
            <a:ext cx="4675188" cy="4251325"/>
          </a:xfrm>
          <a:prstGeom prst="rect">
            <a:avLst/>
          </a:prstGeom>
          <a:solidFill>
            <a:srgbClr val="F0F2F5"/>
          </a:solidFill>
          <a:ln w="163513">
            <a:solidFill>
              <a:srgbClr val="F0F2F5"/>
            </a:solidFill>
            <a:miter lim="800000"/>
            <a:headEnd/>
            <a:tailEnd/>
          </a:ln>
        </p:spPr>
        <p:txBody>
          <a:bodyPr/>
          <a:lstStyle/>
          <a:p>
            <a:endParaRPr lang="en-IN"/>
          </a:p>
        </p:txBody>
      </p:sp>
      <p:sp>
        <p:nvSpPr>
          <p:cNvPr id="903177" name="Rectangle 9"/>
          <p:cNvSpPr>
            <a:spLocks noChangeArrowheads="1"/>
          </p:cNvSpPr>
          <p:nvPr/>
        </p:nvSpPr>
        <p:spPr bwMode="auto">
          <a:xfrm>
            <a:off x="4019550" y="1892301"/>
            <a:ext cx="4675188" cy="4251325"/>
          </a:xfrm>
          <a:prstGeom prst="rect">
            <a:avLst/>
          </a:prstGeom>
          <a:solidFill>
            <a:srgbClr val="EEF1F4"/>
          </a:solidFill>
          <a:ln w="142875">
            <a:solidFill>
              <a:srgbClr val="EEF1F4"/>
            </a:solidFill>
            <a:miter lim="800000"/>
            <a:headEnd/>
            <a:tailEnd/>
          </a:ln>
        </p:spPr>
        <p:txBody>
          <a:bodyPr/>
          <a:lstStyle/>
          <a:p>
            <a:endParaRPr lang="en-IN"/>
          </a:p>
        </p:txBody>
      </p:sp>
      <p:sp>
        <p:nvSpPr>
          <p:cNvPr id="903178" name="Rectangle 10"/>
          <p:cNvSpPr>
            <a:spLocks noChangeArrowheads="1"/>
          </p:cNvSpPr>
          <p:nvPr/>
        </p:nvSpPr>
        <p:spPr bwMode="auto">
          <a:xfrm>
            <a:off x="4019550" y="1892301"/>
            <a:ext cx="4675188" cy="4251325"/>
          </a:xfrm>
          <a:prstGeom prst="rect">
            <a:avLst/>
          </a:prstGeom>
          <a:solidFill>
            <a:srgbClr val="EDEFF3"/>
          </a:solidFill>
          <a:ln w="122238">
            <a:solidFill>
              <a:srgbClr val="EDEFF3"/>
            </a:solidFill>
            <a:miter lim="800000"/>
            <a:headEnd/>
            <a:tailEnd/>
          </a:ln>
        </p:spPr>
        <p:txBody>
          <a:bodyPr/>
          <a:lstStyle/>
          <a:p>
            <a:endParaRPr lang="en-IN"/>
          </a:p>
        </p:txBody>
      </p:sp>
      <p:sp>
        <p:nvSpPr>
          <p:cNvPr id="903179" name="Rectangle 11"/>
          <p:cNvSpPr>
            <a:spLocks noChangeArrowheads="1"/>
          </p:cNvSpPr>
          <p:nvPr/>
        </p:nvSpPr>
        <p:spPr bwMode="auto">
          <a:xfrm>
            <a:off x="4019550" y="1892301"/>
            <a:ext cx="4675188" cy="4251325"/>
          </a:xfrm>
          <a:prstGeom prst="rect">
            <a:avLst/>
          </a:prstGeom>
          <a:solidFill>
            <a:srgbClr val="EBEEF2"/>
          </a:solidFill>
          <a:ln w="101600">
            <a:solidFill>
              <a:srgbClr val="EBEEF2"/>
            </a:solidFill>
            <a:miter lim="800000"/>
            <a:headEnd/>
            <a:tailEnd/>
          </a:ln>
        </p:spPr>
        <p:txBody>
          <a:bodyPr/>
          <a:lstStyle/>
          <a:p>
            <a:endParaRPr lang="en-IN"/>
          </a:p>
        </p:txBody>
      </p:sp>
      <p:sp>
        <p:nvSpPr>
          <p:cNvPr id="903180" name="Rectangle 12"/>
          <p:cNvSpPr>
            <a:spLocks noChangeArrowheads="1"/>
          </p:cNvSpPr>
          <p:nvPr/>
        </p:nvSpPr>
        <p:spPr bwMode="auto">
          <a:xfrm>
            <a:off x="4019550" y="1892301"/>
            <a:ext cx="4675188" cy="4251325"/>
          </a:xfrm>
          <a:prstGeom prst="rect">
            <a:avLst/>
          </a:prstGeom>
          <a:solidFill>
            <a:srgbClr val="EAECF1"/>
          </a:solidFill>
          <a:ln w="80963">
            <a:solidFill>
              <a:srgbClr val="EAECF1"/>
            </a:solidFill>
            <a:miter lim="800000"/>
            <a:headEnd/>
            <a:tailEnd/>
          </a:ln>
        </p:spPr>
        <p:txBody>
          <a:bodyPr/>
          <a:lstStyle/>
          <a:p>
            <a:endParaRPr lang="en-IN"/>
          </a:p>
        </p:txBody>
      </p:sp>
      <p:sp>
        <p:nvSpPr>
          <p:cNvPr id="903181" name="Rectangle 13"/>
          <p:cNvSpPr>
            <a:spLocks noChangeArrowheads="1"/>
          </p:cNvSpPr>
          <p:nvPr/>
        </p:nvSpPr>
        <p:spPr bwMode="auto">
          <a:xfrm>
            <a:off x="4019550" y="1892301"/>
            <a:ext cx="4675188" cy="4251325"/>
          </a:xfrm>
          <a:prstGeom prst="rect">
            <a:avLst/>
          </a:prstGeom>
          <a:solidFill>
            <a:srgbClr val="E9EBF0"/>
          </a:solidFill>
          <a:ln w="61913">
            <a:solidFill>
              <a:srgbClr val="E9EBF0"/>
            </a:solidFill>
            <a:miter lim="800000"/>
            <a:headEnd/>
            <a:tailEnd/>
          </a:ln>
        </p:spPr>
        <p:txBody>
          <a:bodyPr/>
          <a:lstStyle/>
          <a:p>
            <a:endParaRPr lang="en-IN"/>
          </a:p>
        </p:txBody>
      </p:sp>
      <p:sp>
        <p:nvSpPr>
          <p:cNvPr id="903182" name="Rectangle 14"/>
          <p:cNvSpPr>
            <a:spLocks noChangeArrowheads="1"/>
          </p:cNvSpPr>
          <p:nvPr/>
        </p:nvSpPr>
        <p:spPr bwMode="auto">
          <a:xfrm>
            <a:off x="4019550" y="1892301"/>
            <a:ext cx="4675188" cy="4251325"/>
          </a:xfrm>
          <a:prstGeom prst="rect">
            <a:avLst/>
          </a:prstGeom>
          <a:solidFill>
            <a:srgbClr val="E7EAEF"/>
          </a:solidFill>
          <a:ln w="41275">
            <a:solidFill>
              <a:srgbClr val="E7EAEF"/>
            </a:solidFill>
            <a:miter lim="800000"/>
            <a:headEnd/>
            <a:tailEnd/>
          </a:ln>
        </p:spPr>
        <p:txBody>
          <a:bodyPr/>
          <a:lstStyle/>
          <a:p>
            <a:endParaRPr lang="en-IN"/>
          </a:p>
        </p:txBody>
      </p:sp>
      <p:sp>
        <p:nvSpPr>
          <p:cNvPr id="903183" name="Rectangle 15"/>
          <p:cNvSpPr>
            <a:spLocks noChangeArrowheads="1"/>
          </p:cNvSpPr>
          <p:nvPr/>
        </p:nvSpPr>
        <p:spPr bwMode="auto">
          <a:xfrm>
            <a:off x="4019550" y="1892301"/>
            <a:ext cx="4675188" cy="4251325"/>
          </a:xfrm>
          <a:prstGeom prst="rect">
            <a:avLst/>
          </a:prstGeom>
          <a:solidFill>
            <a:srgbClr val="E6E9EF"/>
          </a:solidFill>
          <a:ln w="20638">
            <a:solidFill>
              <a:srgbClr val="E6E9EF"/>
            </a:solidFill>
            <a:miter lim="800000"/>
            <a:headEnd/>
            <a:tailEnd/>
          </a:ln>
        </p:spPr>
        <p:txBody>
          <a:bodyPr/>
          <a:lstStyle/>
          <a:p>
            <a:endParaRPr lang="en-IN"/>
          </a:p>
        </p:txBody>
      </p:sp>
      <p:sp>
        <p:nvSpPr>
          <p:cNvPr id="903184" name="Rectangle 16"/>
          <p:cNvSpPr>
            <a:spLocks noChangeArrowheads="1"/>
          </p:cNvSpPr>
          <p:nvPr/>
        </p:nvSpPr>
        <p:spPr bwMode="auto">
          <a:xfrm>
            <a:off x="3917950" y="1789114"/>
            <a:ext cx="4694238" cy="42513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03185" name="Freeform 17"/>
          <p:cNvSpPr>
            <a:spLocks/>
          </p:cNvSpPr>
          <p:nvPr/>
        </p:nvSpPr>
        <p:spPr bwMode="auto">
          <a:xfrm>
            <a:off x="3917950" y="1789114"/>
            <a:ext cx="4694238" cy="4251325"/>
          </a:xfrm>
          <a:custGeom>
            <a:avLst/>
            <a:gdLst>
              <a:gd name="T0" fmla="*/ 0 w 2957"/>
              <a:gd name="T1" fmla="*/ 0 h 2678"/>
              <a:gd name="T2" fmla="*/ 0 w 2957"/>
              <a:gd name="T3" fmla="*/ 2678 h 2678"/>
              <a:gd name="T4" fmla="*/ 2957 w 2957"/>
              <a:gd name="T5" fmla="*/ 2678 h 2678"/>
            </a:gdLst>
            <a:ahLst/>
            <a:cxnLst>
              <a:cxn ang="0">
                <a:pos x="T0" y="T1"/>
              </a:cxn>
              <a:cxn ang="0">
                <a:pos x="T2" y="T3"/>
              </a:cxn>
              <a:cxn ang="0">
                <a:pos x="T4" y="T5"/>
              </a:cxn>
            </a:cxnLst>
            <a:rect l="0" t="0" r="r" b="b"/>
            <a:pathLst>
              <a:path w="2957" h="2678">
                <a:moveTo>
                  <a:pt x="0" y="0"/>
                </a:moveTo>
                <a:lnTo>
                  <a:pt x="0" y="2678"/>
                </a:lnTo>
                <a:lnTo>
                  <a:pt x="2957" y="2678"/>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3186" name="Rectangle 18"/>
          <p:cNvSpPr>
            <a:spLocks noChangeArrowheads="1"/>
          </p:cNvSpPr>
          <p:nvPr/>
        </p:nvSpPr>
        <p:spPr bwMode="auto">
          <a:xfrm>
            <a:off x="4564064" y="1131888"/>
            <a:ext cx="31219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(b) Rent Control in the Long Run</a:t>
            </a:r>
            <a:endParaRPr lang="en-US" altLang="en-US" sz="2400">
              <a:latin typeface="Times New Roman" panose="02020603050405020304" pitchFamily="18" charset="0"/>
            </a:endParaRPr>
          </a:p>
        </p:txBody>
      </p:sp>
      <p:sp>
        <p:nvSpPr>
          <p:cNvPr id="903187" name="Rectangle 19"/>
          <p:cNvSpPr>
            <a:spLocks noChangeArrowheads="1"/>
          </p:cNvSpPr>
          <p:nvPr/>
        </p:nvSpPr>
        <p:spPr bwMode="auto">
          <a:xfrm>
            <a:off x="4591051" y="1401763"/>
            <a:ext cx="296485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(supply and demand are elastic)</a:t>
            </a:r>
            <a:endParaRPr lang="en-US" altLang="en-US" sz="2400">
              <a:latin typeface="Times New Roman" panose="02020603050405020304" pitchFamily="18" charset="0"/>
            </a:endParaRPr>
          </a:p>
        </p:txBody>
      </p:sp>
      <p:sp>
        <p:nvSpPr>
          <p:cNvPr id="903188" name="Rectangle 20"/>
          <p:cNvSpPr>
            <a:spLocks noChangeArrowheads="1"/>
          </p:cNvSpPr>
          <p:nvPr/>
        </p:nvSpPr>
        <p:spPr bwMode="auto">
          <a:xfrm>
            <a:off x="3697288" y="6096000"/>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sp>
        <p:nvSpPr>
          <p:cNvPr id="903189" name="Rectangle 21"/>
          <p:cNvSpPr>
            <a:spLocks noChangeArrowheads="1"/>
          </p:cNvSpPr>
          <p:nvPr/>
        </p:nvSpPr>
        <p:spPr bwMode="auto">
          <a:xfrm>
            <a:off x="3154364" y="1747838"/>
            <a:ext cx="61715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Rental</a:t>
            </a:r>
            <a:endParaRPr lang="en-US" altLang="en-US" sz="2400">
              <a:latin typeface="Times New Roman" panose="02020603050405020304" pitchFamily="18" charset="0"/>
            </a:endParaRPr>
          </a:p>
        </p:txBody>
      </p:sp>
      <p:sp>
        <p:nvSpPr>
          <p:cNvPr id="903190" name="Rectangle 22"/>
          <p:cNvSpPr>
            <a:spLocks noChangeArrowheads="1"/>
          </p:cNvSpPr>
          <p:nvPr/>
        </p:nvSpPr>
        <p:spPr bwMode="auto">
          <a:xfrm>
            <a:off x="3025776" y="2019300"/>
            <a:ext cx="718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Price of</a:t>
            </a:r>
            <a:endParaRPr lang="en-US" altLang="en-US" sz="2400">
              <a:latin typeface="Times New Roman" panose="02020603050405020304" pitchFamily="18" charset="0"/>
            </a:endParaRPr>
          </a:p>
        </p:txBody>
      </p:sp>
      <p:sp>
        <p:nvSpPr>
          <p:cNvPr id="903191" name="Rectangle 23"/>
          <p:cNvSpPr>
            <a:spLocks noChangeArrowheads="1"/>
          </p:cNvSpPr>
          <p:nvPr/>
        </p:nvSpPr>
        <p:spPr bwMode="auto">
          <a:xfrm>
            <a:off x="2735264" y="2289175"/>
            <a:ext cx="10275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Apartment</a:t>
            </a:r>
            <a:endParaRPr lang="en-US" altLang="en-US" sz="2400">
              <a:latin typeface="Times New Roman" panose="02020603050405020304" pitchFamily="18" charset="0"/>
            </a:endParaRPr>
          </a:p>
        </p:txBody>
      </p:sp>
      <p:sp>
        <p:nvSpPr>
          <p:cNvPr id="903192" name="Rectangle 24"/>
          <p:cNvSpPr>
            <a:spLocks noChangeArrowheads="1"/>
          </p:cNvSpPr>
          <p:nvPr/>
        </p:nvSpPr>
        <p:spPr bwMode="auto">
          <a:xfrm>
            <a:off x="7429501" y="6089650"/>
            <a:ext cx="107240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endParaRPr lang="en-US" altLang="en-US" sz="2400">
              <a:latin typeface="Times New Roman" panose="02020603050405020304" pitchFamily="18" charset="0"/>
            </a:endParaRPr>
          </a:p>
        </p:txBody>
      </p:sp>
      <p:sp>
        <p:nvSpPr>
          <p:cNvPr id="903193" name="Rectangle 25"/>
          <p:cNvSpPr>
            <a:spLocks noChangeArrowheads="1"/>
          </p:cNvSpPr>
          <p:nvPr/>
        </p:nvSpPr>
        <p:spPr bwMode="auto">
          <a:xfrm>
            <a:off x="7367588" y="6359525"/>
            <a:ext cx="111248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Apartments</a:t>
            </a:r>
            <a:endParaRPr lang="en-US" altLang="en-US" sz="2400">
              <a:latin typeface="Times New Roman" panose="02020603050405020304" pitchFamily="18" charset="0"/>
            </a:endParaRPr>
          </a:p>
        </p:txBody>
      </p:sp>
      <p:grpSp>
        <p:nvGrpSpPr>
          <p:cNvPr id="903194" name="Group 26"/>
          <p:cNvGrpSpPr>
            <a:grpSpLocks/>
          </p:cNvGrpSpPr>
          <p:nvPr/>
        </p:nvGrpSpPr>
        <p:grpSpPr bwMode="auto">
          <a:xfrm>
            <a:off x="4203701" y="3875089"/>
            <a:ext cx="4213225" cy="1398587"/>
            <a:chOff x="1688" y="2441"/>
            <a:chExt cx="2654" cy="881"/>
          </a:xfrm>
        </p:grpSpPr>
        <p:sp>
          <p:nvSpPr>
            <p:cNvPr id="903195" name="Line 27"/>
            <p:cNvSpPr>
              <a:spLocks noChangeShapeType="1"/>
            </p:cNvSpPr>
            <p:nvPr/>
          </p:nvSpPr>
          <p:spPr bwMode="auto">
            <a:xfrm>
              <a:off x="1688" y="2441"/>
              <a:ext cx="2173" cy="772"/>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3196" name="Rectangle 28"/>
            <p:cNvSpPr>
              <a:spLocks noChangeArrowheads="1"/>
            </p:cNvSpPr>
            <p:nvPr/>
          </p:nvSpPr>
          <p:spPr bwMode="auto">
            <a:xfrm>
              <a:off x="3878" y="3157"/>
              <a:ext cx="4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903197" name="Group 29"/>
          <p:cNvGrpSpPr>
            <a:grpSpLocks/>
          </p:cNvGrpSpPr>
          <p:nvPr/>
        </p:nvGrpSpPr>
        <p:grpSpPr bwMode="auto">
          <a:xfrm>
            <a:off x="4162425" y="3074989"/>
            <a:ext cx="4211638" cy="1882775"/>
            <a:chOff x="1662" y="1937"/>
            <a:chExt cx="2653" cy="1186"/>
          </a:xfrm>
        </p:grpSpPr>
        <p:sp>
          <p:nvSpPr>
            <p:cNvPr id="903198" name="Line 30"/>
            <p:cNvSpPr>
              <a:spLocks noChangeShapeType="1"/>
            </p:cNvSpPr>
            <p:nvPr/>
          </p:nvSpPr>
          <p:spPr bwMode="auto">
            <a:xfrm flipV="1">
              <a:off x="1662" y="2029"/>
              <a:ext cx="2237" cy="1094"/>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3199" name="Rectangle 31"/>
            <p:cNvSpPr>
              <a:spLocks noChangeArrowheads="1"/>
            </p:cNvSpPr>
            <p:nvPr/>
          </p:nvSpPr>
          <p:spPr bwMode="auto">
            <a:xfrm>
              <a:off x="3925" y="1937"/>
              <a:ext cx="3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03200" name="Group 32"/>
          <p:cNvGrpSpPr>
            <a:grpSpLocks/>
          </p:cNvGrpSpPr>
          <p:nvPr/>
        </p:nvGrpSpPr>
        <p:grpSpPr bwMode="auto">
          <a:xfrm>
            <a:off x="3917950" y="4491038"/>
            <a:ext cx="4470400" cy="304800"/>
            <a:chOff x="1508" y="2829"/>
            <a:chExt cx="2816" cy="192"/>
          </a:xfrm>
        </p:grpSpPr>
        <p:sp>
          <p:nvSpPr>
            <p:cNvPr id="903201" name="Line 33"/>
            <p:cNvSpPr>
              <a:spLocks noChangeShapeType="1"/>
            </p:cNvSpPr>
            <p:nvPr/>
          </p:nvSpPr>
          <p:spPr bwMode="auto">
            <a:xfrm flipH="1">
              <a:off x="1508" y="3020"/>
              <a:ext cx="2816" cy="1"/>
            </a:xfrm>
            <a:prstGeom prst="line">
              <a:avLst/>
            </a:prstGeom>
            <a:noFill/>
            <a:ln w="61913">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3202" name="Rectangle 34"/>
            <p:cNvSpPr>
              <a:spLocks noChangeArrowheads="1"/>
            </p:cNvSpPr>
            <p:nvPr/>
          </p:nvSpPr>
          <p:spPr bwMode="auto">
            <a:xfrm>
              <a:off x="3408" y="2829"/>
              <a:ext cx="835"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Controlled rent</a:t>
              </a:r>
              <a:endParaRPr lang="en-US" altLang="en-US" sz="2400">
                <a:latin typeface="Times New Roman" panose="02020603050405020304" pitchFamily="18" charset="0"/>
              </a:endParaRPr>
            </a:p>
          </p:txBody>
        </p:sp>
      </p:grpSp>
      <p:grpSp>
        <p:nvGrpSpPr>
          <p:cNvPr id="903203" name="Group 35"/>
          <p:cNvGrpSpPr>
            <a:grpSpLocks/>
          </p:cNvGrpSpPr>
          <p:nvPr/>
        </p:nvGrpSpPr>
        <p:grpSpPr bwMode="auto">
          <a:xfrm>
            <a:off x="4406901" y="4732339"/>
            <a:ext cx="2449513" cy="574675"/>
            <a:chOff x="1816" y="2981"/>
            <a:chExt cx="1543" cy="362"/>
          </a:xfrm>
        </p:grpSpPr>
        <p:sp>
          <p:nvSpPr>
            <p:cNvPr id="903204" name="Freeform 36"/>
            <p:cNvSpPr>
              <a:spLocks/>
            </p:cNvSpPr>
            <p:nvPr/>
          </p:nvSpPr>
          <p:spPr bwMode="auto">
            <a:xfrm>
              <a:off x="1855" y="3071"/>
              <a:ext cx="1453" cy="90"/>
            </a:xfrm>
            <a:custGeom>
              <a:avLst/>
              <a:gdLst>
                <a:gd name="T0" fmla="*/ 113 w 113"/>
                <a:gd name="T1" fmla="*/ 0 h 7"/>
                <a:gd name="T2" fmla="*/ 109 w 113"/>
                <a:gd name="T3" fmla="*/ 3 h 7"/>
                <a:gd name="T4" fmla="*/ 59 w 113"/>
                <a:gd name="T5" fmla="*/ 3 h 7"/>
                <a:gd name="T6" fmla="*/ 55 w 113"/>
                <a:gd name="T7" fmla="*/ 7 h 7"/>
                <a:gd name="T8" fmla="*/ 51 w 113"/>
                <a:gd name="T9" fmla="*/ 3 h 7"/>
                <a:gd name="T10" fmla="*/ 5 w 113"/>
                <a:gd name="T11" fmla="*/ 3 h 7"/>
                <a:gd name="T12" fmla="*/ 0 w 113"/>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13" h="7">
                  <a:moveTo>
                    <a:pt x="113" y="0"/>
                  </a:moveTo>
                  <a:cubicBezTo>
                    <a:pt x="113" y="2"/>
                    <a:pt x="111" y="3"/>
                    <a:pt x="109" y="3"/>
                  </a:cubicBezTo>
                  <a:cubicBezTo>
                    <a:pt x="59" y="3"/>
                    <a:pt x="59" y="3"/>
                    <a:pt x="59" y="3"/>
                  </a:cubicBezTo>
                  <a:cubicBezTo>
                    <a:pt x="57" y="3"/>
                    <a:pt x="55" y="5"/>
                    <a:pt x="55" y="7"/>
                  </a:cubicBezTo>
                  <a:cubicBezTo>
                    <a:pt x="55" y="5"/>
                    <a:pt x="53" y="3"/>
                    <a:pt x="51" y="3"/>
                  </a:cubicBezTo>
                  <a:cubicBezTo>
                    <a:pt x="5" y="3"/>
                    <a:pt x="5" y="3"/>
                    <a:pt x="5" y="3"/>
                  </a:cubicBezTo>
                  <a:cubicBezTo>
                    <a:pt x="3" y="3"/>
                    <a:pt x="0" y="2"/>
                    <a:pt x="0" y="0"/>
                  </a:cubicBez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3205" name="Oval 37"/>
            <p:cNvSpPr>
              <a:spLocks noChangeArrowheads="1"/>
            </p:cNvSpPr>
            <p:nvPr/>
          </p:nvSpPr>
          <p:spPr bwMode="auto">
            <a:xfrm>
              <a:off x="1816" y="2981"/>
              <a:ext cx="90" cy="9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3206" name="Oval 38"/>
            <p:cNvSpPr>
              <a:spLocks noChangeArrowheads="1"/>
            </p:cNvSpPr>
            <p:nvPr/>
          </p:nvSpPr>
          <p:spPr bwMode="auto">
            <a:xfrm>
              <a:off x="3282" y="2981"/>
              <a:ext cx="77" cy="9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3207" name="Rectangle 39"/>
            <p:cNvSpPr>
              <a:spLocks noChangeArrowheads="1"/>
            </p:cNvSpPr>
            <p:nvPr/>
          </p:nvSpPr>
          <p:spPr bwMode="auto">
            <a:xfrm>
              <a:off x="2290" y="3178"/>
              <a:ext cx="488"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Shortage</a:t>
              </a:r>
              <a:endParaRPr lang="en-US" altLang="en-US" sz="2400">
                <a:latin typeface="Times New Roman" panose="02020603050405020304" pitchFamily="18" charset="0"/>
              </a:endParaRPr>
            </a:p>
          </p:txBody>
        </p:sp>
      </p:grpSp>
    </p:spTree>
    <p:extLst>
      <p:ext uri="{BB962C8B-B14F-4D97-AF65-F5344CB8AC3E}">
        <p14:creationId xmlns:p14="http://schemas.microsoft.com/office/powerpoint/2010/main" val="4458571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03194"/>
                                        </p:tgtEl>
                                        <p:attrNameLst>
                                          <p:attrName>style.visibility</p:attrName>
                                        </p:attrNameLst>
                                      </p:cBhvr>
                                      <p:to>
                                        <p:strVal val="visible"/>
                                      </p:to>
                                    </p:set>
                                    <p:animEffect transition="in" filter="wipe(left)">
                                      <p:cBhvr>
                                        <p:cTn id="7" dur="500"/>
                                        <p:tgtEl>
                                          <p:spTgt spid="903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03197"/>
                                        </p:tgtEl>
                                        <p:attrNameLst>
                                          <p:attrName>style.visibility</p:attrName>
                                        </p:attrNameLst>
                                      </p:cBhvr>
                                      <p:to>
                                        <p:strVal val="visible"/>
                                      </p:to>
                                    </p:set>
                                    <p:animEffect transition="in" filter="wipe(left)">
                                      <p:cBhvr>
                                        <p:cTn id="12" dur="500"/>
                                        <p:tgtEl>
                                          <p:spTgt spid="9031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03200"/>
                                        </p:tgtEl>
                                        <p:attrNameLst>
                                          <p:attrName>style.visibility</p:attrName>
                                        </p:attrNameLst>
                                      </p:cBhvr>
                                      <p:to>
                                        <p:strVal val="visible"/>
                                      </p:to>
                                    </p:set>
                                    <p:animEffect transition="in" filter="wipe(left)">
                                      <p:cBhvr>
                                        <p:cTn id="17" dur="500"/>
                                        <p:tgtEl>
                                          <p:spTgt spid="9032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03203"/>
                                        </p:tgtEl>
                                        <p:attrNameLst>
                                          <p:attrName>style.visibility</p:attrName>
                                        </p:attrNameLst>
                                      </p:cBhvr>
                                      <p:to>
                                        <p:strVal val="visible"/>
                                      </p:to>
                                    </p:set>
                                    <p:animEffect transition="in" filter="wipe(up)">
                                      <p:cBhvr>
                                        <p:cTn id="22" dur="500"/>
                                        <p:tgtEl>
                                          <p:spTgt spid="903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Impact of Price Ceiling </a:t>
            </a:r>
            <a:endParaRPr lang="en-IN" dirty="0"/>
          </a:p>
        </p:txBody>
      </p:sp>
      <p:sp>
        <p:nvSpPr>
          <p:cNvPr id="3" name="Content Placeholder 2"/>
          <p:cNvSpPr>
            <a:spLocks noGrp="1"/>
          </p:cNvSpPr>
          <p:nvPr>
            <p:ph idx="1"/>
          </p:nvPr>
        </p:nvSpPr>
        <p:spPr/>
        <p:txBody>
          <a:bodyPr/>
          <a:lstStyle/>
          <a:p>
            <a:pPr algn="just"/>
            <a:r>
              <a:rPr lang="en-IN" dirty="0" smtClean="0"/>
              <a:t>When the government imposes a binding price ceiling on a competitive market, a shortage of good arises and sellers must ration the scarce goods and among the large number of potential buyers. </a:t>
            </a:r>
          </a:p>
          <a:p>
            <a:pPr algn="just"/>
            <a:r>
              <a:rPr lang="en-IN" dirty="0" smtClean="0"/>
              <a:t>Rationing mechanism </a:t>
            </a:r>
          </a:p>
          <a:p>
            <a:pPr algn="just"/>
            <a:r>
              <a:rPr lang="en-IN" dirty="0" smtClean="0"/>
              <a:t>Long lines </a:t>
            </a:r>
          </a:p>
          <a:p>
            <a:pPr algn="just"/>
            <a:r>
              <a:rPr lang="en-IN" smtClean="0"/>
              <a:t>Discrimination </a:t>
            </a:r>
            <a:endParaRPr lang="en-IN" dirty="0"/>
          </a:p>
        </p:txBody>
      </p:sp>
    </p:spTree>
    <p:extLst>
      <p:ext uri="{BB962C8B-B14F-4D97-AF65-F5344CB8AC3E}">
        <p14:creationId xmlns:p14="http://schemas.microsoft.com/office/powerpoint/2010/main" val="747369300"/>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Price Ceiling on Knee Replacement </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61593790"/>
              </p:ext>
            </p:extLst>
          </p:nvPr>
        </p:nvGraphicFramePr>
        <p:xfrm>
          <a:off x="609600" y="1447800"/>
          <a:ext cx="11176000" cy="4434526"/>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1303697324"/>
                    </a:ext>
                  </a:extLst>
                </a:gridCol>
                <a:gridCol w="2794000">
                  <a:extLst>
                    <a:ext uri="{9D8B030D-6E8A-4147-A177-3AD203B41FA5}">
                      <a16:colId xmlns:a16="http://schemas.microsoft.com/office/drawing/2014/main" val="4040143873"/>
                    </a:ext>
                  </a:extLst>
                </a:gridCol>
                <a:gridCol w="2794000">
                  <a:extLst>
                    <a:ext uri="{9D8B030D-6E8A-4147-A177-3AD203B41FA5}">
                      <a16:colId xmlns:a16="http://schemas.microsoft.com/office/drawing/2014/main" val="2404414595"/>
                    </a:ext>
                  </a:extLst>
                </a:gridCol>
                <a:gridCol w="2794000">
                  <a:extLst>
                    <a:ext uri="{9D8B030D-6E8A-4147-A177-3AD203B41FA5}">
                      <a16:colId xmlns:a16="http://schemas.microsoft.com/office/drawing/2014/main" val="2388851512"/>
                    </a:ext>
                  </a:extLst>
                </a:gridCol>
              </a:tblGrid>
              <a:tr h="370840">
                <a:tc>
                  <a:txBody>
                    <a:bodyPr/>
                    <a:lstStyle/>
                    <a:p>
                      <a:r>
                        <a:rPr lang="en-IN" dirty="0" smtClean="0"/>
                        <a:t>Type of Implants for Total Knee Replacement </a:t>
                      </a:r>
                      <a:endParaRPr lang="en-IN" dirty="0"/>
                    </a:p>
                  </a:txBody>
                  <a:tcPr/>
                </a:tc>
                <a:tc>
                  <a:txBody>
                    <a:bodyPr/>
                    <a:lstStyle/>
                    <a:p>
                      <a:r>
                        <a:rPr lang="en-IN" dirty="0" smtClean="0"/>
                        <a:t>Average MRP earlier </a:t>
                      </a:r>
                      <a:endParaRPr lang="en-IN" dirty="0"/>
                    </a:p>
                  </a:txBody>
                  <a:tcPr/>
                </a:tc>
                <a:tc>
                  <a:txBody>
                    <a:bodyPr/>
                    <a:lstStyle/>
                    <a:p>
                      <a:r>
                        <a:rPr lang="en-IN" dirty="0" smtClean="0"/>
                        <a:t>Average Price Reduction </a:t>
                      </a:r>
                      <a:endParaRPr lang="en-IN" dirty="0"/>
                    </a:p>
                  </a:txBody>
                  <a:tcPr/>
                </a:tc>
                <a:tc>
                  <a:txBody>
                    <a:bodyPr/>
                    <a:lstStyle/>
                    <a:p>
                      <a:r>
                        <a:rPr lang="en-IN" dirty="0" smtClean="0"/>
                        <a:t>New Ceiling Price and MRP (</a:t>
                      </a:r>
                      <a:r>
                        <a:rPr lang="en-IN" dirty="0" err="1" smtClean="0"/>
                        <a:t>Rs</a:t>
                      </a:r>
                      <a:r>
                        <a:rPr lang="en-IN" dirty="0" smtClean="0"/>
                        <a:t>)</a:t>
                      </a:r>
                      <a:endParaRPr lang="en-IN" dirty="0"/>
                    </a:p>
                  </a:txBody>
                  <a:tcPr/>
                </a:tc>
                <a:extLst>
                  <a:ext uri="{0D108BD9-81ED-4DB2-BD59-A6C34878D82A}">
                    <a16:rowId xmlns:a16="http://schemas.microsoft.com/office/drawing/2014/main" val="1634458436"/>
                  </a:ext>
                </a:extLst>
              </a:tr>
              <a:tr h="370840">
                <a:tc>
                  <a:txBody>
                    <a:bodyPr/>
                    <a:lstStyle/>
                    <a:p>
                      <a:r>
                        <a:rPr lang="en-IN" dirty="0" smtClean="0"/>
                        <a:t>The Standard and the most widely used complete knee implant (Cobalt, Chromium)</a:t>
                      </a:r>
                      <a:endParaRPr lang="en-IN" dirty="0"/>
                    </a:p>
                  </a:txBody>
                  <a:tcPr/>
                </a:tc>
                <a:tc>
                  <a:txBody>
                    <a:bodyPr/>
                    <a:lstStyle/>
                    <a:p>
                      <a:r>
                        <a:rPr lang="en-IN" dirty="0" smtClean="0"/>
                        <a:t>1,58,324</a:t>
                      </a:r>
                      <a:endParaRPr lang="en-IN" dirty="0"/>
                    </a:p>
                  </a:txBody>
                  <a:tcPr/>
                </a:tc>
                <a:tc>
                  <a:txBody>
                    <a:bodyPr/>
                    <a:lstStyle/>
                    <a:p>
                      <a:r>
                        <a:rPr lang="en-IN" dirty="0" smtClean="0"/>
                        <a:t>65%</a:t>
                      </a:r>
                      <a:endParaRPr lang="en-IN" dirty="0"/>
                    </a:p>
                  </a:txBody>
                  <a:tcPr/>
                </a:tc>
                <a:tc>
                  <a:txBody>
                    <a:bodyPr/>
                    <a:lstStyle/>
                    <a:p>
                      <a:r>
                        <a:rPr lang="en-IN" dirty="0" smtClean="0"/>
                        <a:t>54,720+GST</a:t>
                      </a:r>
                      <a:endParaRPr lang="en-IN" dirty="0"/>
                    </a:p>
                  </a:txBody>
                  <a:tcPr/>
                </a:tc>
                <a:extLst>
                  <a:ext uri="{0D108BD9-81ED-4DB2-BD59-A6C34878D82A}">
                    <a16:rowId xmlns:a16="http://schemas.microsoft.com/office/drawing/2014/main" val="3032526953"/>
                  </a:ext>
                </a:extLst>
              </a:tr>
              <a:tr h="370840">
                <a:tc>
                  <a:txBody>
                    <a:bodyPr/>
                    <a:lstStyle/>
                    <a:p>
                      <a:r>
                        <a:rPr lang="en-IN" dirty="0" smtClean="0"/>
                        <a:t>Special Metal like Titanium and Oxidised Zirconium </a:t>
                      </a:r>
                      <a:endParaRPr lang="en-IN" dirty="0"/>
                    </a:p>
                  </a:txBody>
                  <a:tcPr/>
                </a:tc>
                <a:tc>
                  <a:txBody>
                    <a:bodyPr/>
                    <a:lstStyle/>
                    <a:p>
                      <a:r>
                        <a:rPr lang="en-IN" dirty="0" smtClean="0"/>
                        <a:t>2,49,251</a:t>
                      </a:r>
                      <a:endParaRPr lang="en-IN" dirty="0"/>
                    </a:p>
                  </a:txBody>
                  <a:tcPr/>
                </a:tc>
                <a:tc>
                  <a:txBody>
                    <a:bodyPr/>
                    <a:lstStyle/>
                    <a:p>
                      <a:r>
                        <a:rPr lang="en-IN" dirty="0" smtClean="0"/>
                        <a:t>69%</a:t>
                      </a:r>
                      <a:endParaRPr lang="en-IN" dirty="0"/>
                    </a:p>
                  </a:txBody>
                  <a:tcPr/>
                </a:tc>
                <a:tc>
                  <a:txBody>
                    <a:bodyPr/>
                    <a:lstStyle/>
                    <a:p>
                      <a:r>
                        <a:rPr lang="en-IN" dirty="0" smtClean="0"/>
                        <a:t>76,600+GST</a:t>
                      </a:r>
                      <a:endParaRPr lang="en-IN" dirty="0"/>
                    </a:p>
                  </a:txBody>
                  <a:tcPr/>
                </a:tc>
                <a:extLst>
                  <a:ext uri="{0D108BD9-81ED-4DB2-BD59-A6C34878D82A}">
                    <a16:rowId xmlns:a16="http://schemas.microsoft.com/office/drawing/2014/main" val="1031578535"/>
                  </a:ext>
                </a:extLst>
              </a:tr>
              <a:tr h="370840">
                <a:tc>
                  <a:txBody>
                    <a:bodyPr/>
                    <a:lstStyle/>
                    <a:p>
                      <a:r>
                        <a:rPr lang="en-IN" dirty="0" smtClean="0"/>
                        <a:t>High Flexibility implant </a:t>
                      </a:r>
                      <a:endParaRPr lang="en-IN" dirty="0"/>
                    </a:p>
                  </a:txBody>
                  <a:tcPr/>
                </a:tc>
                <a:tc>
                  <a:txBody>
                    <a:bodyPr/>
                    <a:lstStyle/>
                    <a:p>
                      <a:r>
                        <a:rPr lang="en-IN" dirty="0" smtClean="0"/>
                        <a:t>1,81,728</a:t>
                      </a:r>
                      <a:endParaRPr lang="en-IN" dirty="0"/>
                    </a:p>
                  </a:txBody>
                  <a:tcPr/>
                </a:tc>
                <a:tc>
                  <a:txBody>
                    <a:bodyPr/>
                    <a:lstStyle/>
                    <a:p>
                      <a:r>
                        <a:rPr lang="en-IN" dirty="0" smtClean="0"/>
                        <a:t>69%</a:t>
                      </a:r>
                      <a:endParaRPr lang="en-IN" dirty="0"/>
                    </a:p>
                  </a:txBody>
                  <a:tcPr/>
                </a:tc>
                <a:tc>
                  <a:txBody>
                    <a:bodyPr/>
                    <a:lstStyle/>
                    <a:p>
                      <a:r>
                        <a:rPr lang="en-IN" dirty="0" smtClean="0"/>
                        <a:t>54,490+GST</a:t>
                      </a:r>
                      <a:endParaRPr lang="en-IN" dirty="0"/>
                    </a:p>
                  </a:txBody>
                  <a:tcPr/>
                </a:tc>
                <a:extLst>
                  <a:ext uri="{0D108BD9-81ED-4DB2-BD59-A6C34878D82A}">
                    <a16:rowId xmlns:a16="http://schemas.microsoft.com/office/drawing/2014/main" val="604130174"/>
                  </a:ext>
                </a:extLst>
              </a:tr>
              <a:tr h="1594806">
                <a:tc>
                  <a:txBody>
                    <a:bodyPr/>
                    <a:lstStyle/>
                    <a:p>
                      <a:r>
                        <a:rPr lang="en-IN" dirty="0" smtClean="0"/>
                        <a:t>Revision implants for Second surgery </a:t>
                      </a:r>
                      <a:endParaRPr lang="en-IN" dirty="0"/>
                    </a:p>
                  </a:txBody>
                  <a:tcPr/>
                </a:tc>
                <a:tc>
                  <a:txBody>
                    <a:bodyPr/>
                    <a:lstStyle/>
                    <a:p>
                      <a:r>
                        <a:rPr lang="en-IN" dirty="0" smtClean="0"/>
                        <a:t>2,76,869</a:t>
                      </a:r>
                      <a:endParaRPr lang="en-IN" dirty="0"/>
                    </a:p>
                  </a:txBody>
                  <a:tcPr/>
                </a:tc>
                <a:tc>
                  <a:txBody>
                    <a:bodyPr/>
                    <a:lstStyle/>
                    <a:p>
                      <a:r>
                        <a:rPr lang="en-IN" dirty="0" smtClean="0"/>
                        <a:t>59%</a:t>
                      </a:r>
                      <a:endParaRPr lang="en-IN" dirty="0"/>
                    </a:p>
                  </a:txBody>
                  <a:tcPr/>
                </a:tc>
                <a:tc>
                  <a:txBody>
                    <a:bodyPr/>
                    <a:lstStyle/>
                    <a:p>
                      <a:r>
                        <a:rPr lang="en-IN" dirty="0" smtClean="0"/>
                        <a:t>1,13,950+GST</a:t>
                      </a:r>
                      <a:endParaRPr lang="en-IN" dirty="0"/>
                    </a:p>
                  </a:txBody>
                  <a:tcPr/>
                </a:tc>
                <a:extLst>
                  <a:ext uri="{0D108BD9-81ED-4DB2-BD59-A6C34878D82A}">
                    <a16:rowId xmlns:a16="http://schemas.microsoft.com/office/drawing/2014/main" val="2299937453"/>
                  </a:ext>
                </a:extLst>
              </a:tr>
            </a:tbl>
          </a:graphicData>
        </a:graphic>
      </p:graphicFrame>
    </p:spTree>
    <p:extLst>
      <p:ext uri="{BB962C8B-B14F-4D97-AF65-F5344CB8AC3E}">
        <p14:creationId xmlns:p14="http://schemas.microsoft.com/office/powerpoint/2010/main" val="2121688967"/>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NPPA 2022</a:t>
            </a:r>
            <a:endParaRPr lang="en-IN" dirty="0"/>
          </a:p>
        </p:txBody>
      </p:sp>
      <p:sp>
        <p:nvSpPr>
          <p:cNvPr id="3" name="Content Placeholder 2"/>
          <p:cNvSpPr>
            <a:spLocks noGrp="1"/>
          </p:cNvSpPr>
          <p:nvPr>
            <p:ph idx="1"/>
          </p:nvPr>
        </p:nvSpPr>
        <p:spPr/>
        <p:txBody>
          <a:bodyPr/>
          <a:lstStyle/>
          <a:p>
            <a:pPr algn="just"/>
            <a:r>
              <a:rPr lang="en-US" sz="2400" dirty="0"/>
              <a:t>The National Pharmaceutical Pricing Authority (NPPA) on 15th September 2022, extended the ceiling price it imposed on </a:t>
            </a:r>
            <a:r>
              <a:rPr lang="en-US" sz="2400" dirty="0" err="1"/>
              <a:t>orthopaedic</a:t>
            </a:r>
            <a:r>
              <a:rPr lang="en-US" sz="2400" dirty="0"/>
              <a:t> knee implants for knee replacement system in August, 2017, to one more year from September 16, 2022.</a:t>
            </a:r>
          </a:p>
          <a:p>
            <a:pPr algn="just"/>
            <a:r>
              <a:rPr lang="en-US" sz="2400" dirty="0" smtClean="0"/>
              <a:t>NPPA </a:t>
            </a:r>
            <a:r>
              <a:rPr lang="en-US" sz="2400" dirty="0"/>
              <a:t>earlier in 2017 had fixed the ceiling price of </a:t>
            </a:r>
            <a:r>
              <a:rPr lang="en-US" sz="2400" dirty="0" err="1"/>
              <a:t>orthopaedic</a:t>
            </a:r>
            <a:r>
              <a:rPr lang="en-US" sz="2400" dirty="0"/>
              <a:t> knee implants for a period of one year. This was extended for further one year in 13th August 2018 and then on 15th August 2019. The above period ended on 15th August 2020 and the ceiling prices for knee implants for knee replacement system was due for review by 15-Aug-2021 and it was extended till 15th September 2022 which is now being extended for another one year.</a:t>
            </a:r>
          </a:p>
          <a:p>
            <a:pPr algn="just"/>
            <a:r>
              <a:rPr lang="en-US" sz="2400" dirty="0" smtClean="0"/>
              <a:t>All </a:t>
            </a:r>
            <a:r>
              <a:rPr lang="en-US" sz="2400" dirty="0"/>
              <a:t>manufacturers of knee Implants, selling branded or non-branded or both versions of implants at prices higher than the ceiling price (plus goods and services tax as applicable) so fixed and notified by the Government, shall revise the price of all such implants downward not exceeding the ceiling price specified in its earlier notification.</a:t>
            </a:r>
            <a:endParaRPr lang="en-IN" sz="2400" dirty="0"/>
          </a:p>
        </p:txBody>
      </p:sp>
    </p:spTree>
    <p:extLst>
      <p:ext uri="{BB962C8B-B14F-4D97-AF65-F5344CB8AC3E}">
        <p14:creationId xmlns:p14="http://schemas.microsoft.com/office/powerpoint/2010/main" val="439686769"/>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Indian Steel Industry</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56161514"/>
              </p:ext>
            </p:extLst>
          </p:nvPr>
        </p:nvGraphicFramePr>
        <p:xfrm>
          <a:off x="609600" y="1447800"/>
          <a:ext cx="11176000" cy="5194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479258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2146"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02147"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3 A Market with a Price Floor</a:t>
            </a:r>
          </a:p>
        </p:txBody>
      </p:sp>
      <p:sp>
        <p:nvSpPr>
          <p:cNvPr id="902148"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02149" name="Rectangle 5"/>
          <p:cNvSpPr>
            <a:spLocks noChangeArrowheads="1"/>
          </p:cNvSpPr>
          <p:nvPr/>
        </p:nvSpPr>
        <p:spPr bwMode="auto">
          <a:xfrm>
            <a:off x="3895726" y="1782763"/>
            <a:ext cx="4900613" cy="3992562"/>
          </a:xfrm>
          <a:prstGeom prst="rect">
            <a:avLst/>
          </a:prstGeom>
          <a:solidFill>
            <a:srgbClr val="F3F6F9"/>
          </a:solidFill>
          <a:ln w="227013">
            <a:solidFill>
              <a:srgbClr val="F3F6F9"/>
            </a:solidFill>
            <a:miter lim="800000"/>
            <a:headEnd/>
            <a:tailEnd/>
          </a:ln>
        </p:spPr>
        <p:txBody>
          <a:bodyPr/>
          <a:lstStyle/>
          <a:p>
            <a:endParaRPr lang="en-IN"/>
          </a:p>
        </p:txBody>
      </p:sp>
      <p:sp>
        <p:nvSpPr>
          <p:cNvPr id="902150" name="Rectangle 6"/>
          <p:cNvSpPr>
            <a:spLocks noChangeArrowheads="1"/>
          </p:cNvSpPr>
          <p:nvPr/>
        </p:nvSpPr>
        <p:spPr bwMode="auto">
          <a:xfrm>
            <a:off x="3895726" y="1782763"/>
            <a:ext cx="4900613" cy="3992562"/>
          </a:xfrm>
          <a:prstGeom prst="rect">
            <a:avLst/>
          </a:prstGeom>
          <a:solidFill>
            <a:srgbClr val="F2F4F8"/>
          </a:solidFill>
          <a:ln w="206375">
            <a:solidFill>
              <a:srgbClr val="F2F4F8"/>
            </a:solidFill>
            <a:miter lim="800000"/>
            <a:headEnd/>
            <a:tailEnd/>
          </a:ln>
        </p:spPr>
        <p:txBody>
          <a:bodyPr/>
          <a:lstStyle/>
          <a:p>
            <a:endParaRPr lang="en-IN"/>
          </a:p>
        </p:txBody>
      </p:sp>
      <p:sp>
        <p:nvSpPr>
          <p:cNvPr id="902151" name="Rectangle 7"/>
          <p:cNvSpPr>
            <a:spLocks noChangeArrowheads="1"/>
          </p:cNvSpPr>
          <p:nvPr/>
        </p:nvSpPr>
        <p:spPr bwMode="auto">
          <a:xfrm>
            <a:off x="3895726" y="1782763"/>
            <a:ext cx="4900613" cy="3992562"/>
          </a:xfrm>
          <a:prstGeom prst="rect">
            <a:avLst/>
          </a:prstGeom>
          <a:solidFill>
            <a:srgbClr val="F1F4F7"/>
          </a:solidFill>
          <a:ln w="185738">
            <a:solidFill>
              <a:srgbClr val="F1F4F7"/>
            </a:solidFill>
            <a:miter lim="800000"/>
            <a:headEnd/>
            <a:tailEnd/>
          </a:ln>
        </p:spPr>
        <p:txBody>
          <a:bodyPr/>
          <a:lstStyle/>
          <a:p>
            <a:endParaRPr lang="en-IN"/>
          </a:p>
        </p:txBody>
      </p:sp>
      <p:sp>
        <p:nvSpPr>
          <p:cNvPr id="902152" name="Rectangle 8"/>
          <p:cNvSpPr>
            <a:spLocks noChangeArrowheads="1"/>
          </p:cNvSpPr>
          <p:nvPr/>
        </p:nvSpPr>
        <p:spPr bwMode="auto">
          <a:xfrm>
            <a:off x="3895726" y="1782763"/>
            <a:ext cx="4900613" cy="3992562"/>
          </a:xfrm>
          <a:prstGeom prst="rect">
            <a:avLst/>
          </a:prstGeom>
          <a:solidFill>
            <a:srgbClr val="F0F2F5"/>
          </a:solidFill>
          <a:ln w="165100">
            <a:solidFill>
              <a:srgbClr val="F0F2F5"/>
            </a:solidFill>
            <a:miter lim="800000"/>
            <a:headEnd/>
            <a:tailEnd/>
          </a:ln>
        </p:spPr>
        <p:txBody>
          <a:bodyPr/>
          <a:lstStyle/>
          <a:p>
            <a:endParaRPr lang="en-IN"/>
          </a:p>
        </p:txBody>
      </p:sp>
      <p:sp>
        <p:nvSpPr>
          <p:cNvPr id="902153" name="Rectangle 9"/>
          <p:cNvSpPr>
            <a:spLocks noChangeArrowheads="1"/>
          </p:cNvSpPr>
          <p:nvPr/>
        </p:nvSpPr>
        <p:spPr bwMode="auto">
          <a:xfrm>
            <a:off x="3895726" y="1782763"/>
            <a:ext cx="4900613" cy="3992562"/>
          </a:xfrm>
          <a:prstGeom prst="rect">
            <a:avLst/>
          </a:prstGeom>
          <a:solidFill>
            <a:srgbClr val="EEF1F4"/>
          </a:solidFill>
          <a:ln w="144463">
            <a:solidFill>
              <a:srgbClr val="EEF1F4"/>
            </a:solidFill>
            <a:miter lim="800000"/>
            <a:headEnd/>
            <a:tailEnd/>
          </a:ln>
        </p:spPr>
        <p:txBody>
          <a:bodyPr/>
          <a:lstStyle/>
          <a:p>
            <a:endParaRPr lang="en-IN"/>
          </a:p>
        </p:txBody>
      </p:sp>
      <p:sp>
        <p:nvSpPr>
          <p:cNvPr id="902154" name="Rectangle 10"/>
          <p:cNvSpPr>
            <a:spLocks noChangeArrowheads="1"/>
          </p:cNvSpPr>
          <p:nvPr/>
        </p:nvSpPr>
        <p:spPr bwMode="auto">
          <a:xfrm>
            <a:off x="3895726" y="1782763"/>
            <a:ext cx="4900613" cy="3992562"/>
          </a:xfrm>
          <a:prstGeom prst="rect">
            <a:avLst/>
          </a:prstGeom>
          <a:solidFill>
            <a:srgbClr val="EDEFF3"/>
          </a:solidFill>
          <a:ln w="123825">
            <a:solidFill>
              <a:srgbClr val="EDEFF3"/>
            </a:solidFill>
            <a:miter lim="800000"/>
            <a:headEnd/>
            <a:tailEnd/>
          </a:ln>
        </p:spPr>
        <p:txBody>
          <a:bodyPr/>
          <a:lstStyle/>
          <a:p>
            <a:endParaRPr lang="en-IN"/>
          </a:p>
        </p:txBody>
      </p:sp>
      <p:sp>
        <p:nvSpPr>
          <p:cNvPr id="902155" name="Rectangle 11"/>
          <p:cNvSpPr>
            <a:spLocks noChangeArrowheads="1"/>
          </p:cNvSpPr>
          <p:nvPr/>
        </p:nvSpPr>
        <p:spPr bwMode="auto">
          <a:xfrm>
            <a:off x="3895726" y="1782763"/>
            <a:ext cx="4900613" cy="3992562"/>
          </a:xfrm>
          <a:prstGeom prst="rect">
            <a:avLst/>
          </a:prstGeom>
          <a:solidFill>
            <a:srgbClr val="EBEEF2"/>
          </a:solidFill>
          <a:ln w="103188">
            <a:solidFill>
              <a:srgbClr val="EBEEF2"/>
            </a:solidFill>
            <a:miter lim="800000"/>
            <a:headEnd/>
            <a:tailEnd/>
          </a:ln>
        </p:spPr>
        <p:txBody>
          <a:bodyPr/>
          <a:lstStyle/>
          <a:p>
            <a:endParaRPr lang="en-IN"/>
          </a:p>
        </p:txBody>
      </p:sp>
      <p:sp>
        <p:nvSpPr>
          <p:cNvPr id="902156" name="Rectangle 12"/>
          <p:cNvSpPr>
            <a:spLocks noChangeArrowheads="1"/>
          </p:cNvSpPr>
          <p:nvPr/>
        </p:nvSpPr>
        <p:spPr bwMode="auto">
          <a:xfrm>
            <a:off x="3895726" y="1782763"/>
            <a:ext cx="4900613" cy="3992562"/>
          </a:xfrm>
          <a:prstGeom prst="rect">
            <a:avLst/>
          </a:prstGeom>
          <a:solidFill>
            <a:srgbClr val="EAECF1"/>
          </a:solidFill>
          <a:ln w="82550">
            <a:solidFill>
              <a:srgbClr val="EAECF1"/>
            </a:solidFill>
            <a:miter lim="800000"/>
            <a:headEnd/>
            <a:tailEnd/>
          </a:ln>
        </p:spPr>
        <p:txBody>
          <a:bodyPr/>
          <a:lstStyle/>
          <a:p>
            <a:endParaRPr lang="en-IN"/>
          </a:p>
        </p:txBody>
      </p:sp>
      <p:sp>
        <p:nvSpPr>
          <p:cNvPr id="902157" name="Rectangle 13"/>
          <p:cNvSpPr>
            <a:spLocks noChangeArrowheads="1"/>
          </p:cNvSpPr>
          <p:nvPr/>
        </p:nvSpPr>
        <p:spPr bwMode="auto">
          <a:xfrm>
            <a:off x="3895726" y="1782763"/>
            <a:ext cx="4900613" cy="3992562"/>
          </a:xfrm>
          <a:prstGeom prst="rect">
            <a:avLst/>
          </a:prstGeom>
          <a:solidFill>
            <a:srgbClr val="E9EBF0"/>
          </a:solidFill>
          <a:ln w="61913">
            <a:solidFill>
              <a:srgbClr val="E9EBF0"/>
            </a:solidFill>
            <a:miter lim="800000"/>
            <a:headEnd/>
            <a:tailEnd/>
          </a:ln>
        </p:spPr>
        <p:txBody>
          <a:bodyPr/>
          <a:lstStyle/>
          <a:p>
            <a:endParaRPr lang="en-IN"/>
          </a:p>
        </p:txBody>
      </p:sp>
      <p:sp>
        <p:nvSpPr>
          <p:cNvPr id="902158" name="Rectangle 14"/>
          <p:cNvSpPr>
            <a:spLocks noChangeArrowheads="1"/>
          </p:cNvSpPr>
          <p:nvPr/>
        </p:nvSpPr>
        <p:spPr bwMode="auto">
          <a:xfrm>
            <a:off x="3895726" y="1782763"/>
            <a:ext cx="4900613" cy="3992562"/>
          </a:xfrm>
          <a:prstGeom prst="rect">
            <a:avLst/>
          </a:prstGeom>
          <a:solidFill>
            <a:srgbClr val="E7EAEF"/>
          </a:solidFill>
          <a:ln w="41275">
            <a:solidFill>
              <a:srgbClr val="E7EAEF"/>
            </a:solidFill>
            <a:miter lim="800000"/>
            <a:headEnd/>
            <a:tailEnd/>
          </a:ln>
        </p:spPr>
        <p:txBody>
          <a:bodyPr/>
          <a:lstStyle/>
          <a:p>
            <a:endParaRPr lang="en-IN"/>
          </a:p>
        </p:txBody>
      </p:sp>
      <p:sp>
        <p:nvSpPr>
          <p:cNvPr id="902159" name="Rectangle 15"/>
          <p:cNvSpPr>
            <a:spLocks noChangeArrowheads="1"/>
          </p:cNvSpPr>
          <p:nvPr/>
        </p:nvSpPr>
        <p:spPr bwMode="auto">
          <a:xfrm>
            <a:off x="3895726" y="1782763"/>
            <a:ext cx="4900613" cy="3992562"/>
          </a:xfrm>
          <a:prstGeom prst="rect">
            <a:avLst/>
          </a:prstGeom>
          <a:solidFill>
            <a:srgbClr val="E6E9EF"/>
          </a:solidFill>
          <a:ln w="20638">
            <a:solidFill>
              <a:srgbClr val="E6E9EF"/>
            </a:solidFill>
            <a:miter lim="800000"/>
            <a:headEnd/>
            <a:tailEnd/>
          </a:ln>
        </p:spPr>
        <p:txBody>
          <a:bodyPr/>
          <a:lstStyle/>
          <a:p>
            <a:endParaRPr lang="en-IN"/>
          </a:p>
        </p:txBody>
      </p:sp>
      <p:sp>
        <p:nvSpPr>
          <p:cNvPr id="902160" name="Rectangle 16"/>
          <p:cNvSpPr>
            <a:spLocks noChangeArrowheads="1"/>
          </p:cNvSpPr>
          <p:nvPr/>
        </p:nvSpPr>
        <p:spPr bwMode="auto">
          <a:xfrm>
            <a:off x="3792538" y="1679575"/>
            <a:ext cx="4900612" cy="4014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02161" name="Rectangle 17"/>
          <p:cNvSpPr>
            <a:spLocks noChangeArrowheads="1"/>
          </p:cNvSpPr>
          <p:nvPr/>
        </p:nvSpPr>
        <p:spPr bwMode="auto">
          <a:xfrm>
            <a:off x="4279901" y="1141413"/>
            <a:ext cx="344979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(a) A Price Floor That Is Not Binding</a:t>
            </a:r>
            <a:endParaRPr lang="en-US" altLang="en-US" sz="2400">
              <a:latin typeface="Times New Roman" panose="02020603050405020304" pitchFamily="18" charset="0"/>
            </a:endParaRPr>
          </a:p>
        </p:txBody>
      </p:sp>
      <p:sp>
        <p:nvSpPr>
          <p:cNvPr id="902162" name="Rectangle 18"/>
          <p:cNvSpPr>
            <a:spLocks noChangeArrowheads="1"/>
          </p:cNvSpPr>
          <p:nvPr/>
        </p:nvSpPr>
        <p:spPr bwMode="auto">
          <a:xfrm>
            <a:off x="7524751" y="5753100"/>
            <a:ext cx="107240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endParaRPr lang="en-US" altLang="en-US" sz="2400">
              <a:latin typeface="Times New Roman" panose="02020603050405020304" pitchFamily="18" charset="0"/>
            </a:endParaRPr>
          </a:p>
        </p:txBody>
      </p:sp>
      <p:sp>
        <p:nvSpPr>
          <p:cNvPr id="902163" name="Rectangle 19"/>
          <p:cNvSpPr>
            <a:spLocks noChangeArrowheads="1"/>
          </p:cNvSpPr>
          <p:nvPr/>
        </p:nvSpPr>
        <p:spPr bwMode="auto">
          <a:xfrm>
            <a:off x="7627939" y="6027738"/>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902164" name="Rectangle 20"/>
          <p:cNvSpPr>
            <a:spLocks noChangeArrowheads="1"/>
          </p:cNvSpPr>
          <p:nvPr/>
        </p:nvSpPr>
        <p:spPr bwMode="auto">
          <a:xfrm>
            <a:off x="8012114" y="6302375"/>
            <a:ext cx="56906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Cones</a:t>
            </a:r>
            <a:endParaRPr lang="en-US" altLang="en-US" sz="2400">
              <a:latin typeface="Times New Roman" panose="02020603050405020304" pitchFamily="18" charset="0"/>
            </a:endParaRPr>
          </a:p>
        </p:txBody>
      </p:sp>
      <p:sp>
        <p:nvSpPr>
          <p:cNvPr id="902165" name="Rectangle 21"/>
          <p:cNvSpPr>
            <a:spLocks noChangeArrowheads="1"/>
          </p:cNvSpPr>
          <p:nvPr/>
        </p:nvSpPr>
        <p:spPr bwMode="auto">
          <a:xfrm>
            <a:off x="3565525" y="5759450"/>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sp>
        <p:nvSpPr>
          <p:cNvPr id="902166" name="Rectangle 22"/>
          <p:cNvSpPr>
            <a:spLocks noChangeArrowheads="1"/>
          </p:cNvSpPr>
          <p:nvPr/>
        </p:nvSpPr>
        <p:spPr bwMode="auto">
          <a:xfrm>
            <a:off x="2884489" y="1628775"/>
            <a:ext cx="718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Price of</a:t>
            </a:r>
            <a:endParaRPr lang="en-US" altLang="en-US" sz="2400">
              <a:latin typeface="Times New Roman" panose="02020603050405020304" pitchFamily="18" charset="0"/>
            </a:endParaRPr>
          </a:p>
        </p:txBody>
      </p:sp>
      <p:sp>
        <p:nvSpPr>
          <p:cNvPr id="902167" name="Rectangle 23"/>
          <p:cNvSpPr>
            <a:spLocks noChangeArrowheads="1"/>
          </p:cNvSpPr>
          <p:nvPr/>
        </p:nvSpPr>
        <p:spPr bwMode="auto">
          <a:xfrm>
            <a:off x="2624139" y="1903413"/>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902168" name="Rectangle 24"/>
          <p:cNvSpPr>
            <a:spLocks noChangeArrowheads="1"/>
          </p:cNvSpPr>
          <p:nvPr/>
        </p:nvSpPr>
        <p:spPr bwMode="auto">
          <a:xfrm>
            <a:off x="3138489" y="2179638"/>
            <a:ext cx="4841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a:t>
            </a:r>
            <a:endParaRPr lang="en-US" altLang="en-US" sz="2400">
              <a:latin typeface="Times New Roman" panose="02020603050405020304" pitchFamily="18" charset="0"/>
            </a:endParaRPr>
          </a:p>
        </p:txBody>
      </p:sp>
      <p:grpSp>
        <p:nvGrpSpPr>
          <p:cNvPr id="902169" name="Group 25"/>
          <p:cNvGrpSpPr>
            <a:grpSpLocks/>
          </p:cNvGrpSpPr>
          <p:nvPr/>
        </p:nvGrpSpPr>
        <p:grpSpPr bwMode="auto">
          <a:xfrm>
            <a:off x="5970590" y="6089651"/>
            <a:ext cx="1054100" cy="536575"/>
            <a:chOff x="2801" y="3836"/>
            <a:chExt cx="664" cy="338"/>
          </a:xfrm>
        </p:grpSpPr>
        <p:sp>
          <p:nvSpPr>
            <p:cNvPr id="902170" name="Rectangle 26"/>
            <p:cNvSpPr>
              <a:spLocks noChangeArrowheads="1"/>
            </p:cNvSpPr>
            <p:nvPr/>
          </p:nvSpPr>
          <p:spPr bwMode="auto">
            <a:xfrm>
              <a:off x="2801" y="3836"/>
              <a:ext cx="6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Equilibrium</a:t>
              </a:r>
              <a:endParaRPr lang="en-US" altLang="en-US" sz="2400">
                <a:latin typeface="Times New Roman" panose="02020603050405020304" pitchFamily="18" charset="0"/>
              </a:endParaRPr>
            </a:p>
          </p:txBody>
        </p:sp>
        <p:sp>
          <p:nvSpPr>
            <p:cNvPr id="902171" name="Rectangle 27"/>
            <p:cNvSpPr>
              <a:spLocks noChangeArrowheads="1"/>
            </p:cNvSpPr>
            <p:nvPr/>
          </p:nvSpPr>
          <p:spPr bwMode="auto">
            <a:xfrm>
              <a:off x="2901" y="4009"/>
              <a:ext cx="45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quantity</a:t>
              </a:r>
              <a:endParaRPr lang="en-US" altLang="en-US" sz="2400">
                <a:latin typeface="Times New Roman" panose="02020603050405020304" pitchFamily="18" charset="0"/>
              </a:endParaRPr>
            </a:p>
          </p:txBody>
        </p:sp>
      </p:grpSp>
      <p:grpSp>
        <p:nvGrpSpPr>
          <p:cNvPr id="902172" name="Group 28"/>
          <p:cNvGrpSpPr>
            <a:grpSpLocks/>
          </p:cNvGrpSpPr>
          <p:nvPr/>
        </p:nvGrpSpPr>
        <p:grpSpPr bwMode="auto">
          <a:xfrm>
            <a:off x="3565526" y="3856038"/>
            <a:ext cx="4822825" cy="722312"/>
            <a:chOff x="1286" y="2429"/>
            <a:chExt cx="3038" cy="455"/>
          </a:xfrm>
        </p:grpSpPr>
        <p:sp>
          <p:nvSpPr>
            <p:cNvPr id="902173" name="Line 29"/>
            <p:cNvSpPr>
              <a:spLocks noChangeShapeType="1"/>
            </p:cNvSpPr>
            <p:nvPr/>
          </p:nvSpPr>
          <p:spPr bwMode="auto">
            <a:xfrm flipH="1">
              <a:off x="1429" y="2796"/>
              <a:ext cx="2880" cy="1"/>
            </a:xfrm>
            <a:prstGeom prst="line">
              <a:avLst/>
            </a:prstGeom>
            <a:noFill/>
            <a:ln w="61913">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2174" name="Rectangle 30"/>
            <p:cNvSpPr>
              <a:spLocks noChangeArrowheads="1"/>
            </p:cNvSpPr>
            <p:nvPr/>
          </p:nvSpPr>
          <p:spPr bwMode="auto">
            <a:xfrm>
              <a:off x="1286" y="2719"/>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2</a:t>
              </a:r>
              <a:endParaRPr lang="en-US" altLang="en-US" sz="2400">
                <a:latin typeface="Times New Roman" panose="02020603050405020304" pitchFamily="18" charset="0"/>
              </a:endParaRPr>
            </a:p>
          </p:txBody>
        </p:sp>
        <p:sp>
          <p:nvSpPr>
            <p:cNvPr id="902175" name="Rectangle 31"/>
            <p:cNvSpPr>
              <a:spLocks noChangeArrowheads="1"/>
            </p:cNvSpPr>
            <p:nvPr/>
          </p:nvSpPr>
          <p:spPr bwMode="auto">
            <a:xfrm>
              <a:off x="4035" y="2429"/>
              <a:ext cx="28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sp>
          <p:nvSpPr>
            <p:cNvPr id="902176" name="Rectangle 32"/>
            <p:cNvSpPr>
              <a:spLocks noChangeArrowheads="1"/>
            </p:cNvSpPr>
            <p:nvPr/>
          </p:nvSpPr>
          <p:spPr bwMode="auto">
            <a:xfrm>
              <a:off x="4057" y="2602"/>
              <a:ext cx="26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floor</a:t>
              </a:r>
              <a:endParaRPr lang="en-US" altLang="en-US" sz="2400">
                <a:latin typeface="Times New Roman" panose="02020603050405020304" pitchFamily="18" charset="0"/>
              </a:endParaRPr>
            </a:p>
          </p:txBody>
        </p:sp>
      </p:grpSp>
      <p:grpSp>
        <p:nvGrpSpPr>
          <p:cNvPr id="902177" name="Group 33"/>
          <p:cNvGrpSpPr>
            <a:grpSpLocks/>
          </p:cNvGrpSpPr>
          <p:nvPr/>
        </p:nvGrpSpPr>
        <p:grpSpPr bwMode="auto">
          <a:xfrm>
            <a:off x="2609849" y="2790825"/>
            <a:ext cx="1054100" cy="865188"/>
            <a:chOff x="684" y="1758"/>
            <a:chExt cx="664" cy="545"/>
          </a:xfrm>
        </p:grpSpPr>
        <p:sp>
          <p:nvSpPr>
            <p:cNvPr id="902178" name="Line 34"/>
            <p:cNvSpPr>
              <a:spLocks noChangeShapeType="1"/>
            </p:cNvSpPr>
            <p:nvPr/>
          </p:nvSpPr>
          <p:spPr bwMode="auto">
            <a:xfrm>
              <a:off x="1040" y="2082"/>
              <a:ext cx="181" cy="22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2179" name="Rectangle 35"/>
            <p:cNvSpPr>
              <a:spLocks noChangeArrowheads="1"/>
            </p:cNvSpPr>
            <p:nvPr/>
          </p:nvSpPr>
          <p:spPr bwMode="auto">
            <a:xfrm>
              <a:off x="684" y="1758"/>
              <a:ext cx="6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Equilibrium</a:t>
              </a:r>
              <a:endParaRPr lang="en-US" altLang="en-US" sz="2400">
                <a:latin typeface="Times New Roman" panose="02020603050405020304" pitchFamily="18" charset="0"/>
              </a:endParaRPr>
            </a:p>
          </p:txBody>
        </p:sp>
        <p:sp>
          <p:nvSpPr>
            <p:cNvPr id="902180" name="Rectangle 36"/>
            <p:cNvSpPr>
              <a:spLocks noChangeArrowheads="1"/>
            </p:cNvSpPr>
            <p:nvPr/>
          </p:nvSpPr>
          <p:spPr bwMode="auto">
            <a:xfrm>
              <a:off x="879" y="1931"/>
              <a:ext cx="2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grpSp>
      <p:grpSp>
        <p:nvGrpSpPr>
          <p:cNvPr id="902181" name="Group 37"/>
          <p:cNvGrpSpPr>
            <a:grpSpLocks/>
          </p:cNvGrpSpPr>
          <p:nvPr/>
        </p:nvGrpSpPr>
        <p:grpSpPr bwMode="auto">
          <a:xfrm>
            <a:off x="5316539" y="2420939"/>
            <a:ext cx="3246438" cy="3005137"/>
            <a:chOff x="2389" y="1525"/>
            <a:chExt cx="2045" cy="1893"/>
          </a:xfrm>
        </p:grpSpPr>
        <p:sp>
          <p:nvSpPr>
            <p:cNvPr id="902182" name="Line 38"/>
            <p:cNvSpPr>
              <a:spLocks noChangeShapeType="1"/>
            </p:cNvSpPr>
            <p:nvPr/>
          </p:nvSpPr>
          <p:spPr bwMode="auto">
            <a:xfrm>
              <a:off x="2389" y="1525"/>
              <a:ext cx="1621" cy="1893"/>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2183" name="Rectangle 39"/>
            <p:cNvSpPr>
              <a:spLocks noChangeArrowheads="1"/>
            </p:cNvSpPr>
            <p:nvPr/>
          </p:nvSpPr>
          <p:spPr bwMode="auto">
            <a:xfrm>
              <a:off x="3970" y="3190"/>
              <a:ext cx="4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902184" name="Group 40"/>
          <p:cNvGrpSpPr>
            <a:grpSpLocks/>
          </p:cNvGrpSpPr>
          <p:nvPr/>
        </p:nvGrpSpPr>
        <p:grpSpPr bwMode="auto">
          <a:xfrm>
            <a:off x="5130800" y="2103438"/>
            <a:ext cx="2943225" cy="3302000"/>
            <a:chOff x="2272" y="1325"/>
            <a:chExt cx="1854" cy="2080"/>
          </a:xfrm>
        </p:grpSpPr>
        <p:sp>
          <p:nvSpPr>
            <p:cNvPr id="902185" name="Line 41"/>
            <p:cNvSpPr>
              <a:spLocks noChangeShapeType="1"/>
            </p:cNvSpPr>
            <p:nvPr/>
          </p:nvSpPr>
          <p:spPr bwMode="auto">
            <a:xfrm flipV="1">
              <a:off x="2272" y="1512"/>
              <a:ext cx="1648" cy="1893"/>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2186" name="Rectangle 42"/>
            <p:cNvSpPr>
              <a:spLocks noChangeArrowheads="1"/>
            </p:cNvSpPr>
            <p:nvPr/>
          </p:nvSpPr>
          <p:spPr bwMode="auto">
            <a:xfrm>
              <a:off x="3736" y="1325"/>
              <a:ext cx="3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02187" name="Group 43"/>
          <p:cNvGrpSpPr>
            <a:grpSpLocks/>
          </p:cNvGrpSpPr>
          <p:nvPr/>
        </p:nvGrpSpPr>
        <p:grpSpPr bwMode="auto">
          <a:xfrm>
            <a:off x="3441700" y="3703638"/>
            <a:ext cx="3213100" cy="2317750"/>
            <a:chOff x="1208" y="2333"/>
            <a:chExt cx="2024" cy="1460"/>
          </a:xfrm>
        </p:grpSpPr>
        <p:grpSp>
          <p:nvGrpSpPr>
            <p:cNvPr id="902188" name="Group 44"/>
            <p:cNvGrpSpPr>
              <a:grpSpLocks/>
            </p:cNvGrpSpPr>
            <p:nvPr/>
          </p:nvGrpSpPr>
          <p:grpSpPr bwMode="auto">
            <a:xfrm>
              <a:off x="1429" y="2355"/>
              <a:ext cx="1764" cy="1219"/>
              <a:chOff x="1429" y="2355"/>
              <a:chExt cx="1764" cy="1219"/>
            </a:xfrm>
          </p:grpSpPr>
          <p:sp>
            <p:nvSpPr>
              <p:cNvPr id="902189" name="Freeform 45"/>
              <p:cNvSpPr>
                <a:spLocks/>
              </p:cNvSpPr>
              <p:nvPr/>
            </p:nvSpPr>
            <p:spPr bwMode="auto">
              <a:xfrm>
                <a:off x="1429" y="2407"/>
                <a:ext cx="1712" cy="1167"/>
              </a:xfrm>
              <a:custGeom>
                <a:avLst/>
                <a:gdLst>
                  <a:gd name="T0" fmla="*/ 1712 w 1712"/>
                  <a:gd name="T1" fmla="*/ 1167 h 1167"/>
                  <a:gd name="T2" fmla="*/ 1712 w 1712"/>
                  <a:gd name="T3" fmla="*/ 0 h 1167"/>
                  <a:gd name="T4" fmla="*/ 0 w 1712"/>
                  <a:gd name="T5" fmla="*/ 0 h 1167"/>
                </a:gdLst>
                <a:ahLst/>
                <a:cxnLst>
                  <a:cxn ang="0">
                    <a:pos x="T0" y="T1"/>
                  </a:cxn>
                  <a:cxn ang="0">
                    <a:pos x="T2" y="T3"/>
                  </a:cxn>
                  <a:cxn ang="0">
                    <a:pos x="T4" y="T5"/>
                  </a:cxn>
                </a:cxnLst>
                <a:rect l="0" t="0" r="r" b="b"/>
                <a:pathLst>
                  <a:path w="1712" h="1167">
                    <a:moveTo>
                      <a:pt x="1712" y="1167"/>
                    </a:moveTo>
                    <a:lnTo>
                      <a:pt x="1712" y="0"/>
                    </a:lnTo>
                    <a:lnTo>
                      <a:pt x="0" y="0"/>
                    </a:lnTo>
                  </a:path>
                </a:pathLst>
              </a:custGeom>
              <a:noFill/>
              <a:ln w="20638" cap="flat">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2190" name="Oval 46"/>
              <p:cNvSpPr>
                <a:spLocks noChangeArrowheads="1"/>
              </p:cNvSpPr>
              <p:nvPr/>
            </p:nvSpPr>
            <p:spPr bwMode="auto">
              <a:xfrm>
                <a:off x="3102" y="2355"/>
                <a:ext cx="91" cy="9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902191" name="Rectangle 47"/>
            <p:cNvSpPr>
              <a:spLocks noChangeArrowheads="1"/>
            </p:cNvSpPr>
            <p:nvPr/>
          </p:nvSpPr>
          <p:spPr bwMode="auto">
            <a:xfrm>
              <a:off x="1208" y="2333"/>
              <a:ext cx="13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700">
                  <a:solidFill>
                    <a:srgbClr val="000000"/>
                  </a:solidFill>
                </a:rPr>
                <a:t>€</a:t>
              </a:r>
              <a:r>
                <a:rPr lang="en-US" altLang="en-US" sz="1700">
                  <a:solidFill>
                    <a:srgbClr val="000000"/>
                  </a:solidFill>
                </a:rPr>
                <a:t>3</a:t>
              </a:r>
            </a:p>
          </p:txBody>
        </p:sp>
        <p:sp>
          <p:nvSpPr>
            <p:cNvPr id="902192" name="Rectangle 48"/>
            <p:cNvSpPr>
              <a:spLocks noChangeArrowheads="1"/>
            </p:cNvSpPr>
            <p:nvPr/>
          </p:nvSpPr>
          <p:spPr bwMode="auto">
            <a:xfrm>
              <a:off x="3026" y="3628"/>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100</a:t>
              </a:r>
              <a:endParaRPr lang="en-US" altLang="en-US" sz="2400">
                <a:latin typeface="Times New Roman" panose="02020603050405020304" pitchFamily="18" charset="0"/>
              </a:endParaRPr>
            </a:p>
          </p:txBody>
        </p:sp>
      </p:grpSp>
      <p:sp>
        <p:nvSpPr>
          <p:cNvPr id="902193" name="Freeform 49"/>
          <p:cNvSpPr>
            <a:spLocks/>
          </p:cNvSpPr>
          <p:nvPr/>
        </p:nvSpPr>
        <p:spPr bwMode="auto">
          <a:xfrm>
            <a:off x="3792538" y="1679575"/>
            <a:ext cx="4900612" cy="4014788"/>
          </a:xfrm>
          <a:custGeom>
            <a:avLst/>
            <a:gdLst>
              <a:gd name="T0" fmla="*/ 0 w 3087"/>
              <a:gd name="T1" fmla="*/ 0 h 2529"/>
              <a:gd name="T2" fmla="*/ 0 w 3087"/>
              <a:gd name="T3" fmla="*/ 2529 h 2529"/>
              <a:gd name="T4" fmla="*/ 3087 w 3087"/>
              <a:gd name="T5" fmla="*/ 2529 h 2529"/>
            </a:gdLst>
            <a:ahLst/>
            <a:cxnLst>
              <a:cxn ang="0">
                <a:pos x="T0" y="T1"/>
              </a:cxn>
              <a:cxn ang="0">
                <a:pos x="T2" y="T3"/>
              </a:cxn>
              <a:cxn ang="0">
                <a:pos x="T4" y="T5"/>
              </a:cxn>
            </a:cxnLst>
            <a:rect l="0" t="0" r="r" b="b"/>
            <a:pathLst>
              <a:path w="3087" h="2529">
                <a:moveTo>
                  <a:pt x="0" y="0"/>
                </a:moveTo>
                <a:lnTo>
                  <a:pt x="0" y="2529"/>
                </a:lnTo>
                <a:lnTo>
                  <a:pt x="3087" y="2529"/>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Tree>
    <p:extLst>
      <p:ext uri="{BB962C8B-B14F-4D97-AF65-F5344CB8AC3E}">
        <p14:creationId xmlns:p14="http://schemas.microsoft.com/office/powerpoint/2010/main" val="40624372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902184"/>
                                        </p:tgtEl>
                                        <p:attrNameLst>
                                          <p:attrName>style.visibility</p:attrName>
                                        </p:attrNameLst>
                                      </p:cBhvr>
                                      <p:to>
                                        <p:strVal val="visible"/>
                                      </p:to>
                                    </p:set>
                                    <p:animEffect transition="in" filter="strips(upRight)">
                                      <p:cBhvr>
                                        <p:cTn id="7" dur="500"/>
                                        <p:tgtEl>
                                          <p:spTgt spid="9021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902181"/>
                                        </p:tgtEl>
                                        <p:attrNameLst>
                                          <p:attrName>style.visibility</p:attrName>
                                        </p:attrNameLst>
                                      </p:cBhvr>
                                      <p:to>
                                        <p:strVal val="visible"/>
                                      </p:to>
                                    </p:set>
                                    <p:animEffect transition="in" filter="strips(downRight)">
                                      <p:cBhvr>
                                        <p:cTn id="12" dur="500"/>
                                        <p:tgtEl>
                                          <p:spTgt spid="9021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nodeType="clickEffect">
                                  <p:stCondLst>
                                    <p:cond delay="0"/>
                                  </p:stCondLst>
                                  <p:childTnLst>
                                    <p:set>
                                      <p:cBhvr>
                                        <p:cTn id="16" dur="1" fill="hold">
                                          <p:stCondLst>
                                            <p:cond delay="0"/>
                                          </p:stCondLst>
                                        </p:cTn>
                                        <p:tgtEl>
                                          <p:spTgt spid="902187"/>
                                        </p:tgtEl>
                                        <p:attrNameLst>
                                          <p:attrName>style.visibility</p:attrName>
                                        </p:attrNameLst>
                                      </p:cBhvr>
                                      <p:to>
                                        <p:strVal val="visible"/>
                                      </p:to>
                                    </p:set>
                                    <p:animEffect transition="in" filter="strips(upRight)">
                                      <p:cBhvr>
                                        <p:cTn id="17" dur="500"/>
                                        <p:tgtEl>
                                          <p:spTgt spid="9021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902177"/>
                                        </p:tgtEl>
                                        <p:attrNameLst>
                                          <p:attrName>style.visibility</p:attrName>
                                        </p:attrNameLst>
                                      </p:cBhvr>
                                      <p:to>
                                        <p:strVal val="visible"/>
                                      </p:to>
                                    </p:set>
                                    <p:animEffect transition="in" filter="wipe(down)">
                                      <p:cBhvr>
                                        <p:cTn id="22" dur="500"/>
                                        <p:tgtEl>
                                          <p:spTgt spid="90217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902169"/>
                                        </p:tgtEl>
                                        <p:attrNameLst>
                                          <p:attrName>style.visibility</p:attrName>
                                        </p:attrNameLst>
                                      </p:cBhvr>
                                      <p:to>
                                        <p:strVal val="visible"/>
                                      </p:to>
                                    </p:set>
                                    <p:animEffect transition="in" filter="dissolve">
                                      <p:cBhvr>
                                        <p:cTn id="27" dur="500"/>
                                        <p:tgtEl>
                                          <p:spTgt spid="90216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02172"/>
                                        </p:tgtEl>
                                        <p:attrNameLst>
                                          <p:attrName>style.visibility</p:attrName>
                                        </p:attrNameLst>
                                      </p:cBhvr>
                                      <p:to>
                                        <p:strVal val="visible"/>
                                      </p:to>
                                    </p:set>
                                    <p:animEffect transition="in" filter="wipe(left)">
                                      <p:cBhvr>
                                        <p:cTn id="32" dur="500"/>
                                        <p:tgtEl>
                                          <p:spTgt spid="902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62"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11363"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3 A Market with a Price Floor</a:t>
            </a:r>
          </a:p>
        </p:txBody>
      </p:sp>
      <p:sp>
        <p:nvSpPr>
          <p:cNvPr id="911364"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11365" name="Rectangle 5"/>
          <p:cNvSpPr>
            <a:spLocks noChangeArrowheads="1"/>
          </p:cNvSpPr>
          <p:nvPr/>
        </p:nvSpPr>
        <p:spPr bwMode="auto">
          <a:xfrm>
            <a:off x="4106863" y="1782763"/>
            <a:ext cx="4902200" cy="3992562"/>
          </a:xfrm>
          <a:prstGeom prst="rect">
            <a:avLst/>
          </a:prstGeom>
          <a:solidFill>
            <a:srgbClr val="F3F6F9"/>
          </a:solidFill>
          <a:ln w="227013">
            <a:solidFill>
              <a:srgbClr val="F3F6F9"/>
            </a:solidFill>
            <a:miter lim="800000"/>
            <a:headEnd/>
            <a:tailEnd/>
          </a:ln>
        </p:spPr>
        <p:txBody>
          <a:bodyPr/>
          <a:lstStyle/>
          <a:p>
            <a:endParaRPr lang="en-IN"/>
          </a:p>
        </p:txBody>
      </p:sp>
      <p:sp>
        <p:nvSpPr>
          <p:cNvPr id="911366" name="Rectangle 6"/>
          <p:cNvSpPr>
            <a:spLocks noChangeArrowheads="1"/>
          </p:cNvSpPr>
          <p:nvPr/>
        </p:nvSpPr>
        <p:spPr bwMode="auto">
          <a:xfrm>
            <a:off x="4106863" y="1782763"/>
            <a:ext cx="4902200" cy="3992562"/>
          </a:xfrm>
          <a:prstGeom prst="rect">
            <a:avLst/>
          </a:prstGeom>
          <a:solidFill>
            <a:srgbClr val="F2F4F8"/>
          </a:solidFill>
          <a:ln w="206375">
            <a:solidFill>
              <a:srgbClr val="F2F4F8"/>
            </a:solidFill>
            <a:miter lim="800000"/>
            <a:headEnd/>
            <a:tailEnd/>
          </a:ln>
        </p:spPr>
        <p:txBody>
          <a:bodyPr/>
          <a:lstStyle/>
          <a:p>
            <a:endParaRPr lang="en-IN"/>
          </a:p>
        </p:txBody>
      </p:sp>
      <p:sp>
        <p:nvSpPr>
          <p:cNvPr id="911367" name="Rectangle 7"/>
          <p:cNvSpPr>
            <a:spLocks noChangeArrowheads="1"/>
          </p:cNvSpPr>
          <p:nvPr/>
        </p:nvSpPr>
        <p:spPr bwMode="auto">
          <a:xfrm>
            <a:off x="4106863" y="1782763"/>
            <a:ext cx="4902200" cy="3992562"/>
          </a:xfrm>
          <a:prstGeom prst="rect">
            <a:avLst/>
          </a:prstGeom>
          <a:solidFill>
            <a:srgbClr val="F1F4F7"/>
          </a:solidFill>
          <a:ln w="185738">
            <a:solidFill>
              <a:srgbClr val="F1F4F7"/>
            </a:solidFill>
            <a:miter lim="800000"/>
            <a:headEnd/>
            <a:tailEnd/>
          </a:ln>
        </p:spPr>
        <p:txBody>
          <a:bodyPr/>
          <a:lstStyle/>
          <a:p>
            <a:endParaRPr lang="en-IN"/>
          </a:p>
        </p:txBody>
      </p:sp>
      <p:sp>
        <p:nvSpPr>
          <p:cNvPr id="911368" name="Rectangle 8"/>
          <p:cNvSpPr>
            <a:spLocks noChangeArrowheads="1"/>
          </p:cNvSpPr>
          <p:nvPr/>
        </p:nvSpPr>
        <p:spPr bwMode="auto">
          <a:xfrm>
            <a:off x="4106863" y="1782763"/>
            <a:ext cx="4902200" cy="3992562"/>
          </a:xfrm>
          <a:prstGeom prst="rect">
            <a:avLst/>
          </a:prstGeom>
          <a:solidFill>
            <a:srgbClr val="F0F2F5"/>
          </a:solidFill>
          <a:ln w="165100">
            <a:solidFill>
              <a:srgbClr val="F0F2F5"/>
            </a:solidFill>
            <a:miter lim="800000"/>
            <a:headEnd/>
            <a:tailEnd/>
          </a:ln>
        </p:spPr>
        <p:txBody>
          <a:bodyPr/>
          <a:lstStyle/>
          <a:p>
            <a:endParaRPr lang="en-IN"/>
          </a:p>
        </p:txBody>
      </p:sp>
      <p:sp>
        <p:nvSpPr>
          <p:cNvPr id="911369" name="Rectangle 9"/>
          <p:cNvSpPr>
            <a:spLocks noChangeArrowheads="1"/>
          </p:cNvSpPr>
          <p:nvPr/>
        </p:nvSpPr>
        <p:spPr bwMode="auto">
          <a:xfrm>
            <a:off x="4106863" y="1782763"/>
            <a:ext cx="4902200" cy="3992562"/>
          </a:xfrm>
          <a:prstGeom prst="rect">
            <a:avLst/>
          </a:prstGeom>
          <a:solidFill>
            <a:srgbClr val="EEF1F4"/>
          </a:solidFill>
          <a:ln w="144463">
            <a:solidFill>
              <a:srgbClr val="EEF1F4"/>
            </a:solidFill>
            <a:miter lim="800000"/>
            <a:headEnd/>
            <a:tailEnd/>
          </a:ln>
        </p:spPr>
        <p:txBody>
          <a:bodyPr/>
          <a:lstStyle/>
          <a:p>
            <a:endParaRPr lang="en-IN"/>
          </a:p>
        </p:txBody>
      </p:sp>
      <p:sp>
        <p:nvSpPr>
          <p:cNvPr id="911370" name="Rectangle 10"/>
          <p:cNvSpPr>
            <a:spLocks noChangeArrowheads="1"/>
          </p:cNvSpPr>
          <p:nvPr/>
        </p:nvSpPr>
        <p:spPr bwMode="auto">
          <a:xfrm>
            <a:off x="4106863" y="1782763"/>
            <a:ext cx="4902200" cy="3992562"/>
          </a:xfrm>
          <a:prstGeom prst="rect">
            <a:avLst/>
          </a:prstGeom>
          <a:solidFill>
            <a:srgbClr val="EDEFF3"/>
          </a:solidFill>
          <a:ln w="123825">
            <a:solidFill>
              <a:srgbClr val="EDEFF3"/>
            </a:solidFill>
            <a:miter lim="800000"/>
            <a:headEnd/>
            <a:tailEnd/>
          </a:ln>
        </p:spPr>
        <p:txBody>
          <a:bodyPr/>
          <a:lstStyle/>
          <a:p>
            <a:endParaRPr lang="en-IN"/>
          </a:p>
        </p:txBody>
      </p:sp>
      <p:sp>
        <p:nvSpPr>
          <p:cNvPr id="911371" name="Rectangle 11"/>
          <p:cNvSpPr>
            <a:spLocks noChangeArrowheads="1"/>
          </p:cNvSpPr>
          <p:nvPr/>
        </p:nvSpPr>
        <p:spPr bwMode="auto">
          <a:xfrm>
            <a:off x="4106863" y="1782763"/>
            <a:ext cx="4902200" cy="3992562"/>
          </a:xfrm>
          <a:prstGeom prst="rect">
            <a:avLst/>
          </a:prstGeom>
          <a:solidFill>
            <a:srgbClr val="EBEEF2"/>
          </a:solidFill>
          <a:ln w="103188">
            <a:solidFill>
              <a:srgbClr val="EBEEF2"/>
            </a:solidFill>
            <a:miter lim="800000"/>
            <a:headEnd/>
            <a:tailEnd/>
          </a:ln>
        </p:spPr>
        <p:txBody>
          <a:bodyPr/>
          <a:lstStyle/>
          <a:p>
            <a:endParaRPr lang="en-IN"/>
          </a:p>
        </p:txBody>
      </p:sp>
      <p:sp>
        <p:nvSpPr>
          <p:cNvPr id="911372" name="Rectangle 12"/>
          <p:cNvSpPr>
            <a:spLocks noChangeArrowheads="1"/>
          </p:cNvSpPr>
          <p:nvPr/>
        </p:nvSpPr>
        <p:spPr bwMode="auto">
          <a:xfrm>
            <a:off x="4106863" y="1782763"/>
            <a:ext cx="4902200" cy="3992562"/>
          </a:xfrm>
          <a:prstGeom prst="rect">
            <a:avLst/>
          </a:prstGeom>
          <a:solidFill>
            <a:srgbClr val="EAECF1"/>
          </a:solidFill>
          <a:ln w="82550">
            <a:solidFill>
              <a:srgbClr val="EAECF1"/>
            </a:solidFill>
            <a:miter lim="800000"/>
            <a:headEnd/>
            <a:tailEnd/>
          </a:ln>
        </p:spPr>
        <p:txBody>
          <a:bodyPr/>
          <a:lstStyle/>
          <a:p>
            <a:endParaRPr lang="en-IN"/>
          </a:p>
        </p:txBody>
      </p:sp>
      <p:sp>
        <p:nvSpPr>
          <p:cNvPr id="911373" name="Rectangle 13"/>
          <p:cNvSpPr>
            <a:spLocks noChangeArrowheads="1"/>
          </p:cNvSpPr>
          <p:nvPr/>
        </p:nvSpPr>
        <p:spPr bwMode="auto">
          <a:xfrm>
            <a:off x="4106863" y="1782763"/>
            <a:ext cx="4902200" cy="3992562"/>
          </a:xfrm>
          <a:prstGeom prst="rect">
            <a:avLst/>
          </a:prstGeom>
          <a:solidFill>
            <a:srgbClr val="E9EBF0"/>
          </a:solidFill>
          <a:ln w="61913">
            <a:solidFill>
              <a:srgbClr val="E9EBF0"/>
            </a:solidFill>
            <a:miter lim="800000"/>
            <a:headEnd/>
            <a:tailEnd/>
          </a:ln>
        </p:spPr>
        <p:txBody>
          <a:bodyPr/>
          <a:lstStyle/>
          <a:p>
            <a:endParaRPr lang="en-IN"/>
          </a:p>
        </p:txBody>
      </p:sp>
      <p:sp>
        <p:nvSpPr>
          <p:cNvPr id="911374" name="Rectangle 14"/>
          <p:cNvSpPr>
            <a:spLocks noChangeArrowheads="1"/>
          </p:cNvSpPr>
          <p:nvPr/>
        </p:nvSpPr>
        <p:spPr bwMode="auto">
          <a:xfrm>
            <a:off x="4106863" y="1782763"/>
            <a:ext cx="4902200" cy="3992562"/>
          </a:xfrm>
          <a:prstGeom prst="rect">
            <a:avLst/>
          </a:prstGeom>
          <a:solidFill>
            <a:srgbClr val="E7EAEF"/>
          </a:solidFill>
          <a:ln w="41275">
            <a:solidFill>
              <a:srgbClr val="E7EAEF"/>
            </a:solidFill>
            <a:miter lim="800000"/>
            <a:headEnd/>
            <a:tailEnd/>
          </a:ln>
        </p:spPr>
        <p:txBody>
          <a:bodyPr/>
          <a:lstStyle/>
          <a:p>
            <a:endParaRPr lang="en-IN"/>
          </a:p>
        </p:txBody>
      </p:sp>
      <p:sp>
        <p:nvSpPr>
          <p:cNvPr id="911375" name="Rectangle 15"/>
          <p:cNvSpPr>
            <a:spLocks noChangeArrowheads="1"/>
          </p:cNvSpPr>
          <p:nvPr/>
        </p:nvSpPr>
        <p:spPr bwMode="auto">
          <a:xfrm>
            <a:off x="4106863" y="1782763"/>
            <a:ext cx="4902200" cy="3992562"/>
          </a:xfrm>
          <a:prstGeom prst="rect">
            <a:avLst/>
          </a:prstGeom>
          <a:solidFill>
            <a:srgbClr val="E6E9EF"/>
          </a:solidFill>
          <a:ln w="20638">
            <a:solidFill>
              <a:srgbClr val="E6E9EF"/>
            </a:solidFill>
            <a:miter lim="800000"/>
            <a:headEnd/>
            <a:tailEnd/>
          </a:ln>
        </p:spPr>
        <p:txBody>
          <a:bodyPr/>
          <a:lstStyle/>
          <a:p>
            <a:endParaRPr lang="en-IN"/>
          </a:p>
        </p:txBody>
      </p:sp>
      <p:sp>
        <p:nvSpPr>
          <p:cNvPr id="911376" name="Rectangle 16"/>
          <p:cNvSpPr>
            <a:spLocks noChangeArrowheads="1"/>
          </p:cNvSpPr>
          <p:nvPr/>
        </p:nvSpPr>
        <p:spPr bwMode="auto">
          <a:xfrm>
            <a:off x="4003675" y="1679575"/>
            <a:ext cx="4902200" cy="40147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11377" name="Rectangle 17"/>
          <p:cNvSpPr>
            <a:spLocks noChangeArrowheads="1"/>
          </p:cNvSpPr>
          <p:nvPr/>
        </p:nvSpPr>
        <p:spPr bwMode="auto">
          <a:xfrm>
            <a:off x="4733926" y="1141413"/>
            <a:ext cx="306987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(b) A Price Floor That Is Binding</a:t>
            </a:r>
            <a:endParaRPr lang="en-US" altLang="en-US" sz="2400">
              <a:latin typeface="Times New Roman" panose="02020603050405020304" pitchFamily="18" charset="0"/>
            </a:endParaRPr>
          </a:p>
        </p:txBody>
      </p:sp>
      <p:sp>
        <p:nvSpPr>
          <p:cNvPr id="911378" name="Rectangle 18"/>
          <p:cNvSpPr>
            <a:spLocks noChangeArrowheads="1"/>
          </p:cNvSpPr>
          <p:nvPr/>
        </p:nvSpPr>
        <p:spPr bwMode="auto">
          <a:xfrm>
            <a:off x="7750176" y="5753100"/>
            <a:ext cx="107240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endParaRPr lang="en-US" altLang="en-US" sz="2400">
              <a:latin typeface="Times New Roman" panose="02020603050405020304" pitchFamily="18" charset="0"/>
            </a:endParaRPr>
          </a:p>
        </p:txBody>
      </p:sp>
      <p:sp>
        <p:nvSpPr>
          <p:cNvPr id="911379" name="Rectangle 19"/>
          <p:cNvSpPr>
            <a:spLocks noChangeArrowheads="1"/>
          </p:cNvSpPr>
          <p:nvPr/>
        </p:nvSpPr>
        <p:spPr bwMode="auto">
          <a:xfrm>
            <a:off x="7847014" y="6027738"/>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911380" name="Rectangle 20"/>
          <p:cNvSpPr>
            <a:spLocks noChangeArrowheads="1"/>
          </p:cNvSpPr>
          <p:nvPr/>
        </p:nvSpPr>
        <p:spPr bwMode="auto">
          <a:xfrm>
            <a:off x="8239126" y="6302375"/>
            <a:ext cx="56906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Cones</a:t>
            </a:r>
            <a:endParaRPr lang="en-US" altLang="en-US" sz="2400">
              <a:latin typeface="Times New Roman" panose="02020603050405020304" pitchFamily="18" charset="0"/>
            </a:endParaRPr>
          </a:p>
        </p:txBody>
      </p:sp>
      <p:sp>
        <p:nvSpPr>
          <p:cNvPr id="911381" name="Rectangle 21"/>
          <p:cNvSpPr>
            <a:spLocks noChangeArrowheads="1"/>
          </p:cNvSpPr>
          <p:nvPr/>
        </p:nvSpPr>
        <p:spPr bwMode="auto">
          <a:xfrm>
            <a:off x="3784600" y="5759450"/>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sp>
        <p:nvSpPr>
          <p:cNvPr id="911382" name="Rectangle 22"/>
          <p:cNvSpPr>
            <a:spLocks noChangeArrowheads="1"/>
          </p:cNvSpPr>
          <p:nvPr/>
        </p:nvSpPr>
        <p:spPr bwMode="auto">
          <a:xfrm>
            <a:off x="3105151" y="1628775"/>
            <a:ext cx="718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Price of</a:t>
            </a:r>
            <a:endParaRPr lang="en-US" altLang="en-US" sz="2400">
              <a:latin typeface="Times New Roman" panose="02020603050405020304" pitchFamily="18" charset="0"/>
            </a:endParaRPr>
          </a:p>
        </p:txBody>
      </p:sp>
      <p:sp>
        <p:nvSpPr>
          <p:cNvPr id="911383" name="Rectangle 23"/>
          <p:cNvSpPr>
            <a:spLocks noChangeArrowheads="1"/>
          </p:cNvSpPr>
          <p:nvPr/>
        </p:nvSpPr>
        <p:spPr bwMode="auto">
          <a:xfrm>
            <a:off x="2843214" y="1903413"/>
            <a:ext cx="9851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Ice-Cream</a:t>
            </a:r>
            <a:endParaRPr lang="en-US" altLang="en-US" sz="2400">
              <a:latin typeface="Times New Roman" panose="02020603050405020304" pitchFamily="18" charset="0"/>
            </a:endParaRPr>
          </a:p>
        </p:txBody>
      </p:sp>
      <p:sp>
        <p:nvSpPr>
          <p:cNvPr id="911384" name="Rectangle 24"/>
          <p:cNvSpPr>
            <a:spLocks noChangeArrowheads="1"/>
          </p:cNvSpPr>
          <p:nvPr/>
        </p:nvSpPr>
        <p:spPr bwMode="auto">
          <a:xfrm>
            <a:off x="3359151" y="2179638"/>
            <a:ext cx="48410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Cone</a:t>
            </a:r>
            <a:endParaRPr lang="en-US" altLang="en-US" sz="2400">
              <a:latin typeface="Times New Roman" panose="02020603050405020304" pitchFamily="18" charset="0"/>
            </a:endParaRPr>
          </a:p>
        </p:txBody>
      </p:sp>
      <p:grpSp>
        <p:nvGrpSpPr>
          <p:cNvPr id="911385" name="Group 25"/>
          <p:cNvGrpSpPr>
            <a:grpSpLocks/>
          </p:cNvGrpSpPr>
          <p:nvPr/>
        </p:nvGrpSpPr>
        <p:grpSpPr bwMode="auto">
          <a:xfrm>
            <a:off x="5527675" y="2420939"/>
            <a:ext cx="3248025" cy="3005137"/>
            <a:chOff x="2522" y="1525"/>
            <a:chExt cx="2046" cy="1893"/>
          </a:xfrm>
        </p:grpSpPr>
        <p:sp>
          <p:nvSpPr>
            <p:cNvPr id="911386" name="Line 26"/>
            <p:cNvSpPr>
              <a:spLocks noChangeShapeType="1"/>
            </p:cNvSpPr>
            <p:nvPr/>
          </p:nvSpPr>
          <p:spPr bwMode="auto">
            <a:xfrm>
              <a:off x="2522" y="1525"/>
              <a:ext cx="1622" cy="1893"/>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11387" name="Rectangle 27"/>
            <p:cNvSpPr>
              <a:spLocks noChangeArrowheads="1"/>
            </p:cNvSpPr>
            <p:nvPr/>
          </p:nvSpPr>
          <p:spPr bwMode="auto">
            <a:xfrm>
              <a:off x="4104" y="3190"/>
              <a:ext cx="4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911388" name="Group 28"/>
          <p:cNvGrpSpPr>
            <a:grpSpLocks/>
          </p:cNvGrpSpPr>
          <p:nvPr/>
        </p:nvGrpSpPr>
        <p:grpSpPr bwMode="auto">
          <a:xfrm>
            <a:off x="5343525" y="2103438"/>
            <a:ext cx="2943225" cy="3302000"/>
            <a:chOff x="2406" y="1325"/>
            <a:chExt cx="1854" cy="2080"/>
          </a:xfrm>
        </p:grpSpPr>
        <p:sp>
          <p:nvSpPr>
            <p:cNvPr id="911389" name="Line 29"/>
            <p:cNvSpPr>
              <a:spLocks noChangeShapeType="1"/>
            </p:cNvSpPr>
            <p:nvPr/>
          </p:nvSpPr>
          <p:spPr bwMode="auto">
            <a:xfrm flipV="1">
              <a:off x="2406" y="1512"/>
              <a:ext cx="1647" cy="1893"/>
            </a:xfrm>
            <a:prstGeom prst="line">
              <a:avLst/>
            </a:prstGeom>
            <a:noFill/>
            <a:ln w="61913">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11390" name="Rectangle 30"/>
            <p:cNvSpPr>
              <a:spLocks noChangeArrowheads="1"/>
            </p:cNvSpPr>
            <p:nvPr/>
          </p:nvSpPr>
          <p:spPr bwMode="auto">
            <a:xfrm>
              <a:off x="3870" y="1325"/>
              <a:ext cx="39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11391" name="Group 31"/>
          <p:cNvGrpSpPr>
            <a:grpSpLocks/>
          </p:cNvGrpSpPr>
          <p:nvPr/>
        </p:nvGrpSpPr>
        <p:grpSpPr bwMode="auto">
          <a:xfrm>
            <a:off x="3660776" y="3044825"/>
            <a:ext cx="4919663" cy="742950"/>
            <a:chOff x="1346" y="1918"/>
            <a:chExt cx="3099" cy="468"/>
          </a:xfrm>
        </p:grpSpPr>
        <p:sp>
          <p:nvSpPr>
            <p:cNvPr id="911392" name="Line 32"/>
            <p:cNvSpPr>
              <a:spLocks noChangeShapeType="1"/>
            </p:cNvSpPr>
            <p:nvPr/>
          </p:nvSpPr>
          <p:spPr bwMode="auto">
            <a:xfrm flipH="1">
              <a:off x="1562" y="2005"/>
              <a:ext cx="2880" cy="1"/>
            </a:xfrm>
            <a:prstGeom prst="line">
              <a:avLst/>
            </a:prstGeom>
            <a:noFill/>
            <a:ln w="61913">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11393" name="Rectangle 33"/>
            <p:cNvSpPr>
              <a:spLocks noChangeArrowheads="1"/>
            </p:cNvSpPr>
            <p:nvPr/>
          </p:nvSpPr>
          <p:spPr bwMode="auto">
            <a:xfrm>
              <a:off x="1346" y="1918"/>
              <a:ext cx="13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GB" altLang="en-US" sz="1700">
                  <a:solidFill>
                    <a:srgbClr val="000000"/>
                  </a:solidFill>
                </a:rPr>
                <a:t>€</a:t>
              </a:r>
              <a:r>
                <a:rPr lang="en-US" altLang="en-US" sz="1700">
                  <a:solidFill>
                    <a:srgbClr val="000000"/>
                  </a:solidFill>
                </a:rPr>
                <a:t>4</a:t>
              </a:r>
            </a:p>
          </p:txBody>
        </p:sp>
        <p:sp>
          <p:nvSpPr>
            <p:cNvPr id="911394" name="Rectangle 34"/>
            <p:cNvSpPr>
              <a:spLocks noChangeArrowheads="1"/>
            </p:cNvSpPr>
            <p:nvPr/>
          </p:nvSpPr>
          <p:spPr bwMode="auto">
            <a:xfrm>
              <a:off x="4156" y="2048"/>
              <a:ext cx="28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sp>
          <p:nvSpPr>
            <p:cNvPr id="911395" name="Rectangle 35"/>
            <p:cNvSpPr>
              <a:spLocks noChangeArrowheads="1"/>
            </p:cNvSpPr>
            <p:nvPr/>
          </p:nvSpPr>
          <p:spPr bwMode="auto">
            <a:xfrm>
              <a:off x="4178" y="2221"/>
              <a:ext cx="26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floor</a:t>
              </a:r>
              <a:endParaRPr lang="en-US" altLang="en-US" sz="2400">
                <a:latin typeface="Times New Roman" panose="02020603050405020304" pitchFamily="18" charset="0"/>
              </a:endParaRPr>
            </a:p>
          </p:txBody>
        </p:sp>
      </p:grpSp>
      <p:grpSp>
        <p:nvGrpSpPr>
          <p:cNvPr id="911396" name="Group 36"/>
          <p:cNvGrpSpPr>
            <a:grpSpLocks/>
          </p:cNvGrpSpPr>
          <p:nvPr/>
        </p:nvGrpSpPr>
        <p:grpSpPr bwMode="auto">
          <a:xfrm>
            <a:off x="6065848" y="3121026"/>
            <a:ext cx="217488" cy="2900363"/>
            <a:chOff x="2861" y="1966"/>
            <a:chExt cx="137" cy="1827"/>
          </a:xfrm>
        </p:grpSpPr>
        <p:sp>
          <p:nvSpPr>
            <p:cNvPr id="911397" name="Line 37"/>
            <p:cNvSpPr>
              <a:spLocks noChangeShapeType="1"/>
            </p:cNvSpPr>
            <p:nvPr/>
          </p:nvSpPr>
          <p:spPr bwMode="auto">
            <a:xfrm flipV="1">
              <a:off x="2937" y="2005"/>
              <a:ext cx="1" cy="1569"/>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11398" name="Oval 38"/>
            <p:cNvSpPr>
              <a:spLocks noChangeArrowheads="1"/>
            </p:cNvSpPr>
            <p:nvPr/>
          </p:nvSpPr>
          <p:spPr bwMode="auto">
            <a:xfrm>
              <a:off x="2899" y="1966"/>
              <a:ext cx="86" cy="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11399" name="Rectangle 39"/>
            <p:cNvSpPr>
              <a:spLocks noChangeArrowheads="1"/>
            </p:cNvSpPr>
            <p:nvPr/>
          </p:nvSpPr>
          <p:spPr bwMode="auto">
            <a:xfrm>
              <a:off x="2861" y="3628"/>
              <a:ext cx="13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80</a:t>
              </a:r>
              <a:endParaRPr lang="en-US" altLang="en-US" sz="2400">
                <a:latin typeface="Times New Roman" panose="02020603050405020304" pitchFamily="18" charset="0"/>
              </a:endParaRPr>
            </a:p>
          </p:txBody>
        </p:sp>
      </p:grpSp>
      <p:grpSp>
        <p:nvGrpSpPr>
          <p:cNvPr id="911400" name="Group 40"/>
          <p:cNvGrpSpPr>
            <a:grpSpLocks/>
          </p:cNvGrpSpPr>
          <p:nvPr/>
        </p:nvGrpSpPr>
        <p:grpSpPr bwMode="auto">
          <a:xfrm>
            <a:off x="5654676" y="6089651"/>
            <a:ext cx="893763" cy="536575"/>
            <a:chOff x="2602" y="3836"/>
            <a:chExt cx="563" cy="338"/>
          </a:xfrm>
        </p:grpSpPr>
        <p:sp>
          <p:nvSpPr>
            <p:cNvPr id="911401" name="Rectangle 41"/>
            <p:cNvSpPr>
              <a:spLocks noChangeArrowheads="1"/>
            </p:cNvSpPr>
            <p:nvPr/>
          </p:nvSpPr>
          <p:spPr bwMode="auto">
            <a:xfrm>
              <a:off x="2671" y="3836"/>
              <a:ext cx="48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Quantity</a:t>
              </a:r>
              <a:endParaRPr lang="en-US" altLang="en-US" sz="2400">
                <a:latin typeface="Times New Roman" panose="02020603050405020304" pitchFamily="18" charset="0"/>
              </a:endParaRPr>
            </a:p>
          </p:txBody>
        </p:sp>
        <p:sp>
          <p:nvSpPr>
            <p:cNvPr id="911402" name="Rectangle 42"/>
            <p:cNvSpPr>
              <a:spLocks noChangeArrowheads="1"/>
            </p:cNvSpPr>
            <p:nvPr/>
          </p:nvSpPr>
          <p:spPr bwMode="auto">
            <a:xfrm>
              <a:off x="2602" y="4009"/>
              <a:ext cx="56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demanded</a:t>
              </a:r>
              <a:endParaRPr lang="en-US" altLang="en-US" sz="2400">
                <a:latin typeface="Times New Roman" panose="02020603050405020304" pitchFamily="18" charset="0"/>
              </a:endParaRPr>
            </a:p>
          </p:txBody>
        </p:sp>
      </p:grpSp>
      <p:grpSp>
        <p:nvGrpSpPr>
          <p:cNvPr id="911403" name="Group 43"/>
          <p:cNvGrpSpPr>
            <a:grpSpLocks/>
          </p:cNvGrpSpPr>
          <p:nvPr/>
        </p:nvGrpSpPr>
        <p:grpSpPr bwMode="auto">
          <a:xfrm>
            <a:off x="7097714" y="3121026"/>
            <a:ext cx="327025" cy="2900363"/>
            <a:chOff x="3511" y="1966"/>
            <a:chExt cx="206" cy="1827"/>
          </a:xfrm>
        </p:grpSpPr>
        <p:sp>
          <p:nvSpPr>
            <p:cNvPr id="911404" name="Line 44"/>
            <p:cNvSpPr>
              <a:spLocks noChangeShapeType="1"/>
            </p:cNvSpPr>
            <p:nvPr/>
          </p:nvSpPr>
          <p:spPr bwMode="auto">
            <a:xfrm flipV="1">
              <a:off x="3625" y="2005"/>
              <a:ext cx="1" cy="1569"/>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11405" name="Oval 45"/>
            <p:cNvSpPr>
              <a:spLocks noChangeArrowheads="1"/>
            </p:cNvSpPr>
            <p:nvPr/>
          </p:nvSpPr>
          <p:spPr bwMode="auto">
            <a:xfrm>
              <a:off x="3573" y="1966"/>
              <a:ext cx="86" cy="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11406" name="Rectangle 46"/>
            <p:cNvSpPr>
              <a:spLocks noChangeArrowheads="1"/>
            </p:cNvSpPr>
            <p:nvPr/>
          </p:nvSpPr>
          <p:spPr bwMode="auto">
            <a:xfrm>
              <a:off x="3511" y="3628"/>
              <a:ext cx="2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120</a:t>
              </a:r>
              <a:endParaRPr lang="en-US" altLang="en-US" sz="2400">
                <a:latin typeface="Times New Roman" panose="02020603050405020304" pitchFamily="18" charset="0"/>
              </a:endParaRPr>
            </a:p>
          </p:txBody>
        </p:sp>
      </p:grpSp>
      <p:grpSp>
        <p:nvGrpSpPr>
          <p:cNvPr id="911407" name="Group 47"/>
          <p:cNvGrpSpPr>
            <a:grpSpLocks/>
          </p:cNvGrpSpPr>
          <p:nvPr/>
        </p:nvGrpSpPr>
        <p:grpSpPr bwMode="auto">
          <a:xfrm>
            <a:off x="6877054" y="6089651"/>
            <a:ext cx="763588" cy="536575"/>
            <a:chOff x="3372" y="3836"/>
            <a:chExt cx="481" cy="338"/>
          </a:xfrm>
        </p:grpSpPr>
        <p:sp>
          <p:nvSpPr>
            <p:cNvPr id="911408" name="Rectangle 48"/>
            <p:cNvSpPr>
              <a:spLocks noChangeArrowheads="1"/>
            </p:cNvSpPr>
            <p:nvPr/>
          </p:nvSpPr>
          <p:spPr bwMode="auto">
            <a:xfrm>
              <a:off x="3372" y="3836"/>
              <a:ext cx="48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Quantity</a:t>
              </a:r>
              <a:endParaRPr lang="en-US" altLang="en-US" sz="2400">
                <a:latin typeface="Times New Roman" panose="02020603050405020304" pitchFamily="18" charset="0"/>
              </a:endParaRPr>
            </a:p>
          </p:txBody>
        </p:sp>
        <p:sp>
          <p:nvSpPr>
            <p:cNvPr id="911409" name="Rectangle 49"/>
            <p:cNvSpPr>
              <a:spLocks noChangeArrowheads="1"/>
            </p:cNvSpPr>
            <p:nvPr/>
          </p:nvSpPr>
          <p:spPr bwMode="auto">
            <a:xfrm>
              <a:off x="3372" y="4009"/>
              <a:ext cx="46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supplied</a:t>
              </a:r>
              <a:endParaRPr lang="en-US" altLang="en-US" sz="2400">
                <a:latin typeface="Times New Roman" panose="02020603050405020304" pitchFamily="18" charset="0"/>
              </a:endParaRPr>
            </a:p>
          </p:txBody>
        </p:sp>
      </p:grpSp>
      <p:grpSp>
        <p:nvGrpSpPr>
          <p:cNvPr id="911410" name="Group 50"/>
          <p:cNvGrpSpPr>
            <a:grpSpLocks/>
          </p:cNvGrpSpPr>
          <p:nvPr/>
        </p:nvGrpSpPr>
        <p:grpSpPr bwMode="auto">
          <a:xfrm>
            <a:off x="2828924" y="3922713"/>
            <a:ext cx="1054100" cy="895350"/>
            <a:chOff x="822" y="2471"/>
            <a:chExt cx="664" cy="564"/>
          </a:xfrm>
        </p:grpSpPr>
        <p:sp>
          <p:nvSpPr>
            <p:cNvPr id="911411" name="Line 51"/>
            <p:cNvSpPr>
              <a:spLocks noChangeShapeType="1"/>
            </p:cNvSpPr>
            <p:nvPr/>
          </p:nvSpPr>
          <p:spPr bwMode="auto">
            <a:xfrm flipH="1">
              <a:off x="1212" y="2471"/>
              <a:ext cx="208" cy="195"/>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11412" name="Rectangle 52"/>
            <p:cNvSpPr>
              <a:spLocks noChangeArrowheads="1"/>
            </p:cNvSpPr>
            <p:nvPr/>
          </p:nvSpPr>
          <p:spPr bwMode="auto">
            <a:xfrm>
              <a:off x="822" y="2697"/>
              <a:ext cx="66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Equilibrium</a:t>
              </a:r>
              <a:endParaRPr lang="en-US" altLang="en-US" sz="2400">
                <a:latin typeface="Times New Roman" panose="02020603050405020304" pitchFamily="18" charset="0"/>
              </a:endParaRPr>
            </a:p>
          </p:txBody>
        </p:sp>
        <p:sp>
          <p:nvSpPr>
            <p:cNvPr id="911413" name="Rectangle 53"/>
            <p:cNvSpPr>
              <a:spLocks noChangeArrowheads="1"/>
            </p:cNvSpPr>
            <p:nvPr/>
          </p:nvSpPr>
          <p:spPr bwMode="auto">
            <a:xfrm>
              <a:off x="1013" y="2870"/>
              <a:ext cx="274"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price</a:t>
              </a:r>
              <a:endParaRPr lang="en-US" altLang="en-US" sz="2400">
                <a:latin typeface="Times New Roman" panose="02020603050405020304" pitchFamily="18" charset="0"/>
              </a:endParaRPr>
            </a:p>
          </p:txBody>
        </p:sp>
      </p:grpSp>
      <p:grpSp>
        <p:nvGrpSpPr>
          <p:cNvPr id="911414" name="Group 54"/>
          <p:cNvGrpSpPr>
            <a:grpSpLocks/>
          </p:cNvGrpSpPr>
          <p:nvPr/>
        </p:nvGrpSpPr>
        <p:grpSpPr bwMode="auto">
          <a:xfrm>
            <a:off x="6207125" y="2652714"/>
            <a:ext cx="1030288" cy="427037"/>
            <a:chOff x="2950" y="1671"/>
            <a:chExt cx="649" cy="269"/>
          </a:xfrm>
        </p:grpSpPr>
        <p:sp>
          <p:nvSpPr>
            <p:cNvPr id="911415" name="Freeform 55"/>
            <p:cNvSpPr>
              <a:spLocks/>
            </p:cNvSpPr>
            <p:nvPr/>
          </p:nvSpPr>
          <p:spPr bwMode="auto">
            <a:xfrm>
              <a:off x="2950" y="1862"/>
              <a:ext cx="649" cy="78"/>
            </a:xfrm>
            <a:custGeom>
              <a:avLst/>
              <a:gdLst>
                <a:gd name="T0" fmla="*/ 50 w 50"/>
                <a:gd name="T1" fmla="*/ 6 h 6"/>
                <a:gd name="T2" fmla="*/ 46 w 50"/>
                <a:gd name="T3" fmla="*/ 3 h 6"/>
                <a:gd name="T4" fmla="*/ 28 w 50"/>
                <a:gd name="T5" fmla="*/ 3 h 6"/>
                <a:gd name="T6" fmla="*/ 25 w 50"/>
                <a:gd name="T7" fmla="*/ 0 h 6"/>
                <a:gd name="T8" fmla="*/ 22 w 50"/>
                <a:gd name="T9" fmla="*/ 3 h 6"/>
                <a:gd name="T10" fmla="*/ 4 w 50"/>
                <a:gd name="T11" fmla="*/ 3 h 6"/>
                <a:gd name="T12" fmla="*/ 0 w 5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50" h="6">
                  <a:moveTo>
                    <a:pt x="50" y="6"/>
                  </a:moveTo>
                  <a:cubicBezTo>
                    <a:pt x="50" y="4"/>
                    <a:pt x="47" y="3"/>
                    <a:pt x="46" y="3"/>
                  </a:cubicBezTo>
                  <a:cubicBezTo>
                    <a:pt x="28" y="3"/>
                    <a:pt x="28" y="3"/>
                    <a:pt x="28" y="3"/>
                  </a:cubicBezTo>
                  <a:cubicBezTo>
                    <a:pt x="26" y="3"/>
                    <a:pt x="25" y="1"/>
                    <a:pt x="25" y="0"/>
                  </a:cubicBezTo>
                  <a:cubicBezTo>
                    <a:pt x="25" y="1"/>
                    <a:pt x="23" y="3"/>
                    <a:pt x="22" y="3"/>
                  </a:cubicBezTo>
                  <a:cubicBezTo>
                    <a:pt x="4" y="3"/>
                    <a:pt x="4" y="3"/>
                    <a:pt x="4" y="3"/>
                  </a:cubicBezTo>
                  <a:cubicBezTo>
                    <a:pt x="2" y="3"/>
                    <a:pt x="0" y="4"/>
                    <a:pt x="0" y="6"/>
                  </a:cubicBez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11416" name="Rectangle 56"/>
            <p:cNvSpPr>
              <a:spLocks noChangeArrowheads="1"/>
            </p:cNvSpPr>
            <p:nvPr/>
          </p:nvSpPr>
          <p:spPr bwMode="auto">
            <a:xfrm>
              <a:off x="3035" y="1671"/>
              <a:ext cx="420"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Surplus</a:t>
              </a:r>
              <a:endParaRPr lang="en-US" altLang="en-US" sz="2400">
                <a:latin typeface="Times New Roman" panose="02020603050405020304" pitchFamily="18" charset="0"/>
              </a:endParaRPr>
            </a:p>
          </p:txBody>
        </p:sp>
      </p:grpSp>
      <p:sp>
        <p:nvSpPr>
          <p:cNvPr id="911417" name="Freeform 57"/>
          <p:cNvSpPr>
            <a:spLocks/>
          </p:cNvSpPr>
          <p:nvPr/>
        </p:nvSpPr>
        <p:spPr bwMode="auto">
          <a:xfrm>
            <a:off x="3997325" y="1679575"/>
            <a:ext cx="4902200" cy="4014788"/>
          </a:xfrm>
          <a:custGeom>
            <a:avLst/>
            <a:gdLst>
              <a:gd name="T0" fmla="*/ 0 w 3088"/>
              <a:gd name="T1" fmla="*/ 0 h 2529"/>
              <a:gd name="T2" fmla="*/ 0 w 3088"/>
              <a:gd name="T3" fmla="*/ 2529 h 2529"/>
              <a:gd name="T4" fmla="*/ 3088 w 3088"/>
              <a:gd name="T5" fmla="*/ 2529 h 2529"/>
            </a:gdLst>
            <a:ahLst/>
            <a:cxnLst>
              <a:cxn ang="0">
                <a:pos x="T0" y="T1"/>
              </a:cxn>
              <a:cxn ang="0">
                <a:pos x="T2" y="T3"/>
              </a:cxn>
              <a:cxn ang="0">
                <a:pos x="T4" y="T5"/>
              </a:cxn>
            </a:cxnLst>
            <a:rect l="0" t="0" r="r" b="b"/>
            <a:pathLst>
              <a:path w="3088" h="2529">
                <a:moveTo>
                  <a:pt x="0" y="0"/>
                </a:moveTo>
                <a:lnTo>
                  <a:pt x="0" y="2529"/>
                </a:lnTo>
                <a:lnTo>
                  <a:pt x="3088" y="2529"/>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nvGrpSpPr>
          <p:cNvPr id="911418" name="Group 58"/>
          <p:cNvGrpSpPr>
            <a:grpSpLocks/>
          </p:cNvGrpSpPr>
          <p:nvPr/>
        </p:nvGrpSpPr>
        <p:grpSpPr bwMode="auto">
          <a:xfrm>
            <a:off x="3784601" y="3697289"/>
            <a:ext cx="3013075" cy="261937"/>
            <a:chOff x="1424" y="2329"/>
            <a:chExt cx="1898" cy="165"/>
          </a:xfrm>
        </p:grpSpPr>
        <p:sp>
          <p:nvSpPr>
            <p:cNvPr id="911419" name="Line 59"/>
            <p:cNvSpPr>
              <a:spLocks noChangeShapeType="1"/>
            </p:cNvSpPr>
            <p:nvPr/>
          </p:nvSpPr>
          <p:spPr bwMode="auto">
            <a:xfrm flipH="1">
              <a:off x="1562" y="2407"/>
              <a:ext cx="1713" cy="1"/>
            </a:xfrm>
            <a:prstGeom prst="line">
              <a:avLst/>
            </a:prstGeom>
            <a:noFill/>
            <a:ln w="20638">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11420" name="Oval 60"/>
            <p:cNvSpPr>
              <a:spLocks noChangeArrowheads="1"/>
            </p:cNvSpPr>
            <p:nvPr/>
          </p:nvSpPr>
          <p:spPr bwMode="auto">
            <a:xfrm>
              <a:off x="3236" y="2355"/>
              <a:ext cx="86" cy="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11421" name="Rectangle 61"/>
            <p:cNvSpPr>
              <a:spLocks noChangeArrowheads="1"/>
            </p:cNvSpPr>
            <p:nvPr/>
          </p:nvSpPr>
          <p:spPr bwMode="auto">
            <a:xfrm>
              <a:off x="1424" y="2329"/>
              <a:ext cx="6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3</a:t>
              </a:r>
              <a:endParaRPr lang="en-US" altLang="en-US" sz="2400">
                <a:latin typeface="Times New Roman" panose="02020603050405020304" pitchFamily="18" charset="0"/>
              </a:endParaRPr>
            </a:p>
          </p:txBody>
        </p:sp>
      </p:grpSp>
    </p:spTree>
    <p:extLst>
      <p:ext uri="{BB962C8B-B14F-4D97-AF65-F5344CB8AC3E}">
        <p14:creationId xmlns:p14="http://schemas.microsoft.com/office/powerpoint/2010/main" val="4223997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911388"/>
                                        </p:tgtEl>
                                        <p:attrNameLst>
                                          <p:attrName>style.visibility</p:attrName>
                                        </p:attrNameLst>
                                      </p:cBhvr>
                                      <p:to>
                                        <p:strVal val="visible"/>
                                      </p:to>
                                    </p:set>
                                    <p:animEffect transition="in" filter="strips(upRight)">
                                      <p:cBhvr>
                                        <p:cTn id="7" dur="500"/>
                                        <p:tgtEl>
                                          <p:spTgt spid="9113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911385"/>
                                        </p:tgtEl>
                                        <p:attrNameLst>
                                          <p:attrName>style.visibility</p:attrName>
                                        </p:attrNameLst>
                                      </p:cBhvr>
                                      <p:to>
                                        <p:strVal val="visible"/>
                                      </p:to>
                                    </p:set>
                                    <p:animEffect transition="in" filter="strips(downRight)">
                                      <p:cBhvr>
                                        <p:cTn id="12" dur="500"/>
                                        <p:tgtEl>
                                          <p:spTgt spid="9113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11418"/>
                                        </p:tgtEl>
                                        <p:attrNameLst>
                                          <p:attrName>style.visibility</p:attrName>
                                        </p:attrNameLst>
                                      </p:cBhvr>
                                      <p:to>
                                        <p:strVal val="visible"/>
                                      </p:to>
                                    </p:set>
                                    <p:animEffect transition="in" filter="wipe(left)">
                                      <p:cBhvr>
                                        <p:cTn id="17" dur="500"/>
                                        <p:tgtEl>
                                          <p:spTgt spid="9114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11410"/>
                                        </p:tgtEl>
                                        <p:attrNameLst>
                                          <p:attrName>style.visibility</p:attrName>
                                        </p:attrNameLst>
                                      </p:cBhvr>
                                      <p:to>
                                        <p:strVal val="visible"/>
                                      </p:to>
                                    </p:set>
                                    <p:animEffect transition="in" filter="wipe(up)">
                                      <p:cBhvr>
                                        <p:cTn id="22" dur="500"/>
                                        <p:tgtEl>
                                          <p:spTgt spid="9114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11391"/>
                                        </p:tgtEl>
                                        <p:attrNameLst>
                                          <p:attrName>style.visibility</p:attrName>
                                        </p:attrNameLst>
                                      </p:cBhvr>
                                      <p:to>
                                        <p:strVal val="visible"/>
                                      </p:to>
                                    </p:set>
                                    <p:animEffect transition="in" filter="wipe(left)">
                                      <p:cBhvr>
                                        <p:cTn id="27" dur="500"/>
                                        <p:tgtEl>
                                          <p:spTgt spid="9113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911396"/>
                                        </p:tgtEl>
                                        <p:attrNameLst>
                                          <p:attrName>style.visibility</p:attrName>
                                        </p:attrNameLst>
                                      </p:cBhvr>
                                      <p:to>
                                        <p:strVal val="visible"/>
                                      </p:to>
                                    </p:set>
                                    <p:animEffect transition="in" filter="wipe(down)">
                                      <p:cBhvr>
                                        <p:cTn id="32" dur="500"/>
                                        <p:tgtEl>
                                          <p:spTgt spid="9113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911400"/>
                                        </p:tgtEl>
                                        <p:attrNameLst>
                                          <p:attrName>style.visibility</p:attrName>
                                        </p:attrNameLst>
                                      </p:cBhvr>
                                      <p:to>
                                        <p:strVal val="visible"/>
                                      </p:to>
                                    </p:set>
                                    <p:animEffect transition="in" filter="dissolve">
                                      <p:cBhvr>
                                        <p:cTn id="37" dur="500"/>
                                        <p:tgtEl>
                                          <p:spTgt spid="9114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911403"/>
                                        </p:tgtEl>
                                        <p:attrNameLst>
                                          <p:attrName>style.visibility</p:attrName>
                                        </p:attrNameLst>
                                      </p:cBhvr>
                                      <p:to>
                                        <p:strVal val="visible"/>
                                      </p:to>
                                    </p:set>
                                    <p:animEffect transition="in" filter="wipe(down)">
                                      <p:cBhvr>
                                        <p:cTn id="42" dur="500"/>
                                        <p:tgtEl>
                                          <p:spTgt spid="91140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911407"/>
                                        </p:tgtEl>
                                        <p:attrNameLst>
                                          <p:attrName>style.visibility</p:attrName>
                                        </p:attrNameLst>
                                      </p:cBhvr>
                                      <p:to>
                                        <p:strVal val="visible"/>
                                      </p:to>
                                    </p:set>
                                    <p:animEffect transition="in" filter="dissolve">
                                      <p:cBhvr>
                                        <p:cTn id="47" dur="500"/>
                                        <p:tgtEl>
                                          <p:spTgt spid="91140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911414"/>
                                        </p:tgtEl>
                                        <p:attrNameLst>
                                          <p:attrName>style.visibility</p:attrName>
                                        </p:attrNameLst>
                                      </p:cBhvr>
                                      <p:to>
                                        <p:strVal val="visible"/>
                                      </p:to>
                                    </p:set>
                                    <p:animEffect transition="in" filter="wipe(down)">
                                      <p:cBhvr>
                                        <p:cTn id="52" dur="500"/>
                                        <p:tgtEl>
                                          <p:spTgt spid="911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22"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01123"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4 How the Minimum Wage Affects the Labour Market</a:t>
            </a:r>
          </a:p>
        </p:txBody>
      </p:sp>
      <p:sp>
        <p:nvSpPr>
          <p:cNvPr id="901124"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01125" name="Rectangle 5"/>
          <p:cNvSpPr>
            <a:spLocks noChangeArrowheads="1"/>
          </p:cNvSpPr>
          <p:nvPr/>
        </p:nvSpPr>
        <p:spPr bwMode="auto">
          <a:xfrm>
            <a:off x="3448050" y="1536701"/>
            <a:ext cx="5200650" cy="4244975"/>
          </a:xfrm>
          <a:prstGeom prst="rect">
            <a:avLst/>
          </a:prstGeom>
          <a:solidFill>
            <a:srgbClr val="F3F6F9"/>
          </a:solidFill>
          <a:ln w="239713">
            <a:solidFill>
              <a:srgbClr val="F3F6F9"/>
            </a:solidFill>
            <a:miter lim="800000"/>
            <a:headEnd/>
            <a:tailEnd/>
          </a:ln>
        </p:spPr>
        <p:txBody>
          <a:bodyPr/>
          <a:lstStyle/>
          <a:p>
            <a:endParaRPr lang="en-IN"/>
          </a:p>
        </p:txBody>
      </p:sp>
      <p:sp>
        <p:nvSpPr>
          <p:cNvPr id="901126" name="Rectangle 6"/>
          <p:cNvSpPr>
            <a:spLocks noChangeArrowheads="1"/>
          </p:cNvSpPr>
          <p:nvPr/>
        </p:nvSpPr>
        <p:spPr bwMode="auto">
          <a:xfrm>
            <a:off x="3448050" y="1536701"/>
            <a:ext cx="5200650" cy="4244975"/>
          </a:xfrm>
          <a:prstGeom prst="rect">
            <a:avLst/>
          </a:prstGeom>
          <a:solidFill>
            <a:srgbClr val="F2F4F8"/>
          </a:solidFill>
          <a:ln w="219075">
            <a:solidFill>
              <a:srgbClr val="F2F4F8"/>
            </a:solidFill>
            <a:miter lim="800000"/>
            <a:headEnd/>
            <a:tailEnd/>
          </a:ln>
        </p:spPr>
        <p:txBody>
          <a:bodyPr/>
          <a:lstStyle/>
          <a:p>
            <a:endParaRPr lang="en-IN"/>
          </a:p>
        </p:txBody>
      </p:sp>
      <p:sp>
        <p:nvSpPr>
          <p:cNvPr id="901127" name="Rectangle 7"/>
          <p:cNvSpPr>
            <a:spLocks noChangeArrowheads="1"/>
          </p:cNvSpPr>
          <p:nvPr/>
        </p:nvSpPr>
        <p:spPr bwMode="auto">
          <a:xfrm>
            <a:off x="3448050" y="1536701"/>
            <a:ext cx="5200650" cy="4244975"/>
          </a:xfrm>
          <a:prstGeom prst="rect">
            <a:avLst/>
          </a:prstGeom>
          <a:solidFill>
            <a:srgbClr val="F1F4F7"/>
          </a:solidFill>
          <a:ln w="196850">
            <a:solidFill>
              <a:srgbClr val="F1F4F7"/>
            </a:solidFill>
            <a:miter lim="800000"/>
            <a:headEnd/>
            <a:tailEnd/>
          </a:ln>
        </p:spPr>
        <p:txBody>
          <a:bodyPr/>
          <a:lstStyle/>
          <a:p>
            <a:endParaRPr lang="en-IN"/>
          </a:p>
        </p:txBody>
      </p:sp>
      <p:sp>
        <p:nvSpPr>
          <p:cNvPr id="901128" name="Rectangle 8"/>
          <p:cNvSpPr>
            <a:spLocks noChangeArrowheads="1"/>
          </p:cNvSpPr>
          <p:nvPr/>
        </p:nvSpPr>
        <p:spPr bwMode="auto">
          <a:xfrm>
            <a:off x="3448050" y="1536701"/>
            <a:ext cx="5200650" cy="4244975"/>
          </a:xfrm>
          <a:prstGeom prst="rect">
            <a:avLst/>
          </a:prstGeom>
          <a:solidFill>
            <a:srgbClr val="F0F2F5"/>
          </a:solidFill>
          <a:ln w="174625">
            <a:solidFill>
              <a:srgbClr val="F0F2F5"/>
            </a:solidFill>
            <a:miter lim="800000"/>
            <a:headEnd/>
            <a:tailEnd/>
          </a:ln>
        </p:spPr>
        <p:txBody>
          <a:bodyPr/>
          <a:lstStyle/>
          <a:p>
            <a:endParaRPr lang="en-IN"/>
          </a:p>
        </p:txBody>
      </p:sp>
      <p:sp>
        <p:nvSpPr>
          <p:cNvPr id="901129" name="Rectangle 9"/>
          <p:cNvSpPr>
            <a:spLocks noChangeArrowheads="1"/>
          </p:cNvSpPr>
          <p:nvPr/>
        </p:nvSpPr>
        <p:spPr bwMode="auto">
          <a:xfrm>
            <a:off x="3448050" y="1536701"/>
            <a:ext cx="5200650" cy="4244975"/>
          </a:xfrm>
          <a:prstGeom prst="rect">
            <a:avLst/>
          </a:prstGeom>
          <a:solidFill>
            <a:srgbClr val="EEF1F4"/>
          </a:solidFill>
          <a:ln w="152400">
            <a:solidFill>
              <a:srgbClr val="EEF1F4"/>
            </a:solidFill>
            <a:miter lim="800000"/>
            <a:headEnd/>
            <a:tailEnd/>
          </a:ln>
        </p:spPr>
        <p:txBody>
          <a:bodyPr/>
          <a:lstStyle/>
          <a:p>
            <a:endParaRPr lang="en-IN"/>
          </a:p>
        </p:txBody>
      </p:sp>
      <p:sp>
        <p:nvSpPr>
          <p:cNvPr id="901130" name="Rectangle 10"/>
          <p:cNvSpPr>
            <a:spLocks noChangeArrowheads="1"/>
          </p:cNvSpPr>
          <p:nvPr/>
        </p:nvSpPr>
        <p:spPr bwMode="auto">
          <a:xfrm>
            <a:off x="3448050" y="1536701"/>
            <a:ext cx="5200650" cy="4244975"/>
          </a:xfrm>
          <a:prstGeom prst="rect">
            <a:avLst/>
          </a:prstGeom>
          <a:solidFill>
            <a:srgbClr val="EDEFF3"/>
          </a:solidFill>
          <a:ln w="131763">
            <a:solidFill>
              <a:srgbClr val="EDEFF3"/>
            </a:solidFill>
            <a:miter lim="800000"/>
            <a:headEnd/>
            <a:tailEnd/>
          </a:ln>
        </p:spPr>
        <p:txBody>
          <a:bodyPr/>
          <a:lstStyle/>
          <a:p>
            <a:endParaRPr lang="en-IN"/>
          </a:p>
        </p:txBody>
      </p:sp>
      <p:sp>
        <p:nvSpPr>
          <p:cNvPr id="901131" name="Rectangle 11"/>
          <p:cNvSpPr>
            <a:spLocks noChangeArrowheads="1"/>
          </p:cNvSpPr>
          <p:nvPr/>
        </p:nvSpPr>
        <p:spPr bwMode="auto">
          <a:xfrm>
            <a:off x="3448050" y="1536701"/>
            <a:ext cx="5200650" cy="4244975"/>
          </a:xfrm>
          <a:prstGeom prst="rect">
            <a:avLst/>
          </a:prstGeom>
          <a:solidFill>
            <a:srgbClr val="EBEEF2"/>
          </a:solidFill>
          <a:ln w="109538">
            <a:solidFill>
              <a:srgbClr val="EBEEF2"/>
            </a:solidFill>
            <a:miter lim="800000"/>
            <a:headEnd/>
            <a:tailEnd/>
          </a:ln>
        </p:spPr>
        <p:txBody>
          <a:bodyPr/>
          <a:lstStyle/>
          <a:p>
            <a:endParaRPr lang="en-IN"/>
          </a:p>
        </p:txBody>
      </p:sp>
      <p:sp>
        <p:nvSpPr>
          <p:cNvPr id="901132" name="Rectangle 12"/>
          <p:cNvSpPr>
            <a:spLocks noChangeArrowheads="1"/>
          </p:cNvSpPr>
          <p:nvPr/>
        </p:nvSpPr>
        <p:spPr bwMode="auto">
          <a:xfrm>
            <a:off x="3448050" y="1536701"/>
            <a:ext cx="5200650" cy="4244975"/>
          </a:xfrm>
          <a:prstGeom prst="rect">
            <a:avLst/>
          </a:prstGeom>
          <a:solidFill>
            <a:srgbClr val="EAECF1"/>
          </a:solidFill>
          <a:ln w="87313">
            <a:solidFill>
              <a:srgbClr val="EAECF1"/>
            </a:solidFill>
            <a:miter lim="800000"/>
            <a:headEnd/>
            <a:tailEnd/>
          </a:ln>
        </p:spPr>
        <p:txBody>
          <a:bodyPr/>
          <a:lstStyle/>
          <a:p>
            <a:endParaRPr lang="en-IN"/>
          </a:p>
        </p:txBody>
      </p:sp>
      <p:sp>
        <p:nvSpPr>
          <p:cNvPr id="901133" name="Rectangle 13"/>
          <p:cNvSpPr>
            <a:spLocks noChangeArrowheads="1"/>
          </p:cNvSpPr>
          <p:nvPr/>
        </p:nvSpPr>
        <p:spPr bwMode="auto">
          <a:xfrm>
            <a:off x="3448050" y="1536701"/>
            <a:ext cx="5200650" cy="4244975"/>
          </a:xfrm>
          <a:prstGeom prst="rect">
            <a:avLst/>
          </a:prstGeom>
          <a:solidFill>
            <a:srgbClr val="E9EBF0"/>
          </a:solidFill>
          <a:ln w="65088">
            <a:solidFill>
              <a:srgbClr val="E9EBF0"/>
            </a:solidFill>
            <a:miter lim="800000"/>
            <a:headEnd/>
            <a:tailEnd/>
          </a:ln>
        </p:spPr>
        <p:txBody>
          <a:bodyPr/>
          <a:lstStyle/>
          <a:p>
            <a:endParaRPr lang="en-IN"/>
          </a:p>
        </p:txBody>
      </p:sp>
      <p:sp>
        <p:nvSpPr>
          <p:cNvPr id="901134" name="Rectangle 14"/>
          <p:cNvSpPr>
            <a:spLocks noChangeArrowheads="1"/>
          </p:cNvSpPr>
          <p:nvPr/>
        </p:nvSpPr>
        <p:spPr bwMode="auto">
          <a:xfrm>
            <a:off x="3448050" y="1536701"/>
            <a:ext cx="5200650" cy="4244975"/>
          </a:xfrm>
          <a:prstGeom prst="rect">
            <a:avLst/>
          </a:prstGeom>
          <a:solidFill>
            <a:srgbClr val="E7EAEF"/>
          </a:solidFill>
          <a:ln w="44450">
            <a:solidFill>
              <a:srgbClr val="E7EAEF"/>
            </a:solidFill>
            <a:miter lim="800000"/>
            <a:headEnd/>
            <a:tailEnd/>
          </a:ln>
        </p:spPr>
        <p:txBody>
          <a:bodyPr/>
          <a:lstStyle/>
          <a:p>
            <a:endParaRPr lang="en-IN"/>
          </a:p>
        </p:txBody>
      </p:sp>
      <p:sp>
        <p:nvSpPr>
          <p:cNvPr id="901135" name="Rectangle 15"/>
          <p:cNvSpPr>
            <a:spLocks noChangeArrowheads="1"/>
          </p:cNvSpPr>
          <p:nvPr/>
        </p:nvSpPr>
        <p:spPr bwMode="auto">
          <a:xfrm>
            <a:off x="3448050" y="1536701"/>
            <a:ext cx="5200650" cy="4244975"/>
          </a:xfrm>
          <a:prstGeom prst="rect">
            <a:avLst/>
          </a:prstGeom>
          <a:solidFill>
            <a:srgbClr val="E6E9EF"/>
          </a:solidFill>
          <a:ln w="22225">
            <a:solidFill>
              <a:srgbClr val="E6E9EF"/>
            </a:solidFill>
            <a:miter lim="800000"/>
            <a:headEnd/>
            <a:tailEnd/>
          </a:ln>
        </p:spPr>
        <p:txBody>
          <a:bodyPr/>
          <a:lstStyle/>
          <a:p>
            <a:endParaRPr lang="en-IN"/>
          </a:p>
        </p:txBody>
      </p:sp>
      <p:sp>
        <p:nvSpPr>
          <p:cNvPr id="901136" name="Rectangle 16"/>
          <p:cNvSpPr>
            <a:spLocks noChangeArrowheads="1"/>
          </p:cNvSpPr>
          <p:nvPr/>
        </p:nvSpPr>
        <p:spPr bwMode="auto">
          <a:xfrm>
            <a:off x="3338513" y="1428751"/>
            <a:ext cx="5200650" cy="42640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01137" name="Freeform 17"/>
          <p:cNvSpPr>
            <a:spLocks/>
          </p:cNvSpPr>
          <p:nvPr/>
        </p:nvSpPr>
        <p:spPr bwMode="auto">
          <a:xfrm>
            <a:off x="3338513" y="1428751"/>
            <a:ext cx="5200650" cy="4264025"/>
          </a:xfrm>
          <a:custGeom>
            <a:avLst/>
            <a:gdLst>
              <a:gd name="T0" fmla="*/ 0 w 3276"/>
              <a:gd name="T1" fmla="*/ 0 h 2686"/>
              <a:gd name="T2" fmla="*/ 0 w 3276"/>
              <a:gd name="T3" fmla="*/ 2686 h 2686"/>
              <a:gd name="T4" fmla="*/ 3276 w 3276"/>
              <a:gd name="T5" fmla="*/ 2686 h 2686"/>
            </a:gdLst>
            <a:ahLst/>
            <a:cxnLst>
              <a:cxn ang="0">
                <a:pos x="T0" y="T1"/>
              </a:cxn>
              <a:cxn ang="0">
                <a:pos x="T2" y="T3"/>
              </a:cxn>
              <a:cxn ang="0">
                <a:pos x="T4" y="T5"/>
              </a:cxn>
            </a:cxnLst>
            <a:rect l="0" t="0" r="r" b="b"/>
            <a:pathLst>
              <a:path w="3276" h="2686">
                <a:moveTo>
                  <a:pt x="0" y="0"/>
                </a:moveTo>
                <a:lnTo>
                  <a:pt x="0" y="2686"/>
                </a:lnTo>
                <a:lnTo>
                  <a:pt x="3276" y="2686"/>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1138" name="Rectangle 18"/>
          <p:cNvSpPr>
            <a:spLocks noChangeArrowheads="1"/>
          </p:cNvSpPr>
          <p:nvPr/>
        </p:nvSpPr>
        <p:spPr bwMode="auto">
          <a:xfrm>
            <a:off x="7392989" y="5795963"/>
            <a:ext cx="10724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p>
          <a:p>
            <a:r>
              <a:rPr lang="en-US" altLang="en-US" sz="1700" b="1">
                <a:solidFill>
                  <a:srgbClr val="000000"/>
                </a:solidFill>
              </a:rPr>
              <a:t>labour</a:t>
            </a:r>
            <a:endParaRPr lang="en-US" altLang="en-US" sz="2400">
              <a:latin typeface="Times New Roman" panose="02020603050405020304" pitchFamily="18" charset="0"/>
            </a:endParaRPr>
          </a:p>
        </p:txBody>
      </p:sp>
      <p:sp>
        <p:nvSpPr>
          <p:cNvPr id="901139" name="Rectangle 19"/>
          <p:cNvSpPr>
            <a:spLocks noChangeArrowheads="1"/>
          </p:cNvSpPr>
          <p:nvPr/>
        </p:nvSpPr>
        <p:spPr bwMode="auto">
          <a:xfrm>
            <a:off x="2745346" y="1431925"/>
            <a:ext cx="52014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en-US" sz="1700" b="1">
                <a:solidFill>
                  <a:srgbClr val="000000"/>
                </a:solidFill>
              </a:rPr>
              <a:t>Wage</a:t>
            </a:r>
            <a:endParaRPr lang="en-US" altLang="en-US" sz="2400">
              <a:latin typeface="Times New Roman" panose="02020603050405020304" pitchFamily="18" charset="0"/>
            </a:endParaRPr>
          </a:p>
        </p:txBody>
      </p:sp>
      <p:sp>
        <p:nvSpPr>
          <p:cNvPr id="901140" name="Rectangle 20"/>
          <p:cNvSpPr>
            <a:spLocks noChangeArrowheads="1"/>
          </p:cNvSpPr>
          <p:nvPr/>
        </p:nvSpPr>
        <p:spPr bwMode="auto">
          <a:xfrm>
            <a:off x="3195638" y="5703888"/>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grpSp>
        <p:nvGrpSpPr>
          <p:cNvPr id="901141" name="Group 21"/>
          <p:cNvGrpSpPr>
            <a:grpSpLocks/>
          </p:cNvGrpSpPr>
          <p:nvPr/>
        </p:nvGrpSpPr>
        <p:grpSpPr bwMode="auto">
          <a:xfrm>
            <a:off x="3513138" y="2674939"/>
            <a:ext cx="4286250" cy="2968625"/>
            <a:chOff x="1253" y="1685"/>
            <a:chExt cx="2700" cy="1870"/>
          </a:xfrm>
        </p:grpSpPr>
        <p:sp>
          <p:nvSpPr>
            <p:cNvPr id="901142" name="Line 22"/>
            <p:cNvSpPr>
              <a:spLocks noChangeShapeType="1"/>
            </p:cNvSpPr>
            <p:nvPr/>
          </p:nvSpPr>
          <p:spPr bwMode="auto">
            <a:xfrm flipH="1" flipV="1">
              <a:off x="1253" y="1685"/>
              <a:ext cx="2203" cy="1764"/>
            </a:xfrm>
            <a:prstGeom prst="line">
              <a:avLst/>
            </a:prstGeom>
            <a:noFill/>
            <a:ln w="65088">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1143" name="Rectangle 23"/>
            <p:cNvSpPr>
              <a:spLocks noChangeArrowheads="1"/>
            </p:cNvSpPr>
            <p:nvPr/>
          </p:nvSpPr>
          <p:spPr bwMode="auto">
            <a:xfrm>
              <a:off x="3519" y="3225"/>
              <a:ext cx="43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labour</a:t>
              </a:r>
            </a:p>
            <a:p>
              <a:r>
                <a:rPr lang="en-US" altLang="en-US" sz="1700">
                  <a:solidFill>
                    <a:srgbClr val="000000"/>
                  </a:solidFill>
                </a:rPr>
                <a:t>demand</a:t>
              </a:r>
              <a:endParaRPr lang="en-US" altLang="en-US" sz="2400">
                <a:latin typeface="Times New Roman" panose="02020603050405020304" pitchFamily="18" charset="0"/>
              </a:endParaRPr>
            </a:p>
          </p:txBody>
        </p:sp>
      </p:grpSp>
      <p:grpSp>
        <p:nvGrpSpPr>
          <p:cNvPr id="901144" name="Group 24"/>
          <p:cNvGrpSpPr>
            <a:grpSpLocks/>
          </p:cNvGrpSpPr>
          <p:nvPr/>
        </p:nvGrpSpPr>
        <p:grpSpPr bwMode="auto">
          <a:xfrm>
            <a:off x="3971925" y="2505075"/>
            <a:ext cx="4222750" cy="3079750"/>
            <a:chOff x="1542" y="1578"/>
            <a:chExt cx="2660" cy="1940"/>
          </a:xfrm>
        </p:grpSpPr>
        <p:sp>
          <p:nvSpPr>
            <p:cNvPr id="901145" name="Line 25"/>
            <p:cNvSpPr>
              <a:spLocks noChangeShapeType="1"/>
            </p:cNvSpPr>
            <p:nvPr/>
          </p:nvSpPr>
          <p:spPr bwMode="auto">
            <a:xfrm flipV="1">
              <a:off x="1542" y="1754"/>
              <a:ext cx="2217" cy="1764"/>
            </a:xfrm>
            <a:prstGeom prst="line">
              <a:avLst/>
            </a:prstGeom>
            <a:noFill/>
            <a:ln w="65088">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1146" name="Rectangle 26"/>
            <p:cNvSpPr>
              <a:spLocks noChangeArrowheads="1"/>
            </p:cNvSpPr>
            <p:nvPr/>
          </p:nvSpPr>
          <p:spPr bwMode="auto">
            <a:xfrm>
              <a:off x="3812" y="1578"/>
              <a:ext cx="39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labour</a:t>
              </a:r>
            </a:p>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01147" name="Group 27"/>
          <p:cNvGrpSpPr>
            <a:grpSpLocks/>
          </p:cNvGrpSpPr>
          <p:nvPr/>
        </p:nvGrpSpPr>
        <p:grpSpPr bwMode="auto">
          <a:xfrm>
            <a:off x="2211389" y="4046538"/>
            <a:ext cx="3897313" cy="2273300"/>
            <a:chOff x="433" y="2549"/>
            <a:chExt cx="2455" cy="1432"/>
          </a:xfrm>
        </p:grpSpPr>
        <p:sp>
          <p:nvSpPr>
            <p:cNvPr id="901148" name="Rectangle 28"/>
            <p:cNvSpPr>
              <a:spLocks noChangeArrowheads="1"/>
            </p:cNvSpPr>
            <p:nvPr/>
          </p:nvSpPr>
          <p:spPr bwMode="auto">
            <a:xfrm>
              <a:off x="2201" y="3651"/>
              <a:ext cx="68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700">
                  <a:solidFill>
                    <a:srgbClr val="000000"/>
                  </a:solidFill>
                </a:rPr>
                <a:t>Equilibrium</a:t>
              </a:r>
            </a:p>
            <a:p>
              <a:pPr algn="ctr"/>
              <a:r>
                <a:rPr lang="en-US" altLang="en-US" sz="1700">
                  <a:solidFill>
                    <a:srgbClr val="000000"/>
                  </a:solidFill>
                </a:rPr>
                <a:t>employment</a:t>
              </a:r>
              <a:endParaRPr lang="en-US" altLang="en-US" sz="2400">
                <a:latin typeface="Times New Roman" panose="02020603050405020304" pitchFamily="18" charset="0"/>
              </a:endParaRPr>
            </a:p>
          </p:txBody>
        </p:sp>
        <p:sp>
          <p:nvSpPr>
            <p:cNvPr id="901149" name="Rectangle 29"/>
            <p:cNvSpPr>
              <a:spLocks noChangeArrowheads="1"/>
            </p:cNvSpPr>
            <p:nvPr/>
          </p:nvSpPr>
          <p:spPr bwMode="auto">
            <a:xfrm>
              <a:off x="433" y="2549"/>
              <a:ext cx="66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en-US" sz="1700">
                  <a:solidFill>
                    <a:srgbClr val="000000"/>
                  </a:solidFill>
                </a:rPr>
                <a:t>Equilibrium</a:t>
              </a:r>
            </a:p>
            <a:p>
              <a:pPr algn="r"/>
              <a:r>
                <a:rPr lang="en-US" altLang="en-US" sz="1700">
                  <a:solidFill>
                    <a:srgbClr val="000000"/>
                  </a:solidFill>
                </a:rPr>
                <a:t>wage</a:t>
              </a:r>
              <a:endParaRPr lang="en-US" altLang="en-US" sz="2400">
                <a:latin typeface="Times New Roman" panose="02020603050405020304" pitchFamily="18" charset="0"/>
              </a:endParaRPr>
            </a:p>
          </p:txBody>
        </p:sp>
        <p:grpSp>
          <p:nvGrpSpPr>
            <p:cNvPr id="901150" name="Group 30"/>
            <p:cNvGrpSpPr>
              <a:grpSpLocks/>
            </p:cNvGrpSpPr>
            <p:nvPr/>
          </p:nvGrpSpPr>
          <p:grpSpPr bwMode="auto">
            <a:xfrm>
              <a:off x="1143" y="2677"/>
              <a:ext cx="1445" cy="896"/>
              <a:chOff x="1143" y="2677"/>
              <a:chExt cx="1445" cy="896"/>
            </a:xfrm>
          </p:grpSpPr>
          <p:sp>
            <p:nvSpPr>
              <p:cNvPr id="901151" name="Freeform 31"/>
              <p:cNvSpPr>
                <a:spLocks/>
              </p:cNvSpPr>
              <p:nvPr/>
            </p:nvSpPr>
            <p:spPr bwMode="auto">
              <a:xfrm>
                <a:off x="1143" y="2718"/>
                <a:ext cx="1404" cy="855"/>
              </a:xfrm>
              <a:custGeom>
                <a:avLst/>
                <a:gdLst>
                  <a:gd name="T0" fmla="*/ 1404 w 1404"/>
                  <a:gd name="T1" fmla="*/ 855 h 855"/>
                  <a:gd name="T2" fmla="*/ 1404 w 1404"/>
                  <a:gd name="T3" fmla="*/ 0 h 855"/>
                  <a:gd name="T4" fmla="*/ 0 w 1404"/>
                  <a:gd name="T5" fmla="*/ 0 h 855"/>
                </a:gdLst>
                <a:ahLst/>
                <a:cxnLst>
                  <a:cxn ang="0">
                    <a:pos x="T0" y="T1"/>
                  </a:cxn>
                  <a:cxn ang="0">
                    <a:pos x="T2" y="T3"/>
                  </a:cxn>
                  <a:cxn ang="0">
                    <a:pos x="T4" y="T5"/>
                  </a:cxn>
                </a:cxnLst>
                <a:rect l="0" t="0" r="r" b="b"/>
                <a:pathLst>
                  <a:path w="1404" h="855">
                    <a:moveTo>
                      <a:pt x="1404" y="855"/>
                    </a:moveTo>
                    <a:lnTo>
                      <a:pt x="1404" y="0"/>
                    </a:lnTo>
                    <a:lnTo>
                      <a:pt x="0" y="0"/>
                    </a:lnTo>
                  </a:path>
                </a:pathLst>
              </a:custGeom>
              <a:noFill/>
              <a:ln w="22225" cap="flat">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1152" name="Oval 32"/>
              <p:cNvSpPr>
                <a:spLocks noChangeArrowheads="1"/>
              </p:cNvSpPr>
              <p:nvPr/>
            </p:nvSpPr>
            <p:spPr bwMode="auto">
              <a:xfrm>
                <a:off x="2506" y="2677"/>
                <a:ext cx="82" cy="8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spTree>
    <p:extLst>
      <p:ext uri="{BB962C8B-B14F-4D97-AF65-F5344CB8AC3E}">
        <p14:creationId xmlns:p14="http://schemas.microsoft.com/office/powerpoint/2010/main" val="17876818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901141"/>
                                        </p:tgtEl>
                                        <p:attrNameLst>
                                          <p:attrName>style.visibility</p:attrName>
                                        </p:attrNameLst>
                                      </p:cBhvr>
                                      <p:to>
                                        <p:strVal val="visible"/>
                                      </p:to>
                                    </p:set>
                                    <p:animEffect transition="in" filter="strips(downRight)">
                                      <p:cBhvr>
                                        <p:cTn id="7" dur="500"/>
                                        <p:tgtEl>
                                          <p:spTgt spid="9011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901144"/>
                                        </p:tgtEl>
                                        <p:attrNameLst>
                                          <p:attrName>style.visibility</p:attrName>
                                        </p:attrNameLst>
                                      </p:cBhvr>
                                      <p:to>
                                        <p:strVal val="visible"/>
                                      </p:to>
                                    </p:set>
                                    <p:animEffect transition="in" filter="strips(upRight)">
                                      <p:cBhvr>
                                        <p:cTn id="12" dur="500"/>
                                        <p:tgtEl>
                                          <p:spTgt spid="9011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nodeType="clickEffect">
                                  <p:stCondLst>
                                    <p:cond delay="0"/>
                                  </p:stCondLst>
                                  <p:childTnLst>
                                    <p:set>
                                      <p:cBhvr>
                                        <p:cTn id="16" dur="1" fill="hold">
                                          <p:stCondLst>
                                            <p:cond delay="0"/>
                                          </p:stCondLst>
                                        </p:cTn>
                                        <p:tgtEl>
                                          <p:spTgt spid="901147"/>
                                        </p:tgtEl>
                                        <p:attrNameLst>
                                          <p:attrName>style.visibility</p:attrName>
                                        </p:attrNameLst>
                                      </p:cBhvr>
                                      <p:to>
                                        <p:strVal val="visible"/>
                                      </p:to>
                                    </p:set>
                                    <p:animEffect transition="in" filter="strips(upRight)">
                                      <p:cBhvr>
                                        <p:cTn id="17" dur="500"/>
                                        <p:tgtEl>
                                          <p:spTgt spid="901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098" name="Picture 2" descr="narrow aqua button bckgrd"/>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00099" name="Rectangle 3"/>
          <p:cNvSpPr>
            <a:spLocks noGrp="1" noChangeArrowheads="1"/>
          </p:cNvSpPr>
          <p:nvPr>
            <p:ph type="title"/>
          </p:nvPr>
        </p:nvSpPr>
        <p:spPr>
          <a:xfrm>
            <a:off x="2133600" y="50800"/>
            <a:ext cx="8229600" cy="685800"/>
          </a:xfrm>
        </p:spPr>
        <p:txBody>
          <a:bodyPr/>
          <a:lstStyle/>
          <a:p>
            <a:pPr algn="l">
              <a:lnSpc>
                <a:spcPct val="80000"/>
              </a:lnSpc>
            </a:pPr>
            <a:r>
              <a:rPr lang="en-US" altLang="en-US" sz="2400">
                <a:solidFill>
                  <a:schemeClr val="bg1"/>
                </a:solidFill>
              </a:rPr>
              <a:t>Figure 4 How the Minimum Wage Affects the Labour Market</a:t>
            </a:r>
          </a:p>
        </p:txBody>
      </p:sp>
      <p:sp>
        <p:nvSpPr>
          <p:cNvPr id="900100" name="Text Box 4"/>
          <p:cNvSpPr txBox="1">
            <a:spLocks noChangeArrowheads="1"/>
          </p:cNvSpPr>
          <p:nvPr/>
        </p:nvSpPr>
        <p:spPr bwMode="auto">
          <a:xfrm>
            <a:off x="8088313" y="6680200"/>
            <a:ext cx="243848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solidFill>
                  <a:schemeClr val="bg1"/>
                </a:solidFill>
              </a:rPr>
              <a:t>Copyright©2003  Southwestern/Thomson Learning</a:t>
            </a:r>
          </a:p>
        </p:txBody>
      </p:sp>
      <p:sp>
        <p:nvSpPr>
          <p:cNvPr id="900101" name="Rectangle 5"/>
          <p:cNvSpPr>
            <a:spLocks noChangeArrowheads="1"/>
          </p:cNvSpPr>
          <p:nvPr/>
        </p:nvSpPr>
        <p:spPr bwMode="auto">
          <a:xfrm>
            <a:off x="3676650" y="1536701"/>
            <a:ext cx="5200650" cy="4244975"/>
          </a:xfrm>
          <a:prstGeom prst="rect">
            <a:avLst/>
          </a:prstGeom>
          <a:solidFill>
            <a:srgbClr val="F3F6F9"/>
          </a:solidFill>
          <a:ln w="239713">
            <a:solidFill>
              <a:srgbClr val="F3F6F9"/>
            </a:solidFill>
            <a:miter lim="800000"/>
            <a:headEnd/>
            <a:tailEnd/>
          </a:ln>
        </p:spPr>
        <p:txBody>
          <a:bodyPr/>
          <a:lstStyle/>
          <a:p>
            <a:endParaRPr lang="en-IN"/>
          </a:p>
        </p:txBody>
      </p:sp>
      <p:sp>
        <p:nvSpPr>
          <p:cNvPr id="900102" name="Rectangle 6"/>
          <p:cNvSpPr>
            <a:spLocks noChangeArrowheads="1"/>
          </p:cNvSpPr>
          <p:nvPr/>
        </p:nvSpPr>
        <p:spPr bwMode="auto">
          <a:xfrm>
            <a:off x="3676650" y="1536701"/>
            <a:ext cx="5200650" cy="4244975"/>
          </a:xfrm>
          <a:prstGeom prst="rect">
            <a:avLst/>
          </a:prstGeom>
          <a:solidFill>
            <a:srgbClr val="F2F4F8"/>
          </a:solidFill>
          <a:ln w="219075">
            <a:solidFill>
              <a:srgbClr val="F2F4F8"/>
            </a:solidFill>
            <a:miter lim="800000"/>
            <a:headEnd/>
            <a:tailEnd/>
          </a:ln>
        </p:spPr>
        <p:txBody>
          <a:bodyPr/>
          <a:lstStyle/>
          <a:p>
            <a:endParaRPr lang="en-IN"/>
          </a:p>
        </p:txBody>
      </p:sp>
      <p:sp>
        <p:nvSpPr>
          <p:cNvPr id="900103" name="Rectangle 7"/>
          <p:cNvSpPr>
            <a:spLocks noChangeArrowheads="1"/>
          </p:cNvSpPr>
          <p:nvPr/>
        </p:nvSpPr>
        <p:spPr bwMode="auto">
          <a:xfrm>
            <a:off x="3676650" y="1536701"/>
            <a:ext cx="5200650" cy="4244975"/>
          </a:xfrm>
          <a:prstGeom prst="rect">
            <a:avLst/>
          </a:prstGeom>
          <a:solidFill>
            <a:srgbClr val="F1F4F7"/>
          </a:solidFill>
          <a:ln w="196850">
            <a:solidFill>
              <a:srgbClr val="F1F4F7"/>
            </a:solidFill>
            <a:miter lim="800000"/>
            <a:headEnd/>
            <a:tailEnd/>
          </a:ln>
        </p:spPr>
        <p:txBody>
          <a:bodyPr/>
          <a:lstStyle/>
          <a:p>
            <a:endParaRPr lang="en-IN"/>
          </a:p>
        </p:txBody>
      </p:sp>
      <p:sp>
        <p:nvSpPr>
          <p:cNvPr id="900104" name="Rectangle 8"/>
          <p:cNvSpPr>
            <a:spLocks noChangeArrowheads="1"/>
          </p:cNvSpPr>
          <p:nvPr/>
        </p:nvSpPr>
        <p:spPr bwMode="auto">
          <a:xfrm>
            <a:off x="3676650" y="1536701"/>
            <a:ext cx="5200650" cy="4244975"/>
          </a:xfrm>
          <a:prstGeom prst="rect">
            <a:avLst/>
          </a:prstGeom>
          <a:solidFill>
            <a:srgbClr val="F0F2F5"/>
          </a:solidFill>
          <a:ln w="174625">
            <a:solidFill>
              <a:srgbClr val="F0F2F5"/>
            </a:solidFill>
            <a:miter lim="800000"/>
            <a:headEnd/>
            <a:tailEnd/>
          </a:ln>
        </p:spPr>
        <p:txBody>
          <a:bodyPr/>
          <a:lstStyle/>
          <a:p>
            <a:endParaRPr lang="en-IN"/>
          </a:p>
        </p:txBody>
      </p:sp>
      <p:sp>
        <p:nvSpPr>
          <p:cNvPr id="900105" name="Rectangle 9"/>
          <p:cNvSpPr>
            <a:spLocks noChangeArrowheads="1"/>
          </p:cNvSpPr>
          <p:nvPr/>
        </p:nvSpPr>
        <p:spPr bwMode="auto">
          <a:xfrm>
            <a:off x="3676650" y="1536701"/>
            <a:ext cx="5200650" cy="4244975"/>
          </a:xfrm>
          <a:prstGeom prst="rect">
            <a:avLst/>
          </a:prstGeom>
          <a:solidFill>
            <a:srgbClr val="EEF1F4"/>
          </a:solidFill>
          <a:ln w="152400">
            <a:solidFill>
              <a:srgbClr val="EEF1F4"/>
            </a:solidFill>
            <a:miter lim="800000"/>
            <a:headEnd/>
            <a:tailEnd/>
          </a:ln>
        </p:spPr>
        <p:txBody>
          <a:bodyPr/>
          <a:lstStyle/>
          <a:p>
            <a:endParaRPr lang="en-IN"/>
          </a:p>
        </p:txBody>
      </p:sp>
      <p:sp>
        <p:nvSpPr>
          <p:cNvPr id="900106" name="Rectangle 10"/>
          <p:cNvSpPr>
            <a:spLocks noChangeArrowheads="1"/>
          </p:cNvSpPr>
          <p:nvPr/>
        </p:nvSpPr>
        <p:spPr bwMode="auto">
          <a:xfrm>
            <a:off x="3676650" y="1536701"/>
            <a:ext cx="5200650" cy="4244975"/>
          </a:xfrm>
          <a:prstGeom prst="rect">
            <a:avLst/>
          </a:prstGeom>
          <a:solidFill>
            <a:srgbClr val="EDEFF3"/>
          </a:solidFill>
          <a:ln w="131763">
            <a:solidFill>
              <a:srgbClr val="EDEFF3"/>
            </a:solidFill>
            <a:miter lim="800000"/>
            <a:headEnd/>
            <a:tailEnd/>
          </a:ln>
        </p:spPr>
        <p:txBody>
          <a:bodyPr/>
          <a:lstStyle/>
          <a:p>
            <a:endParaRPr lang="en-IN"/>
          </a:p>
        </p:txBody>
      </p:sp>
      <p:sp>
        <p:nvSpPr>
          <p:cNvPr id="900107" name="Rectangle 11"/>
          <p:cNvSpPr>
            <a:spLocks noChangeArrowheads="1"/>
          </p:cNvSpPr>
          <p:nvPr/>
        </p:nvSpPr>
        <p:spPr bwMode="auto">
          <a:xfrm>
            <a:off x="3676650" y="1536701"/>
            <a:ext cx="5200650" cy="4244975"/>
          </a:xfrm>
          <a:prstGeom prst="rect">
            <a:avLst/>
          </a:prstGeom>
          <a:solidFill>
            <a:srgbClr val="EBEEF2"/>
          </a:solidFill>
          <a:ln w="109538">
            <a:solidFill>
              <a:srgbClr val="EBEEF2"/>
            </a:solidFill>
            <a:miter lim="800000"/>
            <a:headEnd/>
            <a:tailEnd/>
          </a:ln>
        </p:spPr>
        <p:txBody>
          <a:bodyPr/>
          <a:lstStyle/>
          <a:p>
            <a:endParaRPr lang="en-IN"/>
          </a:p>
        </p:txBody>
      </p:sp>
      <p:sp>
        <p:nvSpPr>
          <p:cNvPr id="900108" name="Rectangle 12"/>
          <p:cNvSpPr>
            <a:spLocks noChangeArrowheads="1"/>
          </p:cNvSpPr>
          <p:nvPr/>
        </p:nvSpPr>
        <p:spPr bwMode="auto">
          <a:xfrm>
            <a:off x="3676650" y="1536701"/>
            <a:ext cx="5200650" cy="4244975"/>
          </a:xfrm>
          <a:prstGeom prst="rect">
            <a:avLst/>
          </a:prstGeom>
          <a:solidFill>
            <a:srgbClr val="EAECF1"/>
          </a:solidFill>
          <a:ln w="87313">
            <a:solidFill>
              <a:srgbClr val="EAECF1"/>
            </a:solidFill>
            <a:miter lim="800000"/>
            <a:headEnd/>
            <a:tailEnd/>
          </a:ln>
        </p:spPr>
        <p:txBody>
          <a:bodyPr/>
          <a:lstStyle/>
          <a:p>
            <a:endParaRPr lang="en-IN"/>
          </a:p>
        </p:txBody>
      </p:sp>
      <p:sp>
        <p:nvSpPr>
          <p:cNvPr id="900109" name="Rectangle 13"/>
          <p:cNvSpPr>
            <a:spLocks noChangeArrowheads="1"/>
          </p:cNvSpPr>
          <p:nvPr/>
        </p:nvSpPr>
        <p:spPr bwMode="auto">
          <a:xfrm>
            <a:off x="3676650" y="1536701"/>
            <a:ext cx="5200650" cy="4244975"/>
          </a:xfrm>
          <a:prstGeom prst="rect">
            <a:avLst/>
          </a:prstGeom>
          <a:solidFill>
            <a:srgbClr val="E9EBF0"/>
          </a:solidFill>
          <a:ln w="65088">
            <a:solidFill>
              <a:srgbClr val="E9EBF0"/>
            </a:solidFill>
            <a:miter lim="800000"/>
            <a:headEnd/>
            <a:tailEnd/>
          </a:ln>
        </p:spPr>
        <p:txBody>
          <a:bodyPr/>
          <a:lstStyle/>
          <a:p>
            <a:endParaRPr lang="en-IN"/>
          </a:p>
        </p:txBody>
      </p:sp>
      <p:sp>
        <p:nvSpPr>
          <p:cNvPr id="900110" name="Rectangle 14"/>
          <p:cNvSpPr>
            <a:spLocks noChangeArrowheads="1"/>
          </p:cNvSpPr>
          <p:nvPr/>
        </p:nvSpPr>
        <p:spPr bwMode="auto">
          <a:xfrm>
            <a:off x="3676650" y="1536701"/>
            <a:ext cx="5200650" cy="4244975"/>
          </a:xfrm>
          <a:prstGeom prst="rect">
            <a:avLst/>
          </a:prstGeom>
          <a:solidFill>
            <a:srgbClr val="E7EAEF"/>
          </a:solidFill>
          <a:ln w="44450">
            <a:solidFill>
              <a:srgbClr val="E7EAEF"/>
            </a:solidFill>
            <a:miter lim="800000"/>
            <a:headEnd/>
            <a:tailEnd/>
          </a:ln>
        </p:spPr>
        <p:txBody>
          <a:bodyPr/>
          <a:lstStyle/>
          <a:p>
            <a:endParaRPr lang="en-IN"/>
          </a:p>
        </p:txBody>
      </p:sp>
      <p:sp>
        <p:nvSpPr>
          <p:cNvPr id="900111" name="Rectangle 15"/>
          <p:cNvSpPr>
            <a:spLocks noChangeArrowheads="1"/>
          </p:cNvSpPr>
          <p:nvPr/>
        </p:nvSpPr>
        <p:spPr bwMode="auto">
          <a:xfrm>
            <a:off x="3676650" y="1536701"/>
            <a:ext cx="5200650" cy="4244975"/>
          </a:xfrm>
          <a:prstGeom prst="rect">
            <a:avLst/>
          </a:prstGeom>
          <a:solidFill>
            <a:srgbClr val="E6E9EF"/>
          </a:solidFill>
          <a:ln w="22225">
            <a:solidFill>
              <a:srgbClr val="E6E9EF"/>
            </a:solidFill>
            <a:miter lim="800000"/>
            <a:headEnd/>
            <a:tailEnd/>
          </a:ln>
        </p:spPr>
        <p:txBody>
          <a:bodyPr/>
          <a:lstStyle/>
          <a:p>
            <a:endParaRPr lang="en-IN"/>
          </a:p>
        </p:txBody>
      </p:sp>
      <p:sp>
        <p:nvSpPr>
          <p:cNvPr id="900112" name="Rectangle 16"/>
          <p:cNvSpPr>
            <a:spLocks noChangeArrowheads="1"/>
          </p:cNvSpPr>
          <p:nvPr/>
        </p:nvSpPr>
        <p:spPr bwMode="auto">
          <a:xfrm>
            <a:off x="3567113" y="1428751"/>
            <a:ext cx="5200650" cy="42640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900113" name="Rectangle 17"/>
          <p:cNvSpPr>
            <a:spLocks noChangeArrowheads="1"/>
          </p:cNvSpPr>
          <p:nvPr/>
        </p:nvSpPr>
        <p:spPr bwMode="auto">
          <a:xfrm>
            <a:off x="7626351" y="5795963"/>
            <a:ext cx="10724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b="1">
                <a:solidFill>
                  <a:srgbClr val="000000"/>
                </a:solidFill>
              </a:rPr>
              <a:t>Quantity of</a:t>
            </a:r>
          </a:p>
          <a:p>
            <a:r>
              <a:rPr lang="en-US" altLang="en-US" sz="1700" b="1">
                <a:solidFill>
                  <a:srgbClr val="000000"/>
                </a:solidFill>
              </a:rPr>
              <a:t>labour</a:t>
            </a:r>
            <a:endParaRPr lang="en-US" altLang="en-US" sz="2400">
              <a:latin typeface="Times New Roman" panose="02020603050405020304" pitchFamily="18" charset="0"/>
            </a:endParaRPr>
          </a:p>
        </p:txBody>
      </p:sp>
      <p:sp>
        <p:nvSpPr>
          <p:cNvPr id="900114" name="Rectangle 18"/>
          <p:cNvSpPr>
            <a:spLocks noChangeArrowheads="1"/>
          </p:cNvSpPr>
          <p:nvPr/>
        </p:nvSpPr>
        <p:spPr bwMode="auto">
          <a:xfrm>
            <a:off x="2978708" y="1431925"/>
            <a:ext cx="52014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r"/>
            <a:r>
              <a:rPr lang="en-US" altLang="en-US" sz="1700" b="1">
                <a:solidFill>
                  <a:srgbClr val="000000"/>
                </a:solidFill>
              </a:rPr>
              <a:t>Wage</a:t>
            </a:r>
            <a:endParaRPr lang="en-US" altLang="en-US" sz="2400">
              <a:latin typeface="Times New Roman" panose="02020603050405020304" pitchFamily="18" charset="0"/>
            </a:endParaRPr>
          </a:p>
        </p:txBody>
      </p:sp>
      <p:sp>
        <p:nvSpPr>
          <p:cNvPr id="900115" name="Rectangle 19"/>
          <p:cNvSpPr>
            <a:spLocks noChangeArrowheads="1"/>
          </p:cNvSpPr>
          <p:nvPr/>
        </p:nvSpPr>
        <p:spPr bwMode="auto">
          <a:xfrm>
            <a:off x="3429000" y="5703888"/>
            <a:ext cx="10900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0</a:t>
            </a:r>
            <a:endParaRPr lang="en-US" altLang="en-US" sz="2400">
              <a:latin typeface="Times New Roman" panose="02020603050405020304" pitchFamily="18" charset="0"/>
            </a:endParaRPr>
          </a:p>
        </p:txBody>
      </p:sp>
      <p:grpSp>
        <p:nvGrpSpPr>
          <p:cNvPr id="900116" name="Group 20"/>
          <p:cNvGrpSpPr>
            <a:grpSpLocks/>
          </p:cNvGrpSpPr>
          <p:nvPr/>
        </p:nvGrpSpPr>
        <p:grpSpPr bwMode="auto">
          <a:xfrm>
            <a:off x="4178300" y="2466975"/>
            <a:ext cx="4300538" cy="2941638"/>
            <a:chOff x="1672" y="1554"/>
            <a:chExt cx="2709" cy="1853"/>
          </a:xfrm>
        </p:grpSpPr>
        <p:sp>
          <p:nvSpPr>
            <p:cNvPr id="900117" name="Line 21"/>
            <p:cNvSpPr>
              <a:spLocks noChangeShapeType="1"/>
            </p:cNvSpPr>
            <p:nvPr/>
          </p:nvSpPr>
          <p:spPr bwMode="auto">
            <a:xfrm flipV="1">
              <a:off x="1672" y="1685"/>
              <a:ext cx="2286" cy="1722"/>
            </a:xfrm>
            <a:prstGeom prst="line">
              <a:avLst/>
            </a:prstGeom>
            <a:noFill/>
            <a:ln w="65088">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0118" name="Rectangle 22"/>
            <p:cNvSpPr>
              <a:spLocks noChangeArrowheads="1"/>
            </p:cNvSpPr>
            <p:nvPr/>
          </p:nvSpPr>
          <p:spPr bwMode="auto">
            <a:xfrm>
              <a:off x="3991" y="1554"/>
              <a:ext cx="39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labour</a:t>
              </a:r>
            </a:p>
            <a:p>
              <a:r>
                <a:rPr lang="en-US" altLang="en-US" sz="1700">
                  <a:solidFill>
                    <a:srgbClr val="000000"/>
                  </a:solidFill>
                </a:rPr>
                <a:t>Supply</a:t>
              </a:r>
              <a:endParaRPr lang="en-US" altLang="en-US" sz="2400">
                <a:latin typeface="Times New Roman" panose="02020603050405020304" pitchFamily="18" charset="0"/>
              </a:endParaRPr>
            </a:p>
          </p:txBody>
        </p:sp>
      </p:grpSp>
      <p:grpSp>
        <p:nvGrpSpPr>
          <p:cNvPr id="900119" name="Group 23"/>
          <p:cNvGrpSpPr>
            <a:grpSpLocks/>
          </p:cNvGrpSpPr>
          <p:nvPr/>
        </p:nvGrpSpPr>
        <p:grpSpPr bwMode="auto">
          <a:xfrm>
            <a:off x="5067303" y="2819400"/>
            <a:ext cx="1452563" cy="687388"/>
            <a:chOff x="2232" y="1776"/>
            <a:chExt cx="915" cy="433"/>
          </a:xfrm>
        </p:grpSpPr>
        <p:sp>
          <p:nvSpPr>
            <p:cNvPr id="900120" name="Freeform 24"/>
            <p:cNvSpPr>
              <a:spLocks/>
            </p:cNvSpPr>
            <p:nvPr/>
          </p:nvSpPr>
          <p:spPr bwMode="auto">
            <a:xfrm>
              <a:off x="2237" y="2112"/>
              <a:ext cx="908" cy="97"/>
            </a:xfrm>
            <a:custGeom>
              <a:avLst/>
              <a:gdLst>
                <a:gd name="T0" fmla="*/ 66 w 66"/>
                <a:gd name="T1" fmla="*/ 7 h 7"/>
                <a:gd name="T2" fmla="*/ 61 w 66"/>
                <a:gd name="T3" fmla="*/ 3 h 7"/>
                <a:gd name="T4" fmla="*/ 36 w 66"/>
                <a:gd name="T5" fmla="*/ 3 h 7"/>
                <a:gd name="T6" fmla="*/ 33 w 66"/>
                <a:gd name="T7" fmla="*/ 0 h 7"/>
                <a:gd name="T8" fmla="*/ 29 w 66"/>
                <a:gd name="T9" fmla="*/ 3 h 7"/>
                <a:gd name="T10" fmla="*/ 4 w 66"/>
                <a:gd name="T11" fmla="*/ 3 h 7"/>
                <a:gd name="T12" fmla="*/ 0 w 6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6" h="7">
                  <a:moveTo>
                    <a:pt x="66" y="7"/>
                  </a:moveTo>
                  <a:cubicBezTo>
                    <a:pt x="66" y="5"/>
                    <a:pt x="63" y="3"/>
                    <a:pt x="61" y="3"/>
                  </a:cubicBezTo>
                  <a:cubicBezTo>
                    <a:pt x="36" y="3"/>
                    <a:pt x="36" y="3"/>
                    <a:pt x="36" y="3"/>
                  </a:cubicBezTo>
                  <a:cubicBezTo>
                    <a:pt x="34" y="3"/>
                    <a:pt x="33" y="2"/>
                    <a:pt x="33" y="0"/>
                  </a:cubicBezTo>
                  <a:cubicBezTo>
                    <a:pt x="33" y="2"/>
                    <a:pt x="31" y="3"/>
                    <a:pt x="29" y="3"/>
                  </a:cubicBezTo>
                  <a:cubicBezTo>
                    <a:pt x="4" y="3"/>
                    <a:pt x="4" y="3"/>
                    <a:pt x="4" y="3"/>
                  </a:cubicBezTo>
                  <a:cubicBezTo>
                    <a:pt x="2" y="3"/>
                    <a:pt x="0" y="5"/>
                    <a:pt x="0" y="7"/>
                  </a:cubicBez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900121" name="Rectangle 25"/>
            <p:cNvSpPr>
              <a:spLocks noChangeArrowheads="1"/>
            </p:cNvSpPr>
            <p:nvPr/>
          </p:nvSpPr>
          <p:spPr bwMode="auto">
            <a:xfrm>
              <a:off x="2232" y="1776"/>
              <a:ext cx="91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700">
                  <a:solidFill>
                    <a:srgbClr val="000000"/>
                  </a:solidFill>
                </a:rPr>
                <a:t>labour surplus</a:t>
              </a:r>
            </a:p>
            <a:p>
              <a:pPr algn="ctr"/>
              <a:r>
                <a:rPr lang="en-US" altLang="en-US" sz="1700">
                  <a:solidFill>
                    <a:srgbClr val="000000"/>
                  </a:solidFill>
                </a:rPr>
                <a:t>(unemployment)</a:t>
              </a:r>
              <a:endParaRPr lang="en-US" altLang="en-US" sz="2400">
                <a:latin typeface="Times New Roman" panose="02020603050405020304" pitchFamily="18" charset="0"/>
              </a:endParaRPr>
            </a:p>
          </p:txBody>
        </p:sp>
      </p:grpSp>
      <p:grpSp>
        <p:nvGrpSpPr>
          <p:cNvPr id="900122" name="Group 26"/>
          <p:cNvGrpSpPr>
            <a:grpSpLocks/>
          </p:cNvGrpSpPr>
          <p:nvPr/>
        </p:nvGrpSpPr>
        <p:grpSpPr bwMode="auto">
          <a:xfrm>
            <a:off x="3779839" y="2681289"/>
            <a:ext cx="4386263" cy="2962275"/>
            <a:chOff x="1421" y="1689"/>
            <a:chExt cx="2763" cy="1866"/>
          </a:xfrm>
        </p:grpSpPr>
        <p:sp>
          <p:nvSpPr>
            <p:cNvPr id="900123" name="Rectangle 27"/>
            <p:cNvSpPr>
              <a:spLocks noChangeArrowheads="1"/>
            </p:cNvSpPr>
            <p:nvPr/>
          </p:nvSpPr>
          <p:spPr bwMode="auto">
            <a:xfrm>
              <a:off x="3750" y="3225"/>
              <a:ext cx="43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rPr>
                <a:t>labour</a:t>
              </a:r>
            </a:p>
            <a:p>
              <a:r>
                <a:rPr lang="en-US" altLang="en-US" sz="1700">
                  <a:solidFill>
                    <a:srgbClr val="000000"/>
                  </a:solidFill>
                </a:rPr>
                <a:t>demand</a:t>
              </a:r>
              <a:endParaRPr lang="en-US" altLang="en-US" sz="2400">
                <a:latin typeface="Times New Roman" panose="02020603050405020304" pitchFamily="18" charset="0"/>
              </a:endParaRPr>
            </a:p>
          </p:txBody>
        </p:sp>
        <p:sp>
          <p:nvSpPr>
            <p:cNvPr id="900124" name="Line 28"/>
            <p:cNvSpPr>
              <a:spLocks noChangeShapeType="1"/>
            </p:cNvSpPr>
            <p:nvPr/>
          </p:nvSpPr>
          <p:spPr bwMode="auto">
            <a:xfrm flipH="1" flipV="1">
              <a:off x="1421" y="1689"/>
              <a:ext cx="2286" cy="1722"/>
            </a:xfrm>
            <a:prstGeom prst="line">
              <a:avLst/>
            </a:prstGeom>
            <a:noFill/>
            <a:ln w="65088">
              <a:solidFill>
                <a:srgbClr val="004C9F"/>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900125" name="Group 29"/>
          <p:cNvGrpSpPr>
            <a:grpSpLocks/>
          </p:cNvGrpSpPr>
          <p:nvPr/>
        </p:nvGrpSpPr>
        <p:grpSpPr bwMode="auto">
          <a:xfrm>
            <a:off x="2573339" y="3389314"/>
            <a:ext cx="5341937" cy="523875"/>
            <a:chOff x="661" y="2135"/>
            <a:chExt cx="3365" cy="330"/>
          </a:xfrm>
        </p:grpSpPr>
        <p:sp>
          <p:nvSpPr>
            <p:cNvPr id="900126" name="Line 30"/>
            <p:cNvSpPr>
              <a:spLocks noChangeShapeType="1"/>
            </p:cNvSpPr>
            <p:nvPr/>
          </p:nvSpPr>
          <p:spPr bwMode="auto">
            <a:xfrm flipH="1">
              <a:off x="1287" y="2291"/>
              <a:ext cx="2739" cy="1"/>
            </a:xfrm>
            <a:prstGeom prst="line">
              <a:avLst/>
            </a:prstGeom>
            <a:noFill/>
            <a:ln w="65088">
              <a:solidFill>
                <a:srgbClr val="E17E2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00127" name="Rectangle 31"/>
            <p:cNvSpPr>
              <a:spLocks noChangeArrowheads="1"/>
            </p:cNvSpPr>
            <p:nvPr/>
          </p:nvSpPr>
          <p:spPr bwMode="auto">
            <a:xfrm>
              <a:off x="661" y="2135"/>
              <a:ext cx="55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700">
                  <a:solidFill>
                    <a:srgbClr val="000000"/>
                  </a:solidFill>
                </a:rPr>
                <a:t>Minimum</a:t>
              </a:r>
            </a:p>
            <a:p>
              <a:pPr algn="ctr"/>
              <a:r>
                <a:rPr lang="en-US" altLang="en-US" sz="1700">
                  <a:solidFill>
                    <a:srgbClr val="000000"/>
                  </a:solidFill>
                </a:rPr>
                <a:t>wage</a:t>
              </a:r>
              <a:endParaRPr lang="en-US" altLang="en-US" sz="2400">
                <a:latin typeface="Times New Roman" panose="02020603050405020304" pitchFamily="18" charset="0"/>
              </a:endParaRPr>
            </a:p>
          </p:txBody>
        </p:sp>
      </p:grpSp>
      <p:grpSp>
        <p:nvGrpSpPr>
          <p:cNvPr id="900128" name="Group 32"/>
          <p:cNvGrpSpPr>
            <a:grpSpLocks/>
          </p:cNvGrpSpPr>
          <p:nvPr/>
        </p:nvGrpSpPr>
        <p:grpSpPr bwMode="auto">
          <a:xfrm>
            <a:off x="4594225" y="3571876"/>
            <a:ext cx="893762" cy="2747963"/>
            <a:chOff x="1934" y="2250"/>
            <a:chExt cx="563" cy="1731"/>
          </a:xfrm>
        </p:grpSpPr>
        <p:sp>
          <p:nvSpPr>
            <p:cNvPr id="900129" name="Rectangle 33"/>
            <p:cNvSpPr>
              <a:spLocks noChangeArrowheads="1"/>
            </p:cNvSpPr>
            <p:nvPr/>
          </p:nvSpPr>
          <p:spPr bwMode="auto">
            <a:xfrm>
              <a:off x="1934" y="3651"/>
              <a:ext cx="56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700">
                  <a:solidFill>
                    <a:srgbClr val="000000"/>
                  </a:solidFill>
                </a:rPr>
                <a:t>Quantity</a:t>
              </a:r>
            </a:p>
            <a:p>
              <a:pPr algn="ctr"/>
              <a:r>
                <a:rPr lang="en-US" altLang="en-US" sz="1700">
                  <a:solidFill>
                    <a:srgbClr val="000000"/>
                  </a:solidFill>
                </a:rPr>
                <a:t>demanded</a:t>
              </a:r>
              <a:endParaRPr lang="en-US" altLang="en-US" sz="2400">
                <a:latin typeface="Times New Roman" panose="02020603050405020304" pitchFamily="18" charset="0"/>
              </a:endParaRPr>
            </a:p>
          </p:txBody>
        </p:sp>
        <p:grpSp>
          <p:nvGrpSpPr>
            <p:cNvPr id="900130" name="Group 34"/>
            <p:cNvGrpSpPr>
              <a:grpSpLocks/>
            </p:cNvGrpSpPr>
            <p:nvPr/>
          </p:nvGrpSpPr>
          <p:grpSpPr bwMode="auto">
            <a:xfrm>
              <a:off x="2182" y="2250"/>
              <a:ext cx="82" cy="1323"/>
              <a:chOff x="2182" y="2250"/>
              <a:chExt cx="82" cy="1323"/>
            </a:xfrm>
          </p:grpSpPr>
          <p:sp>
            <p:nvSpPr>
              <p:cNvPr id="900131" name="Line 35"/>
              <p:cNvSpPr>
                <a:spLocks noChangeShapeType="1"/>
              </p:cNvSpPr>
              <p:nvPr/>
            </p:nvSpPr>
            <p:spPr bwMode="auto">
              <a:xfrm flipV="1">
                <a:off x="2223" y="2291"/>
                <a:ext cx="1" cy="1282"/>
              </a:xfrm>
              <a:prstGeom prst="line">
                <a:avLst/>
              </a:prstGeom>
              <a:noFill/>
              <a:ln w="222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00132" name="Oval 36"/>
              <p:cNvSpPr>
                <a:spLocks noChangeArrowheads="1"/>
              </p:cNvSpPr>
              <p:nvPr/>
            </p:nvSpPr>
            <p:spPr bwMode="auto">
              <a:xfrm>
                <a:off x="2182" y="2250"/>
                <a:ext cx="82" cy="8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grpSp>
        <p:nvGrpSpPr>
          <p:cNvPr id="900133" name="Group 37"/>
          <p:cNvGrpSpPr>
            <a:grpSpLocks/>
          </p:cNvGrpSpPr>
          <p:nvPr/>
        </p:nvGrpSpPr>
        <p:grpSpPr bwMode="auto">
          <a:xfrm>
            <a:off x="6151566" y="3571876"/>
            <a:ext cx="763588" cy="2747963"/>
            <a:chOff x="2915" y="2250"/>
            <a:chExt cx="481" cy="1731"/>
          </a:xfrm>
        </p:grpSpPr>
        <p:sp>
          <p:nvSpPr>
            <p:cNvPr id="900134" name="Line 38"/>
            <p:cNvSpPr>
              <a:spLocks noChangeShapeType="1"/>
            </p:cNvSpPr>
            <p:nvPr/>
          </p:nvSpPr>
          <p:spPr bwMode="auto">
            <a:xfrm flipV="1">
              <a:off x="3159" y="2291"/>
              <a:ext cx="1" cy="1282"/>
            </a:xfrm>
            <a:prstGeom prst="line">
              <a:avLst/>
            </a:prstGeom>
            <a:noFill/>
            <a:ln w="222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IN"/>
            </a:p>
          </p:txBody>
        </p:sp>
        <p:sp>
          <p:nvSpPr>
            <p:cNvPr id="900135" name="Oval 39"/>
            <p:cNvSpPr>
              <a:spLocks noChangeArrowheads="1"/>
            </p:cNvSpPr>
            <p:nvPr/>
          </p:nvSpPr>
          <p:spPr bwMode="auto">
            <a:xfrm>
              <a:off x="3118" y="2250"/>
              <a:ext cx="82" cy="8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00136" name="Rectangle 40"/>
            <p:cNvSpPr>
              <a:spLocks noChangeArrowheads="1"/>
            </p:cNvSpPr>
            <p:nvPr/>
          </p:nvSpPr>
          <p:spPr bwMode="auto">
            <a:xfrm>
              <a:off x="2915" y="3651"/>
              <a:ext cx="48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700">
                  <a:solidFill>
                    <a:srgbClr val="000000"/>
                  </a:solidFill>
                </a:rPr>
                <a:t>Quantity</a:t>
              </a:r>
            </a:p>
            <a:p>
              <a:pPr algn="ctr"/>
              <a:r>
                <a:rPr lang="en-US" altLang="en-US" sz="1700">
                  <a:solidFill>
                    <a:srgbClr val="000000"/>
                  </a:solidFill>
                </a:rPr>
                <a:t>supplied</a:t>
              </a:r>
              <a:endParaRPr lang="en-US" altLang="en-US" sz="2400">
                <a:latin typeface="Times New Roman" panose="02020603050405020304" pitchFamily="18" charset="0"/>
              </a:endParaRPr>
            </a:p>
          </p:txBody>
        </p:sp>
      </p:grpSp>
      <p:sp>
        <p:nvSpPr>
          <p:cNvPr id="900137" name="Freeform 41"/>
          <p:cNvSpPr>
            <a:spLocks/>
          </p:cNvSpPr>
          <p:nvPr/>
        </p:nvSpPr>
        <p:spPr bwMode="auto">
          <a:xfrm>
            <a:off x="3567113" y="1428751"/>
            <a:ext cx="5200650" cy="4264025"/>
          </a:xfrm>
          <a:custGeom>
            <a:avLst/>
            <a:gdLst>
              <a:gd name="T0" fmla="*/ 0 w 3276"/>
              <a:gd name="T1" fmla="*/ 0 h 2686"/>
              <a:gd name="T2" fmla="*/ 0 w 3276"/>
              <a:gd name="T3" fmla="*/ 2686 h 2686"/>
              <a:gd name="T4" fmla="*/ 3276 w 3276"/>
              <a:gd name="T5" fmla="*/ 2686 h 2686"/>
            </a:gdLst>
            <a:ahLst/>
            <a:cxnLst>
              <a:cxn ang="0">
                <a:pos x="T0" y="T1"/>
              </a:cxn>
              <a:cxn ang="0">
                <a:pos x="T2" y="T3"/>
              </a:cxn>
              <a:cxn ang="0">
                <a:pos x="T4" y="T5"/>
              </a:cxn>
            </a:cxnLst>
            <a:rect l="0" t="0" r="r" b="b"/>
            <a:pathLst>
              <a:path w="3276" h="2686">
                <a:moveTo>
                  <a:pt x="0" y="0"/>
                </a:moveTo>
                <a:lnTo>
                  <a:pt x="0" y="2686"/>
                </a:lnTo>
                <a:lnTo>
                  <a:pt x="3276" y="2686"/>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Tree>
    <p:extLst>
      <p:ext uri="{BB962C8B-B14F-4D97-AF65-F5344CB8AC3E}">
        <p14:creationId xmlns:p14="http://schemas.microsoft.com/office/powerpoint/2010/main" val="20563912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900122"/>
                                        </p:tgtEl>
                                        <p:attrNameLst>
                                          <p:attrName>style.visibility</p:attrName>
                                        </p:attrNameLst>
                                      </p:cBhvr>
                                      <p:to>
                                        <p:strVal val="visible"/>
                                      </p:to>
                                    </p:set>
                                    <p:animEffect transition="in" filter="strips(downRight)">
                                      <p:cBhvr>
                                        <p:cTn id="7" dur="500"/>
                                        <p:tgtEl>
                                          <p:spTgt spid="900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900116"/>
                                        </p:tgtEl>
                                        <p:attrNameLst>
                                          <p:attrName>style.visibility</p:attrName>
                                        </p:attrNameLst>
                                      </p:cBhvr>
                                      <p:to>
                                        <p:strVal val="visible"/>
                                      </p:to>
                                    </p:set>
                                    <p:animEffect transition="in" filter="strips(upRight)">
                                      <p:cBhvr>
                                        <p:cTn id="12" dur="500"/>
                                        <p:tgtEl>
                                          <p:spTgt spid="9001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00125"/>
                                        </p:tgtEl>
                                        <p:attrNameLst>
                                          <p:attrName>style.visibility</p:attrName>
                                        </p:attrNameLst>
                                      </p:cBhvr>
                                      <p:to>
                                        <p:strVal val="visible"/>
                                      </p:to>
                                    </p:set>
                                    <p:animEffect transition="in" filter="wipe(left)">
                                      <p:cBhvr>
                                        <p:cTn id="17" dur="500"/>
                                        <p:tgtEl>
                                          <p:spTgt spid="9001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900128"/>
                                        </p:tgtEl>
                                        <p:attrNameLst>
                                          <p:attrName>style.visibility</p:attrName>
                                        </p:attrNameLst>
                                      </p:cBhvr>
                                      <p:to>
                                        <p:strVal val="visible"/>
                                      </p:to>
                                    </p:set>
                                    <p:animEffect transition="in" filter="wipe(down)">
                                      <p:cBhvr>
                                        <p:cTn id="22" dur="500"/>
                                        <p:tgtEl>
                                          <p:spTgt spid="9001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900133"/>
                                        </p:tgtEl>
                                        <p:attrNameLst>
                                          <p:attrName>style.visibility</p:attrName>
                                        </p:attrNameLst>
                                      </p:cBhvr>
                                      <p:to>
                                        <p:strVal val="visible"/>
                                      </p:to>
                                    </p:set>
                                    <p:animEffect transition="in" filter="wipe(down)">
                                      <p:cBhvr>
                                        <p:cTn id="27" dur="500"/>
                                        <p:tgtEl>
                                          <p:spTgt spid="9001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900119"/>
                                        </p:tgtEl>
                                        <p:attrNameLst>
                                          <p:attrName>style.visibility</p:attrName>
                                        </p:attrNameLst>
                                      </p:cBhvr>
                                      <p:to>
                                        <p:strVal val="visible"/>
                                      </p:to>
                                    </p:set>
                                    <p:animEffect transition="in" filter="wipe(down)">
                                      <p:cBhvr>
                                        <p:cTn id="32" dur="500"/>
                                        <p:tgtEl>
                                          <p:spTgt spid="900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Minimum Wages in India </a:t>
            </a:r>
            <a:endParaRPr lang="en-IN" dirty="0"/>
          </a:p>
        </p:txBody>
      </p:sp>
      <p:sp>
        <p:nvSpPr>
          <p:cNvPr id="3" name="Content Placeholder 2"/>
          <p:cNvSpPr>
            <a:spLocks noGrp="1"/>
          </p:cNvSpPr>
          <p:nvPr>
            <p:ph idx="1"/>
          </p:nvPr>
        </p:nvSpPr>
        <p:spPr/>
        <p:txBody>
          <a:bodyPr/>
          <a:lstStyle/>
          <a:p>
            <a:pPr algn="just"/>
            <a:r>
              <a:rPr lang="en-US" dirty="0"/>
              <a:t>As per the Indian Constitution, 'Minimum Wage' has been defined as the level of income for skilled and unskilled workers which ensures a sustaining standard of living while also providing for some measure of comfort. A minimum wage not just supports the bare level of employment, but also seeks for viable continuous improvement. It aims at preventing exploitation of </a:t>
            </a:r>
            <a:r>
              <a:rPr lang="en-US" dirty="0" err="1"/>
              <a:t>labour</a:t>
            </a:r>
            <a:r>
              <a:rPr lang="en-US" dirty="0"/>
              <a:t>.</a:t>
            </a:r>
            <a:endParaRPr lang="en-IN" dirty="0"/>
          </a:p>
        </p:txBody>
      </p:sp>
    </p:spTree>
    <p:extLst>
      <p:ext uri="{BB962C8B-B14F-4D97-AF65-F5344CB8AC3E}">
        <p14:creationId xmlns:p14="http://schemas.microsoft.com/office/powerpoint/2010/main" val="2138223594"/>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Tamil Nadu Minimum wages for Domestic Help </a:t>
            </a:r>
            <a:endParaRPr lang="en-IN" dirty="0"/>
          </a:p>
        </p:txBody>
      </p:sp>
      <p:sp>
        <p:nvSpPr>
          <p:cNvPr id="3" name="Content Placeholder 2"/>
          <p:cNvSpPr>
            <a:spLocks noGrp="1"/>
          </p:cNvSpPr>
          <p:nvPr>
            <p:ph idx="1"/>
          </p:nvPr>
        </p:nvSpPr>
        <p:spPr/>
        <p:txBody>
          <a:bodyPr/>
          <a:lstStyle/>
          <a:p>
            <a:r>
              <a:rPr lang="en-US" sz="2400" dirty="0"/>
              <a:t>Tamil Nadu government has fixed minimum monthly wages for domestic </a:t>
            </a:r>
            <a:r>
              <a:rPr lang="en-US" sz="2400" dirty="0" smtClean="0"/>
              <a:t>workers.</a:t>
            </a:r>
          </a:p>
          <a:p>
            <a:pPr algn="just"/>
            <a:r>
              <a:rPr lang="en-US" sz="2400" dirty="0" smtClean="0"/>
              <a:t>– </a:t>
            </a:r>
            <a:r>
              <a:rPr lang="en-US" sz="2400" dirty="0" err="1"/>
              <a:t>Rs</a:t>
            </a:r>
            <a:r>
              <a:rPr lang="en-US" sz="2400" dirty="0"/>
              <a:t> 37 for unskilled domestic workers, </a:t>
            </a:r>
            <a:r>
              <a:rPr lang="en-US" sz="2400" dirty="0" err="1"/>
              <a:t>Rs</a:t>
            </a:r>
            <a:r>
              <a:rPr lang="en-US" sz="2400" dirty="0"/>
              <a:t> 39 for skilled workers and </a:t>
            </a:r>
            <a:r>
              <a:rPr lang="en-US" sz="2400" dirty="0" err="1"/>
              <a:t>Rs</a:t>
            </a:r>
            <a:r>
              <a:rPr lang="en-US" sz="2400" dirty="0"/>
              <a:t> 38 for semi-skilled workers. The rates are fixed by considering a day’s chore of eight hours</a:t>
            </a:r>
            <a:r>
              <a:rPr lang="en-US" sz="2400" dirty="0" smtClean="0"/>
              <a:t>.</a:t>
            </a:r>
          </a:p>
          <a:p>
            <a:pPr algn="just"/>
            <a:r>
              <a:rPr lang="en-US" sz="2400" dirty="0"/>
              <a:t>The minimum monthly wage for the entire day’s work for unskilled workers has been fixed at </a:t>
            </a:r>
            <a:r>
              <a:rPr lang="en-US" sz="2400" dirty="0" err="1"/>
              <a:t>Rs</a:t>
            </a:r>
            <a:r>
              <a:rPr lang="en-US" sz="2400" dirty="0"/>
              <a:t> 6836, whereas the same for qualified home nurse has been set at </a:t>
            </a:r>
            <a:r>
              <a:rPr lang="en-US" sz="2400" dirty="0" err="1"/>
              <a:t>Rs</a:t>
            </a:r>
            <a:r>
              <a:rPr lang="en-US" sz="2400" dirty="0"/>
              <a:t> 8051. For the workers who stay with their employers, the remuneration is 10% higher.</a:t>
            </a:r>
            <a:br>
              <a:rPr lang="en-US" sz="2400" dirty="0"/>
            </a:br>
            <a:r>
              <a:rPr lang="en-US" sz="2400" dirty="0"/>
              <a:t/>
            </a:r>
            <a:br>
              <a:rPr lang="en-US" sz="2400" dirty="0"/>
            </a:br>
            <a:endParaRPr lang="en-IN" sz="2400" dirty="0"/>
          </a:p>
        </p:txBody>
      </p:sp>
    </p:spTree>
    <p:extLst>
      <p:ext uri="{BB962C8B-B14F-4D97-AF65-F5344CB8AC3E}">
        <p14:creationId xmlns:p14="http://schemas.microsoft.com/office/powerpoint/2010/main" val="2782921979"/>
      </p:ext>
    </p:extLst>
  </p:cSld>
  <p:clrMapOvr>
    <a:masterClrMapping/>
  </p:clrMapOvr>
  <p:transition spd="med"/>
</p:sld>
</file>

<file path=ppt/theme/theme1.xml><?xml version="1.0" encoding="utf-8"?>
<a:theme xmlns:a="http://schemas.openxmlformats.org/drawingml/2006/main" name="3etemplate">
  <a:themeElements>
    <a:clrScheme name="3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etemplate">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800" b="0" i="1"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800" b="0" i="1"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3e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e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e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e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e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e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e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TotalTime>
  <Words>1212</Words>
  <Application>Microsoft Office PowerPoint</Application>
  <PresentationFormat>Widescreen</PresentationFormat>
  <Paragraphs>215</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3etemplate</vt:lpstr>
      <vt:lpstr>Effects of Government Intervention-Price Control </vt:lpstr>
      <vt:lpstr>Control on Prices </vt:lpstr>
      <vt:lpstr>Control on Prices </vt:lpstr>
      <vt:lpstr>Price Ceiling </vt:lpstr>
      <vt:lpstr>Figure 1 A Market with a Price Ceiling</vt:lpstr>
      <vt:lpstr>Figure 1 A Market with a Price Ceiling</vt:lpstr>
      <vt:lpstr>PowerPoint Presentation</vt:lpstr>
      <vt:lpstr>Rent Control Act in Mumbai</vt:lpstr>
      <vt:lpstr>Figure 2 Rent Control in the Short Run and in the Long Run</vt:lpstr>
      <vt:lpstr>Figure 2 Rent Control in the Short Run and in the Long Run</vt:lpstr>
      <vt:lpstr>Impact of Price Ceiling </vt:lpstr>
      <vt:lpstr>Price Ceiling on Knee Replacement </vt:lpstr>
      <vt:lpstr>NPPA 2022</vt:lpstr>
      <vt:lpstr>Indian Steel Industry</vt:lpstr>
      <vt:lpstr>Figure 3 A Market with a Price Floor</vt:lpstr>
      <vt:lpstr>Figure 3 A Market with a Price Floor</vt:lpstr>
      <vt:lpstr>Figure 4 How the Minimum Wage Affects the Labour Market</vt:lpstr>
      <vt:lpstr>Figure 4 How the Minimum Wage Affects the Labour Market</vt:lpstr>
      <vt:lpstr>Minimum Wages in India </vt:lpstr>
      <vt:lpstr>Tamil Nadu Minimum wages for Domestic Help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dc:title>
  <dc:creator>vaith</dc:creator>
  <cp:lastModifiedBy>vaith</cp:lastModifiedBy>
  <cp:revision>22</cp:revision>
  <dcterms:created xsi:type="dcterms:W3CDTF">2020-09-02T00:17:42Z</dcterms:created>
  <dcterms:modified xsi:type="dcterms:W3CDTF">2023-09-05T05:36:17Z</dcterms:modified>
</cp:coreProperties>
</file>