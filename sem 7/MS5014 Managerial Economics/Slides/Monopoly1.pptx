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7" r:id="rId6"/>
    <p:sldId id="272" r:id="rId7"/>
    <p:sldId id="269" r:id="rId8"/>
    <p:sldId id="270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32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03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70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38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89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3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54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84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1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33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51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40AFF-0D32-4191-BB10-AA328BB6E5B3}" type="datetimeFigureOut">
              <a:rPr lang="en-IN" smtClean="0"/>
              <a:t>20-09-2023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7D580-06B7-4839-B2B7-C0914D622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54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Monopoly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4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Natural Monopoly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industry is a natural monopoly when a single firm can supply a good or service to an entire market at a lower cost than could two or more firms. </a:t>
            </a:r>
          </a:p>
          <a:p>
            <a:r>
              <a:rPr lang="en-US" dirty="0" smtClean="0"/>
              <a:t>Economies of scale arises over the relevant range of output. </a:t>
            </a:r>
          </a:p>
          <a:p>
            <a:r>
              <a:rPr lang="en-US" dirty="0" smtClean="0"/>
              <a:t>Refer to </a:t>
            </a:r>
            <a:r>
              <a:rPr lang="en-US" dirty="0" err="1" smtClean="0"/>
              <a:t>dia</a:t>
            </a:r>
            <a:r>
              <a:rPr lang="en-US" dirty="0" smtClean="0"/>
              <a:t> below. A single firm can produce any amount at least cost. That is, for any given amount of output, a larger number of firms leads to less output per firm and higher average total cost. </a:t>
            </a:r>
          </a:p>
          <a:p>
            <a:r>
              <a:rPr lang="en-US" dirty="0" smtClean="0"/>
              <a:t>Example of Natural Monopoly-distribution of water, Indian railways, Electricity </a:t>
            </a:r>
          </a:p>
          <a:p>
            <a:r>
              <a:rPr lang="en-US" dirty="0" smtClean="0"/>
              <a:t>Size of the market determines the natural monopoly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79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1 Economies of Scale as a Cause of Monopoly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088313" y="6680201"/>
            <a:ext cx="18034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 © 2004  South-Western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F3F6F9"/>
          </a:solidFill>
          <a:ln w="265113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F2F4F8"/>
          </a:solidFill>
          <a:ln w="2413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F1F4F7"/>
          </a:solidFill>
          <a:ln w="21748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F0F2F5"/>
          </a:solidFill>
          <a:ln w="193675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EF1F4"/>
          </a:solidFill>
          <a:ln w="168275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DEFF3"/>
          </a:solidFill>
          <a:ln w="14446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BEEF2"/>
          </a:solidFill>
          <a:ln w="1206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AECF1"/>
          </a:solidFill>
          <a:ln w="9683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9EBF0"/>
          </a:solidFill>
          <a:ln w="7302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11" name="Rectangle 15"/>
          <p:cNvSpPr>
            <a:spLocks noChangeArrowheads="1"/>
          </p:cNvSpPr>
          <p:nvPr/>
        </p:nvSpPr>
        <p:spPr bwMode="auto">
          <a:xfrm>
            <a:off x="3138489" y="1458914"/>
            <a:ext cx="6078537" cy="4587875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12" name="Rectangle 16"/>
          <p:cNvSpPr>
            <a:spLocks noChangeArrowheads="1"/>
          </p:cNvSpPr>
          <p:nvPr/>
        </p:nvSpPr>
        <p:spPr bwMode="auto">
          <a:xfrm>
            <a:off x="2994026" y="1289050"/>
            <a:ext cx="6149975" cy="4660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4113" name="Freeform 17"/>
          <p:cNvSpPr>
            <a:spLocks/>
          </p:cNvSpPr>
          <p:nvPr/>
        </p:nvSpPr>
        <p:spPr bwMode="auto">
          <a:xfrm>
            <a:off x="2994026" y="1289050"/>
            <a:ext cx="6149975" cy="4660900"/>
          </a:xfrm>
          <a:custGeom>
            <a:avLst/>
            <a:gdLst>
              <a:gd name="T0" fmla="*/ 0 w 3874"/>
              <a:gd name="T1" fmla="*/ 0 h 2936"/>
              <a:gd name="T2" fmla="*/ 0 w 3874"/>
              <a:gd name="T3" fmla="*/ 4660900 h 2936"/>
              <a:gd name="T4" fmla="*/ 6149975 w 3874"/>
              <a:gd name="T5" fmla="*/ 4660900 h 29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74" h="2936">
                <a:moveTo>
                  <a:pt x="0" y="0"/>
                </a:moveTo>
                <a:lnTo>
                  <a:pt x="0" y="2936"/>
                </a:lnTo>
                <a:lnTo>
                  <a:pt x="3874" y="2936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6877051" y="5976938"/>
            <a:ext cx="2239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Quantity of Output</a:t>
            </a:r>
            <a:endParaRPr lang="en-US" altLang="en-US"/>
          </a:p>
        </p:txBody>
      </p:sp>
      <p:grpSp>
        <p:nvGrpSpPr>
          <p:cNvPr id="105491" name="Group 19"/>
          <p:cNvGrpSpPr>
            <a:grpSpLocks/>
          </p:cNvGrpSpPr>
          <p:nvPr/>
        </p:nvGrpSpPr>
        <p:grpSpPr bwMode="auto">
          <a:xfrm>
            <a:off x="3089276" y="1847850"/>
            <a:ext cx="6018213" cy="3822700"/>
            <a:chOff x="986" y="1164"/>
            <a:chExt cx="3791" cy="2408"/>
          </a:xfrm>
        </p:grpSpPr>
        <p:sp>
          <p:nvSpPr>
            <p:cNvPr id="4118" name="Freeform 20"/>
            <p:cNvSpPr>
              <a:spLocks/>
            </p:cNvSpPr>
            <p:nvPr/>
          </p:nvSpPr>
          <p:spPr bwMode="auto">
            <a:xfrm>
              <a:off x="986" y="1164"/>
              <a:ext cx="3176" cy="1896"/>
            </a:xfrm>
            <a:custGeom>
              <a:avLst/>
              <a:gdLst>
                <a:gd name="T0" fmla="*/ 0 w 209"/>
                <a:gd name="T1" fmla="*/ 0 h 124"/>
                <a:gd name="T2" fmla="*/ 3176 w 209"/>
                <a:gd name="T3" fmla="*/ 1896 h 1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9" h="124">
                  <a:moveTo>
                    <a:pt x="0" y="0"/>
                  </a:moveTo>
                  <a:cubicBezTo>
                    <a:pt x="0" y="0"/>
                    <a:pt x="15" y="105"/>
                    <a:pt x="209" y="124"/>
                  </a:cubicBezTo>
                </a:path>
              </a:pathLst>
            </a:custGeom>
            <a:noFill/>
            <a:ln w="73025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4119" name="Group 21"/>
            <p:cNvGrpSpPr>
              <a:grpSpLocks/>
            </p:cNvGrpSpPr>
            <p:nvPr/>
          </p:nvGrpSpPr>
          <p:grpSpPr bwMode="auto">
            <a:xfrm>
              <a:off x="4181" y="2975"/>
              <a:ext cx="596" cy="597"/>
              <a:chOff x="4181" y="2975"/>
              <a:chExt cx="596" cy="597"/>
            </a:xfrm>
          </p:grpSpPr>
          <p:sp>
            <p:nvSpPr>
              <p:cNvPr id="4120" name="Rectangle 22"/>
              <p:cNvSpPr>
                <a:spLocks noChangeArrowheads="1"/>
              </p:cNvSpPr>
              <p:nvPr/>
            </p:nvSpPr>
            <p:spPr bwMode="auto">
              <a:xfrm>
                <a:off x="4181" y="2975"/>
                <a:ext cx="5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Average</a:t>
                </a:r>
                <a:endParaRPr lang="en-US" altLang="en-US"/>
              </a:p>
            </p:txBody>
          </p:sp>
          <p:sp>
            <p:nvSpPr>
              <p:cNvPr id="4121" name="Rectangle 23"/>
              <p:cNvSpPr>
                <a:spLocks noChangeArrowheads="1"/>
              </p:cNvSpPr>
              <p:nvPr/>
            </p:nvSpPr>
            <p:spPr bwMode="auto">
              <a:xfrm>
                <a:off x="4328" y="3178"/>
                <a:ext cx="30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total</a:t>
                </a:r>
                <a:endParaRPr lang="en-US" altLang="en-US"/>
              </a:p>
            </p:txBody>
          </p:sp>
          <p:sp>
            <p:nvSpPr>
              <p:cNvPr id="4122" name="Rectangle 24"/>
              <p:cNvSpPr>
                <a:spLocks noChangeArrowheads="1"/>
              </p:cNvSpPr>
              <p:nvPr/>
            </p:nvSpPr>
            <p:spPr bwMode="auto">
              <a:xfrm>
                <a:off x="4333" y="3380"/>
                <a:ext cx="2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cost</a:t>
                </a:r>
                <a:endParaRPr lang="en-US" altLang="en-US"/>
              </a:p>
            </p:txBody>
          </p:sp>
        </p:grpSp>
      </p:grpSp>
      <p:sp>
        <p:nvSpPr>
          <p:cNvPr id="4116" name="Rectangle 25"/>
          <p:cNvSpPr>
            <a:spLocks noChangeArrowheads="1"/>
          </p:cNvSpPr>
          <p:nvPr/>
        </p:nvSpPr>
        <p:spPr bwMode="auto">
          <a:xfrm>
            <a:off x="2806700" y="5984875"/>
            <a:ext cx="141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4117" name="Rectangle 26"/>
          <p:cNvSpPr>
            <a:spLocks noChangeArrowheads="1"/>
          </p:cNvSpPr>
          <p:nvPr/>
        </p:nvSpPr>
        <p:spPr bwMode="auto">
          <a:xfrm>
            <a:off x="2373313" y="1262063"/>
            <a:ext cx="565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Cost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809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profit maximization rule for monopolist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390820"/>
              </p:ext>
            </p:extLst>
          </p:nvPr>
        </p:nvGraphicFramePr>
        <p:xfrm>
          <a:off x="838200" y="1825625"/>
          <a:ext cx="10515600" cy="499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882573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6079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571992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47144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3634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Quantity of customers (Q)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Price (P)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Revenue (TR)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Average Revenue (AR)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Marginal Revenue per 1000 customers (MR)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479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80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90000 (90)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016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70000 (70)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73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50000 (50)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2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30000 (30)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55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10000</a:t>
                      </a:r>
                      <a:r>
                        <a:rPr lang="en-US" baseline="0" dirty="0" smtClean="0"/>
                        <a:t> (10)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42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-10000 (-10)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9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-30000 (-30)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482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-50000(-50)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3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90,000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-70000(-70)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3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-90000(-90)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77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46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3 Demand and Marginal Revenue Curves for a Monopoly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8088313" y="6680201"/>
            <a:ext cx="18034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 © 2004  South-Western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F3F6F9"/>
          </a:solidFill>
          <a:ln w="222250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F2F4F8"/>
          </a:solidFill>
          <a:ln w="2032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F1F4F7"/>
          </a:solidFill>
          <a:ln w="1825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F0F2F5"/>
          </a:solidFill>
          <a:ln w="161925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EEF1F4"/>
          </a:solidFill>
          <a:ln w="1412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EDEFF3"/>
          </a:solidFill>
          <a:ln w="12223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EBEEF2"/>
          </a:solidFill>
          <a:ln w="10160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EAECF1"/>
          </a:solidFill>
          <a:ln w="8096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E9EBF0"/>
          </a:solidFill>
          <a:ln w="6032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2851150" y="1520826"/>
            <a:ext cx="6972300" cy="4670425"/>
          </a:xfrm>
          <a:prstGeom prst="rect">
            <a:avLst/>
          </a:prstGeom>
          <a:solidFill>
            <a:srgbClr val="E7EAEF"/>
          </a:solidFill>
          <a:ln w="412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2730500" y="1439864"/>
            <a:ext cx="7011988" cy="4670425"/>
          </a:xfrm>
          <a:prstGeom prst="rect">
            <a:avLst/>
          </a:prstGeom>
          <a:solidFill>
            <a:srgbClr val="E6E9EF"/>
          </a:solidFill>
          <a:ln w="2063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2730500" y="1377951"/>
            <a:ext cx="7031038" cy="47529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103441" name="Line 17"/>
          <p:cNvSpPr>
            <a:spLocks noChangeShapeType="1"/>
          </p:cNvSpPr>
          <p:nvPr/>
        </p:nvSpPr>
        <p:spPr bwMode="auto">
          <a:xfrm>
            <a:off x="2689225" y="1843089"/>
            <a:ext cx="4154488" cy="4306887"/>
          </a:xfrm>
          <a:prstGeom prst="line">
            <a:avLst/>
          </a:prstGeom>
          <a:noFill/>
          <a:ln w="60325">
            <a:solidFill>
              <a:srgbClr val="AD0D1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3442" name="Line 18"/>
          <p:cNvSpPr>
            <a:spLocks noChangeShapeType="1"/>
          </p:cNvSpPr>
          <p:nvPr/>
        </p:nvSpPr>
        <p:spPr bwMode="auto">
          <a:xfrm>
            <a:off x="2689226" y="1843088"/>
            <a:ext cx="4418013" cy="2286000"/>
          </a:xfrm>
          <a:prstGeom prst="line">
            <a:avLst/>
          </a:prstGeom>
          <a:noFill/>
          <a:ln w="60325">
            <a:solidFill>
              <a:srgbClr val="003F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87" name="Line 19"/>
          <p:cNvSpPr>
            <a:spLocks noChangeShapeType="1"/>
          </p:cNvSpPr>
          <p:nvPr/>
        </p:nvSpPr>
        <p:spPr bwMode="auto">
          <a:xfrm>
            <a:off x="2709864" y="1377950"/>
            <a:ext cx="1587" cy="47323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>
            <a:off x="2730501" y="2127250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>
            <a:off x="2730501" y="2409825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0" name="Line 22"/>
          <p:cNvSpPr>
            <a:spLocks noChangeShapeType="1"/>
          </p:cNvSpPr>
          <p:nvPr/>
        </p:nvSpPr>
        <p:spPr bwMode="auto">
          <a:xfrm>
            <a:off x="2730501" y="2713039"/>
            <a:ext cx="161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2730501" y="2995614"/>
            <a:ext cx="161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2730501" y="3279775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>
            <a:off x="2730501" y="3562350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2730501" y="3844925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2730501" y="4108450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2730501" y="4411664"/>
            <a:ext cx="161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7" name="Line 29"/>
          <p:cNvSpPr>
            <a:spLocks noChangeShapeType="1"/>
          </p:cNvSpPr>
          <p:nvPr/>
        </p:nvSpPr>
        <p:spPr bwMode="auto">
          <a:xfrm>
            <a:off x="2730501" y="4675189"/>
            <a:ext cx="161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>
            <a:off x="2730501" y="5524500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199" name="Line 31"/>
          <p:cNvSpPr>
            <a:spLocks noChangeShapeType="1"/>
          </p:cNvSpPr>
          <p:nvPr/>
        </p:nvSpPr>
        <p:spPr bwMode="auto">
          <a:xfrm>
            <a:off x="2730501" y="5240339"/>
            <a:ext cx="161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>
            <a:off x="2730501" y="6110289"/>
            <a:ext cx="161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2730501" y="5807075"/>
            <a:ext cx="1619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>
            <a:off x="3276600" y="4897439"/>
            <a:ext cx="1588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>
            <a:off x="3824289" y="4897439"/>
            <a:ext cx="1587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4371975" y="4897439"/>
            <a:ext cx="1588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5" name="Line 37"/>
          <p:cNvSpPr>
            <a:spLocks noChangeShapeType="1"/>
          </p:cNvSpPr>
          <p:nvPr/>
        </p:nvSpPr>
        <p:spPr bwMode="auto">
          <a:xfrm>
            <a:off x="4918075" y="4897439"/>
            <a:ext cx="1588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6" name="Line 38"/>
          <p:cNvSpPr>
            <a:spLocks noChangeShapeType="1"/>
          </p:cNvSpPr>
          <p:nvPr/>
        </p:nvSpPr>
        <p:spPr bwMode="auto">
          <a:xfrm>
            <a:off x="5486400" y="4897439"/>
            <a:ext cx="1588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7" name="Line 39"/>
          <p:cNvSpPr>
            <a:spLocks noChangeShapeType="1"/>
          </p:cNvSpPr>
          <p:nvPr/>
        </p:nvSpPr>
        <p:spPr bwMode="auto">
          <a:xfrm>
            <a:off x="6034089" y="4897439"/>
            <a:ext cx="1587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8" name="Line 40"/>
          <p:cNvSpPr>
            <a:spLocks noChangeShapeType="1"/>
          </p:cNvSpPr>
          <p:nvPr/>
        </p:nvSpPr>
        <p:spPr bwMode="auto">
          <a:xfrm>
            <a:off x="6580189" y="4897439"/>
            <a:ext cx="1587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09" name="Line 41"/>
          <p:cNvSpPr>
            <a:spLocks noChangeShapeType="1"/>
          </p:cNvSpPr>
          <p:nvPr/>
        </p:nvSpPr>
        <p:spPr bwMode="auto">
          <a:xfrm>
            <a:off x="7127875" y="4897439"/>
            <a:ext cx="1588" cy="161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03466" name="Group 42"/>
          <p:cNvGrpSpPr>
            <a:grpSpLocks/>
          </p:cNvGrpSpPr>
          <p:nvPr/>
        </p:nvGrpSpPr>
        <p:grpSpPr bwMode="auto">
          <a:xfrm>
            <a:off x="3195639" y="2066926"/>
            <a:ext cx="4008437" cy="2136775"/>
            <a:chOff x="1053" y="1302"/>
            <a:chExt cx="2525" cy="1346"/>
          </a:xfrm>
        </p:grpSpPr>
        <p:sp>
          <p:nvSpPr>
            <p:cNvPr id="7254" name="Oval 43"/>
            <p:cNvSpPr>
              <a:spLocks noChangeArrowheads="1"/>
            </p:cNvSpPr>
            <p:nvPr/>
          </p:nvSpPr>
          <p:spPr bwMode="auto">
            <a:xfrm>
              <a:off x="1053" y="1302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5" name="Oval 44"/>
            <p:cNvSpPr>
              <a:spLocks noChangeArrowheads="1"/>
            </p:cNvSpPr>
            <p:nvPr/>
          </p:nvSpPr>
          <p:spPr bwMode="auto">
            <a:xfrm>
              <a:off x="1411" y="1480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6" name="Oval 45"/>
            <p:cNvSpPr>
              <a:spLocks noChangeArrowheads="1"/>
            </p:cNvSpPr>
            <p:nvPr/>
          </p:nvSpPr>
          <p:spPr bwMode="auto">
            <a:xfrm>
              <a:off x="1756" y="1671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7" name="Oval 46"/>
            <p:cNvSpPr>
              <a:spLocks noChangeArrowheads="1"/>
            </p:cNvSpPr>
            <p:nvPr/>
          </p:nvSpPr>
          <p:spPr bwMode="auto">
            <a:xfrm>
              <a:off x="2100" y="1849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8" name="Oval 47"/>
            <p:cNvSpPr>
              <a:spLocks noChangeArrowheads="1"/>
            </p:cNvSpPr>
            <p:nvPr/>
          </p:nvSpPr>
          <p:spPr bwMode="auto">
            <a:xfrm>
              <a:off x="2445" y="2028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9" name="Oval 48"/>
            <p:cNvSpPr>
              <a:spLocks noChangeArrowheads="1"/>
            </p:cNvSpPr>
            <p:nvPr/>
          </p:nvSpPr>
          <p:spPr bwMode="auto">
            <a:xfrm>
              <a:off x="3134" y="2384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60" name="Oval 49"/>
            <p:cNvSpPr>
              <a:spLocks noChangeArrowheads="1"/>
            </p:cNvSpPr>
            <p:nvPr/>
          </p:nvSpPr>
          <p:spPr bwMode="auto">
            <a:xfrm>
              <a:off x="3492" y="2562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61" name="Oval 50"/>
            <p:cNvSpPr>
              <a:spLocks noChangeArrowheads="1"/>
            </p:cNvSpPr>
            <p:nvPr/>
          </p:nvSpPr>
          <p:spPr bwMode="auto">
            <a:xfrm>
              <a:off x="2789" y="2206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grpSp>
        <p:nvGrpSpPr>
          <p:cNvPr id="103475" name="Group 51"/>
          <p:cNvGrpSpPr>
            <a:grpSpLocks/>
          </p:cNvGrpSpPr>
          <p:nvPr/>
        </p:nvGrpSpPr>
        <p:grpSpPr bwMode="auto">
          <a:xfrm>
            <a:off x="2952750" y="2106614"/>
            <a:ext cx="3925888" cy="4079875"/>
            <a:chOff x="900" y="1327"/>
            <a:chExt cx="2473" cy="2570"/>
          </a:xfrm>
        </p:grpSpPr>
        <p:sp>
          <p:nvSpPr>
            <p:cNvPr id="7246" name="Oval 52"/>
            <p:cNvSpPr>
              <a:spLocks noChangeArrowheads="1"/>
            </p:cNvSpPr>
            <p:nvPr/>
          </p:nvSpPr>
          <p:spPr bwMode="auto">
            <a:xfrm>
              <a:off x="3287" y="3811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47" name="Oval 53"/>
            <p:cNvSpPr>
              <a:spLocks noChangeArrowheads="1"/>
            </p:cNvSpPr>
            <p:nvPr/>
          </p:nvSpPr>
          <p:spPr bwMode="auto">
            <a:xfrm>
              <a:off x="2598" y="3085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48" name="Oval 54"/>
            <p:cNvSpPr>
              <a:spLocks noChangeArrowheads="1"/>
            </p:cNvSpPr>
            <p:nvPr/>
          </p:nvSpPr>
          <p:spPr bwMode="auto">
            <a:xfrm>
              <a:off x="900" y="1327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49" name="Oval 55"/>
            <p:cNvSpPr>
              <a:spLocks noChangeArrowheads="1"/>
            </p:cNvSpPr>
            <p:nvPr/>
          </p:nvSpPr>
          <p:spPr bwMode="auto">
            <a:xfrm>
              <a:off x="2930" y="3441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0" name="Oval 56"/>
            <p:cNvSpPr>
              <a:spLocks noChangeArrowheads="1"/>
            </p:cNvSpPr>
            <p:nvPr/>
          </p:nvSpPr>
          <p:spPr bwMode="auto">
            <a:xfrm>
              <a:off x="1896" y="2371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1" name="Oval 57"/>
            <p:cNvSpPr>
              <a:spLocks noChangeArrowheads="1"/>
            </p:cNvSpPr>
            <p:nvPr/>
          </p:nvSpPr>
          <p:spPr bwMode="auto">
            <a:xfrm>
              <a:off x="1577" y="2028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2" name="Oval 58"/>
            <p:cNvSpPr>
              <a:spLocks noChangeArrowheads="1"/>
            </p:cNvSpPr>
            <p:nvPr/>
          </p:nvSpPr>
          <p:spPr bwMode="auto">
            <a:xfrm>
              <a:off x="2241" y="2728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7253" name="Oval 59"/>
            <p:cNvSpPr>
              <a:spLocks noChangeArrowheads="1"/>
            </p:cNvSpPr>
            <p:nvPr/>
          </p:nvSpPr>
          <p:spPr bwMode="auto">
            <a:xfrm>
              <a:off x="1219" y="1658"/>
              <a:ext cx="86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</p:grpSp>
      <p:sp>
        <p:nvSpPr>
          <p:cNvPr id="7212" name="Line 60"/>
          <p:cNvSpPr>
            <a:spLocks noChangeShapeType="1"/>
          </p:cNvSpPr>
          <p:nvPr/>
        </p:nvSpPr>
        <p:spPr bwMode="auto">
          <a:xfrm>
            <a:off x="2709863" y="4978400"/>
            <a:ext cx="7042150" cy="0"/>
          </a:xfrm>
          <a:prstGeom prst="line">
            <a:avLst/>
          </a:prstGeom>
          <a:noFill/>
          <a:ln w="2070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213" name="Rectangle 61"/>
          <p:cNvSpPr>
            <a:spLocks noChangeArrowheads="1"/>
          </p:cNvSpPr>
          <p:nvPr/>
        </p:nvSpPr>
        <p:spPr bwMode="auto">
          <a:xfrm>
            <a:off x="7764463" y="5118100"/>
            <a:ext cx="180972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 of Water</a:t>
            </a:r>
            <a:endParaRPr lang="en-US" altLang="en-US"/>
          </a:p>
        </p:txBody>
      </p:sp>
      <p:sp>
        <p:nvSpPr>
          <p:cNvPr id="7214" name="Rectangle 62"/>
          <p:cNvSpPr>
            <a:spLocks noChangeArrowheads="1"/>
          </p:cNvSpPr>
          <p:nvPr/>
        </p:nvSpPr>
        <p:spPr bwMode="auto">
          <a:xfrm>
            <a:off x="2073276" y="133350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sp>
        <p:nvSpPr>
          <p:cNvPr id="7215" name="Rectangle 63"/>
          <p:cNvSpPr>
            <a:spLocks noChangeArrowheads="1"/>
          </p:cNvSpPr>
          <p:nvPr/>
        </p:nvSpPr>
        <p:spPr bwMode="auto">
          <a:xfrm>
            <a:off x="2241550" y="1717675"/>
            <a:ext cx="34932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1700">
                <a:solidFill>
                  <a:srgbClr val="000000"/>
                </a:solidFill>
                <a:latin typeface="Arial" panose="020B0604020202020204" pitchFamily="34" charset="0"/>
              </a:rPr>
              <a:t>€</a:t>
            </a:r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7216" name="Rectangle 64"/>
          <p:cNvSpPr>
            <a:spLocks noChangeArrowheads="1"/>
          </p:cNvSpPr>
          <p:nvPr/>
        </p:nvSpPr>
        <p:spPr bwMode="auto">
          <a:xfrm>
            <a:off x="2363788" y="2001838"/>
            <a:ext cx="2436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altLang="en-US"/>
          </a:p>
        </p:txBody>
      </p:sp>
      <p:sp>
        <p:nvSpPr>
          <p:cNvPr id="7217" name="Rectangle 65"/>
          <p:cNvSpPr>
            <a:spLocks noChangeArrowheads="1"/>
          </p:cNvSpPr>
          <p:nvPr/>
        </p:nvSpPr>
        <p:spPr bwMode="auto">
          <a:xfrm>
            <a:off x="2484438" y="22844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  <a:endParaRPr lang="en-US" altLang="en-US"/>
          </a:p>
        </p:txBody>
      </p:sp>
      <p:sp>
        <p:nvSpPr>
          <p:cNvPr id="7218" name="Rectangle 66"/>
          <p:cNvSpPr>
            <a:spLocks noChangeArrowheads="1"/>
          </p:cNvSpPr>
          <p:nvPr/>
        </p:nvSpPr>
        <p:spPr bwMode="auto">
          <a:xfrm>
            <a:off x="2484438" y="256857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en-US"/>
          </a:p>
        </p:txBody>
      </p:sp>
      <p:sp>
        <p:nvSpPr>
          <p:cNvPr id="7219" name="Rectangle 67"/>
          <p:cNvSpPr>
            <a:spLocks noChangeArrowheads="1"/>
          </p:cNvSpPr>
          <p:nvPr/>
        </p:nvSpPr>
        <p:spPr bwMode="auto">
          <a:xfrm>
            <a:off x="2484438" y="28511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en-US"/>
          </a:p>
        </p:txBody>
      </p:sp>
      <p:sp>
        <p:nvSpPr>
          <p:cNvPr id="7220" name="Rectangle 68"/>
          <p:cNvSpPr>
            <a:spLocks noChangeArrowheads="1"/>
          </p:cNvSpPr>
          <p:nvPr/>
        </p:nvSpPr>
        <p:spPr bwMode="auto">
          <a:xfrm>
            <a:off x="2484438" y="31353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en-US"/>
          </a:p>
        </p:txBody>
      </p:sp>
      <p:sp>
        <p:nvSpPr>
          <p:cNvPr id="7221" name="Rectangle 69"/>
          <p:cNvSpPr>
            <a:spLocks noChangeArrowheads="1"/>
          </p:cNvSpPr>
          <p:nvPr/>
        </p:nvSpPr>
        <p:spPr bwMode="auto">
          <a:xfrm>
            <a:off x="2484438" y="34178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en-US"/>
          </a:p>
        </p:txBody>
      </p:sp>
      <p:sp>
        <p:nvSpPr>
          <p:cNvPr id="7222" name="Rectangle 70"/>
          <p:cNvSpPr>
            <a:spLocks noChangeArrowheads="1"/>
          </p:cNvSpPr>
          <p:nvPr/>
        </p:nvSpPr>
        <p:spPr bwMode="auto">
          <a:xfrm>
            <a:off x="2484438" y="370046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en-US"/>
          </a:p>
        </p:txBody>
      </p:sp>
      <p:sp>
        <p:nvSpPr>
          <p:cNvPr id="7223" name="Rectangle 71"/>
          <p:cNvSpPr>
            <a:spLocks noChangeArrowheads="1"/>
          </p:cNvSpPr>
          <p:nvPr/>
        </p:nvSpPr>
        <p:spPr bwMode="auto">
          <a:xfrm>
            <a:off x="2484438" y="398462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en-US"/>
          </a:p>
        </p:txBody>
      </p:sp>
      <p:sp>
        <p:nvSpPr>
          <p:cNvPr id="7224" name="Rectangle 72"/>
          <p:cNvSpPr>
            <a:spLocks noChangeArrowheads="1"/>
          </p:cNvSpPr>
          <p:nvPr/>
        </p:nvSpPr>
        <p:spPr bwMode="auto">
          <a:xfrm>
            <a:off x="2484438" y="42672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en-US"/>
          </a:p>
        </p:txBody>
      </p:sp>
      <p:sp>
        <p:nvSpPr>
          <p:cNvPr id="7225" name="Rectangle 73"/>
          <p:cNvSpPr>
            <a:spLocks noChangeArrowheads="1"/>
          </p:cNvSpPr>
          <p:nvPr/>
        </p:nvSpPr>
        <p:spPr bwMode="auto">
          <a:xfrm>
            <a:off x="2484438" y="455136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en-US"/>
          </a:p>
        </p:txBody>
      </p:sp>
      <p:sp>
        <p:nvSpPr>
          <p:cNvPr id="7226" name="Rectangle 74"/>
          <p:cNvSpPr>
            <a:spLocks noChangeArrowheads="1"/>
          </p:cNvSpPr>
          <p:nvPr/>
        </p:nvSpPr>
        <p:spPr bwMode="auto">
          <a:xfrm>
            <a:off x="2484438" y="483393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227" name="Rectangle 75"/>
          <p:cNvSpPr>
            <a:spLocks noChangeArrowheads="1"/>
          </p:cNvSpPr>
          <p:nvPr/>
        </p:nvSpPr>
        <p:spPr bwMode="auto">
          <a:xfrm>
            <a:off x="2361432" y="5118100"/>
            <a:ext cx="2436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–1</a:t>
            </a:r>
            <a:endParaRPr lang="en-US" altLang="en-US"/>
          </a:p>
        </p:txBody>
      </p:sp>
      <p:sp>
        <p:nvSpPr>
          <p:cNvPr id="7228" name="Rectangle 76"/>
          <p:cNvSpPr>
            <a:spLocks noChangeArrowheads="1"/>
          </p:cNvSpPr>
          <p:nvPr/>
        </p:nvSpPr>
        <p:spPr bwMode="auto">
          <a:xfrm>
            <a:off x="2361432" y="5400675"/>
            <a:ext cx="2436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–2</a:t>
            </a:r>
          </a:p>
        </p:txBody>
      </p:sp>
      <p:sp>
        <p:nvSpPr>
          <p:cNvPr id="7229" name="Rectangle 77"/>
          <p:cNvSpPr>
            <a:spLocks noChangeArrowheads="1"/>
          </p:cNvSpPr>
          <p:nvPr/>
        </p:nvSpPr>
        <p:spPr bwMode="auto">
          <a:xfrm>
            <a:off x="2361432" y="5684838"/>
            <a:ext cx="2436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–3</a:t>
            </a:r>
          </a:p>
        </p:txBody>
      </p:sp>
      <p:sp>
        <p:nvSpPr>
          <p:cNvPr id="7230" name="Rectangle 78"/>
          <p:cNvSpPr>
            <a:spLocks noChangeArrowheads="1"/>
          </p:cNvSpPr>
          <p:nvPr/>
        </p:nvSpPr>
        <p:spPr bwMode="auto">
          <a:xfrm>
            <a:off x="2361432" y="5967413"/>
            <a:ext cx="24365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–4</a:t>
            </a:r>
          </a:p>
        </p:txBody>
      </p:sp>
      <p:grpSp>
        <p:nvGrpSpPr>
          <p:cNvPr id="103503" name="Group 79"/>
          <p:cNvGrpSpPr>
            <a:grpSpLocks/>
          </p:cNvGrpSpPr>
          <p:nvPr/>
        </p:nvGrpSpPr>
        <p:grpSpPr bwMode="auto">
          <a:xfrm>
            <a:off x="7205667" y="4071939"/>
            <a:ext cx="862013" cy="801687"/>
            <a:chOff x="3579" y="2565"/>
            <a:chExt cx="543" cy="505"/>
          </a:xfrm>
        </p:grpSpPr>
        <p:sp>
          <p:nvSpPr>
            <p:cNvPr id="7243" name="Rectangle 80"/>
            <p:cNvSpPr>
              <a:spLocks noChangeArrowheads="1"/>
            </p:cNvSpPr>
            <p:nvPr/>
          </p:nvSpPr>
          <p:spPr bwMode="auto">
            <a:xfrm>
              <a:off x="3579" y="2565"/>
              <a:ext cx="5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  <p:sp>
          <p:nvSpPr>
            <p:cNvPr id="7244" name="Rectangle 81"/>
            <p:cNvSpPr>
              <a:spLocks noChangeArrowheads="1"/>
            </p:cNvSpPr>
            <p:nvPr/>
          </p:nvSpPr>
          <p:spPr bwMode="auto">
            <a:xfrm>
              <a:off x="3579" y="2735"/>
              <a:ext cx="54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(average</a:t>
              </a:r>
              <a:endParaRPr lang="en-US" altLang="en-US"/>
            </a:p>
          </p:txBody>
        </p:sp>
        <p:sp>
          <p:nvSpPr>
            <p:cNvPr id="7245" name="Rectangle 82"/>
            <p:cNvSpPr>
              <a:spLocks noChangeArrowheads="1"/>
            </p:cNvSpPr>
            <p:nvPr/>
          </p:nvSpPr>
          <p:spPr bwMode="auto">
            <a:xfrm>
              <a:off x="3579" y="2905"/>
              <a:ext cx="54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revenue)</a:t>
              </a:r>
              <a:endParaRPr lang="en-US" altLang="en-US"/>
            </a:p>
          </p:txBody>
        </p:sp>
      </p:grpSp>
      <p:grpSp>
        <p:nvGrpSpPr>
          <p:cNvPr id="103507" name="Group 83"/>
          <p:cNvGrpSpPr>
            <a:grpSpLocks/>
          </p:cNvGrpSpPr>
          <p:nvPr/>
        </p:nvGrpSpPr>
        <p:grpSpPr bwMode="auto">
          <a:xfrm>
            <a:off x="4116391" y="4254501"/>
            <a:ext cx="836613" cy="531813"/>
            <a:chOff x="1633" y="2680"/>
            <a:chExt cx="527" cy="335"/>
          </a:xfrm>
        </p:grpSpPr>
        <p:sp>
          <p:nvSpPr>
            <p:cNvPr id="7241" name="Rectangle 84"/>
            <p:cNvSpPr>
              <a:spLocks noChangeArrowheads="1"/>
            </p:cNvSpPr>
            <p:nvPr/>
          </p:nvSpPr>
          <p:spPr bwMode="auto">
            <a:xfrm>
              <a:off x="1633" y="2680"/>
              <a:ext cx="52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Marginal</a:t>
              </a:r>
              <a:endParaRPr lang="en-US" altLang="en-US"/>
            </a:p>
          </p:txBody>
        </p:sp>
        <p:sp>
          <p:nvSpPr>
            <p:cNvPr id="7242" name="Rectangle 85"/>
            <p:cNvSpPr>
              <a:spLocks noChangeArrowheads="1"/>
            </p:cNvSpPr>
            <p:nvPr/>
          </p:nvSpPr>
          <p:spPr bwMode="auto">
            <a:xfrm>
              <a:off x="1633" y="2850"/>
              <a:ext cx="49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revenue</a:t>
              </a:r>
              <a:endParaRPr lang="en-US" altLang="en-US"/>
            </a:p>
          </p:txBody>
        </p:sp>
      </p:grpSp>
      <p:sp>
        <p:nvSpPr>
          <p:cNvPr id="7233" name="Rectangle 86"/>
          <p:cNvSpPr>
            <a:spLocks noChangeArrowheads="1"/>
          </p:cNvSpPr>
          <p:nvPr/>
        </p:nvSpPr>
        <p:spPr bwMode="auto">
          <a:xfrm>
            <a:off x="3171825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en-US"/>
          </a:p>
        </p:txBody>
      </p:sp>
      <p:sp>
        <p:nvSpPr>
          <p:cNvPr id="7234" name="Rectangle 87"/>
          <p:cNvSpPr>
            <a:spLocks noChangeArrowheads="1"/>
          </p:cNvSpPr>
          <p:nvPr/>
        </p:nvSpPr>
        <p:spPr bwMode="auto">
          <a:xfrm>
            <a:off x="3725863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en-US"/>
          </a:p>
        </p:txBody>
      </p:sp>
      <p:sp>
        <p:nvSpPr>
          <p:cNvPr id="7235" name="Rectangle 88"/>
          <p:cNvSpPr>
            <a:spLocks noChangeArrowheads="1"/>
          </p:cNvSpPr>
          <p:nvPr/>
        </p:nvSpPr>
        <p:spPr bwMode="auto">
          <a:xfrm>
            <a:off x="4278313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en-US"/>
          </a:p>
        </p:txBody>
      </p:sp>
      <p:sp>
        <p:nvSpPr>
          <p:cNvPr id="7236" name="Rectangle 89"/>
          <p:cNvSpPr>
            <a:spLocks noChangeArrowheads="1"/>
          </p:cNvSpPr>
          <p:nvPr/>
        </p:nvSpPr>
        <p:spPr bwMode="auto">
          <a:xfrm>
            <a:off x="4830763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en-US"/>
          </a:p>
        </p:txBody>
      </p:sp>
      <p:sp>
        <p:nvSpPr>
          <p:cNvPr id="7237" name="Rectangle 90"/>
          <p:cNvSpPr>
            <a:spLocks noChangeArrowheads="1"/>
          </p:cNvSpPr>
          <p:nvPr/>
        </p:nvSpPr>
        <p:spPr bwMode="auto">
          <a:xfrm>
            <a:off x="5376863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en-US"/>
          </a:p>
        </p:txBody>
      </p:sp>
      <p:sp>
        <p:nvSpPr>
          <p:cNvPr id="7238" name="Rectangle 91"/>
          <p:cNvSpPr>
            <a:spLocks noChangeArrowheads="1"/>
          </p:cNvSpPr>
          <p:nvPr/>
        </p:nvSpPr>
        <p:spPr bwMode="auto">
          <a:xfrm>
            <a:off x="5930900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en-US"/>
          </a:p>
        </p:txBody>
      </p:sp>
      <p:sp>
        <p:nvSpPr>
          <p:cNvPr id="7239" name="Rectangle 92"/>
          <p:cNvSpPr>
            <a:spLocks noChangeArrowheads="1"/>
          </p:cNvSpPr>
          <p:nvPr/>
        </p:nvSpPr>
        <p:spPr bwMode="auto">
          <a:xfrm>
            <a:off x="6483350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en-US"/>
          </a:p>
        </p:txBody>
      </p:sp>
      <p:sp>
        <p:nvSpPr>
          <p:cNvPr id="7240" name="Rectangle 93"/>
          <p:cNvSpPr>
            <a:spLocks noChangeArrowheads="1"/>
          </p:cNvSpPr>
          <p:nvPr/>
        </p:nvSpPr>
        <p:spPr bwMode="auto">
          <a:xfrm>
            <a:off x="7035800" y="513080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974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85241" y="-1484722"/>
            <a:ext cx="5684363" cy="9935851"/>
          </a:xfrm>
        </p:spPr>
      </p:pic>
    </p:spTree>
    <p:extLst>
      <p:ext uri="{BB962C8B-B14F-4D97-AF65-F5344CB8AC3E}">
        <p14:creationId xmlns:p14="http://schemas.microsoft.com/office/powerpoint/2010/main" val="3724102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Price effect and output effect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From the above </a:t>
            </a:r>
            <a:r>
              <a:rPr lang="en-US" dirty="0" err="1" smtClean="0"/>
              <a:t>dia</a:t>
            </a:r>
            <a:r>
              <a:rPr lang="en-US" dirty="0" smtClean="0"/>
              <a:t>,</a:t>
            </a:r>
          </a:p>
          <a:p>
            <a:r>
              <a:rPr lang="en-US" dirty="0" smtClean="0"/>
              <a:t>Price effect how the lower prices affects the revenue.</a:t>
            </a:r>
          </a:p>
          <a:p>
            <a:r>
              <a:rPr lang="en-US" dirty="0" smtClean="0"/>
              <a:t>Initial price P=70 Monopolist Reduces the Price P=60</a:t>
            </a:r>
          </a:p>
          <a:p>
            <a:r>
              <a:rPr lang="en-US" dirty="0" smtClean="0"/>
              <a:t>Initial Revenue is 70×3000= 210,000 New Revenue 60×4000 = 240,000.</a:t>
            </a:r>
          </a:p>
          <a:p>
            <a:r>
              <a:rPr lang="en-US" dirty="0" smtClean="0"/>
              <a:t>At Price 70 he is selling to 3000 Customers and these 3000 customers will be paying 10 </a:t>
            </a:r>
            <a:r>
              <a:rPr lang="en-US" dirty="0" err="1" smtClean="0"/>
              <a:t>rs</a:t>
            </a:r>
            <a:r>
              <a:rPr lang="en-US" dirty="0" smtClean="0"/>
              <a:t> less compared to earlier price. Revenue loss is 3000×10 = 30000</a:t>
            </a:r>
          </a:p>
          <a:p>
            <a:r>
              <a:rPr lang="en-US" dirty="0" smtClean="0"/>
              <a:t>At new price 60 he is selling to additional 1000 customers. Revenue gained is 1000×60 = 60000 </a:t>
            </a:r>
          </a:p>
          <a:p>
            <a:r>
              <a:rPr lang="en-US" dirty="0" smtClean="0"/>
              <a:t>Revenue gained is more than revenue loss. Price effect is small and monopolist can continue to reduce the price.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06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effect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Output effect is how the lower prices affect the number of customers. </a:t>
            </a:r>
          </a:p>
          <a:p>
            <a:r>
              <a:rPr lang="en-US" dirty="0" smtClean="0"/>
              <a:t>Revenue gained is (1000 New Customers) 60×1000 = 60000 </a:t>
            </a:r>
          </a:p>
          <a:p>
            <a:r>
              <a:rPr lang="en-US" dirty="0" smtClean="0"/>
              <a:t>Lets calculate price effect and output effect at another price.</a:t>
            </a:r>
          </a:p>
          <a:p>
            <a:r>
              <a:rPr lang="en-US" dirty="0" smtClean="0"/>
              <a:t>He is reducing the price from 30 to 20. </a:t>
            </a:r>
          </a:p>
          <a:p>
            <a:r>
              <a:rPr lang="en-US" dirty="0" smtClean="0"/>
              <a:t>Price Effect-effect on Revenue-Revenue loss= 10×7000=70000</a:t>
            </a:r>
          </a:p>
          <a:p>
            <a:r>
              <a:rPr lang="en-US" dirty="0" smtClean="0"/>
              <a:t>Output effect –effect on output-Revenue gain= 20×1000=20000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3362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4 Profit Maximization for a Monopoly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8088313" y="6680201"/>
            <a:ext cx="18034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 © 2004  South-Western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F3F6F9"/>
          </a:solidFill>
          <a:ln w="2127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F2F4F8"/>
          </a:solidFill>
          <a:ln w="19367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F1F4F7"/>
          </a:solidFill>
          <a:ln w="17303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F0F2F5"/>
          </a:solidFill>
          <a:ln w="15398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EF1F4"/>
          </a:solidFill>
          <a:ln w="13493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DEFF3"/>
          </a:solidFill>
          <a:ln w="11588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BEEF2"/>
          </a:solidFill>
          <a:ln w="96838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AECF1"/>
          </a:solidFill>
          <a:ln w="7778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9EBF0"/>
          </a:solidFill>
          <a:ln w="57150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7EAEF"/>
          </a:solidFill>
          <a:ln w="38100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3176589" y="1495425"/>
            <a:ext cx="6600825" cy="4833938"/>
          </a:xfrm>
          <a:prstGeom prst="rect">
            <a:avLst/>
          </a:prstGeom>
          <a:solidFill>
            <a:srgbClr val="E6E9EF"/>
          </a:solidFill>
          <a:ln w="19050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3003551" y="1320801"/>
            <a:ext cx="6716713" cy="49323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8209" name="Freeform 17"/>
          <p:cNvSpPr>
            <a:spLocks/>
          </p:cNvSpPr>
          <p:nvPr/>
        </p:nvSpPr>
        <p:spPr bwMode="auto">
          <a:xfrm>
            <a:off x="3003551" y="1320801"/>
            <a:ext cx="6716713" cy="4932363"/>
          </a:xfrm>
          <a:custGeom>
            <a:avLst/>
            <a:gdLst>
              <a:gd name="T0" fmla="*/ 0 w 4231"/>
              <a:gd name="T1" fmla="*/ 0 h 3107"/>
              <a:gd name="T2" fmla="*/ 0 w 4231"/>
              <a:gd name="T3" fmla="*/ 4932363 h 3107"/>
              <a:gd name="T4" fmla="*/ 6716713 w 4231"/>
              <a:gd name="T5" fmla="*/ 4932363 h 310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31" h="3107">
                <a:moveTo>
                  <a:pt x="0" y="0"/>
                </a:moveTo>
                <a:lnTo>
                  <a:pt x="0" y="3107"/>
                </a:lnTo>
                <a:lnTo>
                  <a:pt x="4231" y="3107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>
            <a:off x="4238625" y="6092825"/>
            <a:ext cx="1588" cy="1539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1" name="Line 19"/>
          <p:cNvSpPr>
            <a:spLocks noChangeShapeType="1"/>
          </p:cNvSpPr>
          <p:nvPr/>
        </p:nvSpPr>
        <p:spPr bwMode="auto">
          <a:xfrm>
            <a:off x="5724525" y="6092825"/>
            <a:ext cx="1588" cy="1539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8883650" y="6270626"/>
            <a:ext cx="825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4154488" y="6276976"/>
            <a:ext cx="158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endParaRPr lang="en-US" altLang="en-US"/>
          </a:p>
        </p:txBody>
      </p:sp>
      <p:sp>
        <p:nvSpPr>
          <p:cNvPr id="8214" name="Freeform 22"/>
          <p:cNvSpPr>
            <a:spLocks/>
          </p:cNvSpPr>
          <p:nvPr/>
        </p:nvSpPr>
        <p:spPr bwMode="auto">
          <a:xfrm>
            <a:off x="4333875" y="6403975"/>
            <a:ext cx="38100" cy="96838"/>
          </a:xfrm>
          <a:custGeom>
            <a:avLst/>
            <a:gdLst>
              <a:gd name="T0" fmla="*/ 38100 w 24"/>
              <a:gd name="T1" fmla="*/ 0 h 61"/>
              <a:gd name="T2" fmla="*/ 25400 w 24"/>
              <a:gd name="T3" fmla="*/ 0 h 61"/>
              <a:gd name="T4" fmla="*/ 19050 w 24"/>
              <a:gd name="T5" fmla="*/ 12700 h 61"/>
              <a:gd name="T6" fmla="*/ 0 w 24"/>
              <a:gd name="T7" fmla="*/ 25400 h 61"/>
              <a:gd name="T8" fmla="*/ 0 w 24"/>
              <a:gd name="T9" fmla="*/ 38100 h 61"/>
              <a:gd name="T10" fmla="*/ 12700 w 24"/>
              <a:gd name="T11" fmla="*/ 31750 h 61"/>
              <a:gd name="T12" fmla="*/ 25400 w 24"/>
              <a:gd name="T13" fmla="*/ 25400 h 61"/>
              <a:gd name="T14" fmla="*/ 25400 w 24"/>
              <a:gd name="T15" fmla="*/ 96838 h 61"/>
              <a:gd name="T16" fmla="*/ 38100 w 24"/>
              <a:gd name="T17" fmla="*/ 96838 h 61"/>
              <a:gd name="T18" fmla="*/ 38100 w 24"/>
              <a:gd name="T19" fmla="*/ 6350 h 61"/>
              <a:gd name="T20" fmla="*/ 38100 w 24"/>
              <a:gd name="T21" fmla="*/ 0 h 6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4" h="61">
                <a:moveTo>
                  <a:pt x="24" y="0"/>
                </a:moveTo>
                <a:lnTo>
                  <a:pt x="16" y="0"/>
                </a:lnTo>
                <a:lnTo>
                  <a:pt x="12" y="8"/>
                </a:lnTo>
                <a:lnTo>
                  <a:pt x="0" y="16"/>
                </a:lnTo>
                <a:lnTo>
                  <a:pt x="0" y="24"/>
                </a:lnTo>
                <a:lnTo>
                  <a:pt x="8" y="20"/>
                </a:lnTo>
                <a:lnTo>
                  <a:pt x="16" y="16"/>
                </a:lnTo>
                <a:lnTo>
                  <a:pt x="16" y="61"/>
                </a:lnTo>
                <a:lnTo>
                  <a:pt x="24" y="61"/>
                </a:lnTo>
                <a:lnTo>
                  <a:pt x="24" y="4"/>
                </a:lnTo>
                <a:lnTo>
                  <a:pt x="2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8215" name="Group 23"/>
          <p:cNvGrpSpPr>
            <a:grpSpLocks/>
          </p:cNvGrpSpPr>
          <p:nvPr/>
        </p:nvGrpSpPr>
        <p:grpSpPr bwMode="auto">
          <a:xfrm>
            <a:off x="5595939" y="6276976"/>
            <a:ext cx="230187" cy="244475"/>
            <a:chOff x="2565" y="3954"/>
            <a:chExt cx="145" cy="154"/>
          </a:xfrm>
        </p:grpSpPr>
        <p:sp>
          <p:nvSpPr>
            <p:cNvPr id="8260" name="Rectangle 24"/>
            <p:cNvSpPr>
              <a:spLocks noChangeArrowheads="1"/>
            </p:cNvSpPr>
            <p:nvPr/>
          </p:nvSpPr>
          <p:spPr bwMode="auto">
            <a:xfrm>
              <a:off x="2565" y="3954"/>
              <a:ext cx="1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i="1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endParaRPr lang="en-US" altLang="en-US"/>
            </a:p>
          </p:txBody>
        </p:sp>
        <p:sp>
          <p:nvSpPr>
            <p:cNvPr id="8261" name="Freeform 25"/>
            <p:cNvSpPr>
              <a:spLocks/>
            </p:cNvSpPr>
            <p:nvPr/>
          </p:nvSpPr>
          <p:spPr bwMode="auto">
            <a:xfrm>
              <a:off x="2670" y="4034"/>
              <a:ext cx="40" cy="61"/>
            </a:xfrm>
            <a:custGeom>
              <a:avLst/>
              <a:gdLst>
                <a:gd name="T0" fmla="*/ 8 w 40"/>
                <a:gd name="T1" fmla="*/ 53 h 61"/>
                <a:gd name="T2" fmla="*/ 12 w 40"/>
                <a:gd name="T3" fmla="*/ 49 h 61"/>
                <a:gd name="T4" fmla="*/ 20 w 40"/>
                <a:gd name="T5" fmla="*/ 41 h 61"/>
                <a:gd name="T6" fmla="*/ 36 w 40"/>
                <a:gd name="T7" fmla="*/ 32 h 61"/>
                <a:gd name="T8" fmla="*/ 40 w 40"/>
                <a:gd name="T9" fmla="*/ 24 h 61"/>
                <a:gd name="T10" fmla="*/ 40 w 40"/>
                <a:gd name="T11" fmla="*/ 16 h 61"/>
                <a:gd name="T12" fmla="*/ 40 w 40"/>
                <a:gd name="T13" fmla="*/ 12 h 61"/>
                <a:gd name="T14" fmla="*/ 36 w 40"/>
                <a:gd name="T15" fmla="*/ 8 h 61"/>
                <a:gd name="T16" fmla="*/ 28 w 40"/>
                <a:gd name="T17" fmla="*/ 4 h 61"/>
                <a:gd name="T18" fmla="*/ 20 w 40"/>
                <a:gd name="T19" fmla="*/ 0 h 61"/>
                <a:gd name="T20" fmla="*/ 12 w 40"/>
                <a:gd name="T21" fmla="*/ 4 h 61"/>
                <a:gd name="T22" fmla="*/ 4 w 40"/>
                <a:gd name="T23" fmla="*/ 8 h 61"/>
                <a:gd name="T24" fmla="*/ 0 w 40"/>
                <a:gd name="T25" fmla="*/ 12 h 61"/>
                <a:gd name="T26" fmla="*/ 0 w 40"/>
                <a:gd name="T27" fmla="*/ 20 h 61"/>
                <a:gd name="T28" fmla="*/ 8 w 40"/>
                <a:gd name="T29" fmla="*/ 20 h 61"/>
                <a:gd name="T30" fmla="*/ 12 w 40"/>
                <a:gd name="T31" fmla="*/ 12 h 61"/>
                <a:gd name="T32" fmla="*/ 20 w 40"/>
                <a:gd name="T33" fmla="*/ 8 h 61"/>
                <a:gd name="T34" fmla="*/ 28 w 40"/>
                <a:gd name="T35" fmla="*/ 12 h 61"/>
                <a:gd name="T36" fmla="*/ 32 w 40"/>
                <a:gd name="T37" fmla="*/ 16 h 61"/>
                <a:gd name="T38" fmla="*/ 28 w 40"/>
                <a:gd name="T39" fmla="*/ 28 h 61"/>
                <a:gd name="T40" fmla="*/ 16 w 40"/>
                <a:gd name="T41" fmla="*/ 41 h 61"/>
                <a:gd name="T42" fmla="*/ 4 w 40"/>
                <a:gd name="T43" fmla="*/ 49 h 61"/>
                <a:gd name="T44" fmla="*/ 0 w 40"/>
                <a:gd name="T45" fmla="*/ 57 h 61"/>
                <a:gd name="T46" fmla="*/ 0 w 40"/>
                <a:gd name="T47" fmla="*/ 61 h 61"/>
                <a:gd name="T48" fmla="*/ 40 w 40"/>
                <a:gd name="T49" fmla="*/ 61 h 61"/>
                <a:gd name="T50" fmla="*/ 40 w 40"/>
                <a:gd name="T51" fmla="*/ 53 h 61"/>
                <a:gd name="T52" fmla="*/ 12 w 40"/>
                <a:gd name="T53" fmla="*/ 53 h 61"/>
                <a:gd name="T54" fmla="*/ 8 w 40"/>
                <a:gd name="T55" fmla="*/ 53 h 6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0" h="61">
                  <a:moveTo>
                    <a:pt x="8" y="53"/>
                  </a:moveTo>
                  <a:lnTo>
                    <a:pt x="12" y="49"/>
                  </a:lnTo>
                  <a:lnTo>
                    <a:pt x="20" y="41"/>
                  </a:lnTo>
                  <a:lnTo>
                    <a:pt x="36" y="32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40" y="12"/>
                  </a:lnTo>
                  <a:lnTo>
                    <a:pt x="36" y="8"/>
                  </a:lnTo>
                  <a:lnTo>
                    <a:pt x="28" y="4"/>
                  </a:lnTo>
                  <a:lnTo>
                    <a:pt x="20" y="0"/>
                  </a:lnTo>
                  <a:lnTo>
                    <a:pt x="12" y="4"/>
                  </a:lnTo>
                  <a:lnTo>
                    <a:pt x="4" y="8"/>
                  </a:lnTo>
                  <a:lnTo>
                    <a:pt x="0" y="12"/>
                  </a:lnTo>
                  <a:lnTo>
                    <a:pt x="0" y="20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8" y="12"/>
                  </a:lnTo>
                  <a:lnTo>
                    <a:pt x="32" y="16"/>
                  </a:lnTo>
                  <a:lnTo>
                    <a:pt x="28" y="28"/>
                  </a:lnTo>
                  <a:lnTo>
                    <a:pt x="16" y="41"/>
                  </a:lnTo>
                  <a:lnTo>
                    <a:pt x="4" y="49"/>
                  </a:lnTo>
                  <a:lnTo>
                    <a:pt x="0" y="57"/>
                  </a:lnTo>
                  <a:lnTo>
                    <a:pt x="0" y="61"/>
                  </a:lnTo>
                  <a:lnTo>
                    <a:pt x="40" y="61"/>
                  </a:lnTo>
                  <a:lnTo>
                    <a:pt x="40" y="53"/>
                  </a:lnTo>
                  <a:lnTo>
                    <a:pt x="12" y="53"/>
                  </a:lnTo>
                  <a:lnTo>
                    <a:pt x="8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216" name="Rectangle 26"/>
          <p:cNvSpPr>
            <a:spLocks noChangeArrowheads="1"/>
          </p:cNvSpPr>
          <p:nvPr/>
        </p:nvSpPr>
        <p:spPr bwMode="auto">
          <a:xfrm>
            <a:off x="2820988" y="6276976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8217" name="Rectangle 27"/>
          <p:cNvSpPr>
            <a:spLocks noChangeArrowheads="1"/>
          </p:cNvSpPr>
          <p:nvPr/>
        </p:nvSpPr>
        <p:spPr bwMode="auto">
          <a:xfrm>
            <a:off x="1943101" y="1263651"/>
            <a:ext cx="981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Costs and</a:t>
            </a:r>
            <a:endParaRPr lang="en-US" altLang="en-US"/>
          </a:p>
        </p:txBody>
      </p:sp>
      <p:sp>
        <p:nvSpPr>
          <p:cNvPr id="8218" name="Rectangle 28"/>
          <p:cNvSpPr>
            <a:spLocks noChangeArrowheads="1"/>
          </p:cNvSpPr>
          <p:nvPr/>
        </p:nvSpPr>
        <p:spPr bwMode="auto">
          <a:xfrm>
            <a:off x="2078038" y="1520826"/>
            <a:ext cx="8445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Revenue</a:t>
            </a:r>
            <a:endParaRPr lang="en-US" altLang="en-US"/>
          </a:p>
        </p:txBody>
      </p:sp>
      <p:grpSp>
        <p:nvGrpSpPr>
          <p:cNvPr id="102429" name="Group 29"/>
          <p:cNvGrpSpPr>
            <a:grpSpLocks/>
          </p:cNvGrpSpPr>
          <p:nvPr/>
        </p:nvGrpSpPr>
        <p:grpSpPr bwMode="auto">
          <a:xfrm>
            <a:off x="3003550" y="1630363"/>
            <a:ext cx="6121400" cy="3378200"/>
            <a:chOff x="932" y="1027"/>
            <a:chExt cx="3856" cy="2128"/>
          </a:xfrm>
        </p:grpSpPr>
        <p:sp>
          <p:nvSpPr>
            <p:cNvPr id="8258" name="Line 30"/>
            <p:cNvSpPr>
              <a:spLocks noChangeShapeType="1"/>
            </p:cNvSpPr>
            <p:nvPr/>
          </p:nvSpPr>
          <p:spPr bwMode="auto">
            <a:xfrm>
              <a:off x="932" y="1027"/>
              <a:ext cx="3319" cy="2050"/>
            </a:xfrm>
            <a:prstGeom prst="line">
              <a:avLst/>
            </a:prstGeom>
            <a:noFill/>
            <a:ln w="57150">
              <a:solidFill>
                <a:srgbClr val="003F9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59" name="Rectangle 31"/>
            <p:cNvSpPr>
              <a:spLocks noChangeArrowheads="1"/>
            </p:cNvSpPr>
            <p:nvPr/>
          </p:nvSpPr>
          <p:spPr bwMode="auto">
            <a:xfrm>
              <a:off x="4305" y="3001"/>
              <a:ext cx="48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  <p:grpSp>
        <p:nvGrpSpPr>
          <p:cNvPr id="102432" name="Group 32"/>
          <p:cNvGrpSpPr>
            <a:grpSpLocks/>
          </p:cNvGrpSpPr>
          <p:nvPr/>
        </p:nvGrpSpPr>
        <p:grpSpPr bwMode="auto">
          <a:xfrm>
            <a:off x="3176589" y="3459164"/>
            <a:ext cx="5443537" cy="1984375"/>
            <a:chOff x="1041" y="2179"/>
            <a:chExt cx="3429" cy="1250"/>
          </a:xfrm>
        </p:grpSpPr>
        <p:sp>
          <p:nvSpPr>
            <p:cNvPr id="8256" name="Freeform 33"/>
            <p:cNvSpPr>
              <a:spLocks/>
            </p:cNvSpPr>
            <p:nvPr/>
          </p:nvSpPr>
          <p:spPr bwMode="auto">
            <a:xfrm>
              <a:off x="1041" y="2179"/>
              <a:ext cx="2322" cy="1250"/>
            </a:xfrm>
            <a:custGeom>
              <a:avLst/>
              <a:gdLst>
                <a:gd name="T0" fmla="*/ 0 w 191"/>
                <a:gd name="T1" fmla="*/ 0 h 103"/>
                <a:gd name="T2" fmla="*/ 2322 w 191"/>
                <a:gd name="T3" fmla="*/ 194 h 10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1" h="103">
                  <a:moveTo>
                    <a:pt x="0" y="0"/>
                  </a:moveTo>
                  <a:cubicBezTo>
                    <a:pt x="7" y="22"/>
                    <a:pt x="41" y="103"/>
                    <a:pt x="191" y="16"/>
                  </a:cubicBezTo>
                </a:path>
              </a:pathLst>
            </a:custGeom>
            <a:noFill/>
            <a:ln w="57150">
              <a:solidFill>
                <a:srgbClr val="003F9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57" name="Rectangle 34"/>
            <p:cNvSpPr>
              <a:spLocks noChangeArrowheads="1"/>
            </p:cNvSpPr>
            <p:nvPr/>
          </p:nvSpPr>
          <p:spPr bwMode="auto">
            <a:xfrm>
              <a:off x="3445" y="2282"/>
              <a:ext cx="102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Average total cost</a:t>
              </a:r>
              <a:endParaRPr lang="en-US" altLang="en-US"/>
            </a:p>
          </p:txBody>
        </p:sp>
      </p:grpSp>
      <p:grpSp>
        <p:nvGrpSpPr>
          <p:cNvPr id="102435" name="Group 35"/>
          <p:cNvGrpSpPr>
            <a:grpSpLocks/>
          </p:cNvGrpSpPr>
          <p:nvPr/>
        </p:nvGrpSpPr>
        <p:grpSpPr bwMode="auto">
          <a:xfrm>
            <a:off x="3003550" y="1630364"/>
            <a:ext cx="5359400" cy="4454525"/>
            <a:chOff x="932" y="1027"/>
            <a:chExt cx="3376" cy="2806"/>
          </a:xfrm>
        </p:grpSpPr>
        <p:sp>
          <p:nvSpPr>
            <p:cNvPr id="8254" name="Line 36"/>
            <p:cNvSpPr>
              <a:spLocks noChangeShapeType="1"/>
            </p:cNvSpPr>
            <p:nvPr/>
          </p:nvSpPr>
          <p:spPr bwMode="auto">
            <a:xfrm>
              <a:off x="932" y="1027"/>
              <a:ext cx="2310" cy="2754"/>
            </a:xfrm>
            <a:prstGeom prst="line">
              <a:avLst/>
            </a:prstGeom>
            <a:noFill/>
            <a:ln w="57150">
              <a:solidFill>
                <a:srgbClr val="AD0D1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55" name="Rectangle 37"/>
            <p:cNvSpPr>
              <a:spLocks noChangeArrowheads="1"/>
            </p:cNvSpPr>
            <p:nvPr/>
          </p:nvSpPr>
          <p:spPr bwMode="auto">
            <a:xfrm>
              <a:off x="3320" y="3679"/>
              <a:ext cx="98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Marginal revenue</a:t>
              </a:r>
              <a:endParaRPr lang="en-US" altLang="en-US"/>
            </a:p>
          </p:txBody>
        </p:sp>
      </p:grpSp>
      <p:grpSp>
        <p:nvGrpSpPr>
          <p:cNvPr id="102438" name="Group 38"/>
          <p:cNvGrpSpPr>
            <a:grpSpLocks/>
          </p:cNvGrpSpPr>
          <p:nvPr/>
        </p:nvGrpSpPr>
        <p:grpSpPr bwMode="auto">
          <a:xfrm>
            <a:off x="3273426" y="2535238"/>
            <a:ext cx="3241675" cy="3505200"/>
            <a:chOff x="1102" y="1597"/>
            <a:chExt cx="2042" cy="2208"/>
          </a:xfrm>
        </p:grpSpPr>
        <p:sp>
          <p:nvSpPr>
            <p:cNvPr id="8250" name="Line 39"/>
            <p:cNvSpPr>
              <a:spLocks noChangeShapeType="1"/>
            </p:cNvSpPr>
            <p:nvPr/>
          </p:nvSpPr>
          <p:spPr bwMode="auto">
            <a:xfrm flipH="1">
              <a:off x="1102" y="1597"/>
              <a:ext cx="2042" cy="2208"/>
            </a:xfrm>
            <a:prstGeom prst="line">
              <a:avLst/>
            </a:prstGeom>
            <a:noFill/>
            <a:ln w="57150">
              <a:solidFill>
                <a:srgbClr val="AD0D1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251" name="Group 40"/>
            <p:cNvGrpSpPr>
              <a:grpSpLocks/>
            </p:cNvGrpSpPr>
            <p:nvPr/>
          </p:nvGrpSpPr>
          <p:grpSpPr bwMode="auto">
            <a:xfrm>
              <a:off x="1104" y="3057"/>
              <a:ext cx="490" cy="316"/>
              <a:chOff x="1104" y="3057"/>
              <a:chExt cx="490" cy="316"/>
            </a:xfrm>
          </p:grpSpPr>
          <p:sp>
            <p:nvSpPr>
              <p:cNvPr id="8252" name="Rectangle 41"/>
              <p:cNvSpPr>
                <a:spLocks noChangeArrowheads="1"/>
              </p:cNvSpPr>
              <p:nvPr/>
            </p:nvSpPr>
            <p:spPr bwMode="auto">
              <a:xfrm>
                <a:off x="1104" y="3057"/>
                <a:ext cx="49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Marginal</a:t>
                </a:r>
                <a:endParaRPr lang="en-US" altLang="en-US"/>
              </a:p>
            </p:txBody>
          </p:sp>
          <p:sp>
            <p:nvSpPr>
              <p:cNvPr id="8253" name="Rectangle 42"/>
              <p:cNvSpPr>
                <a:spLocks noChangeArrowheads="1"/>
              </p:cNvSpPr>
              <p:nvPr/>
            </p:nvSpPr>
            <p:spPr bwMode="auto">
              <a:xfrm>
                <a:off x="1233" y="3219"/>
                <a:ext cx="2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cost</a:t>
                </a:r>
                <a:endParaRPr lang="en-US" altLang="en-US"/>
              </a:p>
            </p:txBody>
          </p:sp>
        </p:grpSp>
      </p:grpSp>
      <p:grpSp>
        <p:nvGrpSpPr>
          <p:cNvPr id="102443" name="Group 43"/>
          <p:cNvGrpSpPr>
            <a:grpSpLocks/>
          </p:cNvGrpSpPr>
          <p:nvPr/>
        </p:nvGrpSpPr>
        <p:grpSpPr bwMode="auto">
          <a:xfrm>
            <a:off x="2046288" y="2578100"/>
            <a:ext cx="3243262" cy="3943350"/>
            <a:chOff x="329" y="1624"/>
            <a:chExt cx="2043" cy="2484"/>
          </a:xfrm>
        </p:grpSpPr>
        <p:sp>
          <p:nvSpPr>
            <p:cNvPr id="8243" name="Freeform 44"/>
            <p:cNvSpPr>
              <a:spLocks/>
            </p:cNvSpPr>
            <p:nvPr/>
          </p:nvSpPr>
          <p:spPr bwMode="auto">
            <a:xfrm>
              <a:off x="932" y="1840"/>
              <a:ext cx="1288" cy="2087"/>
            </a:xfrm>
            <a:custGeom>
              <a:avLst/>
              <a:gdLst>
                <a:gd name="T0" fmla="*/ 1288 w 1288"/>
                <a:gd name="T1" fmla="*/ 2087 h 2087"/>
                <a:gd name="T2" fmla="*/ 1288 w 1288"/>
                <a:gd name="T3" fmla="*/ 0 h 2087"/>
                <a:gd name="T4" fmla="*/ 0 w 1288"/>
                <a:gd name="T5" fmla="*/ 0 h 20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88" h="2087">
                  <a:moveTo>
                    <a:pt x="1288" y="2087"/>
                  </a:moveTo>
                  <a:lnTo>
                    <a:pt x="1288" y="0"/>
                  </a:ln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44" name="Rectangle 45"/>
            <p:cNvSpPr>
              <a:spLocks noChangeArrowheads="1"/>
            </p:cNvSpPr>
            <p:nvPr/>
          </p:nvSpPr>
          <p:spPr bwMode="auto">
            <a:xfrm>
              <a:off x="329" y="1729"/>
              <a:ext cx="55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Monopoly</a:t>
              </a:r>
              <a:endParaRPr lang="en-US" altLang="en-US"/>
            </a:p>
          </p:txBody>
        </p:sp>
        <p:sp>
          <p:nvSpPr>
            <p:cNvPr id="8245" name="Rectangle 46"/>
            <p:cNvSpPr>
              <a:spLocks noChangeArrowheads="1"/>
            </p:cNvSpPr>
            <p:nvPr/>
          </p:nvSpPr>
          <p:spPr bwMode="auto">
            <a:xfrm>
              <a:off x="607" y="1890"/>
              <a:ext cx="28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price</a:t>
              </a:r>
              <a:endParaRPr lang="en-US" altLang="en-US"/>
            </a:p>
          </p:txBody>
        </p:sp>
        <p:sp>
          <p:nvSpPr>
            <p:cNvPr id="8246" name="Rectangle 47"/>
            <p:cNvSpPr>
              <a:spLocks noChangeArrowheads="1"/>
            </p:cNvSpPr>
            <p:nvPr/>
          </p:nvSpPr>
          <p:spPr bwMode="auto">
            <a:xfrm>
              <a:off x="2081" y="3954"/>
              <a:ext cx="2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i="1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MAX</a:t>
              </a:r>
              <a:endParaRPr lang="en-US" altLang="en-US"/>
            </a:p>
          </p:txBody>
        </p:sp>
        <p:grpSp>
          <p:nvGrpSpPr>
            <p:cNvPr id="8247" name="Group 48"/>
            <p:cNvGrpSpPr>
              <a:grpSpLocks/>
            </p:cNvGrpSpPr>
            <p:nvPr/>
          </p:nvGrpSpPr>
          <p:grpSpPr bwMode="auto">
            <a:xfrm>
              <a:off x="2184" y="1624"/>
              <a:ext cx="92" cy="253"/>
              <a:chOff x="2184" y="1624"/>
              <a:chExt cx="92" cy="253"/>
            </a:xfrm>
          </p:grpSpPr>
          <p:sp>
            <p:nvSpPr>
              <p:cNvPr id="8248" name="Oval 49"/>
              <p:cNvSpPr>
                <a:spLocks noChangeArrowheads="1"/>
              </p:cNvSpPr>
              <p:nvPr/>
            </p:nvSpPr>
            <p:spPr bwMode="auto">
              <a:xfrm>
                <a:off x="2184" y="1791"/>
                <a:ext cx="85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8249" name="Rectangle 50"/>
              <p:cNvSpPr>
                <a:spLocks noChangeArrowheads="1"/>
              </p:cNvSpPr>
              <p:nvPr/>
            </p:nvSpPr>
            <p:spPr bwMode="auto">
              <a:xfrm>
                <a:off x="2190" y="1624"/>
                <a:ext cx="86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B</a:t>
                </a:r>
                <a:endParaRPr lang="en-US" altLang="en-US"/>
              </a:p>
            </p:txBody>
          </p:sp>
        </p:grpSp>
      </p:grpSp>
      <p:grpSp>
        <p:nvGrpSpPr>
          <p:cNvPr id="102451" name="Group 51"/>
          <p:cNvGrpSpPr>
            <a:grpSpLocks/>
          </p:cNvGrpSpPr>
          <p:nvPr/>
        </p:nvGrpSpPr>
        <p:grpSpPr bwMode="auto">
          <a:xfrm>
            <a:off x="5376863" y="1476376"/>
            <a:ext cx="4246562" cy="2619375"/>
            <a:chOff x="2427" y="930"/>
            <a:chExt cx="2675" cy="1650"/>
          </a:xfrm>
        </p:grpSpPr>
        <p:sp>
          <p:nvSpPr>
            <p:cNvPr id="8234" name="Line 52"/>
            <p:cNvSpPr>
              <a:spLocks noChangeShapeType="1"/>
            </p:cNvSpPr>
            <p:nvPr/>
          </p:nvSpPr>
          <p:spPr bwMode="auto">
            <a:xfrm flipV="1">
              <a:off x="2427" y="1439"/>
              <a:ext cx="1204" cy="114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235" name="Group 53"/>
            <p:cNvGrpSpPr>
              <a:grpSpLocks/>
            </p:cNvGrpSpPr>
            <p:nvPr/>
          </p:nvGrpSpPr>
          <p:grpSpPr bwMode="auto">
            <a:xfrm>
              <a:off x="3558" y="930"/>
              <a:ext cx="1544" cy="1031"/>
              <a:chOff x="3558" y="930"/>
              <a:chExt cx="1544" cy="1031"/>
            </a:xfrm>
          </p:grpSpPr>
          <p:sp>
            <p:nvSpPr>
              <p:cNvPr id="8236" name="Rectangle 54"/>
              <p:cNvSpPr>
                <a:spLocks noChangeArrowheads="1"/>
              </p:cNvSpPr>
              <p:nvPr/>
            </p:nvSpPr>
            <p:spPr bwMode="auto">
              <a:xfrm>
                <a:off x="3558" y="930"/>
                <a:ext cx="1544" cy="1031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IN" altLang="en-US"/>
              </a:p>
            </p:txBody>
          </p:sp>
          <p:sp>
            <p:nvSpPr>
              <p:cNvPr id="8237" name="Rectangle 55"/>
              <p:cNvSpPr>
                <a:spLocks noChangeArrowheads="1"/>
              </p:cNvSpPr>
              <p:nvPr/>
            </p:nvSpPr>
            <p:spPr bwMode="auto">
              <a:xfrm>
                <a:off x="3615" y="958"/>
                <a:ext cx="1410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The intersection of the</a:t>
                </a:r>
                <a:endParaRPr lang="en-US" altLang="en-US"/>
              </a:p>
            </p:txBody>
          </p:sp>
          <p:sp>
            <p:nvSpPr>
              <p:cNvPr id="8238" name="Rectangle 56"/>
              <p:cNvSpPr>
                <a:spLocks noChangeArrowheads="1"/>
              </p:cNvSpPr>
              <p:nvPr/>
            </p:nvSpPr>
            <p:spPr bwMode="auto">
              <a:xfrm>
                <a:off x="3615" y="1119"/>
                <a:ext cx="134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marginal-revenue curve</a:t>
                </a:r>
                <a:endParaRPr lang="en-US" altLang="en-US"/>
              </a:p>
            </p:txBody>
          </p:sp>
          <p:sp>
            <p:nvSpPr>
              <p:cNvPr id="8239" name="Rectangle 57"/>
              <p:cNvSpPr>
                <a:spLocks noChangeArrowheads="1"/>
              </p:cNvSpPr>
              <p:nvPr/>
            </p:nvSpPr>
            <p:spPr bwMode="auto">
              <a:xfrm>
                <a:off x="3615" y="1281"/>
                <a:ext cx="123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and the marginal-cost</a:t>
                </a:r>
                <a:endParaRPr lang="en-US" altLang="en-US"/>
              </a:p>
            </p:txBody>
          </p:sp>
          <p:sp>
            <p:nvSpPr>
              <p:cNvPr id="8240" name="Rectangle 58"/>
              <p:cNvSpPr>
                <a:spLocks noChangeArrowheads="1"/>
              </p:cNvSpPr>
              <p:nvPr/>
            </p:nvSpPr>
            <p:spPr bwMode="auto">
              <a:xfrm>
                <a:off x="3615" y="1442"/>
                <a:ext cx="119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curve determines the</a:t>
                </a:r>
                <a:endParaRPr lang="en-US" altLang="en-US"/>
              </a:p>
            </p:txBody>
          </p:sp>
          <p:sp>
            <p:nvSpPr>
              <p:cNvPr id="8241" name="Rectangle 59"/>
              <p:cNvSpPr>
                <a:spLocks noChangeArrowheads="1"/>
              </p:cNvSpPr>
              <p:nvPr/>
            </p:nvSpPr>
            <p:spPr bwMode="auto">
              <a:xfrm>
                <a:off x="3615" y="1604"/>
                <a:ext cx="96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profit-maximizing</a:t>
                </a:r>
                <a:endParaRPr lang="en-US" altLang="en-US"/>
              </a:p>
            </p:txBody>
          </p:sp>
          <p:sp>
            <p:nvSpPr>
              <p:cNvPr id="8242" name="Rectangle 60"/>
              <p:cNvSpPr>
                <a:spLocks noChangeArrowheads="1"/>
              </p:cNvSpPr>
              <p:nvPr/>
            </p:nvSpPr>
            <p:spPr bwMode="auto">
              <a:xfrm>
                <a:off x="3615" y="1765"/>
                <a:ext cx="6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quantity . . .</a:t>
                </a:r>
                <a:endParaRPr lang="en-US" altLang="en-US"/>
              </a:p>
            </p:txBody>
          </p:sp>
        </p:grpSp>
      </p:grpSp>
      <p:grpSp>
        <p:nvGrpSpPr>
          <p:cNvPr id="102461" name="Group 61"/>
          <p:cNvGrpSpPr>
            <a:grpSpLocks/>
          </p:cNvGrpSpPr>
          <p:nvPr/>
        </p:nvGrpSpPr>
        <p:grpSpPr bwMode="auto">
          <a:xfrm>
            <a:off x="4991100" y="3987801"/>
            <a:ext cx="374650" cy="244475"/>
            <a:chOff x="2184" y="2512"/>
            <a:chExt cx="236" cy="154"/>
          </a:xfrm>
        </p:grpSpPr>
        <p:sp>
          <p:nvSpPr>
            <p:cNvPr id="8232" name="Oval 62"/>
            <p:cNvSpPr>
              <a:spLocks noChangeArrowheads="1"/>
            </p:cNvSpPr>
            <p:nvPr/>
          </p:nvSpPr>
          <p:spPr bwMode="auto">
            <a:xfrm>
              <a:off x="2184" y="2543"/>
              <a:ext cx="85" cy="8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8233" name="Rectangle 63"/>
            <p:cNvSpPr>
              <a:spLocks noChangeArrowheads="1"/>
            </p:cNvSpPr>
            <p:nvPr/>
          </p:nvSpPr>
          <p:spPr bwMode="auto">
            <a:xfrm>
              <a:off x="2335" y="2512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endParaRPr lang="en-US" altLang="en-US"/>
            </a:p>
          </p:txBody>
        </p:sp>
      </p:grpSp>
      <p:grpSp>
        <p:nvGrpSpPr>
          <p:cNvPr id="102464" name="Group 64"/>
          <p:cNvGrpSpPr>
            <a:grpSpLocks/>
          </p:cNvGrpSpPr>
          <p:nvPr/>
        </p:nvGrpSpPr>
        <p:grpSpPr bwMode="auto">
          <a:xfrm>
            <a:off x="4238626" y="1455739"/>
            <a:ext cx="2778125" cy="1233487"/>
            <a:chOff x="1710" y="917"/>
            <a:chExt cx="1750" cy="777"/>
          </a:xfrm>
        </p:grpSpPr>
        <p:sp>
          <p:nvSpPr>
            <p:cNvPr id="8227" name="Line 65"/>
            <p:cNvSpPr>
              <a:spLocks noChangeShapeType="1"/>
            </p:cNvSpPr>
            <p:nvPr/>
          </p:nvSpPr>
          <p:spPr bwMode="auto">
            <a:xfrm flipV="1">
              <a:off x="2305" y="1439"/>
              <a:ext cx="268" cy="2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28" name="Rectangle 66"/>
            <p:cNvSpPr>
              <a:spLocks noChangeArrowheads="1"/>
            </p:cNvSpPr>
            <p:nvPr/>
          </p:nvSpPr>
          <p:spPr bwMode="auto">
            <a:xfrm>
              <a:off x="1710" y="917"/>
              <a:ext cx="1750" cy="546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8229" name="Rectangle 67"/>
            <p:cNvSpPr>
              <a:spLocks noChangeArrowheads="1"/>
            </p:cNvSpPr>
            <p:nvPr/>
          </p:nvSpPr>
          <p:spPr bwMode="auto">
            <a:xfrm>
              <a:off x="1778" y="949"/>
              <a:ext cx="156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2. . . . and then the demand</a:t>
              </a:r>
              <a:endParaRPr lang="en-US" altLang="en-US"/>
            </a:p>
          </p:txBody>
        </p:sp>
        <p:sp>
          <p:nvSpPr>
            <p:cNvPr id="8230" name="Rectangle 68"/>
            <p:cNvSpPr>
              <a:spLocks noChangeArrowheads="1"/>
            </p:cNvSpPr>
            <p:nvPr/>
          </p:nvSpPr>
          <p:spPr bwMode="auto">
            <a:xfrm>
              <a:off x="1778" y="1111"/>
              <a:ext cx="123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curve shows the price</a:t>
              </a:r>
              <a:endParaRPr lang="en-US" altLang="en-US"/>
            </a:p>
          </p:txBody>
        </p:sp>
        <p:sp>
          <p:nvSpPr>
            <p:cNvPr id="8231" name="Rectangle 69"/>
            <p:cNvSpPr>
              <a:spLocks noChangeArrowheads="1"/>
            </p:cNvSpPr>
            <p:nvPr/>
          </p:nvSpPr>
          <p:spPr bwMode="auto">
            <a:xfrm>
              <a:off x="1778" y="1272"/>
              <a:ext cx="159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consistent with this quantity.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266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0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5 The Monopolist’s Profit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088313" y="6680201"/>
            <a:ext cx="18034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 © 2004  South-Western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F3F6F9"/>
          </a:solidFill>
          <a:ln w="2127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F2F4F8"/>
          </a:solidFill>
          <a:ln w="19367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F1F4F7"/>
          </a:solidFill>
          <a:ln w="17303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F0F2F5"/>
          </a:solidFill>
          <a:ln w="15398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EF1F4"/>
          </a:solidFill>
          <a:ln w="13493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DEFF3"/>
          </a:solidFill>
          <a:ln w="11588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BEEF2"/>
          </a:solidFill>
          <a:ln w="96838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AECF1"/>
          </a:solidFill>
          <a:ln w="7778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9EBF0"/>
          </a:solidFill>
          <a:ln w="57150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7EAEF"/>
          </a:solidFill>
          <a:ln w="38100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3167063" y="1422400"/>
            <a:ext cx="6583362" cy="4795838"/>
          </a:xfrm>
          <a:prstGeom prst="rect">
            <a:avLst/>
          </a:prstGeom>
          <a:solidFill>
            <a:srgbClr val="E6E9EF"/>
          </a:solidFill>
          <a:ln w="19050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3013076" y="1249364"/>
            <a:ext cx="6659563" cy="49307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9233" name="Freeform 17"/>
          <p:cNvSpPr>
            <a:spLocks/>
          </p:cNvSpPr>
          <p:nvPr/>
        </p:nvSpPr>
        <p:spPr bwMode="auto">
          <a:xfrm>
            <a:off x="3013076" y="1249364"/>
            <a:ext cx="6659563" cy="4930775"/>
          </a:xfrm>
          <a:custGeom>
            <a:avLst/>
            <a:gdLst>
              <a:gd name="T0" fmla="*/ 0 w 4195"/>
              <a:gd name="T1" fmla="*/ 0 h 3106"/>
              <a:gd name="T2" fmla="*/ 0 w 4195"/>
              <a:gd name="T3" fmla="*/ 4930775 h 3106"/>
              <a:gd name="T4" fmla="*/ 6659563 w 4195"/>
              <a:gd name="T5" fmla="*/ 4930775 h 31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95" h="3106">
                <a:moveTo>
                  <a:pt x="0" y="0"/>
                </a:moveTo>
                <a:lnTo>
                  <a:pt x="0" y="3106"/>
                </a:lnTo>
                <a:lnTo>
                  <a:pt x="4195" y="3106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01394" name="Group 18"/>
          <p:cNvGrpSpPr>
            <a:grpSpLocks/>
          </p:cNvGrpSpPr>
          <p:nvPr/>
        </p:nvGrpSpPr>
        <p:grpSpPr bwMode="auto">
          <a:xfrm>
            <a:off x="3013075" y="2867026"/>
            <a:ext cx="2046288" cy="1463675"/>
            <a:chOff x="938" y="1806"/>
            <a:chExt cx="1289" cy="922"/>
          </a:xfrm>
        </p:grpSpPr>
        <p:sp>
          <p:nvSpPr>
            <p:cNvPr id="9270" name="Rectangle 19"/>
            <p:cNvSpPr>
              <a:spLocks noChangeArrowheads="1"/>
            </p:cNvSpPr>
            <p:nvPr/>
          </p:nvSpPr>
          <p:spPr bwMode="auto">
            <a:xfrm>
              <a:off x="938" y="1806"/>
              <a:ext cx="1289" cy="922"/>
            </a:xfrm>
            <a:prstGeom prst="rect">
              <a:avLst/>
            </a:prstGeom>
            <a:solidFill>
              <a:srgbClr val="E7EB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71" name="Rectangle 20"/>
            <p:cNvSpPr>
              <a:spLocks noChangeArrowheads="1"/>
            </p:cNvSpPr>
            <p:nvPr/>
          </p:nvSpPr>
          <p:spPr bwMode="auto">
            <a:xfrm>
              <a:off x="1319" y="2126"/>
              <a:ext cx="55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Monopoly</a:t>
              </a:r>
              <a:endParaRPr lang="en-US" altLang="en-US"/>
            </a:p>
          </p:txBody>
        </p:sp>
        <p:sp>
          <p:nvSpPr>
            <p:cNvPr id="9272" name="Rectangle 21"/>
            <p:cNvSpPr>
              <a:spLocks noChangeArrowheads="1"/>
            </p:cNvSpPr>
            <p:nvPr/>
          </p:nvSpPr>
          <p:spPr bwMode="auto">
            <a:xfrm>
              <a:off x="1456" y="2287"/>
              <a:ext cx="2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profit</a:t>
              </a:r>
              <a:endParaRPr lang="en-US" altLang="en-US"/>
            </a:p>
          </p:txBody>
        </p:sp>
      </p:grpSp>
      <p:grpSp>
        <p:nvGrpSpPr>
          <p:cNvPr id="101398" name="Group 22"/>
          <p:cNvGrpSpPr>
            <a:grpSpLocks/>
          </p:cNvGrpSpPr>
          <p:nvPr/>
        </p:nvGrpSpPr>
        <p:grpSpPr bwMode="auto">
          <a:xfrm>
            <a:off x="2178051" y="4194175"/>
            <a:ext cx="2881313" cy="755650"/>
            <a:chOff x="412" y="2642"/>
            <a:chExt cx="1815" cy="476"/>
          </a:xfrm>
        </p:grpSpPr>
        <p:sp>
          <p:nvSpPr>
            <p:cNvPr id="9266" name="Line 23"/>
            <p:cNvSpPr>
              <a:spLocks noChangeShapeType="1"/>
            </p:cNvSpPr>
            <p:nvPr/>
          </p:nvSpPr>
          <p:spPr bwMode="auto">
            <a:xfrm flipH="1">
              <a:off x="938" y="2728"/>
              <a:ext cx="128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67" name="Rectangle 24"/>
            <p:cNvSpPr>
              <a:spLocks noChangeArrowheads="1"/>
            </p:cNvSpPr>
            <p:nvPr/>
          </p:nvSpPr>
          <p:spPr bwMode="auto">
            <a:xfrm>
              <a:off x="412" y="2642"/>
              <a:ext cx="47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Average</a:t>
              </a:r>
              <a:endParaRPr lang="en-US" altLang="en-US"/>
            </a:p>
          </p:txBody>
        </p:sp>
        <p:sp>
          <p:nvSpPr>
            <p:cNvPr id="9268" name="Rectangle 25"/>
            <p:cNvSpPr>
              <a:spLocks noChangeArrowheads="1"/>
            </p:cNvSpPr>
            <p:nvPr/>
          </p:nvSpPr>
          <p:spPr bwMode="auto">
            <a:xfrm>
              <a:off x="646" y="2803"/>
              <a:ext cx="24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total</a:t>
              </a:r>
              <a:endParaRPr lang="en-US" altLang="en-US"/>
            </a:p>
          </p:txBody>
        </p:sp>
        <p:sp>
          <p:nvSpPr>
            <p:cNvPr id="9269" name="Rectangle 26"/>
            <p:cNvSpPr>
              <a:spLocks noChangeArrowheads="1"/>
            </p:cNvSpPr>
            <p:nvPr/>
          </p:nvSpPr>
          <p:spPr bwMode="auto">
            <a:xfrm>
              <a:off x="654" y="2964"/>
              <a:ext cx="2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cost</a:t>
              </a:r>
              <a:endParaRPr lang="en-US" altLang="en-US"/>
            </a:p>
          </p:txBody>
        </p:sp>
      </p:grpSp>
      <p:sp>
        <p:nvSpPr>
          <p:cNvPr id="9236" name="Rectangle 27"/>
          <p:cNvSpPr>
            <a:spLocks noChangeArrowheads="1"/>
          </p:cNvSpPr>
          <p:nvPr/>
        </p:nvSpPr>
        <p:spPr bwMode="auto">
          <a:xfrm>
            <a:off x="8821738" y="6210301"/>
            <a:ext cx="825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grpSp>
        <p:nvGrpSpPr>
          <p:cNvPr id="101404" name="Group 28"/>
          <p:cNvGrpSpPr>
            <a:grpSpLocks/>
          </p:cNvGrpSpPr>
          <p:nvPr/>
        </p:nvGrpSpPr>
        <p:grpSpPr bwMode="auto">
          <a:xfrm>
            <a:off x="2051050" y="2646363"/>
            <a:ext cx="3238500" cy="3814762"/>
            <a:chOff x="332" y="1667"/>
            <a:chExt cx="2040" cy="2403"/>
          </a:xfrm>
        </p:grpSpPr>
        <p:sp>
          <p:nvSpPr>
            <p:cNvPr id="9262" name="Freeform 29"/>
            <p:cNvSpPr>
              <a:spLocks/>
            </p:cNvSpPr>
            <p:nvPr/>
          </p:nvSpPr>
          <p:spPr bwMode="auto">
            <a:xfrm>
              <a:off x="938" y="1806"/>
              <a:ext cx="1289" cy="2075"/>
            </a:xfrm>
            <a:custGeom>
              <a:avLst/>
              <a:gdLst>
                <a:gd name="T0" fmla="*/ 1289 w 1289"/>
                <a:gd name="T1" fmla="*/ 2075 h 2075"/>
                <a:gd name="T2" fmla="*/ 1289 w 1289"/>
                <a:gd name="T3" fmla="*/ 0 h 2075"/>
                <a:gd name="T4" fmla="*/ 0 w 1289"/>
                <a:gd name="T5" fmla="*/ 0 h 20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89" h="2075">
                  <a:moveTo>
                    <a:pt x="1289" y="2075"/>
                  </a:moveTo>
                  <a:lnTo>
                    <a:pt x="1289" y="0"/>
                  </a:ln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63" name="Rectangle 30"/>
            <p:cNvSpPr>
              <a:spLocks noChangeArrowheads="1"/>
            </p:cNvSpPr>
            <p:nvPr/>
          </p:nvSpPr>
          <p:spPr bwMode="auto">
            <a:xfrm>
              <a:off x="332" y="1667"/>
              <a:ext cx="55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Monopoly</a:t>
              </a:r>
              <a:endParaRPr lang="en-US" altLang="en-US"/>
            </a:p>
          </p:txBody>
        </p:sp>
        <p:sp>
          <p:nvSpPr>
            <p:cNvPr id="9264" name="Rectangle 31"/>
            <p:cNvSpPr>
              <a:spLocks noChangeArrowheads="1"/>
            </p:cNvSpPr>
            <p:nvPr/>
          </p:nvSpPr>
          <p:spPr bwMode="auto">
            <a:xfrm>
              <a:off x="610" y="1828"/>
              <a:ext cx="27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price</a:t>
              </a:r>
              <a:endParaRPr lang="en-US" altLang="en-US"/>
            </a:p>
          </p:txBody>
        </p:sp>
        <p:sp>
          <p:nvSpPr>
            <p:cNvPr id="9265" name="Rectangle 32"/>
            <p:cNvSpPr>
              <a:spLocks noChangeArrowheads="1"/>
            </p:cNvSpPr>
            <p:nvPr/>
          </p:nvSpPr>
          <p:spPr bwMode="auto">
            <a:xfrm>
              <a:off x="2081" y="3916"/>
              <a:ext cx="29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i="1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n-US" altLang="en-US" sz="1600" i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MAX</a:t>
              </a:r>
              <a:endParaRPr lang="en-US" altLang="en-US"/>
            </a:p>
          </p:txBody>
        </p:sp>
      </p:grpSp>
      <p:sp>
        <p:nvSpPr>
          <p:cNvPr id="9238" name="Rectangle 33"/>
          <p:cNvSpPr>
            <a:spLocks noChangeArrowheads="1"/>
          </p:cNvSpPr>
          <p:nvPr/>
        </p:nvSpPr>
        <p:spPr bwMode="auto">
          <a:xfrm>
            <a:off x="2817813" y="6216651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9239" name="Rectangle 34"/>
          <p:cNvSpPr>
            <a:spLocks noChangeArrowheads="1"/>
          </p:cNvSpPr>
          <p:nvPr/>
        </p:nvSpPr>
        <p:spPr bwMode="auto">
          <a:xfrm>
            <a:off x="1947864" y="1212851"/>
            <a:ext cx="981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Costs and</a:t>
            </a:r>
            <a:endParaRPr lang="en-US" altLang="en-US"/>
          </a:p>
        </p:txBody>
      </p:sp>
      <p:sp>
        <p:nvSpPr>
          <p:cNvPr id="9240" name="Rectangle 35"/>
          <p:cNvSpPr>
            <a:spLocks noChangeArrowheads="1"/>
          </p:cNvSpPr>
          <p:nvPr/>
        </p:nvSpPr>
        <p:spPr bwMode="auto">
          <a:xfrm>
            <a:off x="2082800" y="1468439"/>
            <a:ext cx="8445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solidFill>
                  <a:srgbClr val="000000"/>
                </a:solidFill>
                <a:latin typeface="Arial" panose="020B0604020202020204" pitchFamily="34" charset="0"/>
              </a:rPr>
              <a:t>Revenue</a:t>
            </a:r>
            <a:endParaRPr lang="en-US" altLang="en-US"/>
          </a:p>
        </p:txBody>
      </p:sp>
      <p:grpSp>
        <p:nvGrpSpPr>
          <p:cNvPr id="101412" name="Group 36"/>
          <p:cNvGrpSpPr>
            <a:grpSpLocks/>
          </p:cNvGrpSpPr>
          <p:nvPr/>
        </p:nvGrpSpPr>
        <p:grpSpPr bwMode="auto">
          <a:xfrm>
            <a:off x="3013076" y="1557339"/>
            <a:ext cx="6069013" cy="3495675"/>
            <a:chOff x="938" y="981"/>
            <a:chExt cx="3823" cy="2202"/>
          </a:xfrm>
        </p:grpSpPr>
        <p:sp>
          <p:nvSpPr>
            <p:cNvPr id="9260" name="Line 37"/>
            <p:cNvSpPr>
              <a:spLocks noChangeShapeType="1"/>
            </p:cNvSpPr>
            <p:nvPr/>
          </p:nvSpPr>
          <p:spPr bwMode="auto">
            <a:xfrm>
              <a:off x="938" y="981"/>
              <a:ext cx="3295" cy="2123"/>
            </a:xfrm>
            <a:prstGeom prst="line">
              <a:avLst/>
            </a:prstGeom>
            <a:noFill/>
            <a:ln w="57150">
              <a:solidFill>
                <a:srgbClr val="003F9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61" name="Rectangle 38"/>
            <p:cNvSpPr>
              <a:spLocks noChangeArrowheads="1"/>
            </p:cNvSpPr>
            <p:nvPr/>
          </p:nvSpPr>
          <p:spPr bwMode="auto">
            <a:xfrm>
              <a:off x="4278" y="3029"/>
              <a:ext cx="48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  <p:grpSp>
        <p:nvGrpSpPr>
          <p:cNvPr id="101415" name="Group 39"/>
          <p:cNvGrpSpPr>
            <a:grpSpLocks/>
          </p:cNvGrpSpPr>
          <p:nvPr/>
        </p:nvGrpSpPr>
        <p:grpSpPr bwMode="auto">
          <a:xfrm>
            <a:off x="3727451" y="2146300"/>
            <a:ext cx="3838575" cy="3822700"/>
            <a:chOff x="1388" y="1352"/>
            <a:chExt cx="2418" cy="2408"/>
          </a:xfrm>
        </p:grpSpPr>
        <p:sp>
          <p:nvSpPr>
            <p:cNvPr id="9258" name="Line 40"/>
            <p:cNvSpPr>
              <a:spLocks noChangeShapeType="1"/>
            </p:cNvSpPr>
            <p:nvPr/>
          </p:nvSpPr>
          <p:spPr bwMode="auto">
            <a:xfrm flipH="1">
              <a:off x="1388" y="1430"/>
              <a:ext cx="1605" cy="2330"/>
            </a:xfrm>
            <a:prstGeom prst="line">
              <a:avLst/>
            </a:prstGeom>
            <a:noFill/>
            <a:ln w="57150">
              <a:solidFill>
                <a:srgbClr val="AD0D1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59" name="Rectangle 41"/>
            <p:cNvSpPr>
              <a:spLocks noChangeArrowheads="1"/>
            </p:cNvSpPr>
            <p:nvPr/>
          </p:nvSpPr>
          <p:spPr bwMode="auto">
            <a:xfrm>
              <a:off x="3045" y="1352"/>
              <a:ext cx="76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Marginal cost</a:t>
              </a:r>
              <a:endParaRPr lang="en-US" altLang="en-US"/>
            </a:p>
          </p:txBody>
        </p:sp>
      </p:grpSp>
      <p:grpSp>
        <p:nvGrpSpPr>
          <p:cNvPr id="101418" name="Group 42"/>
          <p:cNvGrpSpPr>
            <a:grpSpLocks/>
          </p:cNvGrpSpPr>
          <p:nvPr/>
        </p:nvGrpSpPr>
        <p:grpSpPr bwMode="auto">
          <a:xfrm>
            <a:off x="3013075" y="1557339"/>
            <a:ext cx="5335588" cy="4454525"/>
            <a:chOff x="938" y="981"/>
            <a:chExt cx="3361" cy="2806"/>
          </a:xfrm>
        </p:grpSpPr>
        <p:sp>
          <p:nvSpPr>
            <p:cNvPr id="9256" name="Line 43"/>
            <p:cNvSpPr>
              <a:spLocks noChangeShapeType="1"/>
            </p:cNvSpPr>
            <p:nvPr/>
          </p:nvSpPr>
          <p:spPr bwMode="auto">
            <a:xfrm>
              <a:off x="938" y="981"/>
              <a:ext cx="2310" cy="2791"/>
            </a:xfrm>
            <a:prstGeom prst="line">
              <a:avLst/>
            </a:prstGeom>
            <a:noFill/>
            <a:ln w="57150">
              <a:solidFill>
                <a:srgbClr val="AD0D1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57" name="Rectangle 44"/>
            <p:cNvSpPr>
              <a:spLocks noChangeArrowheads="1"/>
            </p:cNvSpPr>
            <p:nvPr/>
          </p:nvSpPr>
          <p:spPr bwMode="auto">
            <a:xfrm>
              <a:off x="3311" y="3633"/>
              <a:ext cx="98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Marginal revenue</a:t>
              </a:r>
              <a:endParaRPr lang="en-US" altLang="en-US"/>
            </a:p>
          </p:txBody>
        </p:sp>
      </p:grpSp>
      <p:grpSp>
        <p:nvGrpSpPr>
          <p:cNvPr id="101421" name="Group 45"/>
          <p:cNvGrpSpPr>
            <a:grpSpLocks/>
          </p:cNvGrpSpPr>
          <p:nvPr/>
        </p:nvGrpSpPr>
        <p:grpSpPr bwMode="auto">
          <a:xfrm>
            <a:off x="3379789" y="3252789"/>
            <a:ext cx="5424487" cy="2003425"/>
            <a:chOff x="1169" y="2049"/>
            <a:chExt cx="3417" cy="1262"/>
          </a:xfrm>
        </p:grpSpPr>
        <p:sp>
          <p:nvSpPr>
            <p:cNvPr id="9254" name="Freeform 46"/>
            <p:cNvSpPr>
              <a:spLocks/>
            </p:cNvSpPr>
            <p:nvPr/>
          </p:nvSpPr>
          <p:spPr bwMode="auto">
            <a:xfrm>
              <a:off x="1169" y="2049"/>
              <a:ext cx="2310" cy="1262"/>
            </a:xfrm>
            <a:custGeom>
              <a:avLst/>
              <a:gdLst>
                <a:gd name="T0" fmla="*/ 0 w 190"/>
                <a:gd name="T1" fmla="*/ 0 h 104"/>
                <a:gd name="T2" fmla="*/ 2310 w 190"/>
                <a:gd name="T3" fmla="*/ 206 h 1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0" h="104">
                  <a:moveTo>
                    <a:pt x="0" y="0"/>
                  </a:moveTo>
                  <a:cubicBezTo>
                    <a:pt x="6" y="22"/>
                    <a:pt x="40" y="104"/>
                    <a:pt x="190" y="17"/>
                  </a:cubicBezTo>
                </a:path>
              </a:pathLst>
            </a:custGeom>
            <a:noFill/>
            <a:ln w="57150">
              <a:solidFill>
                <a:srgbClr val="003F9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55" name="Rectangle 47"/>
            <p:cNvSpPr>
              <a:spLocks noChangeArrowheads="1"/>
            </p:cNvSpPr>
            <p:nvPr/>
          </p:nvSpPr>
          <p:spPr bwMode="auto">
            <a:xfrm>
              <a:off x="3561" y="2170"/>
              <a:ext cx="102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Average total cost</a:t>
              </a:r>
              <a:endParaRPr lang="en-US" altLang="en-US"/>
            </a:p>
          </p:txBody>
        </p:sp>
      </p:grpSp>
      <p:grpSp>
        <p:nvGrpSpPr>
          <p:cNvPr id="101424" name="Group 48"/>
          <p:cNvGrpSpPr>
            <a:grpSpLocks/>
          </p:cNvGrpSpPr>
          <p:nvPr/>
        </p:nvGrpSpPr>
        <p:grpSpPr bwMode="auto">
          <a:xfrm>
            <a:off x="2954339" y="2646364"/>
            <a:ext cx="2333625" cy="1958975"/>
            <a:chOff x="901" y="1667"/>
            <a:chExt cx="1470" cy="1234"/>
          </a:xfrm>
        </p:grpSpPr>
        <p:sp>
          <p:nvSpPr>
            <p:cNvPr id="9246" name="Oval 49"/>
            <p:cNvSpPr>
              <a:spLocks noChangeArrowheads="1"/>
            </p:cNvSpPr>
            <p:nvPr/>
          </p:nvSpPr>
          <p:spPr bwMode="auto">
            <a:xfrm>
              <a:off x="2190" y="1770"/>
              <a:ext cx="86" cy="8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47" name="Oval 50"/>
            <p:cNvSpPr>
              <a:spLocks noChangeArrowheads="1"/>
            </p:cNvSpPr>
            <p:nvPr/>
          </p:nvSpPr>
          <p:spPr bwMode="auto">
            <a:xfrm>
              <a:off x="901" y="1770"/>
              <a:ext cx="86" cy="8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48" name="Oval 51"/>
            <p:cNvSpPr>
              <a:spLocks noChangeArrowheads="1"/>
            </p:cNvSpPr>
            <p:nvPr/>
          </p:nvSpPr>
          <p:spPr bwMode="auto">
            <a:xfrm>
              <a:off x="901" y="2692"/>
              <a:ext cx="86" cy="8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49" name="Oval 52"/>
            <p:cNvSpPr>
              <a:spLocks noChangeArrowheads="1"/>
            </p:cNvSpPr>
            <p:nvPr/>
          </p:nvSpPr>
          <p:spPr bwMode="auto">
            <a:xfrm>
              <a:off x="2190" y="2692"/>
              <a:ext cx="86" cy="8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50" name="Rectangle 53"/>
            <p:cNvSpPr>
              <a:spLocks noChangeArrowheads="1"/>
            </p:cNvSpPr>
            <p:nvPr/>
          </p:nvSpPr>
          <p:spPr bwMode="auto">
            <a:xfrm>
              <a:off x="2279" y="1667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endParaRPr lang="en-US" altLang="en-US"/>
            </a:p>
          </p:txBody>
        </p:sp>
        <p:sp>
          <p:nvSpPr>
            <p:cNvPr id="9251" name="Rectangle 54"/>
            <p:cNvSpPr>
              <a:spLocks noChangeArrowheads="1"/>
            </p:cNvSpPr>
            <p:nvPr/>
          </p:nvSpPr>
          <p:spPr bwMode="auto">
            <a:xfrm>
              <a:off x="2279" y="2747"/>
              <a:ext cx="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C</a:t>
              </a:r>
              <a:endParaRPr lang="en-US" altLang="en-US"/>
            </a:p>
          </p:txBody>
        </p:sp>
        <p:sp>
          <p:nvSpPr>
            <p:cNvPr id="9252" name="Rectangle 55"/>
            <p:cNvSpPr>
              <a:spLocks noChangeArrowheads="1"/>
            </p:cNvSpPr>
            <p:nvPr/>
          </p:nvSpPr>
          <p:spPr bwMode="auto">
            <a:xfrm>
              <a:off x="1005" y="1667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endParaRPr lang="en-US" altLang="en-US"/>
            </a:p>
          </p:txBody>
        </p:sp>
        <p:sp>
          <p:nvSpPr>
            <p:cNvPr id="9253" name="Rectangle 56"/>
            <p:cNvSpPr>
              <a:spLocks noChangeArrowheads="1"/>
            </p:cNvSpPr>
            <p:nvPr/>
          </p:nvSpPr>
          <p:spPr bwMode="auto">
            <a:xfrm>
              <a:off x="1005" y="2747"/>
              <a:ext cx="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Arial" panose="020B0604020202020204" pitchFamily="34" charset="0"/>
                </a:rPr>
                <a:t>D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0355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0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0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580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Monopoly</vt:lpstr>
      <vt:lpstr>Natural Monopoly </vt:lpstr>
      <vt:lpstr>Figure 1 Economies of Scale as a Cause of Monopoly</vt:lpstr>
      <vt:lpstr>The profit maximization rule for monopolist </vt:lpstr>
      <vt:lpstr>Figure 3 Demand and Marginal Revenue Curves for a Monopoly</vt:lpstr>
      <vt:lpstr>PowerPoint Presentation</vt:lpstr>
      <vt:lpstr>Price effect and output effect</vt:lpstr>
      <vt:lpstr>Output effect</vt:lpstr>
      <vt:lpstr>Figure 4 Profit Maximization for a Monopoly</vt:lpstr>
      <vt:lpstr>Figure 5 The Monopolist’s Profit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Monopoly</dc:title>
  <dc:creator>Subash S</dc:creator>
  <cp:lastModifiedBy>vaith</cp:lastModifiedBy>
  <cp:revision>14</cp:revision>
  <dcterms:created xsi:type="dcterms:W3CDTF">2020-04-15T06:46:52Z</dcterms:created>
  <dcterms:modified xsi:type="dcterms:W3CDTF">2023-09-20T07:55:23Z</dcterms:modified>
</cp:coreProperties>
</file>