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274" r:id="rId4"/>
    <p:sldId id="275" r:id="rId5"/>
    <p:sldId id="277" r:id="rId6"/>
    <p:sldId id="258" r:id="rId7"/>
    <p:sldId id="260" r:id="rId8"/>
    <p:sldId id="263" r:id="rId9"/>
    <p:sldId id="278" r:id="rId10"/>
    <p:sldId id="279" r:id="rId11"/>
    <p:sldId id="262" r:id="rId12"/>
    <p:sldId id="264" r:id="rId13"/>
    <p:sldId id="271" r:id="rId14"/>
    <p:sldId id="268"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6"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7EA6FC2-508A-4932-8858-567D3310C4AE}" type="datetimeFigureOut">
              <a:rPr lang="en-IN" smtClean="0"/>
              <a:t>05-08-2025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FC0CD0D-21B6-4EAD-938B-0020989A2380}" type="slidenum">
              <a:rPr lang="en-IN" smtClean="0"/>
              <a:t>‹#›</a:t>
            </a:fld>
            <a:endParaRPr lang="en-IN"/>
          </a:p>
        </p:txBody>
      </p:sp>
    </p:spTree>
    <p:extLst>
      <p:ext uri="{BB962C8B-B14F-4D97-AF65-F5344CB8AC3E}">
        <p14:creationId xmlns:p14="http://schemas.microsoft.com/office/powerpoint/2010/main" val="1999269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7EA6FC2-508A-4932-8858-567D3310C4AE}" type="datetimeFigureOut">
              <a:rPr lang="en-IN" smtClean="0"/>
              <a:t>05-08-2025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FC0CD0D-21B6-4EAD-938B-0020989A2380}" type="slidenum">
              <a:rPr lang="en-IN" smtClean="0"/>
              <a:t>‹#›</a:t>
            </a:fld>
            <a:endParaRPr lang="en-IN"/>
          </a:p>
        </p:txBody>
      </p:sp>
    </p:spTree>
    <p:extLst>
      <p:ext uri="{BB962C8B-B14F-4D97-AF65-F5344CB8AC3E}">
        <p14:creationId xmlns:p14="http://schemas.microsoft.com/office/powerpoint/2010/main" val="997723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7EA6FC2-508A-4932-8858-567D3310C4AE}" type="datetimeFigureOut">
              <a:rPr lang="en-IN" smtClean="0"/>
              <a:t>05-08-2025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FC0CD0D-21B6-4EAD-938B-0020989A2380}" type="slidenum">
              <a:rPr lang="en-IN" smtClean="0"/>
              <a:t>‹#›</a:t>
            </a:fld>
            <a:endParaRPr lang="en-IN"/>
          </a:p>
        </p:txBody>
      </p:sp>
    </p:spTree>
    <p:extLst>
      <p:ext uri="{BB962C8B-B14F-4D97-AF65-F5344CB8AC3E}">
        <p14:creationId xmlns:p14="http://schemas.microsoft.com/office/powerpoint/2010/main" val="3415599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7EA6FC2-508A-4932-8858-567D3310C4AE}" type="datetimeFigureOut">
              <a:rPr lang="en-IN" smtClean="0"/>
              <a:t>05-08-2025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FC0CD0D-21B6-4EAD-938B-0020989A2380}" type="slidenum">
              <a:rPr lang="en-IN" smtClean="0"/>
              <a:t>‹#›</a:t>
            </a:fld>
            <a:endParaRPr lang="en-IN"/>
          </a:p>
        </p:txBody>
      </p:sp>
    </p:spTree>
    <p:extLst>
      <p:ext uri="{BB962C8B-B14F-4D97-AF65-F5344CB8AC3E}">
        <p14:creationId xmlns:p14="http://schemas.microsoft.com/office/powerpoint/2010/main" val="2998568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7EA6FC2-508A-4932-8858-567D3310C4AE}" type="datetimeFigureOut">
              <a:rPr lang="en-IN" smtClean="0"/>
              <a:t>05-08-2025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FC0CD0D-21B6-4EAD-938B-0020989A2380}" type="slidenum">
              <a:rPr lang="en-IN" smtClean="0"/>
              <a:t>‹#›</a:t>
            </a:fld>
            <a:endParaRPr lang="en-IN"/>
          </a:p>
        </p:txBody>
      </p:sp>
    </p:spTree>
    <p:extLst>
      <p:ext uri="{BB962C8B-B14F-4D97-AF65-F5344CB8AC3E}">
        <p14:creationId xmlns:p14="http://schemas.microsoft.com/office/powerpoint/2010/main" val="3333955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7EA6FC2-508A-4932-8858-567D3310C4AE}" type="datetimeFigureOut">
              <a:rPr lang="en-IN" smtClean="0"/>
              <a:t>05-08-2025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FC0CD0D-21B6-4EAD-938B-0020989A2380}" type="slidenum">
              <a:rPr lang="en-IN" smtClean="0"/>
              <a:t>‹#›</a:t>
            </a:fld>
            <a:endParaRPr lang="en-IN"/>
          </a:p>
        </p:txBody>
      </p:sp>
    </p:spTree>
    <p:extLst>
      <p:ext uri="{BB962C8B-B14F-4D97-AF65-F5344CB8AC3E}">
        <p14:creationId xmlns:p14="http://schemas.microsoft.com/office/powerpoint/2010/main" val="124587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EA6FC2-508A-4932-8858-567D3310C4AE}" type="datetimeFigureOut">
              <a:rPr lang="en-IN" smtClean="0"/>
              <a:t>05-08-2025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FC0CD0D-21B6-4EAD-938B-0020989A2380}" type="slidenum">
              <a:rPr lang="en-IN" smtClean="0"/>
              <a:t>‹#›</a:t>
            </a:fld>
            <a:endParaRPr lang="en-IN"/>
          </a:p>
        </p:txBody>
      </p:sp>
    </p:spTree>
    <p:extLst>
      <p:ext uri="{BB962C8B-B14F-4D97-AF65-F5344CB8AC3E}">
        <p14:creationId xmlns:p14="http://schemas.microsoft.com/office/powerpoint/2010/main" val="3536274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7EA6FC2-508A-4932-8858-567D3310C4AE}" type="datetimeFigureOut">
              <a:rPr lang="en-IN" smtClean="0"/>
              <a:t>05-08-2025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FC0CD0D-21B6-4EAD-938B-0020989A2380}" type="slidenum">
              <a:rPr lang="en-IN" smtClean="0"/>
              <a:t>‹#›</a:t>
            </a:fld>
            <a:endParaRPr lang="en-IN"/>
          </a:p>
        </p:txBody>
      </p:sp>
    </p:spTree>
    <p:extLst>
      <p:ext uri="{BB962C8B-B14F-4D97-AF65-F5344CB8AC3E}">
        <p14:creationId xmlns:p14="http://schemas.microsoft.com/office/powerpoint/2010/main" val="3601772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7EA6FC2-508A-4932-8858-567D3310C4AE}" type="datetimeFigureOut">
              <a:rPr lang="en-IN" smtClean="0"/>
              <a:t>05-08-2025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FC0CD0D-21B6-4EAD-938B-0020989A2380}" type="slidenum">
              <a:rPr lang="en-IN" smtClean="0"/>
              <a:t>‹#›</a:t>
            </a:fld>
            <a:endParaRPr lang="en-IN"/>
          </a:p>
        </p:txBody>
      </p:sp>
    </p:spTree>
    <p:extLst>
      <p:ext uri="{BB962C8B-B14F-4D97-AF65-F5344CB8AC3E}">
        <p14:creationId xmlns:p14="http://schemas.microsoft.com/office/powerpoint/2010/main" val="333197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7EA6FC2-508A-4932-8858-567D3310C4AE}" type="datetimeFigureOut">
              <a:rPr lang="en-IN" smtClean="0"/>
              <a:t>05-08-2025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FC0CD0D-21B6-4EAD-938B-0020989A2380}" type="slidenum">
              <a:rPr lang="en-IN" smtClean="0"/>
              <a:t>‹#›</a:t>
            </a:fld>
            <a:endParaRPr lang="en-IN"/>
          </a:p>
        </p:txBody>
      </p:sp>
    </p:spTree>
    <p:extLst>
      <p:ext uri="{BB962C8B-B14F-4D97-AF65-F5344CB8AC3E}">
        <p14:creationId xmlns:p14="http://schemas.microsoft.com/office/powerpoint/2010/main" val="80152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7EA6FC2-508A-4932-8858-567D3310C4AE}" type="datetimeFigureOut">
              <a:rPr lang="en-IN" smtClean="0"/>
              <a:t>05-08-2025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FC0CD0D-21B6-4EAD-938B-0020989A2380}" type="slidenum">
              <a:rPr lang="en-IN" smtClean="0"/>
              <a:t>‹#›</a:t>
            </a:fld>
            <a:endParaRPr lang="en-IN"/>
          </a:p>
        </p:txBody>
      </p:sp>
    </p:spTree>
    <p:extLst>
      <p:ext uri="{BB962C8B-B14F-4D97-AF65-F5344CB8AC3E}">
        <p14:creationId xmlns:p14="http://schemas.microsoft.com/office/powerpoint/2010/main" val="2331247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A6FC2-508A-4932-8858-567D3310C4AE}" type="datetimeFigureOut">
              <a:rPr lang="en-IN" smtClean="0"/>
              <a:t>05-08-2025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C0CD0D-21B6-4EAD-938B-0020989A2380}" type="slidenum">
              <a:rPr lang="en-IN" smtClean="0"/>
              <a:t>‹#›</a:t>
            </a:fld>
            <a:endParaRPr lang="en-IN"/>
          </a:p>
        </p:txBody>
      </p:sp>
    </p:spTree>
    <p:extLst>
      <p:ext uri="{BB962C8B-B14F-4D97-AF65-F5344CB8AC3E}">
        <p14:creationId xmlns:p14="http://schemas.microsoft.com/office/powerpoint/2010/main" val="20327501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7.xml"/><Relationship Id="rId1" Type="http://schemas.openxmlformats.org/officeDocument/2006/relationships/video" Target="https://www.youtube.com/embed/OJ_NYGovkhc"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Foundations of Economics </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3497444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Foundations of Economics</a:t>
            </a:r>
            <a:endParaRPr lang="en-US" dirty="0"/>
          </a:p>
        </p:txBody>
      </p:sp>
      <p:sp>
        <p:nvSpPr>
          <p:cNvPr id="3" name="Content Placeholder 2"/>
          <p:cNvSpPr>
            <a:spLocks noGrp="1"/>
          </p:cNvSpPr>
          <p:nvPr>
            <p:ph idx="1"/>
          </p:nvPr>
        </p:nvSpPr>
        <p:spPr/>
        <p:txBody>
          <a:bodyPr/>
          <a:lstStyle/>
          <a:p>
            <a:r>
              <a:rPr lang="en-US" dirty="0" smtClean="0"/>
              <a:t>How People Make decisions?</a:t>
            </a:r>
          </a:p>
          <a:p>
            <a:pPr lvl="1"/>
            <a:r>
              <a:rPr lang="en-US" dirty="0" smtClean="0"/>
              <a:t>Principle 1: People face </a:t>
            </a:r>
            <a:r>
              <a:rPr lang="en-US" dirty="0" smtClean="0">
                <a:solidFill>
                  <a:srgbClr val="FF0000"/>
                </a:solidFill>
              </a:rPr>
              <a:t>TRADE OFF</a:t>
            </a:r>
          </a:p>
          <a:p>
            <a:pPr lvl="1"/>
            <a:r>
              <a:rPr lang="en-US" dirty="0" smtClean="0"/>
              <a:t>Principle 2: The cost of something is what you give up to get it- </a:t>
            </a:r>
            <a:r>
              <a:rPr lang="en-US" dirty="0" smtClean="0">
                <a:solidFill>
                  <a:srgbClr val="FF0000"/>
                </a:solidFill>
              </a:rPr>
              <a:t>OPPORTUNITY COST</a:t>
            </a:r>
          </a:p>
          <a:p>
            <a:pPr lvl="1"/>
            <a:r>
              <a:rPr lang="en-US" dirty="0" smtClean="0">
                <a:solidFill>
                  <a:srgbClr val="000510"/>
                </a:solidFill>
              </a:rPr>
              <a:t>Principle 3: Rational people think at </a:t>
            </a:r>
            <a:r>
              <a:rPr lang="en-US" dirty="0" smtClean="0">
                <a:solidFill>
                  <a:srgbClr val="FF0000"/>
                </a:solidFill>
              </a:rPr>
              <a:t>MARGIN</a:t>
            </a:r>
          </a:p>
          <a:p>
            <a:pPr lvl="1"/>
            <a:r>
              <a:rPr lang="en-US" dirty="0" smtClean="0">
                <a:solidFill>
                  <a:srgbClr val="000510"/>
                </a:solidFill>
              </a:rPr>
              <a:t>Principle 4: People Respond to </a:t>
            </a:r>
            <a:r>
              <a:rPr lang="en-US" dirty="0" smtClean="0">
                <a:solidFill>
                  <a:srgbClr val="FF0000"/>
                </a:solidFill>
              </a:rPr>
              <a:t>INCENTIVES </a:t>
            </a:r>
          </a:p>
          <a:p>
            <a:r>
              <a:rPr lang="en-US" dirty="0" smtClean="0">
                <a:solidFill>
                  <a:srgbClr val="000510"/>
                </a:solidFill>
              </a:rPr>
              <a:t>How People Interact? </a:t>
            </a:r>
          </a:p>
          <a:p>
            <a:pPr lvl="1"/>
            <a:r>
              <a:rPr lang="en-US" dirty="0" smtClean="0">
                <a:solidFill>
                  <a:srgbClr val="000510"/>
                </a:solidFill>
              </a:rPr>
              <a:t>Principle 5: </a:t>
            </a:r>
            <a:r>
              <a:rPr lang="en-US" dirty="0" smtClean="0">
                <a:solidFill>
                  <a:srgbClr val="FF0000"/>
                </a:solidFill>
              </a:rPr>
              <a:t>Trade</a:t>
            </a:r>
            <a:r>
              <a:rPr lang="en-US" dirty="0" smtClean="0">
                <a:solidFill>
                  <a:srgbClr val="000510"/>
                </a:solidFill>
              </a:rPr>
              <a:t> can make everyone </a:t>
            </a:r>
            <a:r>
              <a:rPr lang="en-US" dirty="0" smtClean="0">
                <a:solidFill>
                  <a:srgbClr val="FF0000"/>
                </a:solidFill>
              </a:rPr>
              <a:t>better off </a:t>
            </a:r>
          </a:p>
          <a:p>
            <a:pPr lvl="1"/>
            <a:r>
              <a:rPr lang="en-US" dirty="0" smtClean="0">
                <a:solidFill>
                  <a:srgbClr val="000510"/>
                </a:solidFill>
              </a:rPr>
              <a:t>Principle 6: </a:t>
            </a:r>
            <a:r>
              <a:rPr lang="en-US" dirty="0" smtClean="0">
                <a:solidFill>
                  <a:srgbClr val="FF0000"/>
                </a:solidFill>
              </a:rPr>
              <a:t>Markets</a:t>
            </a:r>
            <a:r>
              <a:rPr lang="en-US" dirty="0" smtClean="0">
                <a:solidFill>
                  <a:srgbClr val="000510"/>
                </a:solidFill>
              </a:rPr>
              <a:t> are usually a good way to organize economic activity</a:t>
            </a:r>
          </a:p>
          <a:p>
            <a:pPr lvl="1"/>
            <a:r>
              <a:rPr lang="en-US" dirty="0" smtClean="0">
                <a:solidFill>
                  <a:srgbClr val="000510"/>
                </a:solidFill>
              </a:rPr>
              <a:t>Principle 7: </a:t>
            </a:r>
            <a:r>
              <a:rPr lang="en-US" dirty="0" smtClean="0">
                <a:solidFill>
                  <a:srgbClr val="FF0000"/>
                </a:solidFill>
              </a:rPr>
              <a:t>Government</a:t>
            </a:r>
            <a:r>
              <a:rPr lang="en-US" dirty="0" smtClean="0">
                <a:solidFill>
                  <a:srgbClr val="000510"/>
                </a:solidFill>
              </a:rPr>
              <a:t> can sometimes </a:t>
            </a:r>
            <a:r>
              <a:rPr lang="en-US" dirty="0" smtClean="0">
                <a:solidFill>
                  <a:srgbClr val="FF0000"/>
                </a:solidFill>
              </a:rPr>
              <a:t>improve</a:t>
            </a:r>
            <a:r>
              <a:rPr lang="en-US" dirty="0" smtClean="0">
                <a:solidFill>
                  <a:srgbClr val="000510"/>
                </a:solidFill>
              </a:rPr>
              <a:t> market outcomes.  </a:t>
            </a:r>
          </a:p>
        </p:txBody>
      </p:sp>
    </p:spTree>
    <p:extLst>
      <p:ext uri="{BB962C8B-B14F-4D97-AF65-F5344CB8AC3E}">
        <p14:creationId xmlns:p14="http://schemas.microsoft.com/office/powerpoint/2010/main" val="42400525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530225"/>
          </a:xfrm>
        </p:spPr>
        <p:txBody>
          <a:bodyPr>
            <a:normAutofit fontScale="90000"/>
          </a:bodyPr>
          <a:lstStyle/>
          <a:p>
            <a:r>
              <a:rPr lang="en-IN" dirty="0" err="1" smtClean="0"/>
              <a:t>Dr.Martin</a:t>
            </a:r>
            <a:r>
              <a:rPr lang="en-IN" dirty="0" smtClean="0"/>
              <a:t> Luther </a:t>
            </a:r>
            <a:r>
              <a:rPr lang="en-IN" dirty="0" err="1" smtClean="0"/>
              <a:t>King,Jr</a:t>
            </a:r>
            <a:endParaRPr lang="en-IN" dirty="0"/>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183188" y="1686763"/>
            <a:ext cx="6172200" cy="3474948"/>
          </a:xfrm>
        </p:spPr>
      </p:pic>
      <p:sp>
        <p:nvSpPr>
          <p:cNvPr id="4" name="Text Placeholder 3"/>
          <p:cNvSpPr>
            <a:spLocks noGrp="1"/>
          </p:cNvSpPr>
          <p:nvPr>
            <p:ph type="body" sz="half" idx="2"/>
          </p:nvPr>
        </p:nvSpPr>
        <p:spPr>
          <a:xfrm>
            <a:off x="839788" y="1093509"/>
            <a:ext cx="3932237" cy="5542961"/>
          </a:xfrm>
        </p:spPr>
        <p:txBody>
          <a:bodyPr>
            <a:normAutofit fontScale="92500" lnSpcReduction="20000"/>
          </a:bodyPr>
          <a:lstStyle/>
          <a:p>
            <a:pPr algn="just"/>
            <a:r>
              <a:rPr lang="en-US" sz="2800" dirty="0">
                <a:latin typeface="Times New Roman" panose="02020603050405020304" pitchFamily="18" charset="0"/>
                <a:cs typeface="Times New Roman" panose="02020603050405020304" pitchFamily="18" charset="0"/>
              </a:rPr>
              <a:t>When we rise and go to the bath, a cake of soap is handed us by a Frenchman, a sponge is handed us by a Pacific Islander, a towel by a Turk, our underclothes by an American or Englishman.  We go down to breakfast, our tea is poured out by a Chinese.  Our toast we accept at the hands of an English speaking farmer, not to mention the baker. We are indebted to half of the world before we finish breakfast.</a:t>
            </a:r>
            <a:r>
              <a:rPr lang="en-US" sz="2800" dirty="0"/>
              <a:t> - Dr. Martin Luther King, Jr.</a:t>
            </a:r>
          </a:p>
          <a:p>
            <a:endParaRPr lang="en-IN" dirty="0"/>
          </a:p>
        </p:txBody>
      </p:sp>
    </p:spTree>
    <p:extLst>
      <p:ext uri="{BB962C8B-B14F-4D97-AF65-F5344CB8AC3E}">
        <p14:creationId xmlns:p14="http://schemas.microsoft.com/office/powerpoint/2010/main" val="28697029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solidFill>
                  <a:prstClr val="black"/>
                </a:solidFill>
              </a:rPr>
              <a:t>Trade makes everyone better off</a:t>
            </a:r>
            <a:endParaRPr lang="en-IN" dirty="0"/>
          </a:p>
        </p:txBody>
      </p:sp>
      <p:sp>
        <p:nvSpPr>
          <p:cNvPr id="3" name="Content Placeholder 2"/>
          <p:cNvSpPr>
            <a:spLocks noGrp="1"/>
          </p:cNvSpPr>
          <p:nvPr>
            <p:ph sz="half" idx="1"/>
          </p:nvPr>
        </p:nvSpPr>
        <p:spPr/>
        <p:txBody>
          <a:bodyPr>
            <a:normAutofit/>
          </a:bodyPr>
          <a:lstStyle/>
          <a:p>
            <a:pPr algn="just"/>
            <a:r>
              <a:rPr lang="en-US" sz="4000" dirty="0">
                <a:latin typeface="Times New Roman" panose="02020603050405020304" pitchFamily="18" charset="0"/>
                <a:cs typeface="Times New Roman" panose="02020603050405020304" pitchFamily="18" charset="0"/>
              </a:rPr>
              <a:t>Trade is the voluntary exchange of goods and services between two or more parties</a:t>
            </a:r>
            <a:endParaRPr lang="en-IN" sz="4000" dirty="0"/>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381750" y="1913641"/>
            <a:ext cx="5156658" cy="3987537"/>
          </a:xfrm>
        </p:spPr>
      </p:pic>
    </p:spTree>
    <p:extLst>
      <p:ext uri="{BB962C8B-B14F-4D97-AF65-F5344CB8AC3E}">
        <p14:creationId xmlns:p14="http://schemas.microsoft.com/office/powerpoint/2010/main" val="28923621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Trade makes Everyone better off</a:t>
            </a:r>
            <a:endParaRPr lang="en-IN" dirty="0"/>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78730" y="2017336"/>
            <a:ext cx="4703975" cy="4044099"/>
          </a:xfrm>
        </p:spPr>
      </p:pic>
      <p:pic>
        <p:nvPicPr>
          <p:cNvPr id="6" name="Content Placeholder 5"/>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268826" y="1690688"/>
            <a:ext cx="4656840" cy="4100660"/>
          </a:xfrm>
        </p:spPr>
      </p:pic>
    </p:spTree>
    <p:extLst>
      <p:ext uri="{BB962C8B-B14F-4D97-AF65-F5344CB8AC3E}">
        <p14:creationId xmlns:p14="http://schemas.microsoft.com/office/powerpoint/2010/main" val="6442996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Trade </a:t>
            </a:r>
            <a:endParaRPr lang="en-IN" dirty="0"/>
          </a:p>
        </p:txBody>
      </p:sp>
      <p:sp>
        <p:nvSpPr>
          <p:cNvPr id="3" name="Content Placeholder 2"/>
          <p:cNvSpPr>
            <a:spLocks noGrp="1"/>
          </p:cNvSpPr>
          <p:nvPr>
            <p:ph idx="1"/>
          </p:nvPr>
        </p:nvSpPr>
        <p:spPr/>
        <p:txBody>
          <a:bodyPr/>
          <a:lstStyle/>
          <a:p>
            <a:r>
              <a:rPr lang="en-IN" dirty="0" smtClean="0"/>
              <a:t>From Individual- Household-Firms- country point of view</a:t>
            </a:r>
          </a:p>
          <a:p>
            <a:endParaRPr lang="en-IN" dirty="0"/>
          </a:p>
          <a:p>
            <a:endParaRPr lang="en-IN" dirty="0" smtClean="0"/>
          </a:p>
        </p:txBody>
      </p:sp>
      <p:graphicFrame>
        <p:nvGraphicFramePr>
          <p:cNvPr id="4" name="Table 3"/>
          <p:cNvGraphicFramePr>
            <a:graphicFrameLocks noGrp="1"/>
          </p:cNvGraphicFramePr>
          <p:nvPr>
            <p:extLst>
              <p:ext uri="{D42A27DB-BD31-4B8C-83A1-F6EECF244321}">
                <p14:modId xmlns:p14="http://schemas.microsoft.com/office/powerpoint/2010/main" val="1399513510"/>
              </p:ext>
            </p:extLst>
          </p:nvPr>
        </p:nvGraphicFramePr>
        <p:xfrm>
          <a:off x="1154546" y="2890212"/>
          <a:ext cx="8128000" cy="14833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r>
                        <a:rPr lang="en-IN" dirty="0" smtClean="0"/>
                        <a:t>Society A</a:t>
                      </a:r>
                      <a:endParaRPr lang="en-IN" dirty="0"/>
                    </a:p>
                  </a:txBody>
                  <a:tcPr/>
                </a:tc>
                <a:tc>
                  <a:txBody>
                    <a:bodyPr/>
                    <a:lstStyle/>
                    <a:p>
                      <a:r>
                        <a:rPr lang="en-IN" dirty="0" smtClean="0"/>
                        <a:t>Society B</a:t>
                      </a:r>
                      <a:endParaRPr lang="en-IN" dirty="0"/>
                    </a:p>
                  </a:txBody>
                  <a:tcPr/>
                </a:tc>
                <a:extLst>
                  <a:ext uri="{0D108BD9-81ED-4DB2-BD59-A6C34878D82A}">
                    <a16:rowId xmlns:a16="http://schemas.microsoft.com/office/drawing/2014/main" val="10000"/>
                  </a:ext>
                </a:extLst>
              </a:tr>
              <a:tr h="370840">
                <a:tc>
                  <a:txBody>
                    <a:bodyPr/>
                    <a:lstStyle/>
                    <a:p>
                      <a:r>
                        <a:rPr lang="en-IN" dirty="0" smtClean="0"/>
                        <a:t>Agriculture production </a:t>
                      </a:r>
                      <a:endParaRPr lang="en-IN" dirty="0"/>
                    </a:p>
                  </a:txBody>
                  <a:tcPr/>
                </a:tc>
                <a:tc>
                  <a:txBody>
                    <a:bodyPr/>
                    <a:lstStyle/>
                    <a:p>
                      <a:r>
                        <a:rPr lang="en-IN" dirty="0" smtClean="0"/>
                        <a:t>Agriculture,</a:t>
                      </a:r>
                      <a:r>
                        <a:rPr lang="en-IN" baseline="0" dirty="0" smtClean="0"/>
                        <a:t> tomatoes </a:t>
                      </a:r>
                      <a:endParaRPr lang="en-IN" dirty="0"/>
                    </a:p>
                  </a:txBody>
                  <a:tcPr/>
                </a:tc>
                <a:extLst>
                  <a:ext uri="{0D108BD9-81ED-4DB2-BD59-A6C34878D82A}">
                    <a16:rowId xmlns:a16="http://schemas.microsoft.com/office/drawing/2014/main" val="10001"/>
                  </a:ext>
                </a:extLst>
              </a:tr>
              <a:tr h="370840">
                <a:tc>
                  <a:txBody>
                    <a:bodyPr/>
                    <a:lstStyle/>
                    <a:p>
                      <a:r>
                        <a:rPr lang="en-IN" dirty="0" smtClean="0"/>
                        <a:t>Rice, potatoes and</a:t>
                      </a:r>
                      <a:r>
                        <a:rPr lang="en-IN" baseline="0" dirty="0" smtClean="0"/>
                        <a:t> onions</a:t>
                      </a:r>
                      <a:endParaRPr lang="en-IN" dirty="0"/>
                    </a:p>
                  </a:txBody>
                  <a:tcPr/>
                </a:tc>
                <a:tc>
                  <a:txBody>
                    <a:bodyPr/>
                    <a:lstStyle/>
                    <a:p>
                      <a:r>
                        <a:rPr lang="en-IN" dirty="0" smtClean="0"/>
                        <a:t>Weaving and</a:t>
                      </a:r>
                      <a:r>
                        <a:rPr lang="en-IN" baseline="0" dirty="0" smtClean="0"/>
                        <a:t> house making </a:t>
                      </a:r>
                      <a:endParaRPr lang="en-IN" dirty="0"/>
                    </a:p>
                  </a:txBody>
                  <a:tcPr/>
                </a:tc>
                <a:extLst>
                  <a:ext uri="{0D108BD9-81ED-4DB2-BD59-A6C34878D82A}">
                    <a16:rowId xmlns:a16="http://schemas.microsoft.com/office/drawing/2014/main" val="10002"/>
                  </a:ext>
                </a:extLst>
              </a:tr>
              <a:tr h="370840">
                <a:tc>
                  <a:txBody>
                    <a:bodyPr/>
                    <a:lstStyle/>
                    <a:p>
                      <a:r>
                        <a:rPr lang="en-IN" dirty="0" smtClean="0"/>
                        <a:t>Making utensils and pots</a:t>
                      </a:r>
                      <a:endParaRPr lang="en-IN" dirty="0"/>
                    </a:p>
                  </a:txBody>
                  <a:tcPr/>
                </a:tc>
                <a:tc>
                  <a:txBody>
                    <a:bodyPr/>
                    <a:lstStyle/>
                    <a:p>
                      <a:r>
                        <a:rPr lang="en-IN" dirty="0" smtClean="0"/>
                        <a:t>Traditional herbs </a:t>
                      </a:r>
                      <a:endParaRPr lang="en-IN"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876466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ady selling tomatoes in Accra, Ghana Photo by Boris Kester | African  market, Africa, Gha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227387"/>
            <a:ext cx="5570084" cy="369714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ndian gems and jewellery industry fails to take advantage of US-China  trade wa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0084" y="0"/>
            <a:ext cx="6621916" cy="3227387"/>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6" descr="Image result for swiss watches imag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8" descr="Image result for swiss watches image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12" descr="Swiss Luxury Watch Company - Lausanne, Switzerland | Facebook"/>
          <p:cNvSpPr>
            <a:spLocks noChangeAspect="1" noChangeArrowheads="1"/>
          </p:cNvSpPr>
          <p:nvPr/>
        </p:nvSpPr>
        <p:spPr bwMode="auto">
          <a:xfrm>
            <a:off x="460375" y="160337"/>
            <a:ext cx="2882900" cy="288290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p:cNvPicPr>
            <a:picLocks noChangeAspect="1"/>
          </p:cNvPicPr>
          <p:nvPr/>
        </p:nvPicPr>
        <p:blipFill>
          <a:blip r:embed="rId4"/>
          <a:stretch>
            <a:fillRect/>
          </a:stretch>
        </p:blipFill>
        <p:spPr>
          <a:xfrm>
            <a:off x="0" y="37257"/>
            <a:ext cx="5570084" cy="3129068"/>
          </a:xfrm>
          <a:prstGeom prst="rect">
            <a:avLst/>
          </a:prstGeom>
        </p:spPr>
      </p:pic>
      <p:pic>
        <p:nvPicPr>
          <p:cNvPr id="7" name="Picture 6"/>
          <p:cNvPicPr>
            <a:picLocks noChangeAspect="1"/>
          </p:cNvPicPr>
          <p:nvPr/>
        </p:nvPicPr>
        <p:blipFill>
          <a:blip r:embed="rId5"/>
          <a:stretch>
            <a:fillRect/>
          </a:stretch>
        </p:blipFill>
        <p:spPr>
          <a:xfrm>
            <a:off x="5753100" y="3227387"/>
            <a:ext cx="6438900" cy="3487738"/>
          </a:xfrm>
          <a:prstGeom prst="rect">
            <a:avLst/>
          </a:prstGeom>
        </p:spPr>
      </p:pic>
    </p:spTree>
    <p:extLst>
      <p:ext uri="{BB962C8B-B14F-4D97-AF65-F5344CB8AC3E}">
        <p14:creationId xmlns:p14="http://schemas.microsoft.com/office/powerpoint/2010/main" val="25526643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Markets are good way of organising economic activity</a:t>
            </a:r>
            <a:endParaRPr lang="en-IN" dirty="0"/>
          </a:p>
        </p:txBody>
      </p:sp>
      <p:pic>
        <p:nvPicPr>
          <p:cNvPr id="5" name="Content Placeholder 4"/>
          <p:cNvPicPr>
            <a:picLocks noGrp="1" noChangeAspect="1"/>
          </p:cNvPicPr>
          <p:nvPr>
            <p:ph sz="half" idx="1"/>
          </p:nvPr>
        </p:nvPicPr>
        <p:blipFill>
          <a:blip r:embed="rId2"/>
          <a:stretch>
            <a:fillRect/>
          </a:stretch>
        </p:blipFill>
        <p:spPr>
          <a:xfrm>
            <a:off x="1074537" y="1825625"/>
            <a:ext cx="4282554" cy="4351338"/>
          </a:xfrm>
          <a:prstGeom prst="rect">
            <a:avLst/>
          </a:prstGeom>
        </p:spPr>
      </p:pic>
      <p:sp>
        <p:nvSpPr>
          <p:cNvPr id="4" name="Content Placeholder 3"/>
          <p:cNvSpPr>
            <a:spLocks noGrp="1"/>
          </p:cNvSpPr>
          <p:nvPr>
            <p:ph sz="half" idx="2"/>
          </p:nvPr>
        </p:nvSpPr>
        <p:spPr/>
        <p:txBody>
          <a:bodyPr/>
          <a:lstStyle/>
          <a:p>
            <a:pPr lvl="0"/>
            <a:r>
              <a:rPr lang="en-IN" dirty="0">
                <a:solidFill>
                  <a:prstClr val="black"/>
                </a:solidFill>
              </a:rPr>
              <a:t>Markets were bring buyers and sellers together to exchange goods and services. </a:t>
            </a:r>
            <a:endParaRPr lang="en-IN" dirty="0" smtClean="0">
              <a:solidFill>
                <a:prstClr val="black"/>
              </a:solidFill>
            </a:endParaRPr>
          </a:p>
          <a:p>
            <a:pPr marL="0" indent="0">
              <a:buNone/>
            </a:pPr>
            <a:endParaRPr lang="en-IN" dirty="0"/>
          </a:p>
        </p:txBody>
      </p:sp>
    </p:spTree>
    <p:extLst>
      <p:ext uri="{BB962C8B-B14F-4D97-AF65-F5344CB8AC3E}">
        <p14:creationId xmlns:p14="http://schemas.microsoft.com/office/powerpoint/2010/main" val="16585928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IN" dirty="0"/>
              <a:t>Aalsmeer Flower Auction Market </a:t>
            </a:r>
          </a:p>
        </p:txBody>
      </p:sp>
      <p:sp>
        <p:nvSpPr>
          <p:cNvPr id="3" name="Content Placeholder 2"/>
          <p:cNvSpPr>
            <a:spLocks noGrp="1"/>
          </p:cNvSpPr>
          <p:nvPr>
            <p:ph idx="1"/>
          </p:nvPr>
        </p:nvSpPr>
        <p:spPr/>
        <p:txBody>
          <a:bodyPr>
            <a:normAutofit lnSpcReduction="10000"/>
          </a:bodyPr>
          <a:lstStyle/>
          <a:p>
            <a:pPr marL="285750" indent="-285750"/>
            <a:r>
              <a:rPr lang="en-IN" dirty="0"/>
              <a:t>It’s the  largest Flower Auction market in the world. </a:t>
            </a:r>
          </a:p>
          <a:p>
            <a:pPr marL="285750" indent="-285750"/>
            <a:r>
              <a:rPr lang="en-US" dirty="0"/>
              <a:t>The </a:t>
            </a:r>
            <a:r>
              <a:rPr lang="en-US" dirty="0" err="1"/>
              <a:t>Aalsmeer</a:t>
            </a:r>
            <a:r>
              <a:rPr lang="en-US" dirty="0"/>
              <a:t> Flower Auction building is the fourth largest building by footprint in the world, covering 518,000 square </a:t>
            </a:r>
            <a:r>
              <a:rPr lang="en-US" dirty="0" err="1"/>
              <a:t>metres</a:t>
            </a:r>
            <a:r>
              <a:rPr lang="en-US" dirty="0"/>
              <a:t> (5,580,000 </a:t>
            </a:r>
            <a:r>
              <a:rPr lang="en-US" dirty="0" err="1"/>
              <a:t>sq</a:t>
            </a:r>
            <a:r>
              <a:rPr lang="en-US" dirty="0"/>
              <a:t> </a:t>
            </a:r>
            <a:r>
              <a:rPr lang="en-US" dirty="0" err="1"/>
              <a:t>ft</a:t>
            </a:r>
            <a:r>
              <a:rPr lang="en-US" dirty="0"/>
              <a:t>; 128 acres).</a:t>
            </a:r>
          </a:p>
          <a:p>
            <a:pPr marL="285750" indent="-285750"/>
            <a:r>
              <a:rPr lang="en-US" dirty="0"/>
              <a:t> Flowers from all over the world —Europe, </a:t>
            </a:r>
            <a:r>
              <a:rPr lang="en-US" dirty="0" err="1"/>
              <a:t>Israel,Eucador</a:t>
            </a:r>
            <a:r>
              <a:rPr lang="en-US" dirty="0"/>
              <a:t>, </a:t>
            </a:r>
            <a:r>
              <a:rPr lang="en-US" dirty="0" err="1"/>
              <a:t>Colombia,Ethiopia,Kenya</a:t>
            </a:r>
            <a:r>
              <a:rPr lang="en-US" dirty="0"/>
              <a:t>, and other countries — are traded every day in this gigantic building. </a:t>
            </a:r>
          </a:p>
          <a:p>
            <a:pPr marL="285750" indent="-285750"/>
            <a:r>
              <a:rPr lang="en-US" dirty="0"/>
              <a:t>Around 43 million flowers are sold daily.</a:t>
            </a:r>
          </a:p>
          <a:p>
            <a:pPr marL="285750" indent="-285750"/>
            <a:r>
              <a:rPr lang="en-US" dirty="0"/>
              <a:t>The auction is set up as a Dutch Auction in which the price starts high and works its way down.</a:t>
            </a:r>
            <a:endParaRPr lang="en-IN" dirty="0"/>
          </a:p>
          <a:p>
            <a:endParaRPr lang="en-IN" dirty="0"/>
          </a:p>
        </p:txBody>
      </p:sp>
    </p:spTree>
    <p:extLst>
      <p:ext uri="{BB962C8B-B14F-4D97-AF65-F5344CB8AC3E}">
        <p14:creationId xmlns:p14="http://schemas.microsoft.com/office/powerpoint/2010/main" val="16655832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J_NYGovkhc"/>
          <p:cNvPicPr>
            <a:picLocks noRot="1" noChangeAspect="1"/>
          </p:cNvPicPr>
          <p:nvPr>
            <a:videoFile r:link="rId1"/>
          </p:nvPr>
        </p:nvPicPr>
        <p:blipFill>
          <a:blip r:embed="rId3"/>
          <a:stretch>
            <a:fillRect/>
          </a:stretch>
        </p:blipFill>
        <p:spPr>
          <a:xfrm>
            <a:off x="131975" y="0"/>
            <a:ext cx="12060025" cy="6674177"/>
          </a:xfrm>
          <a:prstGeom prst="rect">
            <a:avLst/>
          </a:prstGeom>
        </p:spPr>
      </p:pic>
    </p:spTree>
    <p:extLst>
      <p:ext uri="{BB962C8B-B14F-4D97-AF65-F5344CB8AC3E}">
        <p14:creationId xmlns:p14="http://schemas.microsoft.com/office/powerpoint/2010/main" val="6370105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IN" sz="3200" dirty="0" smtClean="0">
                <a:latin typeface="Times New Roman" panose="02020603050405020304" pitchFamily="18" charset="0"/>
                <a:cs typeface="Times New Roman" panose="02020603050405020304" pitchFamily="18" charset="0"/>
              </a:rPr>
              <a:t>Markets are good way of organising economic activity </a:t>
            </a:r>
            <a:endParaRPr lang="en-IN"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IN" dirty="0" smtClean="0"/>
              <a:t>Main characteristics of market economy </a:t>
            </a:r>
          </a:p>
          <a:p>
            <a:pPr lvl="1"/>
            <a:r>
              <a:rPr lang="en-IN" dirty="0" smtClean="0"/>
              <a:t>Individuals pursue their own self interest , buying and selling what seems best for themselves and their families.</a:t>
            </a:r>
          </a:p>
          <a:p>
            <a:pPr lvl="1"/>
            <a:r>
              <a:rPr lang="en-IN" dirty="0" smtClean="0"/>
              <a:t>People respond to incentives. Other things being equal sellers seek high prices while buyers seek low prices. </a:t>
            </a:r>
          </a:p>
          <a:p>
            <a:pPr lvl="1"/>
            <a:r>
              <a:rPr lang="en-IN" dirty="0" smtClean="0"/>
              <a:t>Prices are set in open markets in which suppliers compete to sell to potential buyers. </a:t>
            </a:r>
          </a:p>
          <a:p>
            <a:pPr lvl="1"/>
            <a:r>
              <a:rPr lang="en-IN" dirty="0" smtClean="0"/>
              <a:t>People earn their incomes by selling their services to those who wish to use them-their labour services-or by selling the services of the property that they own them.</a:t>
            </a:r>
            <a:endParaRPr lang="en-IN" dirty="0"/>
          </a:p>
        </p:txBody>
      </p:sp>
    </p:spTree>
    <p:extLst>
      <p:ext uri="{BB962C8B-B14F-4D97-AF65-F5344CB8AC3E}">
        <p14:creationId xmlns:p14="http://schemas.microsoft.com/office/powerpoint/2010/main" val="24428957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81891"/>
            <a:ext cx="10515600" cy="5595072"/>
          </a:xfrm>
        </p:spPr>
        <p:txBody>
          <a:bodyPr/>
          <a:lstStyle/>
          <a:p>
            <a:pPr algn="just"/>
            <a:r>
              <a:rPr lang="en-IN" dirty="0" smtClean="0"/>
              <a:t>Free markets contain many buyers and sellers- all of them interested primarily in their own well being. </a:t>
            </a:r>
          </a:p>
          <a:p>
            <a:pPr algn="just"/>
            <a:r>
              <a:rPr lang="en-IN" dirty="0" smtClean="0"/>
              <a:t>Adam Smith is a father of Economics.</a:t>
            </a:r>
          </a:p>
          <a:p>
            <a:pPr algn="just"/>
            <a:r>
              <a:rPr lang="en-IN" dirty="0" smtClean="0"/>
              <a:t>“Households and firms interacting in markets as if they are guided by </a:t>
            </a:r>
            <a:r>
              <a:rPr lang="en-IN" dirty="0" smtClean="0">
                <a:solidFill>
                  <a:srgbClr val="FF0000"/>
                </a:solidFill>
              </a:rPr>
              <a:t>Invisible hands</a:t>
            </a:r>
            <a:r>
              <a:rPr lang="en-IN" dirty="0" smtClean="0"/>
              <a:t>”</a:t>
            </a:r>
          </a:p>
          <a:p>
            <a:pPr algn="just"/>
            <a:r>
              <a:rPr lang="en-IN" dirty="0" smtClean="0"/>
              <a:t>Prices are the instrument with which the invisible hand directs economic activity. </a:t>
            </a:r>
          </a:p>
          <a:p>
            <a:pPr algn="just"/>
            <a:r>
              <a:rPr lang="en-IN" dirty="0" smtClean="0"/>
              <a:t>When the government prevents prices from adjusting naturally to supply and demand ,it impedes the invisible hand’s ability to coordinate the decisions of the households and firms that make up the economy. </a:t>
            </a:r>
            <a:endParaRPr lang="en-IN" dirty="0"/>
          </a:p>
        </p:txBody>
      </p:sp>
    </p:spTree>
    <p:extLst>
      <p:ext uri="{BB962C8B-B14F-4D97-AF65-F5344CB8AC3E}">
        <p14:creationId xmlns:p14="http://schemas.microsoft.com/office/powerpoint/2010/main" val="29403368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How </a:t>
            </a:r>
            <a:r>
              <a:rPr lang="en-IN" dirty="0"/>
              <a:t>government can sometimes improve market outcomes. </a:t>
            </a:r>
          </a:p>
        </p:txBody>
      </p:sp>
      <p:sp>
        <p:nvSpPr>
          <p:cNvPr id="3" name="Content Placeholder 2"/>
          <p:cNvSpPr>
            <a:spLocks noGrp="1"/>
          </p:cNvSpPr>
          <p:nvPr>
            <p:ph idx="1"/>
          </p:nvPr>
        </p:nvSpPr>
        <p:spPr/>
        <p:txBody>
          <a:bodyPr>
            <a:normAutofit lnSpcReduction="10000"/>
          </a:bodyPr>
          <a:lstStyle/>
          <a:p>
            <a:pPr algn="just"/>
            <a:r>
              <a:rPr lang="en-IN" dirty="0" smtClean="0"/>
              <a:t>If the invisible hand of the market is so good, why do we need government?</a:t>
            </a:r>
          </a:p>
          <a:p>
            <a:pPr algn="just"/>
            <a:r>
              <a:rPr lang="en-IN" dirty="0" smtClean="0"/>
              <a:t>Property </a:t>
            </a:r>
            <a:r>
              <a:rPr lang="en-IN" dirty="0"/>
              <a:t>rights : the ability of an individual to own and exercise control over scarce resources. </a:t>
            </a:r>
          </a:p>
          <a:p>
            <a:pPr algn="just"/>
            <a:r>
              <a:rPr lang="en-IN" dirty="0"/>
              <a:t>Market failure : a situation in which a market left on its own fails to allocate resources efficiently. </a:t>
            </a:r>
          </a:p>
          <a:p>
            <a:pPr algn="just"/>
            <a:r>
              <a:rPr lang="en-IN" dirty="0"/>
              <a:t>Externality: the impact of one person’s action on the well being of a bystander. </a:t>
            </a:r>
          </a:p>
          <a:p>
            <a:pPr algn="just"/>
            <a:r>
              <a:rPr lang="en-IN" dirty="0"/>
              <a:t>Market power: the ability of a single economic actor or small group of actors to have a substantial influence on market prices. </a:t>
            </a:r>
          </a:p>
        </p:txBody>
      </p:sp>
    </p:spTree>
    <p:extLst>
      <p:ext uri="{BB962C8B-B14F-4D97-AF65-F5344CB8AC3E}">
        <p14:creationId xmlns:p14="http://schemas.microsoft.com/office/powerpoint/2010/main" val="6290626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72064" y="507711"/>
            <a:ext cx="5069754" cy="3390034"/>
          </a:xfrm>
          <a:prstGeom prst="rect">
            <a:avLst/>
          </a:prstGeom>
        </p:spPr>
      </p:pic>
      <p:pic>
        <p:nvPicPr>
          <p:cNvPr id="3" name="Picture 2"/>
          <p:cNvPicPr>
            <a:picLocks noChangeAspect="1"/>
          </p:cNvPicPr>
          <p:nvPr/>
        </p:nvPicPr>
        <p:blipFill>
          <a:blip r:embed="rId3"/>
          <a:stretch>
            <a:fillRect/>
          </a:stretch>
        </p:blipFill>
        <p:spPr>
          <a:xfrm>
            <a:off x="5955578" y="507712"/>
            <a:ext cx="4961804" cy="3390033"/>
          </a:xfrm>
          <a:prstGeom prst="rect">
            <a:avLst/>
          </a:prstGeom>
        </p:spPr>
      </p:pic>
      <p:pic>
        <p:nvPicPr>
          <p:cNvPr id="4" name="Picture 3"/>
          <p:cNvPicPr>
            <a:picLocks noChangeAspect="1"/>
          </p:cNvPicPr>
          <p:nvPr/>
        </p:nvPicPr>
        <p:blipFill>
          <a:blip r:embed="rId4"/>
          <a:stretch>
            <a:fillRect/>
          </a:stretch>
        </p:blipFill>
        <p:spPr>
          <a:xfrm>
            <a:off x="472064" y="4377025"/>
            <a:ext cx="5366326" cy="2051484"/>
          </a:xfrm>
          <a:prstGeom prst="rect">
            <a:avLst/>
          </a:prstGeom>
        </p:spPr>
      </p:pic>
      <p:pic>
        <p:nvPicPr>
          <p:cNvPr id="5" name="Picture 4"/>
          <p:cNvPicPr>
            <a:picLocks noChangeAspect="1"/>
          </p:cNvPicPr>
          <p:nvPr/>
        </p:nvPicPr>
        <p:blipFill>
          <a:blip r:embed="rId5"/>
          <a:stretch>
            <a:fillRect/>
          </a:stretch>
        </p:blipFill>
        <p:spPr>
          <a:xfrm>
            <a:off x="6465455" y="4278456"/>
            <a:ext cx="4073236" cy="2417907"/>
          </a:xfrm>
          <a:prstGeom prst="rect">
            <a:avLst/>
          </a:prstGeom>
        </p:spPr>
      </p:pic>
    </p:spTree>
    <p:extLst>
      <p:ext uri="{BB962C8B-B14F-4D97-AF65-F5344CB8AC3E}">
        <p14:creationId xmlns:p14="http://schemas.microsoft.com/office/powerpoint/2010/main" val="35406290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Case of Vellore Leather Industry </a:t>
            </a:r>
            <a:br>
              <a:rPr lang="en-IN" dirty="0"/>
            </a:br>
            <a:endParaRPr lang="en-IN" dirty="0"/>
          </a:p>
        </p:txBody>
      </p:sp>
      <p:sp>
        <p:nvSpPr>
          <p:cNvPr id="3" name="Content Placeholder 2"/>
          <p:cNvSpPr>
            <a:spLocks noGrp="1"/>
          </p:cNvSpPr>
          <p:nvPr>
            <p:ph idx="1"/>
          </p:nvPr>
        </p:nvSpPr>
        <p:spPr/>
        <p:txBody>
          <a:bodyPr>
            <a:normAutofit lnSpcReduction="10000"/>
          </a:bodyPr>
          <a:lstStyle/>
          <a:p>
            <a:pPr algn="just"/>
            <a:r>
              <a:rPr lang="en-IN" dirty="0" smtClean="0"/>
              <a:t>The</a:t>
            </a:r>
            <a:r>
              <a:rPr lang="en-IN" dirty="0"/>
              <a:t> Vellore Citizens Welfare </a:t>
            </a:r>
            <a:r>
              <a:rPr lang="en-IN" dirty="0" smtClean="0"/>
              <a:t>Forum </a:t>
            </a:r>
            <a:r>
              <a:rPr lang="en-IN" dirty="0"/>
              <a:t> filed a </a:t>
            </a:r>
            <a:r>
              <a:rPr lang="en-IN" dirty="0" smtClean="0"/>
              <a:t>public interest </a:t>
            </a:r>
            <a:r>
              <a:rPr lang="en-IN" dirty="0"/>
              <a:t>petition under Article 32 of the </a:t>
            </a:r>
            <a:r>
              <a:rPr lang="en-IN" dirty="0" smtClean="0"/>
              <a:t>Constitution of</a:t>
            </a:r>
            <a:r>
              <a:rPr lang="en-IN" dirty="0"/>
              <a:t> India against large-scale </a:t>
            </a:r>
            <a:r>
              <a:rPr lang="en-IN" dirty="0" smtClean="0"/>
              <a:t>pollution of the soil and water caused by a number of tanneries and other industries in Tamil Nadu. </a:t>
            </a:r>
          </a:p>
          <a:p>
            <a:pPr algn="just"/>
            <a:r>
              <a:rPr lang="en-IN" dirty="0"/>
              <a:t>Considering the vital importance of the leather industry to </a:t>
            </a:r>
            <a:r>
              <a:rPr lang="en-IN" dirty="0" smtClean="0"/>
              <a:t>generate revenue </a:t>
            </a:r>
            <a:r>
              <a:rPr lang="en-IN" dirty="0"/>
              <a:t>for the state and employing thousands of  workers, the tanneries and other polluting industries </a:t>
            </a:r>
            <a:r>
              <a:rPr lang="en-IN" dirty="0" smtClean="0"/>
              <a:t>in the </a:t>
            </a:r>
            <a:r>
              <a:rPr lang="en-IN" dirty="0"/>
              <a:t>State of Tamil Nadu were persuaded for many </a:t>
            </a:r>
            <a:r>
              <a:rPr lang="en-IN" dirty="0" smtClean="0"/>
              <a:t>years to </a:t>
            </a:r>
            <a:r>
              <a:rPr lang="en-IN" dirty="0"/>
              <a:t>control the pollution generated by them. They </a:t>
            </a:r>
            <a:r>
              <a:rPr lang="en-IN" dirty="0" smtClean="0"/>
              <a:t>were given </a:t>
            </a:r>
            <a:r>
              <a:rPr lang="en-IN" dirty="0"/>
              <a:t>option either to construct common </a:t>
            </a:r>
            <a:r>
              <a:rPr lang="en-IN" dirty="0" smtClean="0"/>
              <a:t>effluent treatment </a:t>
            </a:r>
            <a:r>
              <a:rPr lang="en-IN" dirty="0"/>
              <a:t>plants (CETP) for a cluster of industries </a:t>
            </a:r>
            <a:r>
              <a:rPr lang="en-IN" dirty="0" err="1"/>
              <a:t>orto</a:t>
            </a:r>
            <a:r>
              <a:rPr lang="en-IN" dirty="0"/>
              <a:t> set up individual pollution control devices. </a:t>
            </a:r>
            <a:endParaRPr lang="en-IN" dirty="0" smtClean="0"/>
          </a:p>
        </p:txBody>
      </p:sp>
    </p:spTree>
    <p:extLst>
      <p:ext uri="{BB962C8B-B14F-4D97-AF65-F5344CB8AC3E}">
        <p14:creationId xmlns:p14="http://schemas.microsoft.com/office/powerpoint/2010/main" val="161862022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502</TotalTime>
  <Words>528</Words>
  <Application>Microsoft Office PowerPoint</Application>
  <PresentationFormat>Widescreen</PresentationFormat>
  <Paragraphs>54</Paragraphs>
  <Slides>15</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Foundations of Economics </vt:lpstr>
      <vt:lpstr>Foundations of Economics</vt:lpstr>
      <vt:lpstr>Dr.Martin Luther King,Jr</vt:lpstr>
      <vt:lpstr>Trade makes everyone better off</vt:lpstr>
      <vt:lpstr>Trade makes Everyone better off</vt:lpstr>
      <vt:lpstr>Trade </vt:lpstr>
      <vt:lpstr>PowerPoint Presentation</vt:lpstr>
      <vt:lpstr>Markets are good way of organising economic activity</vt:lpstr>
      <vt:lpstr>Aalsmeer Flower Auction Market </vt:lpstr>
      <vt:lpstr>PowerPoint Presentation</vt:lpstr>
      <vt:lpstr>Markets are good way of organising economic activity </vt:lpstr>
      <vt:lpstr>PowerPoint Presentation</vt:lpstr>
      <vt:lpstr>How government can sometimes improve market outcomes. </vt:lpstr>
      <vt:lpstr>PowerPoint Presentation</vt:lpstr>
      <vt:lpstr>Case of Vellore Leather Industry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Ten Principles of Economics</dc:title>
  <dc:creator>Windows User</dc:creator>
  <cp:lastModifiedBy>vaith</cp:lastModifiedBy>
  <cp:revision>28</cp:revision>
  <dcterms:created xsi:type="dcterms:W3CDTF">2020-08-06T13:08:26Z</dcterms:created>
  <dcterms:modified xsi:type="dcterms:W3CDTF">2025-08-05T05:39:34Z</dcterms:modified>
</cp:coreProperties>
</file>