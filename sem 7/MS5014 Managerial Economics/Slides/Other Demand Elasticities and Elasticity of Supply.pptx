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456E4-9769-40D5-97B5-5B7B2273EC81}" type="datetimeFigureOut">
              <a:rPr lang="en-IN" smtClean="0"/>
              <a:t>28-08-2020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AC51E-6F25-4750-8255-241F908A3D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170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456E4-9769-40D5-97B5-5B7B2273EC81}" type="datetimeFigureOut">
              <a:rPr lang="en-IN" smtClean="0"/>
              <a:t>28-08-2020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AC51E-6F25-4750-8255-241F908A3D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588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456E4-9769-40D5-97B5-5B7B2273EC81}" type="datetimeFigureOut">
              <a:rPr lang="en-IN" smtClean="0"/>
              <a:t>28-08-2020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AC51E-6F25-4750-8255-241F908A3D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325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456E4-9769-40D5-97B5-5B7B2273EC81}" type="datetimeFigureOut">
              <a:rPr lang="en-IN" smtClean="0"/>
              <a:t>28-08-2020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AC51E-6F25-4750-8255-241F908A3D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818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456E4-9769-40D5-97B5-5B7B2273EC81}" type="datetimeFigureOut">
              <a:rPr lang="en-IN" smtClean="0"/>
              <a:t>28-08-2020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AC51E-6F25-4750-8255-241F908A3D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76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456E4-9769-40D5-97B5-5B7B2273EC81}" type="datetimeFigureOut">
              <a:rPr lang="en-IN" smtClean="0"/>
              <a:t>28-08-2020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AC51E-6F25-4750-8255-241F908A3D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711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456E4-9769-40D5-97B5-5B7B2273EC81}" type="datetimeFigureOut">
              <a:rPr lang="en-IN" smtClean="0"/>
              <a:t>28-08-2020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AC51E-6F25-4750-8255-241F908A3D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398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456E4-9769-40D5-97B5-5B7B2273EC81}" type="datetimeFigureOut">
              <a:rPr lang="en-IN" smtClean="0"/>
              <a:t>28-08-2020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AC51E-6F25-4750-8255-241F908A3D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851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456E4-9769-40D5-97B5-5B7B2273EC81}" type="datetimeFigureOut">
              <a:rPr lang="en-IN" smtClean="0"/>
              <a:t>28-08-2020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AC51E-6F25-4750-8255-241F908A3D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787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456E4-9769-40D5-97B5-5B7B2273EC81}" type="datetimeFigureOut">
              <a:rPr lang="en-IN" smtClean="0"/>
              <a:t>28-08-2020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AC51E-6F25-4750-8255-241F908A3D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214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456E4-9769-40D5-97B5-5B7B2273EC81}" type="datetimeFigureOut">
              <a:rPr lang="en-IN" smtClean="0"/>
              <a:t>28-08-2020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AC51E-6F25-4750-8255-241F908A3D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431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456E4-9769-40D5-97B5-5B7B2273EC81}" type="datetimeFigureOut">
              <a:rPr lang="en-IN" smtClean="0"/>
              <a:t>28-08-2020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6AC51E-6F25-4750-8255-241F908A3D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089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Other Demand Elasticities and Elasticity of Supply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9160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Income Elasticity of Demand  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 smtClean="0"/>
                  <a:t>It is a measure of how much the quantity demanded of a good responds to a change in consumers income. </a:t>
                </a:r>
              </a:p>
              <a:p>
                <a:r>
                  <a:rPr lang="en-IN" dirty="0" smtClean="0"/>
                  <a:t>Income Elasticity of Demand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𝑃𝑒𝑟𝑐𝑒𝑛𝑡𝑎𝑔𝑒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𝑐h𝑎𝑛𝑔𝑒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𝑞𝑢𝑎𝑛𝑡𝑖𝑡𝑦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𝑑𝑒𝑚𝑎𝑛𝑑𝑒𝑑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eqArr>
                          <m:eqArr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𝑝𝑒𝑟𝑐𝑒𝑛𝑡𝑎𝑔𝑒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𝑐h𝑎𝑛𝑔𝑒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𝐼𝑛𝑐𝑜𝑚𝑒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/>
                        </m:eqArr>
                      </m:den>
                    </m:f>
                  </m:oMath>
                </a14:m>
                <a:endParaRPr lang="en-IN" dirty="0" smtClean="0"/>
              </a:p>
              <a:p>
                <a:r>
                  <a:rPr lang="en-IN" dirty="0" smtClean="0"/>
                  <a:t>If income elasticity is (positive) it is a Normal Good.</a:t>
                </a:r>
              </a:p>
              <a:p>
                <a:r>
                  <a:rPr lang="en-IN" dirty="0" smtClean="0"/>
                  <a:t>If income elasticity is (Negative) it is a Inferior good  </a:t>
                </a:r>
                <a:endParaRPr lang="en-IN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6563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 smtClean="0"/>
              <a:t>Cross Price Elasticity of demand 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 smtClean="0"/>
                  <a:t>It is a measure of how much the quantity demanded of one good responds to a change in price of another good. </a:t>
                </a:r>
              </a:p>
              <a:p>
                <a:r>
                  <a:rPr lang="en-IN" dirty="0" smtClean="0"/>
                  <a:t>Cross price elasticity of demand = </a:t>
                </a:r>
              </a:p>
              <a:p>
                <a:pPr marL="0" indent="0">
                  <a:buNone/>
                </a:pPr>
                <a:endParaRPr lang="en-I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𝑃𝑒𝑟𝑐𝑒𝑛𝑡𝑎𝑔𝑒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𝑐h𝑎𝑛𝑔𝑒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𝑞𝑢𝑎𝑛𝑡𝑖𝑡𝑦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𝑑𝑒𝑚𝑎𝑛𝑑𝑒𝑑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𝑔𝑜𝑜𝑑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1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𝑃𝑒𝑟𝑐𝑒𝑛𝑡𝑎𝑔𝑒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𝑐h𝑎𝑛𝑔𝑒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𝑝𝑟𝑖𝑐𝑒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𝑔𝑜𝑜𝑑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2 </m:t>
                          </m:r>
                        </m:den>
                      </m:f>
                    </m:oMath>
                  </m:oMathPara>
                </a14:m>
                <a:endParaRPr lang="en-IN" dirty="0" smtClean="0"/>
              </a:p>
              <a:p>
                <a:pPr marL="0" indent="0">
                  <a:buNone/>
                </a:pPr>
                <a:r>
                  <a:rPr lang="en-IN" dirty="0" smtClean="0"/>
                  <a:t>If the Cross price elasticity of demand is (positive) it is Substitute good.</a:t>
                </a:r>
              </a:p>
              <a:p>
                <a:pPr marL="0" indent="0">
                  <a:buNone/>
                </a:pPr>
                <a:r>
                  <a:rPr lang="en-IN" dirty="0" smtClean="0"/>
                  <a:t>If the Cross price elasticity of demand is (negative) it is complementary good. </a:t>
                </a:r>
                <a:endParaRPr lang="en-IN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5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804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Elasticity of Supply 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 smtClean="0"/>
                  <a:t>It is a measure of how much the quantity supplied respond to change in the price of good. </a:t>
                </a:r>
              </a:p>
              <a:p>
                <a:r>
                  <a:rPr lang="en-IN" dirty="0" smtClean="0"/>
                  <a:t>Elasticity of supply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𝑃𝑒𝑟𝑐𝑒𝑛𝑡𝑎𝑔𝑒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𝑐h𝑎𝑛𝑔𝑒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𝑞𝑢𝑎𝑛𝑡𝑖𝑡𝑦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𝑠𝑢𝑝𝑝𝑙𝑖𝑒𝑑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𝑝𝑒𝑟𝑐𝑒𝑛𝑡𝑎𝑔𝑒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𝑐h𝑎𝑛𝑔𝑒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𝑝𝑟𝑖𝑐𝑒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n-IN" dirty="0" smtClean="0"/>
              </a:p>
              <a:p>
                <a:r>
                  <a:rPr lang="en-IN" dirty="0" smtClean="0"/>
                  <a:t>Determinants of Elasticity of supply </a:t>
                </a:r>
              </a:p>
              <a:p>
                <a:pPr lvl="1"/>
                <a:r>
                  <a:rPr lang="en-IN" dirty="0" smtClean="0"/>
                  <a:t>The Flexibility of Producers </a:t>
                </a:r>
              </a:p>
              <a:p>
                <a:pPr lvl="2"/>
                <a:r>
                  <a:rPr lang="en-IN" dirty="0" smtClean="0"/>
                  <a:t>De Beers</a:t>
                </a:r>
              </a:p>
              <a:p>
                <a:pPr lvl="1"/>
                <a:r>
                  <a:rPr lang="en-IN" dirty="0" smtClean="0"/>
                  <a:t>Time and adjustment process</a:t>
                </a:r>
              </a:p>
              <a:p>
                <a:pPr lvl="2"/>
                <a:r>
                  <a:rPr lang="en-IN" dirty="0" smtClean="0"/>
                  <a:t>Immediate run –inelastic supply</a:t>
                </a:r>
              </a:p>
              <a:p>
                <a:pPr lvl="2"/>
                <a:r>
                  <a:rPr lang="en-IN" dirty="0" smtClean="0"/>
                  <a:t>Short run – elastic supply</a:t>
                </a:r>
              </a:p>
              <a:p>
                <a:pPr lvl="2"/>
                <a:r>
                  <a:rPr lang="en-IN" dirty="0" smtClean="0"/>
                  <a:t>Long run- elastic supply </a:t>
                </a:r>
                <a:endParaRPr lang="en-IN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9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3032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2" descr="narrow aqua button bckg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0899" name="Rectangle 3"/>
          <p:cNvSpPr>
            <a:spLocks noGrp="1" noChangeArrowheads="1"/>
          </p:cNvSpPr>
          <p:nvPr>
            <p:ph type="title"/>
          </p:nvPr>
        </p:nvSpPr>
        <p:spPr>
          <a:xfrm>
            <a:off x="2133600" y="50800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altLang="en-US" sz="2400">
                <a:solidFill>
                  <a:schemeClr val="bg1"/>
                </a:solidFill>
              </a:rPr>
              <a:t>Figure 6 The Price Elasticity of Supply</a:t>
            </a:r>
          </a:p>
        </p:txBody>
      </p:sp>
      <p:sp>
        <p:nvSpPr>
          <p:cNvPr id="80900" name="Text Box 4"/>
          <p:cNvSpPr txBox="1">
            <a:spLocks noChangeArrowheads="1"/>
          </p:cNvSpPr>
          <p:nvPr/>
        </p:nvSpPr>
        <p:spPr bwMode="auto">
          <a:xfrm rot="-21600000">
            <a:off x="8088313" y="6680201"/>
            <a:ext cx="264160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800" b="1">
                <a:solidFill>
                  <a:schemeClr val="bg1"/>
                </a:solidFill>
                <a:latin typeface="Arial" panose="020B0604020202020204" pitchFamily="34" charset="0"/>
              </a:rPr>
              <a:t>Copyright©2003  Southwestern/Thomson Learning</a:t>
            </a:r>
          </a:p>
        </p:txBody>
      </p:sp>
      <p:sp>
        <p:nvSpPr>
          <p:cNvPr id="80901" name="Rectangle 5"/>
          <p:cNvSpPr>
            <a:spLocks noChangeArrowheads="1"/>
          </p:cNvSpPr>
          <p:nvPr/>
        </p:nvSpPr>
        <p:spPr bwMode="auto">
          <a:xfrm>
            <a:off x="3567114" y="1911350"/>
            <a:ext cx="5322887" cy="3335338"/>
          </a:xfrm>
          <a:prstGeom prst="rect">
            <a:avLst/>
          </a:prstGeom>
          <a:solidFill>
            <a:srgbClr val="F3F6F9"/>
          </a:solidFill>
          <a:ln w="238125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0902" name="Rectangle 6"/>
          <p:cNvSpPr>
            <a:spLocks noChangeArrowheads="1"/>
          </p:cNvSpPr>
          <p:nvPr/>
        </p:nvSpPr>
        <p:spPr bwMode="auto">
          <a:xfrm>
            <a:off x="3567114" y="1911350"/>
            <a:ext cx="5322887" cy="3335338"/>
          </a:xfrm>
          <a:prstGeom prst="rect">
            <a:avLst/>
          </a:prstGeom>
          <a:solidFill>
            <a:srgbClr val="F2F4F8"/>
          </a:solidFill>
          <a:ln w="215900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0903" name="Rectangle 7"/>
          <p:cNvSpPr>
            <a:spLocks noChangeArrowheads="1"/>
          </p:cNvSpPr>
          <p:nvPr/>
        </p:nvSpPr>
        <p:spPr bwMode="auto">
          <a:xfrm>
            <a:off x="3567114" y="1911350"/>
            <a:ext cx="5322887" cy="3335338"/>
          </a:xfrm>
          <a:prstGeom prst="rect">
            <a:avLst/>
          </a:prstGeom>
          <a:solidFill>
            <a:srgbClr val="F1F4F7"/>
          </a:solidFill>
          <a:ln w="195263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0904" name="Rectangle 8"/>
          <p:cNvSpPr>
            <a:spLocks noChangeArrowheads="1"/>
          </p:cNvSpPr>
          <p:nvPr/>
        </p:nvSpPr>
        <p:spPr bwMode="auto">
          <a:xfrm>
            <a:off x="3567114" y="1911350"/>
            <a:ext cx="5322887" cy="3335338"/>
          </a:xfrm>
          <a:prstGeom prst="rect">
            <a:avLst/>
          </a:prstGeom>
          <a:solidFill>
            <a:srgbClr val="F0F2F5"/>
          </a:solidFill>
          <a:ln w="173038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0905" name="Rectangle 9"/>
          <p:cNvSpPr>
            <a:spLocks noChangeArrowheads="1"/>
          </p:cNvSpPr>
          <p:nvPr/>
        </p:nvSpPr>
        <p:spPr bwMode="auto">
          <a:xfrm>
            <a:off x="3567114" y="1911350"/>
            <a:ext cx="5322887" cy="3335338"/>
          </a:xfrm>
          <a:prstGeom prst="rect">
            <a:avLst/>
          </a:prstGeom>
          <a:solidFill>
            <a:srgbClr val="EEF1F4"/>
          </a:solidFill>
          <a:ln w="150813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0906" name="Rectangle 10"/>
          <p:cNvSpPr>
            <a:spLocks noChangeArrowheads="1"/>
          </p:cNvSpPr>
          <p:nvPr/>
        </p:nvSpPr>
        <p:spPr bwMode="auto">
          <a:xfrm>
            <a:off x="3567114" y="1911350"/>
            <a:ext cx="5322887" cy="3335338"/>
          </a:xfrm>
          <a:prstGeom prst="rect">
            <a:avLst/>
          </a:prstGeom>
          <a:solidFill>
            <a:srgbClr val="EDEFF3"/>
          </a:solidFill>
          <a:ln w="130175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0907" name="Rectangle 11"/>
          <p:cNvSpPr>
            <a:spLocks noChangeArrowheads="1"/>
          </p:cNvSpPr>
          <p:nvPr/>
        </p:nvSpPr>
        <p:spPr bwMode="auto">
          <a:xfrm>
            <a:off x="3567114" y="1911350"/>
            <a:ext cx="5322887" cy="3335338"/>
          </a:xfrm>
          <a:prstGeom prst="rect">
            <a:avLst/>
          </a:prstGeom>
          <a:solidFill>
            <a:srgbClr val="EBEEF2"/>
          </a:solidFill>
          <a:ln w="107950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0908" name="Rectangle 12"/>
          <p:cNvSpPr>
            <a:spLocks noChangeArrowheads="1"/>
          </p:cNvSpPr>
          <p:nvPr/>
        </p:nvSpPr>
        <p:spPr bwMode="auto">
          <a:xfrm>
            <a:off x="3567114" y="1911350"/>
            <a:ext cx="5322887" cy="3335338"/>
          </a:xfrm>
          <a:prstGeom prst="rect">
            <a:avLst/>
          </a:prstGeom>
          <a:solidFill>
            <a:srgbClr val="EAECF1"/>
          </a:solidFill>
          <a:ln w="87313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0909" name="Rectangle 13"/>
          <p:cNvSpPr>
            <a:spLocks noChangeArrowheads="1"/>
          </p:cNvSpPr>
          <p:nvPr/>
        </p:nvSpPr>
        <p:spPr bwMode="auto">
          <a:xfrm>
            <a:off x="3567114" y="1911350"/>
            <a:ext cx="5322887" cy="3335338"/>
          </a:xfrm>
          <a:prstGeom prst="rect">
            <a:avLst/>
          </a:prstGeom>
          <a:solidFill>
            <a:srgbClr val="E9EBF0"/>
          </a:solidFill>
          <a:ln w="65088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0910" name="Rectangle 14"/>
          <p:cNvSpPr>
            <a:spLocks noChangeArrowheads="1"/>
          </p:cNvSpPr>
          <p:nvPr/>
        </p:nvSpPr>
        <p:spPr bwMode="auto">
          <a:xfrm>
            <a:off x="3567114" y="1911350"/>
            <a:ext cx="5322887" cy="3335338"/>
          </a:xfrm>
          <a:prstGeom prst="rect">
            <a:avLst/>
          </a:prstGeom>
          <a:solidFill>
            <a:srgbClr val="E7EAEF"/>
          </a:solidFill>
          <a:ln w="42863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0911" name="Rectangle 15"/>
          <p:cNvSpPr>
            <a:spLocks noChangeArrowheads="1"/>
          </p:cNvSpPr>
          <p:nvPr/>
        </p:nvSpPr>
        <p:spPr bwMode="auto">
          <a:xfrm>
            <a:off x="3567114" y="1911350"/>
            <a:ext cx="5322887" cy="3335338"/>
          </a:xfrm>
          <a:prstGeom prst="rect">
            <a:avLst/>
          </a:prstGeom>
          <a:solidFill>
            <a:srgbClr val="E6E9EF"/>
          </a:solidFill>
          <a:ln w="22225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0912" name="Rectangle 16"/>
          <p:cNvSpPr>
            <a:spLocks noChangeArrowheads="1"/>
          </p:cNvSpPr>
          <p:nvPr/>
        </p:nvSpPr>
        <p:spPr bwMode="auto">
          <a:xfrm>
            <a:off x="3459164" y="1831975"/>
            <a:ext cx="5322887" cy="33162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0913" name="Freeform 17"/>
          <p:cNvSpPr>
            <a:spLocks/>
          </p:cNvSpPr>
          <p:nvPr/>
        </p:nvSpPr>
        <p:spPr bwMode="auto">
          <a:xfrm>
            <a:off x="3459164" y="1831975"/>
            <a:ext cx="5322887" cy="3316288"/>
          </a:xfrm>
          <a:custGeom>
            <a:avLst/>
            <a:gdLst>
              <a:gd name="T0" fmla="*/ 0 w 3353"/>
              <a:gd name="T1" fmla="*/ 0 h 2089"/>
              <a:gd name="T2" fmla="*/ 0 w 3353"/>
              <a:gd name="T3" fmla="*/ 2089 h 2089"/>
              <a:gd name="T4" fmla="*/ 3353 w 3353"/>
              <a:gd name="T5" fmla="*/ 2089 h 20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353" h="2089">
                <a:moveTo>
                  <a:pt x="0" y="0"/>
                </a:moveTo>
                <a:lnTo>
                  <a:pt x="0" y="2089"/>
                </a:lnTo>
                <a:lnTo>
                  <a:pt x="3353" y="2089"/>
                </a:lnTo>
              </a:path>
            </a:pathLst>
          </a:custGeom>
          <a:noFill/>
          <a:ln w="222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0914" name="Line 18"/>
          <p:cNvSpPr>
            <a:spLocks noChangeShapeType="1"/>
          </p:cNvSpPr>
          <p:nvPr/>
        </p:nvSpPr>
        <p:spPr bwMode="auto">
          <a:xfrm>
            <a:off x="3305176" y="3003551"/>
            <a:ext cx="4763" cy="315913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 type="stealth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0915" name="Rectangle 19"/>
          <p:cNvSpPr>
            <a:spLocks noChangeArrowheads="1"/>
          </p:cNvSpPr>
          <p:nvPr/>
        </p:nvSpPr>
        <p:spPr bwMode="auto">
          <a:xfrm>
            <a:off x="3722689" y="1365250"/>
            <a:ext cx="502862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(a) Perfectly Inelastic Supply: Elasticity Equals 0</a:t>
            </a:r>
            <a:endParaRPr lang="en-US" altLang="en-US"/>
          </a:p>
        </p:txBody>
      </p:sp>
      <p:grpSp>
        <p:nvGrpSpPr>
          <p:cNvPr id="80916" name="Group 20"/>
          <p:cNvGrpSpPr>
            <a:grpSpLocks/>
          </p:cNvGrpSpPr>
          <p:nvPr/>
        </p:nvGrpSpPr>
        <p:grpSpPr bwMode="auto">
          <a:xfrm>
            <a:off x="3133725" y="2760664"/>
            <a:ext cx="3354388" cy="261937"/>
            <a:chOff x="1014" y="1739"/>
            <a:chExt cx="2113" cy="165"/>
          </a:xfrm>
        </p:grpSpPr>
        <p:sp>
          <p:nvSpPr>
            <p:cNvPr id="80917" name="Line 21"/>
            <p:cNvSpPr>
              <a:spLocks noChangeShapeType="1"/>
            </p:cNvSpPr>
            <p:nvPr/>
          </p:nvSpPr>
          <p:spPr bwMode="auto">
            <a:xfrm flipH="1">
              <a:off x="1219" y="1829"/>
              <a:ext cx="1908" cy="1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0918" name="Rectangle 22"/>
            <p:cNvSpPr>
              <a:spLocks noChangeArrowheads="1"/>
            </p:cNvSpPr>
            <p:nvPr/>
          </p:nvSpPr>
          <p:spPr bwMode="auto">
            <a:xfrm>
              <a:off x="1014" y="1739"/>
              <a:ext cx="153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€</a:t>
              </a:r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</p:grpSp>
      <p:grpSp>
        <p:nvGrpSpPr>
          <p:cNvPr id="80919" name="Group 23"/>
          <p:cNvGrpSpPr>
            <a:grpSpLocks/>
          </p:cNvGrpSpPr>
          <p:nvPr/>
        </p:nvGrpSpPr>
        <p:grpSpPr bwMode="auto">
          <a:xfrm>
            <a:off x="3254375" y="3294064"/>
            <a:ext cx="3233738" cy="261937"/>
            <a:chOff x="1090" y="2075"/>
            <a:chExt cx="2037" cy="165"/>
          </a:xfrm>
        </p:grpSpPr>
        <p:sp>
          <p:nvSpPr>
            <p:cNvPr id="80920" name="Line 24"/>
            <p:cNvSpPr>
              <a:spLocks noChangeShapeType="1"/>
            </p:cNvSpPr>
            <p:nvPr/>
          </p:nvSpPr>
          <p:spPr bwMode="auto">
            <a:xfrm flipH="1">
              <a:off x="1219" y="2104"/>
              <a:ext cx="1908" cy="1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0921" name="Rectangle 25"/>
            <p:cNvSpPr>
              <a:spLocks noChangeArrowheads="1"/>
            </p:cNvSpPr>
            <p:nvPr/>
          </p:nvSpPr>
          <p:spPr bwMode="auto">
            <a:xfrm>
              <a:off x="1090" y="2075"/>
              <a:ext cx="7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en-US" altLang="en-US"/>
            </a:p>
          </p:txBody>
        </p:sp>
      </p:grpSp>
      <p:grpSp>
        <p:nvGrpSpPr>
          <p:cNvPr id="80922" name="Group 26"/>
          <p:cNvGrpSpPr>
            <a:grpSpLocks/>
          </p:cNvGrpSpPr>
          <p:nvPr/>
        </p:nvGrpSpPr>
        <p:grpSpPr bwMode="auto">
          <a:xfrm>
            <a:off x="6488113" y="2097089"/>
            <a:ext cx="763587" cy="3051175"/>
            <a:chOff x="3127" y="1321"/>
            <a:chExt cx="481" cy="1922"/>
          </a:xfrm>
        </p:grpSpPr>
        <p:sp>
          <p:nvSpPr>
            <p:cNvPr id="80923" name="Line 27"/>
            <p:cNvSpPr>
              <a:spLocks noChangeShapeType="1"/>
            </p:cNvSpPr>
            <p:nvPr/>
          </p:nvSpPr>
          <p:spPr bwMode="auto">
            <a:xfrm flipV="1">
              <a:off x="3127" y="1354"/>
              <a:ext cx="1" cy="1889"/>
            </a:xfrm>
            <a:prstGeom prst="line">
              <a:avLst/>
            </a:prstGeom>
            <a:noFill/>
            <a:ln w="65088">
              <a:solidFill>
                <a:srgbClr val="004C9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0924" name="Rectangle 28"/>
            <p:cNvSpPr>
              <a:spLocks noChangeArrowheads="1"/>
            </p:cNvSpPr>
            <p:nvPr/>
          </p:nvSpPr>
          <p:spPr bwMode="auto">
            <a:xfrm>
              <a:off x="3187" y="1321"/>
              <a:ext cx="42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Supply</a:t>
              </a:r>
              <a:endParaRPr lang="en-US" altLang="en-US"/>
            </a:p>
          </p:txBody>
        </p:sp>
      </p:grpSp>
      <p:sp>
        <p:nvSpPr>
          <p:cNvPr id="80925" name="Rectangle 29"/>
          <p:cNvSpPr>
            <a:spLocks noChangeArrowheads="1"/>
          </p:cNvSpPr>
          <p:nvPr/>
        </p:nvSpPr>
        <p:spPr bwMode="auto">
          <a:xfrm>
            <a:off x="7864475" y="5230813"/>
            <a:ext cx="88485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Quantity</a:t>
            </a:r>
            <a:endParaRPr lang="en-US" altLang="en-US"/>
          </a:p>
        </p:txBody>
      </p:sp>
      <p:sp>
        <p:nvSpPr>
          <p:cNvPr id="80926" name="Rectangle 30"/>
          <p:cNvSpPr>
            <a:spLocks noChangeArrowheads="1"/>
          </p:cNvSpPr>
          <p:nvPr/>
        </p:nvSpPr>
        <p:spPr bwMode="auto">
          <a:xfrm>
            <a:off x="6294439" y="5230813"/>
            <a:ext cx="36548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100</a:t>
            </a:r>
            <a:endParaRPr lang="en-US" altLang="en-US"/>
          </a:p>
        </p:txBody>
      </p:sp>
      <p:sp>
        <p:nvSpPr>
          <p:cNvPr id="80927" name="Rectangle 31"/>
          <p:cNvSpPr>
            <a:spLocks noChangeArrowheads="1"/>
          </p:cNvSpPr>
          <p:nvPr/>
        </p:nvSpPr>
        <p:spPr bwMode="auto">
          <a:xfrm>
            <a:off x="3238500" y="527526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en-US" altLang="en-US"/>
          </a:p>
        </p:txBody>
      </p:sp>
      <p:grpSp>
        <p:nvGrpSpPr>
          <p:cNvPr id="80928" name="Group 32"/>
          <p:cNvGrpSpPr>
            <a:grpSpLocks/>
          </p:cNvGrpSpPr>
          <p:nvPr/>
        </p:nvGrpSpPr>
        <p:grpSpPr bwMode="auto">
          <a:xfrm>
            <a:off x="2095500" y="3201988"/>
            <a:ext cx="1233488" cy="1230312"/>
            <a:chOff x="360" y="2017"/>
            <a:chExt cx="777" cy="775"/>
          </a:xfrm>
        </p:grpSpPr>
        <p:sp>
          <p:nvSpPr>
            <p:cNvPr id="80929" name="Line 33"/>
            <p:cNvSpPr>
              <a:spLocks noChangeShapeType="1"/>
            </p:cNvSpPr>
            <p:nvPr/>
          </p:nvSpPr>
          <p:spPr bwMode="auto">
            <a:xfrm flipV="1">
              <a:off x="796" y="2017"/>
              <a:ext cx="273" cy="30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80930" name="Group 34"/>
            <p:cNvGrpSpPr>
              <a:grpSpLocks/>
            </p:cNvGrpSpPr>
            <p:nvPr/>
          </p:nvGrpSpPr>
          <p:grpSpPr bwMode="auto">
            <a:xfrm>
              <a:off x="360" y="2267"/>
              <a:ext cx="777" cy="525"/>
              <a:chOff x="360" y="2267"/>
              <a:chExt cx="777" cy="525"/>
            </a:xfrm>
          </p:grpSpPr>
          <p:sp>
            <p:nvSpPr>
              <p:cNvPr id="80931" name="Rectangle 35"/>
              <p:cNvSpPr>
                <a:spLocks noChangeArrowheads="1"/>
              </p:cNvSpPr>
              <p:nvPr/>
            </p:nvSpPr>
            <p:spPr bwMode="auto">
              <a:xfrm>
                <a:off x="360" y="2267"/>
                <a:ext cx="777" cy="525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0932" name="Rectangle 36"/>
              <p:cNvSpPr>
                <a:spLocks noChangeArrowheads="1"/>
              </p:cNvSpPr>
              <p:nvPr/>
            </p:nvSpPr>
            <p:spPr bwMode="auto">
              <a:xfrm>
                <a:off x="404" y="2276"/>
                <a:ext cx="315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1. An</a:t>
                </a:r>
                <a:endParaRPr lang="en-US" altLang="en-US"/>
              </a:p>
            </p:txBody>
          </p:sp>
          <p:sp>
            <p:nvSpPr>
              <p:cNvPr id="80933" name="Rectangle 37"/>
              <p:cNvSpPr>
                <a:spLocks noChangeArrowheads="1"/>
              </p:cNvSpPr>
              <p:nvPr/>
            </p:nvSpPr>
            <p:spPr bwMode="auto">
              <a:xfrm>
                <a:off x="404" y="2443"/>
                <a:ext cx="520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increase</a:t>
                </a:r>
                <a:endParaRPr lang="en-US" altLang="en-US"/>
              </a:p>
            </p:txBody>
          </p:sp>
          <p:sp>
            <p:nvSpPr>
              <p:cNvPr id="80934" name="Rectangle 38"/>
              <p:cNvSpPr>
                <a:spLocks noChangeArrowheads="1"/>
              </p:cNvSpPr>
              <p:nvPr/>
            </p:nvSpPr>
            <p:spPr bwMode="auto">
              <a:xfrm>
                <a:off x="404" y="2609"/>
                <a:ext cx="674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in price . . .</a:t>
                </a:r>
                <a:endParaRPr lang="en-US" altLang="en-US"/>
              </a:p>
            </p:txBody>
          </p:sp>
        </p:grpSp>
      </p:grpSp>
      <p:grpSp>
        <p:nvGrpSpPr>
          <p:cNvPr id="80935" name="Group 39"/>
          <p:cNvGrpSpPr>
            <a:grpSpLocks/>
          </p:cNvGrpSpPr>
          <p:nvPr/>
        </p:nvGrpSpPr>
        <p:grpSpPr bwMode="auto">
          <a:xfrm>
            <a:off x="4043364" y="5510214"/>
            <a:ext cx="4802187" cy="515937"/>
            <a:chOff x="1587" y="3431"/>
            <a:chExt cx="3025" cy="325"/>
          </a:xfrm>
        </p:grpSpPr>
        <p:sp>
          <p:nvSpPr>
            <p:cNvPr id="80936" name="Line 40"/>
            <p:cNvSpPr>
              <a:spLocks noChangeShapeType="1"/>
            </p:cNvSpPr>
            <p:nvPr/>
          </p:nvSpPr>
          <p:spPr bwMode="auto">
            <a:xfrm flipH="1">
              <a:off x="3086" y="3431"/>
              <a:ext cx="68" cy="175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80937" name="Group 41"/>
            <p:cNvGrpSpPr>
              <a:grpSpLocks/>
            </p:cNvGrpSpPr>
            <p:nvPr/>
          </p:nvGrpSpPr>
          <p:grpSpPr bwMode="auto">
            <a:xfrm>
              <a:off x="1587" y="3556"/>
              <a:ext cx="3025" cy="200"/>
              <a:chOff x="1587" y="3556"/>
              <a:chExt cx="3025" cy="200"/>
            </a:xfrm>
          </p:grpSpPr>
          <p:sp>
            <p:nvSpPr>
              <p:cNvPr id="80938" name="Rectangle 42"/>
              <p:cNvSpPr>
                <a:spLocks noChangeArrowheads="1"/>
              </p:cNvSpPr>
              <p:nvPr/>
            </p:nvSpPr>
            <p:spPr bwMode="auto">
              <a:xfrm>
                <a:off x="1587" y="3556"/>
                <a:ext cx="3025" cy="200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0939" name="Rectangle 43"/>
              <p:cNvSpPr>
                <a:spLocks noChangeArrowheads="1"/>
              </p:cNvSpPr>
              <p:nvPr/>
            </p:nvSpPr>
            <p:spPr bwMode="auto">
              <a:xfrm>
                <a:off x="1618" y="3571"/>
                <a:ext cx="2844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2. . . . leaves the quantity supplied unchanged.</a:t>
                </a:r>
                <a:endParaRPr lang="en-US" altLang="en-US"/>
              </a:p>
            </p:txBody>
          </p:sp>
        </p:grpSp>
      </p:grpSp>
      <p:sp>
        <p:nvSpPr>
          <p:cNvPr id="80940" name="Rectangle 44"/>
          <p:cNvSpPr>
            <a:spLocks noChangeArrowheads="1"/>
          </p:cNvSpPr>
          <p:nvPr/>
        </p:nvSpPr>
        <p:spPr bwMode="auto">
          <a:xfrm>
            <a:off x="2844801" y="1833563"/>
            <a:ext cx="53540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Price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8899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0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09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09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0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0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80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Picture 2" descr="narrow aqua button bckg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875" name="Rectangle 3"/>
          <p:cNvSpPr>
            <a:spLocks noGrp="1" noChangeArrowheads="1"/>
          </p:cNvSpPr>
          <p:nvPr>
            <p:ph type="title"/>
          </p:nvPr>
        </p:nvSpPr>
        <p:spPr>
          <a:xfrm>
            <a:off x="2133600" y="50800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altLang="en-US" sz="2400">
                <a:solidFill>
                  <a:schemeClr val="bg1"/>
                </a:solidFill>
              </a:rPr>
              <a:t>Figure 6 The Price Elasticity of Supply</a:t>
            </a:r>
          </a:p>
        </p:txBody>
      </p:sp>
      <p:sp>
        <p:nvSpPr>
          <p:cNvPr id="79876" name="Text Box 4"/>
          <p:cNvSpPr txBox="1">
            <a:spLocks noChangeArrowheads="1"/>
          </p:cNvSpPr>
          <p:nvPr/>
        </p:nvSpPr>
        <p:spPr bwMode="auto">
          <a:xfrm rot="-21600000">
            <a:off x="8088313" y="6680201"/>
            <a:ext cx="264160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800" b="1">
                <a:solidFill>
                  <a:schemeClr val="bg1"/>
                </a:solidFill>
                <a:latin typeface="Arial" panose="020B0604020202020204" pitchFamily="34" charset="0"/>
              </a:rPr>
              <a:t>Copyright©2003  Southwestern/Thomson Learning</a:t>
            </a:r>
          </a:p>
        </p:txBody>
      </p:sp>
      <p:sp>
        <p:nvSpPr>
          <p:cNvPr id="79877" name="Rectangle 5"/>
          <p:cNvSpPr>
            <a:spLocks noChangeArrowheads="1"/>
          </p:cNvSpPr>
          <p:nvPr/>
        </p:nvSpPr>
        <p:spPr bwMode="auto">
          <a:xfrm>
            <a:off x="3790950" y="1911350"/>
            <a:ext cx="5322888" cy="3335338"/>
          </a:xfrm>
          <a:prstGeom prst="rect">
            <a:avLst/>
          </a:prstGeom>
          <a:solidFill>
            <a:srgbClr val="F3F6F9"/>
          </a:solidFill>
          <a:ln w="238125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9878" name="Rectangle 6"/>
          <p:cNvSpPr>
            <a:spLocks noChangeArrowheads="1"/>
          </p:cNvSpPr>
          <p:nvPr/>
        </p:nvSpPr>
        <p:spPr bwMode="auto">
          <a:xfrm>
            <a:off x="3790950" y="1911350"/>
            <a:ext cx="5322888" cy="3335338"/>
          </a:xfrm>
          <a:prstGeom prst="rect">
            <a:avLst/>
          </a:prstGeom>
          <a:solidFill>
            <a:srgbClr val="F2F4F8"/>
          </a:solidFill>
          <a:ln w="215900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9879" name="Rectangle 7"/>
          <p:cNvSpPr>
            <a:spLocks noChangeArrowheads="1"/>
          </p:cNvSpPr>
          <p:nvPr/>
        </p:nvSpPr>
        <p:spPr bwMode="auto">
          <a:xfrm>
            <a:off x="3790950" y="1911350"/>
            <a:ext cx="5322888" cy="3335338"/>
          </a:xfrm>
          <a:prstGeom prst="rect">
            <a:avLst/>
          </a:prstGeom>
          <a:solidFill>
            <a:srgbClr val="F1F4F7"/>
          </a:solidFill>
          <a:ln w="195263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9880" name="Rectangle 8"/>
          <p:cNvSpPr>
            <a:spLocks noChangeArrowheads="1"/>
          </p:cNvSpPr>
          <p:nvPr/>
        </p:nvSpPr>
        <p:spPr bwMode="auto">
          <a:xfrm>
            <a:off x="3790950" y="1911350"/>
            <a:ext cx="5322888" cy="3335338"/>
          </a:xfrm>
          <a:prstGeom prst="rect">
            <a:avLst/>
          </a:prstGeom>
          <a:solidFill>
            <a:srgbClr val="F0F2F5"/>
          </a:solidFill>
          <a:ln w="173038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9881" name="Rectangle 9"/>
          <p:cNvSpPr>
            <a:spLocks noChangeArrowheads="1"/>
          </p:cNvSpPr>
          <p:nvPr/>
        </p:nvSpPr>
        <p:spPr bwMode="auto">
          <a:xfrm>
            <a:off x="3790950" y="1911350"/>
            <a:ext cx="5322888" cy="3335338"/>
          </a:xfrm>
          <a:prstGeom prst="rect">
            <a:avLst/>
          </a:prstGeom>
          <a:solidFill>
            <a:srgbClr val="EEF1F4"/>
          </a:solidFill>
          <a:ln w="150813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9882" name="Rectangle 10"/>
          <p:cNvSpPr>
            <a:spLocks noChangeArrowheads="1"/>
          </p:cNvSpPr>
          <p:nvPr/>
        </p:nvSpPr>
        <p:spPr bwMode="auto">
          <a:xfrm>
            <a:off x="3790950" y="1911350"/>
            <a:ext cx="5322888" cy="3335338"/>
          </a:xfrm>
          <a:prstGeom prst="rect">
            <a:avLst/>
          </a:prstGeom>
          <a:solidFill>
            <a:srgbClr val="EDEFF3"/>
          </a:solidFill>
          <a:ln w="130175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9883" name="Rectangle 11"/>
          <p:cNvSpPr>
            <a:spLocks noChangeArrowheads="1"/>
          </p:cNvSpPr>
          <p:nvPr/>
        </p:nvSpPr>
        <p:spPr bwMode="auto">
          <a:xfrm>
            <a:off x="3790950" y="1911350"/>
            <a:ext cx="5322888" cy="3335338"/>
          </a:xfrm>
          <a:prstGeom prst="rect">
            <a:avLst/>
          </a:prstGeom>
          <a:solidFill>
            <a:srgbClr val="EBEEF2"/>
          </a:solidFill>
          <a:ln w="107950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9884" name="Rectangle 12"/>
          <p:cNvSpPr>
            <a:spLocks noChangeArrowheads="1"/>
          </p:cNvSpPr>
          <p:nvPr/>
        </p:nvSpPr>
        <p:spPr bwMode="auto">
          <a:xfrm>
            <a:off x="3790950" y="1911350"/>
            <a:ext cx="5322888" cy="3335338"/>
          </a:xfrm>
          <a:prstGeom prst="rect">
            <a:avLst/>
          </a:prstGeom>
          <a:solidFill>
            <a:srgbClr val="EAECF1"/>
          </a:solidFill>
          <a:ln w="87313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9885" name="Rectangle 13"/>
          <p:cNvSpPr>
            <a:spLocks noChangeArrowheads="1"/>
          </p:cNvSpPr>
          <p:nvPr/>
        </p:nvSpPr>
        <p:spPr bwMode="auto">
          <a:xfrm>
            <a:off x="3790950" y="1911350"/>
            <a:ext cx="5322888" cy="3335338"/>
          </a:xfrm>
          <a:prstGeom prst="rect">
            <a:avLst/>
          </a:prstGeom>
          <a:solidFill>
            <a:srgbClr val="E9EBF0"/>
          </a:solidFill>
          <a:ln w="65088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9886" name="Rectangle 14"/>
          <p:cNvSpPr>
            <a:spLocks noChangeArrowheads="1"/>
          </p:cNvSpPr>
          <p:nvPr/>
        </p:nvSpPr>
        <p:spPr bwMode="auto">
          <a:xfrm>
            <a:off x="3790950" y="1911350"/>
            <a:ext cx="5322888" cy="3335338"/>
          </a:xfrm>
          <a:prstGeom prst="rect">
            <a:avLst/>
          </a:prstGeom>
          <a:solidFill>
            <a:srgbClr val="E7EAEF"/>
          </a:solidFill>
          <a:ln w="42863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9887" name="Rectangle 15"/>
          <p:cNvSpPr>
            <a:spLocks noChangeArrowheads="1"/>
          </p:cNvSpPr>
          <p:nvPr/>
        </p:nvSpPr>
        <p:spPr bwMode="auto">
          <a:xfrm>
            <a:off x="3790950" y="1911350"/>
            <a:ext cx="5322888" cy="3335338"/>
          </a:xfrm>
          <a:prstGeom prst="rect">
            <a:avLst/>
          </a:prstGeom>
          <a:solidFill>
            <a:srgbClr val="E6E9EF"/>
          </a:solidFill>
          <a:ln w="22225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9888" name="Line 16"/>
          <p:cNvSpPr>
            <a:spLocks noChangeShapeType="1"/>
          </p:cNvSpPr>
          <p:nvPr/>
        </p:nvSpPr>
        <p:spPr bwMode="auto">
          <a:xfrm flipH="1">
            <a:off x="6757988" y="5345114"/>
            <a:ext cx="252412" cy="31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9889" name="Rectangle 17"/>
          <p:cNvSpPr>
            <a:spLocks noChangeArrowheads="1"/>
          </p:cNvSpPr>
          <p:nvPr/>
        </p:nvSpPr>
        <p:spPr bwMode="auto">
          <a:xfrm>
            <a:off x="3703639" y="1811339"/>
            <a:ext cx="5322887" cy="33369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9890" name="Line 18"/>
          <p:cNvSpPr>
            <a:spLocks noChangeShapeType="1"/>
          </p:cNvSpPr>
          <p:nvPr/>
        </p:nvSpPr>
        <p:spPr bwMode="auto">
          <a:xfrm>
            <a:off x="3530600" y="3052764"/>
            <a:ext cx="1588" cy="25558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9891" name="Freeform 19"/>
          <p:cNvSpPr>
            <a:spLocks/>
          </p:cNvSpPr>
          <p:nvPr/>
        </p:nvSpPr>
        <p:spPr bwMode="auto">
          <a:xfrm>
            <a:off x="3684589" y="1811339"/>
            <a:ext cx="5322887" cy="3336925"/>
          </a:xfrm>
          <a:custGeom>
            <a:avLst/>
            <a:gdLst>
              <a:gd name="T0" fmla="*/ 0 w 3353"/>
              <a:gd name="T1" fmla="*/ 0 h 2102"/>
              <a:gd name="T2" fmla="*/ 0 w 3353"/>
              <a:gd name="T3" fmla="*/ 2102 h 2102"/>
              <a:gd name="T4" fmla="*/ 3353 w 3353"/>
              <a:gd name="T5" fmla="*/ 2102 h 2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353" h="2102">
                <a:moveTo>
                  <a:pt x="0" y="0"/>
                </a:moveTo>
                <a:lnTo>
                  <a:pt x="0" y="2102"/>
                </a:lnTo>
                <a:lnTo>
                  <a:pt x="3353" y="2102"/>
                </a:lnTo>
              </a:path>
            </a:pathLst>
          </a:custGeom>
          <a:noFill/>
          <a:ln w="222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9892" name="Rectangle 20"/>
          <p:cNvSpPr>
            <a:spLocks noChangeArrowheads="1"/>
          </p:cNvSpPr>
          <p:nvPr/>
        </p:nvSpPr>
        <p:spPr bwMode="auto">
          <a:xfrm>
            <a:off x="4029075" y="1365250"/>
            <a:ext cx="4663136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(b) Inelastic Supply: Elasticity Is Less Than 1</a:t>
            </a:r>
            <a:endParaRPr lang="en-US" altLang="en-US"/>
          </a:p>
        </p:txBody>
      </p:sp>
      <p:grpSp>
        <p:nvGrpSpPr>
          <p:cNvPr id="79893" name="Group 21"/>
          <p:cNvGrpSpPr>
            <a:grpSpLocks/>
          </p:cNvGrpSpPr>
          <p:nvPr/>
        </p:nvGrpSpPr>
        <p:grpSpPr bwMode="auto">
          <a:xfrm>
            <a:off x="3335339" y="2760664"/>
            <a:ext cx="4052887" cy="2738437"/>
            <a:chOff x="1141" y="1739"/>
            <a:chExt cx="2553" cy="1725"/>
          </a:xfrm>
        </p:grpSpPr>
        <p:sp>
          <p:nvSpPr>
            <p:cNvPr id="79894" name="Freeform 22"/>
            <p:cNvSpPr>
              <a:spLocks/>
            </p:cNvSpPr>
            <p:nvPr/>
          </p:nvSpPr>
          <p:spPr bwMode="auto">
            <a:xfrm>
              <a:off x="1373" y="1817"/>
              <a:ext cx="2086" cy="1426"/>
            </a:xfrm>
            <a:custGeom>
              <a:avLst/>
              <a:gdLst>
                <a:gd name="T0" fmla="*/ 2086 w 2086"/>
                <a:gd name="T1" fmla="*/ 1426 h 1426"/>
                <a:gd name="T2" fmla="*/ 2086 w 2086"/>
                <a:gd name="T3" fmla="*/ 0 h 1426"/>
                <a:gd name="T4" fmla="*/ 0 w 2086"/>
                <a:gd name="T5" fmla="*/ 0 h 1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86" h="1426">
                  <a:moveTo>
                    <a:pt x="2086" y="1426"/>
                  </a:moveTo>
                  <a:lnTo>
                    <a:pt x="2086" y="0"/>
                  </a:lnTo>
                  <a:lnTo>
                    <a:pt x="0" y="0"/>
                  </a:lnTo>
                </a:path>
              </a:pathLst>
            </a:custGeom>
            <a:noFill/>
            <a:ln w="22225" cap="flat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9895" name="Rectangle 23"/>
            <p:cNvSpPr>
              <a:spLocks noChangeArrowheads="1"/>
            </p:cNvSpPr>
            <p:nvPr/>
          </p:nvSpPr>
          <p:spPr bwMode="auto">
            <a:xfrm>
              <a:off x="3474" y="3299"/>
              <a:ext cx="22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110</a:t>
              </a:r>
              <a:endParaRPr lang="en-US" altLang="en-US"/>
            </a:p>
          </p:txBody>
        </p:sp>
        <p:sp>
          <p:nvSpPr>
            <p:cNvPr id="79896" name="Rectangle 24"/>
            <p:cNvSpPr>
              <a:spLocks noChangeArrowheads="1"/>
            </p:cNvSpPr>
            <p:nvPr/>
          </p:nvSpPr>
          <p:spPr bwMode="auto">
            <a:xfrm>
              <a:off x="1141" y="1739"/>
              <a:ext cx="153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€</a:t>
              </a:r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</p:grpSp>
      <p:grpSp>
        <p:nvGrpSpPr>
          <p:cNvPr id="79897" name="Group 25"/>
          <p:cNvGrpSpPr>
            <a:grpSpLocks/>
          </p:cNvGrpSpPr>
          <p:nvPr/>
        </p:nvGrpSpPr>
        <p:grpSpPr bwMode="auto">
          <a:xfrm>
            <a:off x="3463926" y="3287714"/>
            <a:ext cx="3268663" cy="2211387"/>
            <a:chOff x="1222" y="2071"/>
            <a:chExt cx="2059" cy="1393"/>
          </a:xfrm>
        </p:grpSpPr>
        <p:sp>
          <p:nvSpPr>
            <p:cNvPr id="79898" name="Freeform 26"/>
            <p:cNvSpPr>
              <a:spLocks/>
            </p:cNvSpPr>
            <p:nvPr/>
          </p:nvSpPr>
          <p:spPr bwMode="auto">
            <a:xfrm>
              <a:off x="1373" y="2104"/>
              <a:ext cx="1908" cy="1139"/>
            </a:xfrm>
            <a:custGeom>
              <a:avLst/>
              <a:gdLst>
                <a:gd name="T0" fmla="*/ 1908 w 1908"/>
                <a:gd name="T1" fmla="*/ 1139 h 1139"/>
                <a:gd name="T2" fmla="*/ 1908 w 1908"/>
                <a:gd name="T3" fmla="*/ 0 h 1139"/>
                <a:gd name="T4" fmla="*/ 0 w 1908"/>
                <a:gd name="T5" fmla="*/ 0 h 1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08" h="1139">
                  <a:moveTo>
                    <a:pt x="1908" y="1139"/>
                  </a:moveTo>
                  <a:lnTo>
                    <a:pt x="1908" y="0"/>
                  </a:lnTo>
                  <a:lnTo>
                    <a:pt x="0" y="0"/>
                  </a:lnTo>
                </a:path>
              </a:pathLst>
            </a:custGeom>
            <a:noFill/>
            <a:ln w="22225" cap="flat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9899" name="Rectangle 27"/>
            <p:cNvSpPr>
              <a:spLocks noChangeArrowheads="1"/>
            </p:cNvSpPr>
            <p:nvPr/>
          </p:nvSpPr>
          <p:spPr bwMode="auto">
            <a:xfrm>
              <a:off x="3015" y="3299"/>
              <a:ext cx="23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100</a:t>
              </a:r>
              <a:endParaRPr lang="en-US" altLang="en-US"/>
            </a:p>
          </p:txBody>
        </p:sp>
        <p:sp>
          <p:nvSpPr>
            <p:cNvPr id="79900" name="Rectangle 28"/>
            <p:cNvSpPr>
              <a:spLocks noChangeArrowheads="1"/>
            </p:cNvSpPr>
            <p:nvPr/>
          </p:nvSpPr>
          <p:spPr bwMode="auto">
            <a:xfrm>
              <a:off x="1222" y="2071"/>
              <a:ext cx="7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en-US" altLang="en-US"/>
            </a:p>
          </p:txBody>
        </p:sp>
      </p:grpSp>
      <p:sp>
        <p:nvSpPr>
          <p:cNvPr id="79901" name="Rectangle 29"/>
          <p:cNvSpPr>
            <a:spLocks noChangeArrowheads="1"/>
          </p:cNvSpPr>
          <p:nvPr/>
        </p:nvSpPr>
        <p:spPr bwMode="auto">
          <a:xfrm>
            <a:off x="8083550" y="5230813"/>
            <a:ext cx="88485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Quantity</a:t>
            </a:r>
            <a:endParaRPr lang="en-US" altLang="en-US"/>
          </a:p>
        </p:txBody>
      </p:sp>
      <p:sp>
        <p:nvSpPr>
          <p:cNvPr id="79902" name="Rectangle 30"/>
          <p:cNvSpPr>
            <a:spLocks noChangeArrowheads="1"/>
          </p:cNvSpPr>
          <p:nvPr/>
        </p:nvSpPr>
        <p:spPr bwMode="auto">
          <a:xfrm>
            <a:off x="3471863" y="5268913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en-US" altLang="en-US"/>
          </a:p>
        </p:txBody>
      </p:sp>
      <p:grpSp>
        <p:nvGrpSpPr>
          <p:cNvPr id="79903" name="Group 31"/>
          <p:cNvGrpSpPr>
            <a:grpSpLocks/>
          </p:cNvGrpSpPr>
          <p:nvPr/>
        </p:nvGrpSpPr>
        <p:grpSpPr bwMode="auto">
          <a:xfrm>
            <a:off x="2274889" y="3181350"/>
            <a:ext cx="1298575" cy="1250950"/>
            <a:chOff x="473" y="2004"/>
            <a:chExt cx="818" cy="788"/>
          </a:xfrm>
        </p:grpSpPr>
        <p:sp>
          <p:nvSpPr>
            <p:cNvPr id="79904" name="Line 32"/>
            <p:cNvSpPr>
              <a:spLocks noChangeShapeType="1"/>
            </p:cNvSpPr>
            <p:nvPr/>
          </p:nvSpPr>
          <p:spPr bwMode="auto">
            <a:xfrm flipV="1">
              <a:off x="882" y="2004"/>
              <a:ext cx="328" cy="276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79905" name="Group 33"/>
            <p:cNvGrpSpPr>
              <a:grpSpLocks/>
            </p:cNvGrpSpPr>
            <p:nvPr/>
          </p:nvGrpSpPr>
          <p:grpSpPr bwMode="auto">
            <a:xfrm>
              <a:off x="473" y="2267"/>
              <a:ext cx="818" cy="525"/>
              <a:chOff x="473" y="2267"/>
              <a:chExt cx="818" cy="525"/>
            </a:xfrm>
          </p:grpSpPr>
          <p:sp>
            <p:nvSpPr>
              <p:cNvPr id="79906" name="Rectangle 34"/>
              <p:cNvSpPr>
                <a:spLocks noChangeArrowheads="1"/>
              </p:cNvSpPr>
              <p:nvPr/>
            </p:nvSpPr>
            <p:spPr bwMode="auto">
              <a:xfrm>
                <a:off x="473" y="2267"/>
                <a:ext cx="818" cy="525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9907" name="Rectangle 35"/>
              <p:cNvSpPr>
                <a:spLocks noChangeArrowheads="1"/>
              </p:cNvSpPr>
              <p:nvPr/>
            </p:nvSpPr>
            <p:spPr bwMode="auto">
              <a:xfrm>
                <a:off x="528" y="2284"/>
                <a:ext cx="544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1. A 22%</a:t>
                </a:r>
                <a:endParaRPr lang="en-US" altLang="en-US"/>
              </a:p>
            </p:txBody>
          </p:sp>
          <p:sp>
            <p:nvSpPr>
              <p:cNvPr id="79908" name="Rectangle 36"/>
              <p:cNvSpPr>
                <a:spLocks noChangeArrowheads="1"/>
              </p:cNvSpPr>
              <p:nvPr/>
            </p:nvSpPr>
            <p:spPr bwMode="auto">
              <a:xfrm>
                <a:off x="528" y="2451"/>
                <a:ext cx="520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increase</a:t>
                </a:r>
                <a:endParaRPr lang="en-US" altLang="en-US"/>
              </a:p>
            </p:txBody>
          </p:sp>
          <p:sp>
            <p:nvSpPr>
              <p:cNvPr id="79909" name="Rectangle 37"/>
              <p:cNvSpPr>
                <a:spLocks noChangeArrowheads="1"/>
              </p:cNvSpPr>
              <p:nvPr/>
            </p:nvSpPr>
            <p:spPr bwMode="auto">
              <a:xfrm>
                <a:off x="528" y="2617"/>
                <a:ext cx="674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in price . . .</a:t>
                </a:r>
                <a:endParaRPr lang="en-US" altLang="en-US"/>
              </a:p>
            </p:txBody>
          </p:sp>
        </p:grpSp>
      </p:grpSp>
      <p:sp>
        <p:nvSpPr>
          <p:cNvPr id="79910" name="Rectangle 38"/>
          <p:cNvSpPr>
            <a:spLocks noChangeArrowheads="1"/>
          </p:cNvSpPr>
          <p:nvPr/>
        </p:nvSpPr>
        <p:spPr bwMode="auto">
          <a:xfrm>
            <a:off x="3024189" y="1833563"/>
            <a:ext cx="53540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Price</a:t>
            </a:r>
            <a:endParaRPr lang="en-US" altLang="en-US"/>
          </a:p>
        </p:txBody>
      </p:sp>
      <p:grpSp>
        <p:nvGrpSpPr>
          <p:cNvPr id="79911" name="Group 39"/>
          <p:cNvGrpSpPr>
            <a:grpSpLocks/>
          </p:cNvGrpSpPr>
          <p:nvPr/>
        </p:nvGrpSpPr>
        <p:grpSpPr bwMode="auto">
          <a:xfrm>
            <a:off x="3833813" y="5426076"/>
            <a:ext cx="5040312" cy="536575"/>
            <a:chOff x="1455" y="3418"/>
            <a:chExt cx="3175" cy="338"/>
          </a:xfrm>
        </p:grpSpPr>
        <p:sp>
          <p:nvSpPr>
            <p:cNvPr id="79912" name="Line 40"/>
            <p:cNvSpPr>
              <a:spLocks noChangeShapeType="1"/>
            </p:cNvSpPr>
            <p:nvPr/>
          </p:nvSpPr>
          <p:spPr bwMode="auto">
            <a:xfrm flipH="1">
              <a:off x="3213" y="3418"/>
              <a:ext cx="123" cy="16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79913" name="Group 41"/>
            <p:cNvGrpSpPr>
              <a:grpSpLocks/>
            </p:cNvGrpSpPr>
            <p:nvPr/>
          </p:nvGrpSpPr>
          <p:grpSpPr bwMode="auto">
            <a:xfrm>
              <a:off x="1455" y="3556"/>
              <a:ext cx="3175" cy="200"/>
              <a:chOff x="1455" y="3556"/>
              <a:chExt cx="3175" cy="200"/>
            </a:xfrm>
          </p:grpSpPr>
          <p:sp>
            <p:nvSpPr>
              <p:cNvPr id="79914" name="Rectangle 42"/>
              <p:cNvSpPr>
                <a:spLocks noChangeArrowheads="1"/>
              </p:cNvSpPr>
              <p:nvPr/>
            </p:nvSpPr>
            <p:spPr bwMode="auto">
              <a:xfrm>
                <a:off x="1455" y="3556"/>
                <a:ext cx="3175" cy="200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9915" name="Rectangle 43"/>
              <p:cNvSpPr>
                <a:spLocks noChangeArrowheads="1"/>
              </p:cNvSpPr>
              <p:nvPr/>
            </p:nvSpPr>
            <p:spPr bwMode="auto">
              <a:xfrm>
                <a:off x="1490" y="3579"/>
                <a:ext cx="3110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2. . . . leads to a 10% increase in quantity supplied.</a:t>
                </a:r>
                <a:endParaRPr lang="en-US" altLang="en-US"/>
              </a:p>
            </p:txBody>
          </p:sp>
        </p:grpSp>
      </p:grpSp>
      <p:grpSp>
        <p:nvGrpSpPr>
          <p:cNvPr id="79916" name="Group 44"/>
          <p:cNvGrpSpPr>
            <a:grpSpLocks/>
          </p:cNvGrpSpPr>
          <p:nvPr/>
        </p:nvGrpSpPr>
        <p:grpSpPr bwMode="auto">
          <a:xfrm>
            <a:off x="6040439" y="2366963"/>
            <a:ext cx="2033587" cy="2006600"/>
            <a:chOff x="2845" y="1491"/>
            <a:chExt cx="1281" cy="1264"/>
          </a:xfrm>
        </p:grpSpPr>
        <p:sp>
          <p:nvSpPr>
            <p:cNvPr id="79917" name="Line 45"/>
            <p:cNvSpPr>
              <a:spLocks noChangeShapeType="1"/>
            </p:cNvSpPr>
            <p:nvPr/>
          </p:nvSpPr>
          <p:spPr bwMode="auto">
            <a:xfrm flipH="1">
              <a:off x="2845" y="1491"/>
              <a:ext cx="832" cy="1264"/>
            </a:xfrm>
            <a:prstGeom prst="line">
              <a:avLst/>
            </a:prstGeom>
            <a:noFill/>
            <a:ln w="65088">
              <a:solidFill>
                <a:srgbClr val="004C9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9918" name="Rectangle 46"/>
            <p:cNvSpPr>
              <a:spLocks noChangeArrowheads="1"/>
            </p:cNvSpPr>
            <p:nvPr/>
          </p:nvSpPr>
          <p:spPr bwMode="auto">
            <a:xfrm>
              <a:off x="3705" y="1496"/>
              <a:ext cx="42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Supply</a:t>
              </a:r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78528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79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79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98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98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79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9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98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98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9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0" name="Picture 2" descr="narrow aqua button bckg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8851" name="Rectangle 3"/>
          <p:cNvSpPr>
            <a:spLocks noGrp="1" noChangeArrowheads="1"/>
          </p:cNvSpPr>
          <p:nvPr>
            <p:ph type="title"/>
          </p:nvPr>
        </p:nvSpPr>
        <p:spPr>
          <a:xfrm>
            <a:off x="2133600" y="50800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altLang="en-US" sz="2400">
                <a:solidFill>
                  <a:schemeClr val="bg1"/>
                </a:solidFill>
              </a:rPr>
              <a:t>Figure 6 The Price Elasticity of Supply</a:t>
            </a:r>
          </a:p>
        </p:txBody>
      </p:sp>
      <p:sp>
        <p:nvSpPr>
          <p:cNvPr id="78852" name="Text Box 4"/>
          <p:cNvSpPr txBox="1">
            <a:spLocks noChangeArrowheads="1"/>
          </p:cNvSpPr>
          <p:nvPr/>
        </p:nvSpPr>
        <p:spPr bwMode="auto">
          <a:xfrm rot="-21600000">
            <a:off x="8088313" y="6680201"/>
            <a:ext cx="264160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800" b="1">
                <a:solidFill>
                  <a:schemeClr val="bg1"/>
                </a:solidFill>
                <a:latin typeface="Arial" panose="020B0604020202020204" pitchFamily="34" charset="0"/>
              </a:rPr>
              <a:t>Copyright©2003  Southwestern/Thomson Learning</a:t>
            </a:r>
          </a:p>
        </p:txBody>
      </p:sp>
      <p:sp>
        <p:nvSpPr>
          <p:cNvPr id="78853" name="Rectangle 5"/>
          <p:cNvSpPr>
            <a:spLocks noChangeArrowheads="1"/>
          </p:cNvSpPr>
          <p:nvPr/>
        </p:nvSpPr>
        <p:spPr bwMode="auto">
          <a:xfrm>
            <a:off x="3835400" y="1865314"/>
            <a:ext cx="5322888" cy="3336925"/>
          </a:xfrm>
          <a:prstGeom prst="rect">
            <a:avLst/>
          </a:prstGeom>
          <a:solidFill>
            <a:srgbClr val="F3F6F9"/>
          </a:solidFill>
          <a:ln w="238125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8854" name="Rectangle 6"/>
          <p:cNvSpPr>
            <a:spLocks noChangeArrowheads="1"/>
          </p:cNvSpPr>
          <p:nvPr/>
        </p:nvSpPr>
        <p:spPr bwMode="auto">
          <a:xfrm>
            <a:off x="3835400" y="1865314"/>
            <a:ext cx="5322888" cy="3336925"/>
          </a:xfrm>
          <a:prstGeom prst="rect">
            <a:avLst/>
          </a:prstGeom>
          <a:solidFill>
            <a:srgbClr val="F2F4F8"/>
          </a:solidFill>
          <a:ln w="215900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8855" name="Rectangle 7"/>
          <p:cNvSpPr>
            <a:spLocks noChangeArrowheads="1"/>
          </p:cNvSpPr>
          <p:nvPr/>
        </p:nvSpPr>
        <p:spPr bwMode="auto">
          <a:xfrm>
            <a:off x="3835400" y="1865314"/>
            <a:ext cx="5322888" cy="3336925"/>
          </a:xfrm>
          <a:prstGeom prst="rect">
            <a:avLst/>
          </a:prstGeom>
          <a:solidFill>
            <a:srgbClr val="F1F4F7"/>
          </a:solidFill>
          <a:ln w="195263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8856" name="Rectangle 8"/>
          <p:cNvSpPr>
            <a:spLocks noChangeArrowheads="1"/>
          </p:cNvSpPr>
          <p:nvPr/>
        </p:nvSpPr>
        <p:spPr bwMode="auto">
          <a:xfrm>
            <a:off x="3835400" y="1865314"/>
            <a:ext cx="5322888" cy="3336925"/>
          </a:xfrm>
          <a:prstGeom prst="rect">
            <a:avLst/>
          </a:prstGeom>
          <a:solidFill>
            <a:srgbClr val="F0F2F5"/>
          </a:solidFill>
          <a:ln w="173038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8857" name="Rectangle 9"/>
          <p:cNvSpPr>
            <a:spLocks noChangeArrowheads="1"/>
          </p:cNvSpPr>
          <p:nvPr/>
        </p:nvSpPr>
        <p:spPr bwMode="auto">
          <a:xfrm>
            <a:off x="3835400" y="1865314"/>
            <a:ext cx="5322888" cy="3336925"/>
          </a:xfrm>
          <a:prstGeom prst="rect">
            <a:avLst/>
          </a:prstGeom>
          <a:solidFill>
            <a:srgbClr val="EEF1F4"/>
          </a:solidFill>
          <a:ln w="150813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8858" name="Rectangle 10"/>
          <p:cNvSpPr>
            <a:spLocks noChangeArrowheads="1"/>
          </p:cNvSpPr>
          <p:nvPr/>
        </p:nvSpPr>
        <p:spPr bwMode="auto">
          <a:xfrm>
            <a:off x="3835400" y="1865314"/>
            <a:ext cx="5322888" cy="3336925"/>
          </a:xfrm>
          <a:prstGeom prst="rect">
            <a:avLst/>
          </a:prstGeom>
          <a:solidFill>
            <a:srgbClr val="EDEFF3"/>
          </a:solidFill>
          <a:ln w="130175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8859" name="Rectangle 11"/>
          <p:cNvSpPr>
            <a:spLocks noChangeArrowheads="1"/>
          </p:cNvSpPr>
          <p:nvPr/>
        </p:nvSpPr>
        <p:spPr bwMode="auto">
          <a:xfrm>
            <a:off x="3835400" y="1865314"/>
            <a:ext cx="5322888" cy="3336925"/>
          </a:xfrm>
          <a:prstGeom prst="rect">
            <a:avLst/>
          </a:prstGeom>
          <a:solidFill>
            <a:srgbClr val="EBEEF2"/>
          </a:solidFill>
          <a:ln w="107950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8860" name="Rectangle 12"/>
          <p:cNvSpPr>
            <a:spLocks noChangeArrowheads="1"/>
          </p:cNvSpPr>
          <p:nvPr/>
        </p:nvSpPr>
        <p:spPr bwMode="auto">
          <a:xfrm>
            <a:off x="3835400" y="1865314"/>
            <a:ext cx="5322888" cy="3336925"/>
          </a:xfrm>
          <a:prstGeom prst="rect">
            <a:avLst/>
          </a:prstGeom>
          <a:solidFill>
            <a:srgbClr val="EAECF1"/>
          </a:solidFill>
          <a:ln w="87313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8861" name="Rectangle 13"/>
          <p:cNvSpPr>
            <a:spLocks noChangeArrowheads="1"/>
          </p:cNvSpPr>
          <p:nvPr/>
        </p:nvSpPr>
        <p:spPr bwMode="auto">
          <a:xfrm>
            <a:off x="3835400" y="1865314"/>
            <a:ext cx="5322888" cy="3336925"/>
          </a:xfrm>
          <a:prstGeom prst="rect">
            <a:avLst/>
          </a:prstGeom>
          <a:solidFill>
            <a:srgbClr val="E9EBF0"/>
          </a:solidFill>
          <a:ln w="65088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8862" name="Rectangle 14"/>
          <p:cNvSpPr>
            <a:spLocks noChangeArrowheads="1"/>
          </p:cNvSpPr>
          <p:nvPr/>
        </p:nvSpPr>
        <p:spPr bwMode="auto">
          <a:xfrm>
            <a:off x="3835400" y="1865314"/>
            <a:ext cx="5322888" cy="3336925"/>
          </a:xfrm>
          <a:prstGeom prst="rect">
            <a:avLst/>
          </a:prstGeom>
          <a:solidFill>
            <a:srgbClr val="E7EAEF"/>
          </a:solidFill>
          <a:ln w="42863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8863" name="Rectangle 15"/>
          <p:cNvSpPr>
            <a:spLocks noChangeArrowheads="1"/>
          </p:cNvSpPr>
          <p:nvPr/>
        </p:nvSpPr>
        <p:spPr bwMode="auto">
          <a:xfrm>
            <a:off x="3835400" y="1865314"/>
            <a:ext cx="5322888" cy="3336925"/>
          </a:xfrm>
          <a:prstGeom prst="rect">
            <a:avLst/>
          </a:prstGeom>
          <a:solidFill>
            <a:srgbClr val="E6E9EF"/>
          </a:solidFill>
          <a:ln w="22225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8864" name="Line 16"/>
          <p:cNvSpPr>
            <a:spLocks noChangeShapeType="1"/>
          </p:cNvSpPr>
          <p:nvPr/>
        </p:nvSpPr>
        <p:spPr bwMode="auto">
          <a:xfrm flipH="1">
            <a:off x="6972301" y="5299076"/>
            <a:ext cx="346075" cy="31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8865" name="Rectangle 17"/>
          <p:cNvSpPr>
            <a:spLocks noChangeArrowheads="1"/>
          </p:cNvSpPr>
          <p:nvPr/>
        </p:nvSpPr>
        <p:spPr bwMode="auto">
          <a:xfrm>
            <a:off x="3727450" y="1785939"/>
            <a:ext cx="5322888" cy="331628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8866" name="Line 18"/>
          <p:cNvSpPr>
            <a:spLocks noChangeShapeType="1"/>
          </p:cNvSpPr>
          <p:nvPr/>
        </p:nvSpPr>
        <p:spPr bwMode="auto">
          <a:xfrm>
            <a:off x="3554414" y="3006726"/>
            <a:ext cx="1587" cy="25082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8867" name="Freeform 19"/>
          <p:cNvSpPr>
            <a:spLocks/>
          </p:cNvSpPr>
          <p:nvPr/>
        </p:nvSpPr>
        <p:spPr bwMode="auto">
          <a:xfrm>
            <a:off x="3727450" y="1785939"/>
            <a:ext cx="5322888" cy="3316287"/>
          </a:xfrm>
          <a:custGeom>
            <a:avLst/>
            <a:gdLst>
              <a:gd name="T0" fmla="*/ 0 w 3353"/>
              <a:gd name="T1" fmla="*/ 0 h 2089"/>
              <a:gd name="T2" fmla="*/ 0 w 3353"/>
              <a:gd name="T3" fmla="*/ 2089 h 2089"/>
              <a:gd name="T4" fmla="*/ 3353 w 3353"/>
              <a:gd name="T5" fmla="*/ 2089 h 20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353" h="2089">
                <a:moveTo>
                  <a:pt x="0" y="0"/>
                </a:moveTo>
                <a:lnTo>
                  <a:pt x="0" y="2089"/>
                </a:lnTo>
                <a:lnTo>
                  <a:pt x="3353" y="2089"/>
                </a:lnTo>
              </a:path>
            </a:pathLst>
          </a:custGeom>
          <a:noFill/>
          <a:ln w="222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8868" name="Rectangle 20"/>
          <p:cNvSpPr>
            <a:spLocks noChangeArrowheads="1"/>
          </p:cNvSpPr>
          <p:nvPr/>
        </p:nvSpPr>
        <p:spPr bwMode="auto">
          <a:xfrm>
            <a:off x="4081464" y="1374775"/>
            <a:ext cx="435856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(c) Unit Elastic Supply: Elasticity Equals 1</a:t>
            </a:r>
            <a:endParaRPr lang="en-US" altLang="en-US"/>
          </a:p>
        </p:txBody>
      </p:sp>
      <p:grpSp>
        <p:nvGrpSpPr>
          <p:cNvPr id="78869" name="Group 21"/>
          <p:cNvGrpSpPr>
            <a:grpSpLocks/>
          </p:cNvGrpSpPr>
          <p:nvPr/>
        </p:nvGrpSpPr>
        <p:grpSpPr bwMode="auto">
          <a:xfrm>
            <a:off x="3360739" y="2768600"/>
            <a:ext cx="4371975" cy="2706688"/>
            <a:chOff x="1157" y="1744"/>
            <a:chExt cx="2754" cy="1705"/>
          </a:xfrm>
        </p:grpSpPr>
        <p:sp>
          <p:nvSpPr>
            <p:cNvPr id="78870" name="Freeform 22"/>
            <p:cNvSpPr>
              <a:spLocks/>
            </p:cNvSpPr>
            <p:nvPr/>
          </p:nvSpPr>
          <p:spPr bwMode="auto">
            <a:xfrm>
              <a:off x="1388" y="1800"/>
              <a:ext cx="2371" cy="1414"/>
            </a:xfrm>
            <a:custGeom>
              <a:avLst/>
              <a:gdLst>
                <a:gd name="T0" fmla="*/ 2371 w 2371"/>
                <a:gd name="T1" fmla="*/ 1414 h 1414"/>
                <a:gd name="T2" fmla="*/ 2371 w 2371"/>
                <a:gd name="T3" fmla="*/ 0 h 1414"/>
                <a:gd name="T4" fmla="*/ 0 w 2371"/>
                <a:gd name="T5" fmla="*/ 0 h 1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71" h="1414">
                  <a:moveTo>
                    <a:pt x="2371" y="1414"/>
                  </a:moveTo>
                  <a:lnTo>
                    <a:pt x="2371" y="0"/>
                  </a:lnTo>
                  <a:lnTo>
                    <a:pt x="0" y="0"/>
                  </a:lnTo>
                </a:path>
              </a:pathLst>
            </a:custGeom>
            <a:noFill/>
            <a:ln w="22225" cap="flat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8871" name="Rectangle 23"/>
            <p:cNvSpPr>
              <a:spLocks noChangeArrowheads="1"/>
            </p:cNvSpPr>
            <p:nvPr/>
          </p:nvSpPr>
          <p:spPr bwMode="auto">
            <a:xfrm>
              <a:off x="3681" y="3284"/>
              <a:ext cx="23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125</a:t>
              </a:r>
              <a:endParaRPr lang="en-US" altLang="en-US"/>
            </a:p>
          </p:txBody>
        </p:sp>
        <p:sp>
          <p:nvSpPr>
            <p:cNvPr id="78872" name="Rectangle 24"/>
            <p:cNvSpPr>
              <a:spLocks noChangeArrowheads="1"/>
            </p:cNvSpPr>
            <p:nvPr/>
          </p:nvSpPr>
          <p:spPr bwMode="auto">
            <a:xfrm>
              <a:off x="1157" y="1744"/>
              <a:ext cx="153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€</a:t>
              </a:r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</p:grpSp>
      <p:grpSp>
        <p:nvGrpSpPr>
          <p:cNvPr id="78873" name="Group 25"/>
          <p:cNvGrpSpPr>
            <a:grpSpLocks/>
          </p:cNvGrpSpPr>
          <p:nvPr/>
        </p:nvGrpSpPr>
        <p:grpSpPr bwMode="auto">
          <a:xfrm>
            <a:off x="3490913" y="3238500"/>
            <a:ext cx="3376612" cy="2236788"/>
            <a:chOff x="1239" y="2040"/>
            <a:chExt cx="2127" cy="1409"/>
          </a:xfrm>
        </p:grpSpPr>
        <p:sp>
          <p:nvSpPr>
            <p:cNvPr id="78874" name="Freeform 26"/>
            <p:cNvSpPr>
              <a:spLocks/>
            </p:cNvSpPr>
            <p:nvPr/>
          </p:nvSpPr>
          <p:spPr bwMode="auto">
            <a:xfrm>
              <a:off x="1388" y="2076"/>
              <a:ext cx="1908" cy="1138"/>
            </a:xfrm>
            <a:custGeom>
              <a:avLst/>
              <a:gdLst>
                <a:gd name="T0" fmla="*/ 1908 w 1908"/>
                <a:gd name="T1" fmla="*/ 1138 h 1138"/>
                <a:gd name="T2" fmla="*/ 1908 w 1908"/>
                <a:gd name="T3" fmla="*/ 0 h 1138"/>
                <a:gd name="T4" fmla="*/ 0 w 1908"/>
                <a:gd name="T5" fmla="*/ 0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08" h="1138">
                  <a:moveTo>
                    <a:pt x="1908" y="1138"/>
                  </a:moveTo>
                  <a:lnTo>
                    <a:pt x="1908" y="0"/>
                  </a:lnTo>
                  <a:lnTo>
                    <a:pt x="0" y="0"/>
                  </a:lnTo>
                </a:path>
              </a:pathLst>
            </a:custGeom>
            <a:noFill/>
            <a:ln w="22225" cap="flat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8875" name="Rectangle 27"/>
            <p:cNvSpPr>
              <a:spLocks noChangeArrowheads="1"/>
            </p:cNvSpPr>
            <p:nvPr/>
          </p:nvSpPr>
          <p:spPr bwMode="auto">
            <a:xfrm>
              <a:off x="3136" y="3284"/>
              <a:ext cx="23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100</a:t>
              </a:r>
              <a:endParaRPr lang="en-US" altLang="en-US"/>
            </a:p>
          </p:txBody>
        </p:sp>
        <p:sp>
          <p:nvSpPr>
            <p:cNvPr id="78876" name="Rectangle 28"/>
            <p:cNvSpPr>
              <a:spLocks noChangeArrowheads="1"/>
            </p:cNvSpPr>
            <p:nvPr/>
          </p:nvSpPr>
          <p:spPr bwMode="auto">
            <a:xfrm>
              <a:off x="1239" y="2040"/>
              <a:ext cx="7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en-US" altLang="en-US"/>
            </a:p>
          </p:txBody>
        </p:sp>
      </p:grpSp>
      <p:sp>
        <p:nvSpPr>
          <p:cNvPr id="78877" name="Rectangle 29"/>
          <p:cNvSpPr>
            <a:spLocks noChangeArrowheads="1"/>
          </p:cNvSpPr>
          <p:nvPr/>
        </p:nvSpPr>
        <p:spPr bwMode="auto">
          <a:xfrm>
            <a:off x="8110538" y="5207000"/>
            <a:ext cx="88485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Quantity</a:t>
            </a:r>
            <a:endParaRPr lang="en-US" altLang="en-US"/>
          </a:p>
        </p:txBody>
      </p:sp>
      <p:sp>
        <p:nvSpPr>
          <p:cNvPr id="78878" name="Rectangle 30"/>
          <p:cNvSpPr>
            <a:spLocks noChangeArrowheads="1"/>
          </p:cNvSpPr>
          <p:nvPr/>
        </p:nvSpPr>
        <p:spPr bwMode="auto">
          <a:xfrm>
            <a:off x="3505200" y="5213350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en-US" altLang="en-US"/>
          </a:p>
        </p:txBody>
      </p:sp>
      <p:sp>
        <p:nvSpPr>
          <p:cNvPr id="78879" name="Rectangle 31"/>
          <p:cNvSpPr>
            <a:spLocks noChangeArrowheads="1"/>
          </p:cNvSpPr>
          <p:nvPr/>
        </p:nvSpPr>
        <p:spPr bwMode="auto">
          <a:xfrm>
            <a:off x="3059114" y="1758950"/>
            <a:ext cx="53540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Price</a:t>
            </a:r>
            <a:endParaRPr lang="en-US" altLang="en-US"/>
          </a:p>
        </p:txBody>
      </p:sp>
      <p:grpSp>
        <p:nvGrpSpPr>
          <p:cNvPr id="78880" name="Group 32"/>
          <p:cNvGrpSpPr>
            <a:grpSpLocks/>
          </p:cNvGrpSpPr>
          <p:nvPr/>
        </p:nvGrpSpPr>
        <p:grpSpPr bwMode="auto">
          <a:xfrm>
            <a:off x="3554414" y="5360989"/>
            <a:ext cx="5151437" cy="555625"/>
            <a:chOff x="1279" y="3377"/>
            <a:chExt cx="3245" cy="350"/>
          </a:xfrm>
        </p:grpSpPr>
        <p:sp>
          <p:nvSpPr>
            <p:cNvPr id="78881" name="Line 33"/>
            <p:cNvSpPr>
              <a:spLocks noChangeShapeType="1"/>
            </p:cNvSpPr>
            <p:nvPr/>
          </p:nvSpPr>
          <p:spPr bwMode="auto">
            <a:xfrm flipH="1">
              <a:off x="2942" y="3377"/>
              <a:ext cx="163" cy="187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78882" name="Group 34"/>
            <p:cNvGrpSpPr>
              <a:grpSpLocks/>
            </p:cNvGrpSpPr>
            <p:nvPr/>
          </p:nvGrpSpPr>
          <p:grpSpPr bwMode="auto">
            <a:xfrm>
              <a:off x="1279" y="3527"/>
              <a:ext cx="3245" cy="200"/>
              <a:chOff x="1279" y="3527"/>
              <a:chExt cx="3245" cy="200"/>
            </a:xfrm>
          </p:grpSpPr>
          <p:sp>
            <p:nvSpPr>
              <p:cNvPr id="78883" name="Rectangle 35"/>
              <p:cNvSpPr>
                <a:spLocks noChangeArrowheads="1"/>
              </p:cNvSpPr>
              <p:nvPr/>
            </p:nvSpPr>
            <p:spPr bwMode="auto">
              <a:xfrm>
                <a:off x="1279" y="3527"/>
                <a:ext cx="3245" cy="200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8884" name="Rectangle 36"/>
              <p:cNvSpPr>
                <a:spLocks noChangeArrowheads="1"/>
              </p:cNvSpPr>
              <p:nvPr/>
            </p:nvSpPr>
            <p:spPr bwMode="auto">
              <a:xfrm>
                <a:off x="1343" y="3548"/>
                <a:ext cx="3148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2.  . . . leads to a 22% increase in quantity supplied.</a:t>
                </a:r>
                <a:endParaRPr lang="en-US" altLang="en-US"/>
              </a:p>
            </p:txBody>
          </p:sp>
        </p:grpSp>
      </p:grpSp>
      <p:grpSp>
        <p:nvGrpSpPr>
          <p:cNvPr id="78885" name="Group 37"/>
          <p:cNvGrpSpPr>
            <a:grpSpLocks/>
          </p:cNvGrpSpPr>
          <p:nvPr/>
        </p:nvGrpSpPr>
        <p:grpSpPr bwMode="auto">
          <a:xfrm>
            <a:off x="2278063" y="3136900"/>
            <a:ext cx="1276350" cy="1250950"/>
            <a:chOff x="475" y="1976"/>
            <a:chExt cx="804" cy="788"/>
          </a:xfrm>
        </p:grpSpPr>
        <p:sp>
          <p:nvSpPr>
            <p:cNvPr id="78886" name="Line 38"/>
            <p:cNvSpPr>
              <a:spLocks noChangeShapeType="1"/>
            </p:cNvSpPr>
            <p:nvPr/>
          </p:nvSpPr>
          <p:spPr bwMode="auto">
            <a:xfrm flipV="1">
              <a:off x="911" y="1976"/>
              <a:ext cx="327" cy="30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78887" name="Group 39"/>
            <p:cNvGrpSpPr>
              <a:grpSpLocks/>
            </p:cNvGrpSpPr>
            <p:nvPr/>
          </p:nvGrpSpPr>
          <p:grpSpPr bwMode="auto">
            <a:xfrm>
              <a:off x="475" y="2226"/>
              <a:ext cx="804" cy="538"/>
              <a:chOff x="475" y="2226"/>
              <a:chExt cx="804" cy="538"/>
            </a:xfrm>
          </p:grpSpPr>
          <p:sp>
            <p:nvSpPr>
              <p:cNvPr id="78888" name="Rectangle 40"/>
              <p:cNvSpPr>
                <a:spLocks noChangeArrowheads="1"/>
              </p:cNvSpPr>
              <p:nvPr/>
            </p:nvSpPr>
            <p:spPr bwMode="auto">
              <a:xfrm>
                <a:off x="475" y="2226"/>
                <a:ext cx="804" cy="538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8889" name="Rectangle 41"/>
              <p:cNvSpPr>
                <a:spLocks noChangeArrowheads="1"/>
              </p:cNvSpPr>
              <p:nvPr/>
            </p:nvSpPr>
            <p:spPr bwMode="auto">
              <a:xfrm>
                <a:off x="526" y="2253"/>
                <a:ext cx="544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1. A 22%</a:t>
                </a:r>
                <a:endParaRPr lang="en-US" altLang="en-US"/>
              </a:p>
            </p:txBody>
          </p:sp>
          <p:sp>
            <p:nvSpPr>
              <p:cNvPr id="78890" name="Rectangle 42"/>
              <p:cNvSpPr>
                <a:spLocks noChangeArrowheads="1"/>
              </p:cNvSpPr>
              <p:nvPr/>
            </p:nvSpPr>
            <p:spPr bwMode="auto">
              <a:xfrm>
                <a:off x="526" y="2420"/>
                <a:ext cx="520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increase</a:t>
                </a:r>
                <a:endParaRPr lang="en-US" altLang="en-US"/>
              </a:p>
            </p:txBody>
          </p:sp>
          <p:sp>
            <p:nvSpPr>
              <p:cNvPr id="78891" name="Rectangle 43"/>
              <p:cNvSpPr>
                <a:spLocks noChangeArrowheads="1"/>
              </p:cNvSpPr>
              <p:nvPr/>
            </p:nvSpPr>
            <p:spPr bwMode="auto">
              <a:xfrm>
                <a:off x="526" y="2586"/>
                <a:ext cx="674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in price . . .</a:t>
                </a:r>
                <a:endParaRPr lang="en-US" altLang="en-US"/>
              </a:p>
            </p:txBody>
          </p:sp>
        </p:grpSp>
      </p:grpSp>
      <p:grpSp>
        <p:nvGrpSpPr>
          <p:cNvPr id="78892" name="Group 44"/>
          <p:cNvGrpSpPr>
            <a:grpSpLocks/>
          </p:cNvGrpSpPr>
          <p:nvPr/>
        </p:nvGrpSpPr>
        <p:grpSpPr bwMode="auto">
          <a:xfrm>
            <a:off x="3727451" y="2438401"/>
            <a:ext cx="5014913" cy="2663825"/>
            <a:chOff x="1388" y="1536"/>
            <a:chExt cx="3159" cy="1678"/>
          </a:xfrm>
        </p:grpSpPr>
        <p:sp>
          <p:nvSpPr>
            <p:cNvPr id="78893" name="Line 45"/>
            <p:cNvSpPr>
              <a:spLocks noChangeShapeType="1"/>
            </p:cNvSpPr>
            <p:nvPr/>
          </p:nvSpPr>
          <p:spPr bwMode="auto">
            <a:xfrm flipH="1">
              <a:off x="1388" y="1600"/>
              <a:ext cx="2699" cy="1614"/>
            </a:xfrm>
            <a:prstGeom prst="line">
              <a:avLst/>
            </a:prstGeom>
            <a:noFill/>
            <a:ln w="65088">
              <a:solidFill>
                <a:srgbClr val="004C9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8894" name="Rectangle 46"/>
            <p:cNvSpPr>
              <a:spLocks noChangeArrowheads="1"/>
            </p:cNvSpPr>
            <p:nvPr/>
          </p:nvSpPr>
          <p:spPr bwMode="auto">
            <a:xfrm>
              <a:off x="4126" y="1536"/>
              <a:ext cx="42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Supply</a:t>
              </a:r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85175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78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78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88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88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78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8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8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8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Picture 2" descr="narrow aqua button bckg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7827" name="Rectangle 3"/>
          <p:cNvSpPr>
            <a:spLocks noGrp="1" noChangeArrowheads="1"/>
          </p:cNvSpPr>
          <p:nvPr>
            <p:ph type="title"/>
          </p:nvPr>
        </p:nvSpPr>
        <p:spPr>
          <a:xfrm>
            <a:off x="2133600" y="50800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altLang="en-US" sz="2400">
                <a:solidFill>
                  <a:schemeClr val="bg1"/>
                </a:solidFill>
              </a:rPr>
              <a:t>Figure 6 The Price Elasticity of Supply</a:t>
            </a:r>
          </a:p>
        </p:txBody>
      </p:sp>
      <p:sp>
        <p:nvSpPr>
          <p:cNvPr id="77828" name="Text Box 4"/>
          <p:cNvSpPr txBox="1">
            <a:spLocks noChangeArrowheads="1"/>
          </p:cNvSpPr>
          <p:nvPr/>
        </p:nvSpPr>
        <p:spPr bwMode="auto">
          <a:xfrm rot="-21600000">
            <a:off x="8088313" y="6680201"/>
            <a:ext cx="264160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800" b="1">
                <a:solidFill>
                  <a:schemeClr val="bg1"/>
                </a:solidFill>
                <a:latin typeface="Arial" panose="020B0604020202020204" pitchFamily="34" charset="0"/>
              </a:rPr>
              <a:t>Copyright©2003  Southwestern/Thomson Learning</a:t>
            </a:r>
          </a:p>
        </p:txBody>
      </p:sp>
      <p:sp>
        <p:nvSpPr>
          <p:cNvPr id="77829" name="Rectangle 5"/>
          <p:cNvSpPr>
            <a:spLocks noChangeArrowheads="1"/>
          </p:cNvSpPr>
          <p:nvPr/>
        </p:nvSpPr>
        <p:spPr bwMode="auto">
          <a:xfrm>
            <a:off x="3967164" y="2047876"/>
            <a:ext cx="5322887" cy="3336925"/>
          </a:xfrm>
          <a:prstGeom prst="rect">
            <a:avLst/>
          </a:prstGeom>
          <a:solidFill>
            <a:srgbClr val="F3F6F9"/>
          </a:solidFill>
          <a:ln w="238125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7830" name="Rectangle 6"/>
          <p:cNvSpPr>
            <a:spLocks noChangeArrowheads="1"/>
          </p:cNvSpPr>
          <p:nvPr/>
        </p:nvSpPr>
        <p:spPr bwMode="auto">
          <a:xfrm>
            <a:off x="3967164" y="2047876"/>
            <a:ext cx="5322887" cy="3336925"/>
          </a:xfrm>
          <a:prstGeom prst="rect">
            <a:avLst/>
          </a:prstGeom>
          <a:solidFill>
            <a:srgbClr val="F2F4F8"/>
          </a:solidFill>
          <a:ln w="215900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7831" name="Rectangle 7"/>
          <p:cNvSpPr>
            <a:spLocks noChangeArrowheads="1"/>
          </p:cNvSpPr>
          <p:nvPr/>
        </p:nvSpPr>
        <p:spPr bwMode="auto">
          <a:xfrm>
            <a:off x="3967164" y="2047876"/>
            <a:ext cx="5322887" cy="3336925"/>
          </a:xfrm>
          <a:prstGeom prst="rect">
            <a:avLst/>
          </a:prstGeom>
          <a:solidFill>
            <a:srgbClr val="F1F4F7"/>
          </a:solidFill>
          <a:ln w="195263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7832" name="Rectangle 8"/>
          <p:cNvSpPr>
            <a:spLocks noChangeArrowheads="1"/>
          </p:cNvSpPr>
          <p:nvPr/>
        </p:nvSpPr>
        <p:spPr bwMode="auto">
          <a:xfrm>
            <a:off x="3967164" y="2047876"/>
            <a:ext cx="5322887" cy="3336925"/>
          </a:xfrm>
          <a:prstGeom prst="rect">
            <a:avLst/>
          </a:prstGeom>
          <a:solidFill>
            <a:srgbClr val="F0F2F5"/>
          </a:solidFill>
          <a:ln w="173038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7833" name="Rectangle 9"/>
          <p:cNvSpPr>
            <a:spLocks noChangeArrowheads="1"/>
          </p:cNvSpPr>
          <p:nvPr/>
        </p:nvSpPr>
        <p:spPr bwMode="auto">
          <a:xfrm>
            <a:off x="3967164" y="2047876"/>
            <a:ext cx="5322887" cy="3336925"/>
          </a:xfrm>
          <a:prstGeom prst="rect">
            <a:avLst/>
          </a:prstGeom>
          <a:solidFill>
            <a:srgbClr val="EEF1F4"/>
          </a:solidFill>
          <a:ln w="150813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7834" name="Rectangle 10"/>
          <p:cNvSpPr>
            <a:spLocks noChangeArrowheads="1"/>
          </p:cNvSpPr>
          <p:nvPr/>
        </p:nvSpPr>
        <p:spPr bwMode="auto">
          <a:xfrm>
            <a:off x="3967164" y="2047876"/>
            <a:ext cx="5322887" cy="3336925"/>
          </a:xfrm>
          <a:prstGeom prst="rect">
            <a:avLst/>
          </a:prstGeom>
          <a:solidFill>
            <a:srgbClr val="EDEFF3"/>
          </a:solidFill>
          <a:ln w="130175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7835" name="Rectangle 11"/>
          <p:cNvSpPr>
            <a:spLocks noChangeArrowheads="1"/>
          </p:cNvSpPr>
          <p:nvPr/>
        </p:nvSpPr>
        <p:spPr bwMode="auto">
          <a:xfrm>
            <a:off x="3967164" y="2047876"/>
            <a:ext cx="5322887" cy="3336925"/>
          </a:xfrm>
          <a:prstGeom prst="rect">
            <a:avLst/>
          </a:prstGeom>
          <a:solidFill>
            <a:srgbClr val="EBEEF2"/>
          </a:solidFill>
          <a:ln w="107950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7836" name="Rectangle 12"/>
          <p:cNvSpPr>
            <a:spLocks noChangeArrowheads="1"/>
          </p:cNvSpPr>
          <p:nvPr/>
        </p:nvSpPr>
        <p:spPr bwMode="auto">
          <a:xfrm>
            <a:off x="3967164" y="2047876"/>
            <a:ext cx="5322887" cy="3336925"/>
          </a:xfrm>
          <a:prstGeom prst="rect">
            <a:avLst/>
          </a:prstGeom>
          <a:solidFill>
            <a:srgbClr val="EAECF1"/>
          </a:solidFill>
          <a:ln w="87313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7837" name="Rectangle 13"/>
          <p:cNvSpPr>
            <a:spLocks noChangeArrowheads="1"/>
          </p:cNvSpPr>
          <p:nvPr/>
        </p:nvSpPr>
        <p:spPr bwMode="auto">
          <a:xfrm>
            <a:off x="3967164" y="2047876"/>
            <a:ext cx="5322887" cy="3336925"/>
          </a:xfrm>
          <a:prstGeom prst="rect">
            <a:avLst/>
          </a:prstGeom>
          <a:solidFill>
            <a:srgbClr val="E9EBF0"/>
          </a:solidFill>
          <a:ln w="65088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7838" name="Rectangle 14"/>
          <p:cNvSpPr>
            <a:spLocks noChangeArrowheads="1"/>
          </p:cNvSpPr>
          <p:nvPr/>
        </p:nvSpPr>
        <p:spPr bwMode="auto">
          <a:xfrm>
            <a:off x="3967164" y="2047876"/>
            <a:ext cx="5322887" cy="3336925"/>
          </a:xfrm>
          <a:prstGeom prst="rect">
            <a:avLst/>
          </a:prstGeom>
          <a:solidFill>
            <a:srgbClr val="E7EAEF"/>
          </a:solidFill>
          <a:ln w="42863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7839" name="Rectangle 15"/>
          <p:cNvSpPr>
            <a:spLocks noChangeArrowheads="1"/>
          </p:cNvSpPr>
          <p:nvPr/>
        </p:nvSpPr>
        <p:spPr bwMode="auto">
          <a:xfrm>
            <a:off x="3967164" y="2047876"/>
            <a:ext cx="5322887" cy="3336925"/>
          </a:xfrm>
          <a:prstGeom prst="rect">
            <a:avLst/>
          </a:prstGeom>
          <a:solidFill>
            <a:srgbClr val="E6E9EF"/>
          </a:solidFill>
          <a:ln w="22225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7840" name="Rectangle 16"/>
          <p:cNvSpPr>
            <a:spLocks noChangeArrowheads="1"/>
          </p:cNvSpPr>
          <p:nvPr/>
        </p:nvSpPr>
        <p:spPr bwMode="auto">
          <a:xfrm>
            <a:off x="3859214" y="1949450"/>
            <a:ext cx="5322887" cy="3335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41" name="Freeform 17"/>
          <p:cNvSpPr>
            <a:spLocks/>
          </p:cNvSpPr>
          <p:nvPr/>
        </p:nvSpPr>
        <p:spPr bwMode="auto">
          <a:xfrm>
            <a:off x="3859214" y="1949450"/>
            <a:ext cx="5322887" cy="3335338"/>
          </a:xfrm>
          <a:custGeom>
            <a:avLst/>
            <a:gdLst>
              <a:gd name="T0" fmla="*/ 0 w 3353"/>
              <a:gd name="T1" fmla="*/ 0 h 2101"/>
              <a:gd name="T2" fmla="*/ 0 w 3353"/>
              <a:gd name="T3" fmla="*/ 2101 h 2101"/>
              <a:gd name="T4" fmla="*/ 3353 w 3353"/>
              <a:gd name="T5" fmla="*/ 2101 h 2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353" h="2101">
                <a:moveTo>
                  <a:pt x="0" y="0"/>
                </a:moveTo>
                <a:lnTo>
                  <a:pt x="0" y="2101"/>
                </a:lnTo>
                <a:lnTo>
                  <a:pt x="3353" y="2101"/>
                </a:lnTo>
              </a:path>
            </a:pathLst>
          </a:custGeom>
          <a:noFill/>
          <a:ln w="222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42" name="Line 18"/>
          <p:cNvSpPr>
            <a:spLocks noChangeShapeType="1"/>
          </p:cNvSpPr>
          <p:nvPr/>
        </p:nvSpPr>
        <p:spPr bwMode="auto">
          <a:xfrm>
            <a:off x="3706814" y="3189288"/>
            <a:ext cx="3175" cy="22225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43" name="Line 19"/>
          <p:cNvSpPr>
            <a:spLocks noChangeShapeType="1"/>
          </p:cNvSpPr>
          <p:nvPr/>
        </p:nvSpPr>
        <p:spPr bwMode="auto">
          <a:xfrm flipH="1">
            <a:off x="5654675" y="5445125"/>
            <a:ext cx="908050" cy="15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 type="stealth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7844" name="Rectangle 20"/>
          <p:cNvSpPr>
            <a:spLocks noChangeArrowheads="1"/>
          </p:cNvSpPr>
          <p:nvPr/>
        </p:nvSpPr>
        <p:spPr bwMode="auto">
          <a:xfrm>
            <a:off x="3998913" y="1547813"/>
            <a:ext cx="477214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(d) Elastic Supply: Elasticity Is Greater Than 1</a:t>
            </a:r>
            <a:endParaRPr lang="en-US" altLang="en-US"/>
          </a:p>
        </p:txBody>
      </p:sp>
      <p:sp>
        <p:nvSpPr>
          <p:cNvPr id="77845" name="Rectangle 21"/>
          <p:cNvSpPr>
            <a:spLocks noChangeArrowheads="1"/>
          </p:cNvSpPr>
          <p:nvPr/>
        </p:nvSpPr>
        <p:spPr bwMode="auto">
          <a:xfrm>
            <a:off x="8251825" y="5297488"/>
            <a:ext cx="88485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Quantity</a:t>
            </a:r>
            <a:endParaRPr lang="en-US" altLang="en-US"/>
          </a:p>
        </p:txBody>
      </p:sp>
      <p:sp>
        <p:nvSpPr>
          <p:cNvPr id="77846" name="Rectangle 22"/>
          <p:cNvSpPr>
            <a:spLocks noChangeArrowheads="1"/>
          </p:cNvSpPr>
          <p:nvPr/>
        </p:nvSpPr>
        <p:spPr bwMode="auto">
          <a:xfrm>
            <a:off x="3638550" y="5386388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en-US" altLang="en-US"/>
          </a:p>
        </p:txBody>
      </p:sp>
      <p:sp>
        <p:nvSpPr>
          <p:cNvPr id="77847" name="Rectangle 23"/>
          <p:cNvSpPr>
            <a:spLocks noChangeArrowheads="1"/>
          </p:cNvSpPr>
          <p:nvPr/>
        </p:nvSpPr>
        <p:spPr bwMode="auto">
          <a:xfrm>
            <a:off x="3192464" y="1924050"/>
            <a:ext cx="53540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Price</a:t>
            </a:r>
            <a:endParaRPr lang="en-US" altLang="en-US"/>
          </a:p>
        </p:txBody>
      </p:sp>
      <p:grpSp>
        <p:nvGrpSpPr>
          <p:cNvPr id="77848" name="Group 24"/>
          <p:cNvGrpSpPr>
            <a:grpSpLocks/>
          </p:cNvGrpSpPr>
          <p:nvPr/>
        </p:nvGrpSpPr>
        <p:grpSpPr bwMode="auto">
          <a:xfrm>
            <a:off x="2408238" y="3298825"/>
            <a:ext cx="1255712" cy="1271588"/>
            <a:chOff x="557" y="2078"/>
            <a:chExt cx="791" cy="801"/>
          </a:xfrm>
        </p:grpSpPr>
        <p:sp>
          <p:nvSpPr>
            <p:cNvPr id="77849" name="Line 25"/>
            <p:cNvSpPr>
              <a:spLocks noChangeShapeType="1"/>
            </p:cNvSpPr>
            <p:nvPr/>
          </p:nvSpPr>
          <p:spPr bwMode="auto">
            <a:xfrm flipV="1">
              <a:off x="993" y="2078"/>
              <a:ext cx="328" cy="31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77850" name="Group 26"/>
            <p:cNvGrpSpPr>
              <a:grpSpLocks/>
            </p:cNvGrpSpPr>
            <p:nvPr/>
          </p:nvGrpSpPr>
          <p:grpSpPr bwMode="auto">
            <a:xfrm>
              <a:off x="557" y="2341"/>
              <a:ext cx="791" cy="538"/>
              <a:chOff x="557" y="2341"/>
              <a:chExt cx="791" cy="538"/>
            </a:xfrm>
          </p:grpSpPr>
          <p:sp>
            <p:nvSpPr>
              <p:cNvPr id="77851" name="Rectangle 27"/>
              <p:cNvSpPr>
                <a:spLocks noChangeArrowheads="1"/>
              </p:cNvSpPr>
              <p:nvPr/>
            </p:nvSpPr>
            <p:spPr bwMode="auto">
              <a:xfrm>
                <a:off x="557" y="2341"/>
                <a:ext cx="791" cy="538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7852" name="Rectangle 28"/>
              <p:cNvSpPr>
                <a:spLocks noChangeArrowheads="1"/>
              </p:cNvSpPr>
              <p:nvPr/>
            </p:nvSpPr>
            <p:spPr bwMode="auto">
              <a:xfrm>
                <a:off x="606" y="2366"/>
                <a:ext cx="544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1. A 22%</a:t>
                </a:r>
                <a:endParaRPr lang="en-US" altLang="en-US"/>
              </a:p>
            </p:txBody>
          </p:sp>
          <p:sp>
            <p:nvSpPr>
              <p:cNvPr id="77853" name="Rectangle 29"/>
              <p:cNvSpPr>
                <a:spLocks noChangeArrowheads="1"/>
              </p:cNvSpPr>
              <p:nvPr/>
            </p:nvSpPr>
            <p:spPr bwMode="auto">
              <a:xfrm>
                <a:off x="606" y="2533"/>
                <a:ext cx="520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increase</a:t>
                </a:r>
                <a:endParaRPr lang="en-US" altLang="en-US"/>
              </a:p>
            </p:txBody>
          </p:sp>
          <p:sp>
            <p:nvSpPr>
              <p:cNvPr id="77854" name="Rectangle 30"/>
              <p:cNvSpPr>
                <a:spLocks noChangeArrowheads="1"/>
              </p:cNvSpPr>
              <p:nvPr/>
            </p:nvSpPr>
            <p:spPr bwMode="auto">
              <a:xfrm>
                <a:off x="606" y="2699"/>
                <a:ext cx="674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in price . . .</a:t>
                </a:r>
                <a:endParaRPr lang="en-US" altLang="en-US"/>
              </a:p>
            </p:txBody>
          </p:sp>
        </p:grpSp>
      </p:grpSp>
      <p:grpSp>
        <p:nvGrpSpPr>
          <p:cNvPr id="77855" name="Group 31"/>
          <p:cNvGrpSpPr>
            <a:grpSpLocks/>
          </p:cNvGrpSpPr>
          <p:nvPr/>
        </p:nvGrpSpPr>
        <p:grpSpPr bwMode="auto">
          <a:xfrm>
            <a:off x="3814764" y="5524501"/>
            <a:ext cx="5018087" cy="574675"/>
            <a:chOff x="1443" y="3480"/>
            <a:chExt cx="3161" cy="362"/>
          </a:xfrm>
        </p:grpSpPr>
        <p:sp>
          <p:nvSpPr>
            <p:cNvPr id="77856" name="Line 32"/>
            <p:cNvSpPr>
              <a:spLocks noChangeShapeType="1"/>
            </p:cNvSpPr>
            <p:nvPr/>
          </p:nvSpPr>
          <p:spPr bwMode="auto">
            <a:xfrm>
              <a:off x="2929" y="3480"/>
              <a:ext cx="150" cy="175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77857" name="Group 33"/>
            <p:cNvGrpSpPr>
              <a:grpSpLocks/>
            </p:cNvGrpSpPr>
            <p:nvPr/>
          </p:nvGrpSpPr>
          <p:grpSpPr bwMode="auto">
            <a:xfrm>
              <a:off x="1443" y="3642"/>
              <a:ext cx="3161" cy="200"/>
              <a:chOff x="1443" y="3642"/>
              <a:chExt cx="3161" cy="200"/>
            </a:xfrm>
          </p:grpSpPr>
          <p:sp>
            <p:nvSpPr>
              <p:cNvPr id="77858" name="Rectangle 34"/>
              <p:cNvSpPr>
                <a:spLocks noChangeArrowheads="1"/>
              </p:cNvSpPr>
              <p:nvPr/>
            </p:nvSpPr>
            <p:spPr bwMode="auto">
              <a:xfrm>
                <a:off x="1443" y="3642"/>
                <a:ext cx="3161" cy="200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7859" name="Rectangle 35"/>
              <p:cNvSpPr>
                <a:spLocks noChangeArrowheads="1"/>
              </p:cNvSpPr>
              <p:nvPr/>
            </p:nvSpPr>
            <p:spPr bwMode="auto">
              <a:xfrm>
                <a:off x="1473" y="3661"/>
                <a:ext cx="3110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2. . . . leads to a 67% increase in quantity supplied.</a:t>
                </a:r>
                <a:endParaRPr lang="en-US" altLang="en-US"/>
              </a:p>
            </p:txBody>
          </p:sp>
        </p:grpSp>
      </p:grpSp>
      <p:grpSp>
        <p:nvGrpSpPr>
          <p:cNvPr id="77860" name="Group 36"/>
          <p:cNvGrpSpPr>
            <a:grpSpLocks/>
          </p:cNvGrpSpPr>
          <p:nvPr/>
        </p:nvGrpSpPr>
        <p:grpSpPr bwMode="auto">
          <a:xfrm>
            <a:off x="3632201" y="3384551"/>
            <a:ext cx="1914525" cy="2181225"/>
            <a:chOff x="1328" y="2132"/>
            <a:chExt cx="1206" cy="1374"/>
          </a:xfrm>
        </p:grpSpPr>
        <p:sp>
          <p:nvSpPr>
            <p:cNvPr id="77861" name="Freeform 37"/>
            <p:cNvSpPr>
              <a:spLocks/>
            </p:cNvSpPr>
            <p:nvPr/>
          </p:nvSpPr>
          <p:spPr bwMode="auto">
            <a:xfrm>
              <a:off x="1471" y="2191"/>
              <a:ext cx="954" cy="1138"/>
            </a:xfrm>
            <a:custGeom>
              <a:avLst/>
              <a:gdLst>
                <a:gd name="T0" fmla="*/ 954 w 954"/>
                <a:gd name="T1" fmla="*/ 1138 h 1138"/>
                <a:gd name="T2" fmla="*/ 954 w 954"/>
                <a:gd name="T3" fmla="*/ 0 h 1138"/>
                <a:gd name="T4" fmla="*/ 0 w 954"/>
                <a:gd name="T5" fmla="*/ 0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54" h="1138">
                  <a:moveTo>
                    <a:pt x="954" y="1138"/>
                  </a:moveTo>
                  <a:lnTo>
                    <a:pt x="954" y="0"/>
                  </a:lnTo>
                  <a:lnTo>
                    <a:pt x="0" y="0"/>
                  </a:lnTo>
                </a:path>
              </a:pathLst>
            </a:custGeom>
            <a:noFill/>
            <a:ln w="22225" cap="flat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7862" name="Rectangle 38"/>
            <p:cNvSpPr>
              <a:spLocks noChangeArrowheads="1"/>
            </p:cNvSpPr>
            <p:nvPr/>
          </p:nvSpPr>
          <p:spPr bwMode="auto">
            <a:xfrm>
              <a:off x="1328" y="2132"/>
              <a:ext cx="7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endParaRPr lang="en-US" altLang="en-US"/>
            </a:p>
          </p:txBody>
        </p:sp>
        <p:sp>
          <p:nvSpPr>
            <p:cNvPr id="77863" name="Rectangle 39"/>
            <p:cNvSpPr>
              <a:spLocks noChangeArrowheads="1"/>
            </p:cNvSpPr>
            <p:nvPr/>
          </p:nvSpPr>
          <p:spPr bwMode="auto">
            <a:xfrm>
              <a:off x="2304" y="3341"/>
              <a:ext cx="23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100</a:t>
              </a:r>
              <a:endParaRPr lang="en-US" altLang="en-US"/>
            </a:p>
          </p:txBody>
        </p:sp>
      </p:grpSp>
      <p:grpSp>
        <p:nvGrpSpPr>
          <p:cNvPr id="77864" name="Group 40"/>
          <p:cNvGrpSpPr>
            <a:grpSpLocks/>
          </p:cNvGrpSpPr>
          <p:nvPr/>
        </p:nvGrpSpPr>
        <p:grpSpPr bwMode="auto">
          <a:xfrm>
            <a:off x="3502025" y="2941639"/>
            <a:ext cx="3557588" cy="2624137"/>
            <a:chOff x="1246" y="1853"/>
            <a:chExt cx="2241" cy="1653"/>
          </a:xfrm>
        </p:grpSpPr>
        <p:sp>
          <p:nvSpPr>
            <p:cNvPr id="77865" name="Freeform 41"/>
            <p:cNvSpPr>
              <a:spLocks/>
            </p:cNvSpPr>
            <p:nvPr/>
          </p:nvSpPr>
          <p:spPr bwMode="auto">
            <a:xfrm>
              <a:off x="1471" y="1916"/>
              <a:ext cx="1908" cy="1413"/>
            </a:xfrm>
            <a:custGeom>
              <a:avLst/>
              <a:gdLst>
                <a:gd name="T0" fmla="*/ 1908 w 1908"/>
                <a:gd name="T1" fmla="*/ 1413 h 1413"/>
                <a:gd name="T2" fmla="*/ 1908 w 1908"/>
                <a:gd name="T3" fmla="*/ 0 h 1413"/>
                <a:gd name="T4" fmla="*/ 0 w 1908"/>
                <a:gd name="T5" fmla="*/ 0 h 1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08" h="1413">
                  <a:moveTo>
                    <a:pt x="1908" y="1413"/>
                  </a:moveTo>
                  <a:lnTo>
                    <a:pt x="1908" y="0"/>
                  </a:lnTo>
                  <a:lnTo>
                    <a:pt x="0" y="0"/>
                  </a:lnTo>
                </a:path>
              </a:pathLst>
            </a:custGeom>
            <a:noFill/>
            <a:ln w="22225" cap="flat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7866" name="Rectangle 42"/>
            <p:cNvSpPr>
              <a:spLocks noChangeArrowheads="1"/>
            </p:cNvSpPr>
            <p:nvPr/>
          </p:nvSpPr>
          <p:spPr bwMode="auto">
            <a:xfrm>
              <a:off x="1246" y="1853"/>
              <a:ext cx="153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€</a:t>
              </a:r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77867" name="Rectangle 43"/>
            <p:cNvSpPr>
              <a:spLocks noChangeArrowheads="1"/>
            </p:cNvSpPr>
            <p:nvPr/>
          </p:nvSpPr>
          <p:spPr bwMode="auto">
            <a:xfrm>
              <a:off x="3257" y="3341"/>
              <a:ext cx="23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200</a:t>
              </a:r>
              <a:endParaRPr lang="en-US" altLang="en-US"/>
            </a:p>
          </p:txBody>
        </p:sp>
      </p:grpSp>
      <p:grpSp>
        <p:nvGrpSpPr>
          <p:cNvPr id="77868" name="Group 44"/>
          <p:cNvGrpSpPr>
            <a:grpSpLocks/>
          </p:cNvGrpSpPr>
          <p:nvPr/>
        </p:nvGrpSpPr>
        <p:grpSpPr bwMode="auto">
          <a:xfrm>
            <a:off x="4075114" y="2479676"/>
            <a:ext cx="5018087" cy="1395413"/>
            <a:chOff x="1607" y="1562"/>
            <a:chExt cx="3161" cy="879"/>
          </a:xfrm>
        </p:grpSpPr>
        <p:sp>
          <p:nvSpPr>
            <p:cNvPr id="77869" name="Line 45"/>
            <p:cNvSpPr>
              <a:spLocks noChangeShapeType="1"/>
            </p:cNvSpPr>
            <p:nvPr/>
          </p:nvSpPr>
          <p:spPr bwMode="auto">
            <a:xfrm flipH="1">
              <a:off x="1607" y="1640"/>
              <a:ext cx="2699" cy="801"/>
            </a:xfrm>
            <a:prstGeom prst="line">
              <a:avLst/>
            </a:prstGeom>
            <a:noFill/>
            <a:ln w="65088">
              <a:solidFill>
                <a:srgbClr val="004C9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7870" name="Rectangle 46"/>
            <p:cNvSpPr>
              <a:spLocks noChangeArrowheads="1"/>
            </p:cNvSpPr>
            <p:nvPr/>
          </p:nvSpPr>
          <p:spPr bwMode="auto">
            <a:xfrm>
              <a:off x="4347" y="1562"/>
              <a:ext cx="42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Supply</a:t>
              </a:r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04080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77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77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7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7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77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7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7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7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2" name="Picture 2" descr="narrow aqua button bckg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8"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803" name="Rectangle 3"/>
          <p:cNvSpPr>
            <a:spLocks noGrp="1" noChangeArrowheads="1"/>
          </p:cNvSpPr>
          <p:nvPr>
            <p:ph type="title"/>
          </p:nvPr>
        </p:nvSpPr>
        <p:spPr>
          <a:xfrm>
            <a:off x="2133600" y="50800"/>
            <a:ext cx="8229600" cy="6858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altLang="en-US" sz="2400">
                <a:solidFill>
                  <a:schemeClr val="bg1"/>
                </a:solidFill>
              </a:rPr>
              <a:t>Figure 6 The Price Elasticity of Supply</a:t>
            </a:r>
          </a:p>
        </p:txBody>
      </p:sp>
      <p:sp>
        <p:nvSpPr>
          <p:cNvPr id="76804" name="Text Box 4"/>
          <p:cNvSpPr txBox="1">
            <a:spLocks noChangeArrowheads="1"/>
          </p:cNvSpPr>
          <p:nvPr/>
        </p:nvSpPr>
        <p:spPr bwMode="auto">
          <a:xfrm rot="-21600000">
            <a:off x="8088313" y="6680201"/>
            <a:ext cx="264160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800" b="1">
                <a:solidFill>
                  <a:schemeClr val="bg1"/>
                </a:solidFill>
                <a:latin typeface="Arial" panose="020B0604020202020204" pitchFamily="34" charset="0"/>
              </a:rPr>
              <a:t>Copyright©2003  Southwestern/Thomson Learning</a:t>
            </a:r>
          </a:p>
        </p:txBody>
      </p:sp>
      <p:sp>
        <p:nvSpPr>
          <p:cNvPr id="76805" name="Rectangle 5"/>
          <p:cNvSpPr>
            <a:spLocks noChangeArrowheads="1"/>
          </p:cNvSpPr>
          <p:nvPr/>
        </p:nvSpPr>
        <p:spPr bwMode="auto">
          <a:xfrm>
            <a:off x="3581400" y="2124076"/>
            <a:ext cx="5322888" cy="3336925"/>
          </a:xfrm>
          <a:prstGeom prst="rect">
            <a:avLst/>
          </a:prstGeom>
          <a:solidFill>
            <a:srgbClr val="F3F6F9"/>
          </a:solidFill>
          <a:ln w="238125">
            <a:solidFill>
              <a:srgbClr val="F3F6F9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6806" name="Rectangle 6"/>
          <p:cNvSpPr>
            <a:spLocks noChangeArrowheads="1"/>
          </p:cNvSpPr>
          <p:nvPr/>
        </p:nvSpPr>
        <p:spPr bwMode="auto">
          <a:xfrm>
            <a:off x="3581400" y="2124076"/>
            <a:ext cx="5322888" cy="3336925"/>
          </a:xfrm>
          <a:prstGeom prst="rect">
            <a:avLst/>
          </a:prstGeom>
          <a:solidFill>
            <a:srgbClr val="F2F4F8"/>
          </a:solidFill>
          <a:ln w="215900">
            <a:solidFill>
              <a:srgbClr val="F2F4F8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6807" name="Rectangle 7"/>
          <p:cNvSpPr>
            <a:spLocks noChangeArrowheads="1"/>
          </p:cNvSpPr>
          <p:nvPr/>
        </p:nvSpPr>
        <p:spPr bwMode="auto">
          <a:xfrm>
            <a:off x="3581400" y="2124076"/>
            <a:ext cx="5322888" cy="3336925"/>
          </a:xfrm>
          <a:prstGeom prst="rect">
            <a:avLst/>
          </a:prstGeom>
          <a:solidFill>
            <a:srgbClr val="F1F4F7"/>
          </a:solidFill>
          <a:ln w="195263">
            <a:solidFill>
              <a:srgbClr val="F1F4F7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6808" name="Rectangle 8"/>
          <p:cNvSpPr>
            <a:spLocks noChangeArrowheads="1"/>
          </p:cNvSpPr>
          <p:nvPr/>
        </p:nvSpPr>
        <p:spPr bwMode="auto">
          <a:xfrm>
            <a:off x="3581400" y="2124076"/>
            <a:ext cx="5322888" cy="3336925"/>
          </a:xfrm>
          <a:prstGeom prst="rect">
            <a:avLst/>
          </a:prstGeom>
          <a:solidFill>
            <a:srgbClr val="F0F2F5"/>
          </a:solidFill>
          <a:ln w="173038">
            <a:solidFill>
              <a:srgbClr val="F0F2F5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6809" name="Rectangle 9"/>
          <p:cNvSpPr>
            <a:spLocks noChangeArrowheads="1"/>
          </p:cNvSpPr>
          <p:nvPr/>
        </p:nvSpPr>
        <p:spPr bwMode="auto">
          <a:xfrm>
            <a:off x="3581400" y="2124076"/>
            <a:ext cx="5322888" cy="3336925"/>
          </a:xfrm>
          <a:prstGeom prst="rect">
            <a:avLst/>
          </a:prstGeom>
          <a:solidFill>
            <a:srgbClr val="EEF1F4"/>
          </a:solidFill>
          <a:ln w="150813">
            <a:solidFill>
              <a:srgbClr val="EEF1F4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6810" name="Rectangle 10"/>
          <p:cNvSpPr>
            <a:spLocks noChangeArrowheads="1"/>
          </p:cNvSpPr>
          <p:nvPr/>
        </p:nvSpPr>
        <p:spPr bwMode="auto">
          <a:xfrm>
            <a:off x="3581400" y="2124076"/>
            <a:ext cx="5322888" cy="3336925"/>
          </a:xfrm>
          <a:prstGeom prst="rect">
            <a:avLst/>
          </a:prstGeom>
          <a:solidFill>
            <a:srgbClr val="EDEFF3"/>
          </a:solidFill>
          <a:ln w="130175">
            <a:solidFill>
              <a:srgbClr val="EDEFF3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6811" name="Rectangle 11"/>
          <p:cNvSpPr>
            <a:spLocks noChangeArrowheads="1"/>
          </p:cNvSpPr>
          <p:nvPr/>
        </p:nvSpPr>
        <p:spPr bwMode="auto">
          <a:xfrm>
            <a:off x="3581400" y="2124076"/>
            <a:ext cx="5322888" cy="3336925"/>
          </a:xfrm>
          <a:prstGeom prst="rect">
            <a:avLst/>
          </a:prstGeom>
          <a:solidFill>
            <a:srgbClr val="EBEEF2"/>
          </a:solidFill>
          <a:ln w="107950">
            <a:solidFill>
              <a:srgbClr val="EBEEF2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6812" name="Rectangle 12"/>
          <p:cNvSpPr>
            <a:spLocks noChangeArrowheads="1"/>
          </p:cNvSpPr>
          <p:nvPr/>
        </p:nvSpPr>
        <p:spPr bwMode="auto">
          <a:xfrm>
            <a:off x="3581400" y="2124076"/>
            <a:ext cx="5322888" cy="3336925"/>
          </a:xfrm>
          <a:prstGeom prst="rect">
            <a:avLst/>
          </a:prstGeom>
          <a:solidFill>
            <a:srgbClr val="EAECF1"/>
          </a:solidFill>
          <a:ln w="87313">
            <a:solidFill>
              <a:srgbClr val="EAECF1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6813" name="Rectangle 13"/>
          <p:cNvSpPr>
            <a:spLocks noChangeArrowheads="1"/>
          </p:cNvSpPr>
          <p:nvPr/>
        </p:nvSpPr>
        <p:spPr bwMode="auto">
          <a:xfrm>
            <a:off x="3581400" y="2124076"/>
            <a:ext cx="5322888" cy="3336925"/>
          </a:xfrm>
          <a:prstGeom prst="rect">
            <a:avLst/>
          </a:prstGeom>
          <a:solidFill>
            <a:srgbClr val="E9EBF0"/>
          </a:solidFill>
          <a:ln w="65088">
            <a:solidFill>
              <a:srgbClr val="E9EBF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6814" name="Rectangle 14"/>
          <p:cNvSpPr>
            <a:spLocks noChangeArrowheads="1"/>
          </p:cNvSpPr>
          <p:nvPr/>
        </p:nvSpPr>
        <p:spPr bwMode="auto">
          <a:xfrm>
            <a:off x="3581400" y="2124076"/>
            <a:ext cx="5322888" cy="3336925"/>
          </a:xfrm>
          <a:prstGeom prst="rect">
            <a:avLst/>
          </a:prstGeom>
          <a:solidFill>
            <a:srgbClr val="E7EAEF"/>
          </a:solidFill>
          <a:ln w="42863">
            <a:solidFill>
              <a:srgbClr val="E7EAEF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6815" name="Rectangle 15"/>
          <p:cNvSpPr>
            <a:spLocks noChangeArrowheads="1"/>
          </p:cNvSpPr>
          <p:nvPr/>
        </p:nvSpPr>
        <p:spPr bwMode="auto">
          <a:xfrm>
            <a:off x="3581400" y="2124076"/>
            <a:ext cx="5322888" cy="3336925"/>
          </a:xfrm>
          <a:prstGeom prst="rect">
            <a:avLst/>
          </a:prstGeom>
          <a:solidFill>
            <a:srgbClr val="E6E9EF"/>
          </a:solidFill>
          <a:ln w="22225">
            <a:solidFill>
              <a:srgbClr val="E6E9EF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6816" name="Rectangle 16"/>
          <p:cNvSpPr>
            <a:spLocks noChangeArrowheads="1"/>
          </p:cNvSpPr>
          <p:nvPr/>
        </p:nvSpPr>
        <p:spPr bwMode="auto">
          <a:xfrm>
            <a:off x="3494089" y="2025650"/>
            <a:ext cx="5322887" cy="3335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6817" name="Freeform 17"/>
          <p:cNvSpPr>
            <a:spLocks/>
          </p:cNvSpPr>
          <p:nvPr/>
        </p:nvSpPr>
        <p:spPr bwMode="auto">
          <a:xfrm>
            <a:off x="3481389" y="2025650"/>
            <a:ext cx="5322887" cy="3335338"/>
          </a:xfrm>
          <a:custGeom>
            <a:avLst/>
            <a:gdLst>
              <a:gd name="T0" fmla="*/ 0 w 3353"/>
              <a:gd name="T1" fmla="*/ 0 h 2101"/>
              <a:gd name="T2" fmla="*/ 0 w 3353"/>
              <a:gd name="T3" fmla="*/ 2101 h 2101"/>
              <a:gd name="T4" fmla="*/ 3353 w 3353"/>
              <a:gd name="T5" fmla="*/ 2101 h 2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353" h="2101">
                <a:moveTo>
                  <a:pt x="0" y="0"/>
                </a:moveTo>
                <a:lnTo>
                  <a:pt x="0" y="2101"/>
                </a:lnTo>
                <a:lnTo>
                  <a:pt x="3353" y="2101"/>
                </a:lnTo>
              </a:path>
            </a:pathLst>
          </a:custGeom>
          <a:noFill/>
          <a:ln w="222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76818" name="Rectangle 18"/>
          <p:cNvSpPr>
            <a:spLocks noChangeArrowheads="1"/>
          </p:cNvSpPr>
          <p:nvPr/>
        </p:nvSpPr>
        <p:spPr bwMode="auto">
          <a:xfrm>
            <a:off x="3268664" y="1624013"/>
            <a:ext cx="545181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(e) Perfectly Elastic Supply: Elasticity Equals Infinity</a:t>
            </a:r>
            <a:endParaRPr lang="en-US" altLang="en-US"/>
          </a:p>
        </p:txBody>
      </p:sp>
      <p:sp>
        <p:nvSpPr>
          <p:cNvPr id="76819" name="Rectangle 19"/>
          <p:cNvSpPr>
            <a:spLocks noChangeArrowheads="1"/>
          </p:cNvSpPr>
          <p:nvPr/>
        </p:nvSpPr>
        <p:spPr bwMode="auto">
          <a:xfrm>
            <a:off x="7874000" y="5456238"/>
            <a:ext cx="88485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Quantity</a:t>
            </a:r>
            <a:endParaRPr lang="en-US" altLang="en-US"/>
          </a:p>
        </p:txBody>
      </p:sp>
      <p:sp>
        <p:nvSpPr>
          <p:cNvPr id="76820" name="Rectangle 20"/>
          <p:cNvSpPr>
            <a:spLocks noChangeArrowheads="1"/>
          </p:cNvSpPr>
          <p:nvPr/>
        </p:nvSpPr>
        <p:spPr bwMode="auto">
          <a:xfrm>
            <a:off x="3290888" y="5462588"/>
            <a:ext cx="1218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en-US" altLang="en-US"/>
          </a:p>
        </p:txBody>
      </p:sp>
      <p:sp>
        <p:nvSpPr>
          <p:cNvPr id="76821" name="Rectangle 21"/>
          <p:cNvSpPr>
            <a:spLocks noChangeArrowheads="1"/>
          </p:cNvSpPr>
          <p:nvPr/>
        </p:nvSpPr>
        <p:spPr bwMode="auto">
          <a:xfrm>
            <a:off x="2843214" y="2000250"/>
            <a:ext cx="53540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700" b="1">
                <a:solidFill>
                  <a:srgbClr val="000000"/>
                </a:solidFill>
                <a:latin typeface="Arial" panose="020B0604020202020204" pitchFamily="34" charset="0"/>
              </a:rPr>
              <a:t>Price</a:t>
            </a:r>
            <a:endParaRPr lang="en-US" altLang="en-US"/>
          </a:p>
        </p:txBody>
      </p:sp>
      <p:grpSp>
        <p:nvGrpSpPr>
          <p:cNvPr id="76822" name="Group 22"/>
          <p:cNvGrpSpPr>
            <a:grpSpLocks/>
          </p:cNvGrpSpPr>
          <p:nvPr/>
        </p:nvGrpSpPr>
        <p:grpSpPr bwMode="auto">
          <a:xfrm>
            <a:off x="3154363" y="3460750"/>
            <a:ext cx="5092700" cy="268288"/>
            <a:chOff x="1027" y="2180"/>
            <a:chExt cx="3208" cy="169"/>
          </a:xfrm>
        </p:grpSpPr>
        <p:sp>
          <p:nvSpPr>
            <p:cNvPr id="76823" name="Rectangle 23"/>
            <p:cNvSpPr>
              <a:spLocks noChangeArrowheads="1"/>
            </p:cNvSpPr>
            <p:nvPr/>
          </p:nvSpPr>
          <p:spPr bwMode="auto">
            <a:xfrm>
              <a:off x="1027" y="2180"/>
              <a:ext cx="153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€</a:t>
              </a:r>
              <a:r>
                <a:rPr lang="en-US" altLang="en-US" sz="170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grpSp>
          <p:nvGrpSpPr>
            <p:cNvPr id="76824" name="Group 24"/>
            <p:cNvGrpSpPr>
              <a:grpSpLocks/>
            </p:cNvGrpSpPr>
            <p:nvPr/>
          </p:nvGrpSpPr>
          <p:grpSpPr bwMode="auto">
            <a:xfrm>
              <a:off x="1241" y="2184"/>
              <a:ext cx="2994" cy="165"/>
              <a:chOff x="1241" y="2184"/>
              <a:chExt cx="2994" cy="165"/>
            </a:xfrm>
          </p:grpSpPr>
          <p:sp>
            <p:nvSpPr>
              <p:cNvPr id="76825" name="Line 25"/>
              <p:cNvSpPr>
                <a:spLocks noChangeShapeType="1"/>
              </p:cNvSpPr>
              <p:nvPr/>
            </p:nvSpPr>
            <p:spPr bwMode="auto">
              <a:xfrm flipH="1">
                <a:off x="1241" y="2239"/>
                <a:ext cx="2467" cy="1"/>
              </a:xfrm>
              <a:prstGeom prst="line">
                <a:avLst/>
              </a:prstGeom>
              <a:noFill/>
              <a:ln w="65088">
                <a:solidFill>
                  <a:srgbClr val="004C9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6826" name="Rectangle 26"/>
              <p:cNvSpPr>
                <a:spLocks noChangeArrowheads="1"/>
              </p:cNvSpPr>
              <p:nvPr/>
            </p:nvSpPr>
            <p:spPr bwMode="auto">
              <a:xfrm>
                <a:off x="3814" y="2184"/>
                <a:ext cx="421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Supply</a:t>
                </a:r>
                <a:endParaRPr lang="en-US" altLang="en-US"/>
              </a:p>
            </p:txBody>
          </p:sp>
        </p:grpSp>
      </p:grpSp>
      <p:grpSp>
        <p:nvGrpSpPr>
          <p:cNvPr id="76827" name="Group 27"/>
          <p:cNvGrpSpPr>
            <a:grpSpLocks/>
          </p:cNvGrpSpPr>
          <p:nvPr/>
        </p:nvGrpSpPr>
        <p:grpSpPr bwMode="auto">
          <a:xfrm>
            <a:off x="2174875" y="4308476"/>
            <a:ext cx="2876550" cy="1966913"/>
            <a:chOff x="410" y="2714"/>
            <a:chExt cx="1812" cy="1239"/>
          </a:xfrm>
        </p:grpSpPr>
        <p:sp>
          <p:nvSpPr>
            <p:cNvPr id="76828" name="Line 28"/>
            <p:cNvSpPr>
              <a:spLocks noChangeShapeType="1"/>
            </p:cNvSpPr>
            <p:nvPr/>
          </p:nvSpPr>
          <p:spPr bwMode="auto">
            <a:xfrm flipV="1">
              <a:off x="560" y="2714"/>
              <a:ext cx="627" cy="889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76829" name="Group 29"/>
            <p:cNvGrpSpPr>
              <a:grpSpLocks/>
            </p:cNvGrpSpPr>
            <p:nvPr/>
          </p:nvGrpSpPr>
          <p:grpSpPr bwMode="auto">
            <a:xfrm>
              <a:off x="410" y="3578"/>
              <a:ext cx="1812" cy="375"/>
              <a:chOff x="410" y="3578"/>
              <a:chExt cx="1812" cy="375"/>
            </a:xfrm>
          </p:grpSpPr>
          <p:sp>
            <p:nvSpPr>
              <p:cNvPr id="76830" name="Rectangle 30"/>
              <p:cNvSpPr>
                <a:spLocks noChangeArrowheads="1"/>
              </p:cNvSpPr>
              <p:nvPr/>
            </p:nvSpPr>
            <p:spPr bwMode="auto">
              <a:xfrm>
                <a:off x="410" y="3578"/>
                <a:ext cx="1812" cy="375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6831" name="Rectangle 31"/>
              <p:cNvSpPr>
                <a:spLocks noChangeArrowheads="1"/>
              </p:cNvSpPr>
              <p:nvPr/>
            </p:nvSpPr>
            <p:spPr bwMode="auto">
              <a:xfrm>
                <a:off x="464" y="3596"/>
                <a:ext cx="1356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3. At a price below </a:t>
                </a:r>
                <a:r>
                  <a:rPr lang="en-GB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€</a:t>
                </a:r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4,</a:t>
                </a:r>
              </a:p>
            </p:txBody>
          </p:sp>
          <p:sp>
            <p:nvSpPr>
              <p:cNvPr id="76832" name="Rectangle 32"/>
              <p:cNvSpPr>
                <a:spLocks noChangeArrowheads="1"/>
              </p:cNvSpPr>
              <p:nvPr/>
            </p:nvSpPr>
            <p:spPr bwMode="auto">
              <a:xfrm>
                <a:off x="464" y="3763"/>
                <a:ext cx="1516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quantity supplied is zero.</a:t>
                </a:r>
                <a:endParaRPr lang="en-US" altLang="en-US"/>
              </a:p>
            </p:txBody>
          </p:sp>
        </p:grpSp>
      </p:grpSp>
      <p:grpSp>
        <p:nvGrpSpPr>
          <p:cNvPr id="76833" name="Group 33"/>
          <p:cNvGrpSpPr>
            <a:grpSpLocks/>
          </p:cNvGrpSpPr>
          <p:nvPr/>
        </p:nvGrpSpPr>
        <p:grpSpPr bwMode="auto">
          <a:xfrm>
            <a:off x="5419726" y="3633789"/>
            <a:ext cx="2143125" cy="1171575"/>
            <a:chOff x="2454" y="2289"/>
            <a:chExt cx="1350" cy="738"/>
          </a:xfrm>
        </p:grpSpPr>
        <p:sp>
          <p:nvSpPr>
            <p:cNvPr id="76834" name="Line 34"/>
            <p:cNvSpPr>
              <a:spLocks noChangeShapeType="1"/>
            </p:cNvSpPr>
            <p:nvPr/>
          </p:nvSpPr>
          <p:spPr bwMode="auto">
            <a:xfrm>
              <a:off x="2877" y="2289"/>
              <a:ext cx="163" cy="250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76835" name="Group 35"/>
            <p:cNvGrpSpPr>
              <a:grpSpLocks/>
            </p:cNvGrpSpPr>
            <p:nvPr/>
          </p:nvGrpSpPr>
          <p:grpSpPr bwMode="auto">
            <a:xfrm>
              <a:off x="2454" y="2489"/>
              <a:ext cx="1350" cy="538"/>
              <a:chOff x="2454" y="2489"/>
              <a:chExt cx="1350" cy="538"/>
            </a:xfrm>
          </p:grpSpPr>
          <p:sp>
            <p:nvSpPr>
              <p:cNvPr id="76836" name="Rectangle 36"/>
              <p:cNvSpPr>
                <a:spLocks noChangeArrowheads="1"/>
              </p:cNvSpPr>
              <p:nvPr/>
            </p:nvSpPr>
            <p:spPr bwMode="auto">
              <a:xfrm>
                <a:off x="2454" y="2489"/>
                <a:ext cx="1350" cy="538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6837" name="Rectangle 37"/>
              <p:cNvSpPr>
                <a:spLocks noChangeArrowheads="1"/>
              </p:cNvSpPr>
              <p:nvPr/>
            </p:nvSpPr>
            <p:spPr bwMode="auto">
              <a:xfrm>
                <a:off x="2493" y="2514"/>
                <a:ext cx="973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2. At exactly </a:t>
                </a:r>
                <a:r>
                  <a:rPr lang="en-GB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€</a:t>
                </a:r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4,</a:t>
                </a:r>
              </a:p>
            </p:txBody>
          </p:sp>
          <p:sp>
            <p:nvSpPr>
              <p:cNvPr id="76838" name="Rectangle 38"/>
              <p:cNvSpPr>
                <a:spLocks noChangeArrowheads="1"/>
              </p:cNvSpPr>
              <p:nvPr/>
            </p:nvSpPr>
            <p:spPr bwMode="auto">
              <a:xfrm>
                <a:off x="2493" y="2680"/>
                <a:ext cx="840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producers will</a:t>
                </a:r>
                <a:endParaRPr lang="en-US" altLang="en-US"/>
              </a:p>
            </p:txBody>
          </p:sp>
          <p:sp>
            <p:nvSpPr>
              <p:cNvPr id="76839" name="Rectangle 39"/>
              <p:cNvSpPr>
                <a:spLocks noChangeArrowheads="1"/>
              </p:cNvSpPr>
              <p:nvPr/>
            </p:nvSpPr>
            <p:spPr bwMode="auto">
              <a:xfrm>
                <a:off x="2493" y="2847"/>
                <a:ext cx="1208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supply any quantity.</a:t>
                </a:r>
                <a:endParaRPr lang="en-US" altLang="en-US"/>
              </a:p>
            </p:txBody>
          </p:sp>
        </p:grpSp>
      </p:grpSp>
      <p:grpSp>
        <p:nvGrpSpPr>
          <p:cNvPr id="76840" name="Group 40"/>
          <p:cNvGrpSpPr>
            <a:grpSpLocks/>
          </p:cNvGrpSpPr>
          <p:nvPr/>
        </p:nvGrpSpPr>
        <p:grpSpPr bwMode="auto">
          <a:xfrm>
            <a:off x="3559175" y="2441576"/>
            <a:ext cx="2444750" cy="854075"/>
            <a:chOff x="1282" y="1538"/>
            <a:chExt cx="1540" cy="538"/>
          </a:xfrm>
        </p:grpSpPr>
        <p:sp>
          <p:nvSpPr>
            <p:cNvPr id="76841" name="Line 41"/>
            <p:cNvSpPr>
              <a:spLocks noChangeShapeType="1"/>
            </p:cNvSpPr>
            <p:nvPr/>
          </p:nvSpPr>
          <p:spPr bwMode="auto">
            <a:xfrm flipV="1">
              <a:off x="1282" y="1688"/>
              <a:ext cx="259" cy="6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76842" name="Group 42"/>
            <p:cNvGrpSpPr>
              <a:grpSpLocks/>
            </p:cNvGrpSpPr>
            <p:nvPr/>
          </p:nvGrpSpPr>
          <p:grpSpPr bwMode="auto">
            <a:xfrm>
              <a:off x="1514" y="1538"/>
              <a:ext cx="1308" cy="538"/>
              <a:chOff x="1514" y="1538"/>
              <a:chExt cx="1308" cy="538"/>
            </a:xfrm>
          </p:grpSpPr>
          <p:sp>
            <p:nvSpPr>
              <p:cNvPr id="76843" name="Rectangle 43"/>
              <p:cNvSpPr>
                <a:spLocks noChangeArrowheads="1"/>
              </p:cNvSpPr>
              <p:nvPr/>
            </p:nvSpPr>
            <p:spPr bwMode="auto">
              <a:xfrm>
                <a:off x="1514" y="1538"/>
                <a:ext cx="1308" cy="538"/>
              </a:xfrm>
              <a:prstGeom prst="rect">
                <a:avLst/>
              </a:prstGeom>
              <a:solidFill>
                <a:srgbClr val="E1E5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6844" name="Rectangle 44"/>
              <p:cNvSpPr>
                <a:spLocks noChangeArrowheads="1"/>
              </p:cNvSpPr>
              <p:nvPr/>
            </p:nvSpPr>
            <p:spPr bwMode="auto">
              <a:xfrm>
                <a:off x="1562" y="1569"/>
                <a:ext cx="873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1. At any price</a:t>
                </a:r>
                <a:endParaRPr lang="en-US" altLang="en-US"/>
              </a:p>
            </p:txBody>
          </p:sp>
          <p:sp>
            <p:nvSpPr>
              <p:cNvPr id="76845" name="Rectangle 45"/>
              <p:cNvSpPr>
                <a:spLocks noChangeArrowheads="1"/>
              </p:cNvSpPr>
              <p:nvPr/>
            </p:nvSpPr>
            <p:spPr bwMode="auto">
              <a:xfrm>
                <a:off x="1562" y="1736"/>
                <a:ext cx="1127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above </a:t>
                </a:r>
                <a:r>
                  <a:rPr lang="en-GB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€</a:t>
                </a:r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4, quantity</a:t>
                </a:r>
              </a:p>
            </p:txBody>
          </p:sp>
          <p:sp>
            <p:nvSpPr>
              <p:cNvPr id="76846" name="Rectangle 46"/>
              <p:cNvSpPr>
                <a:spLocks noChangeArrowheads="1"/>
              </p:cNvSpPr>
              <p:nvPr/>
            </p:nvSpPr>
            <p:spPr bwMode="auto">
              <a:xfrm>
                <a:off x="1562" y="1902"/>
                <a:ext cx="1125" cy="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en-US" sz="1700">
                    <a:solidFill>
                      <a:srgbClr val="000000"/>
                    </a:solidFill>
                    <a:latin typeface="Arial" panose="020B0604020202020204" pitchFamily="34" charset="0"/>
                  </a:rPr>
                  <a:t>supplied is infinite.</a:t>
                </a:r>
                <a:endParaRPr lang="en-US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20007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6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6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6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379</Words>
  <Application>Microsoft Office PowerPoint</Application>
  <PresentationFormat>Widescreen</PresentationFormat>
  <Paragraphs>98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Office Theme</vt:lpstr>
      <vt:lpstr>Other Demand Elasticities and Elasticity of Supply </vt:lpstr>
      <vt:lpstr>Income Elasticity of Demand  </vt:lpstr>
      <vt:lpstr>Cross Price Elasticity of demand </vt:lpstr>
      <vt:lpstr>Elasticity of Supply </vt:lpstr>
      <vt:lpstr>Figure 6 The Price Elasticity of Supply</vt:lpstr>
      <vt:lpstr>Figure 6 The Price Elasticity of Supply</vt:lpstr>
      <vt:lpstr>Figure 6 The Price Elasticity of Supply</vt:lpstr>
      <vt:lpstr>Figure 6 The Price Elasticity of Supply</vt:lpstr>
      <vt:lpstr>Figure 6 The Price Elasticity of Supply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Other Demand Elasticities and Elasticity of Supply </dc:title>
  <dc:creator>vaith</dc:creator>
  <cp:lastModifiedBy>vaith</cp:lastModifiedBy>
  <cp:revision>4</cp:revision>
  <dcterms:created xsi:type="dcterms:W3CDTF">2020-08-28T08:26:45Z</dcterms:created>
  <dcterms:modified xsi:type="dcterms:W3CDTF">2020-08-28T08:41:23Z</dcterms:modified>
</cp:coreProperties>
</file>