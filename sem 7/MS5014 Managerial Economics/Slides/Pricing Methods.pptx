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8" r:id="rId5"/>
    <p:sldId id="269" r:id="rId6"/>
    <p:sldId id="259" r:id="rId7"/>
    <p:sldId id="260" r:id="rId8"/>
    <p:sldId id="261" r:id="rId9"/>
    <p:sldId id="262" r:id="rId10"/>
    <p:sldId id="263" r:id="rId11"/>
    <p:sldId id="265" r:id="rId12"/>
    <p:sldId id="266" r:id="rId13"/>
    <p:sldId id="270"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8" d="100"/>
          <a:sy n="68" d="100"/>
        </p:scale>
        <p:origin x="58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8AB59FD-BB00-446B-AAB2-AB0E6A37916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1231226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8AB59FD-BB00-446B-AAB2-AB0E6A37916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326036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B59FD-BB00-446B-AAB2-AB0E6A37916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2154880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8AB59FD-BB00-446B-AAB2-AB0E6A379168}"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3945985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8AB59FD-BB00-446B-AAB2-AB0E6A379168}" type="datetimeFigureOut">
              <a:rPr lang="en-IN" smtClean="0"/>
              <a:t>09-10-2025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2821736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8AB59FD-BB00-446B-AAB2-AB0E6A379168}" type="datetimeFigureOut">
              <a:rPr lang="en-IN" smtClean="0"/>
              <a:t>09-10-2025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539825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B59FD-BB00-446B-AAB2-AB0E6A379168}" type="datetimeFigureOut">
              <a:rPr lang="en-IN" smtClean="0"/>
              <a:t>09-10-2025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1325934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B59FD-BB00-446B-AAB2-AB0E6A379168}"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2310777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B59FD-BB00-446B-AAB2-AB0E6A379168}"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1537997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8AB59FD-BB00-446B-AAB2-AB0E6A37916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2382160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8AB59FD-BB00-446B-AAB2-AB0E6A37916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D32423-0B91-4749-B5A3-0ECEE2575703}" type="slidenum">
              <a:rPr lang="en-IN" smtClean="0"/>
              <a:t>‹#›</a:t>
            </a:fld>
            <a:endParaRPr lang="en-IN"/>
          </a:p>
        </p:txBody>
      </p:sp>
    </p:spTree>
    <p:extLst>
      <p:ext uri="{BB962C8B-B14F-4D97-AF65-F5344CB8AC3E}">
        <p14:creationId xmlns:p14="http://schemas.microsoft.com/office/powerpoint/2010/main" val="349082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B59FD-BB00-446B-AAB2-AB0E6A379168}" type="datetimeFigureOut">
              <a:rPr lang="en-IN" smtClean="0"/>
              <a:t>09-10-2025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D32423-0B91-4749-B5A3-0ECEE2575703}" type="slidenum">
              <a:rPr lang="en-IN" smtClean="0"/>
              <a:t>‹#›</a:t>
            </a:fld>
            <a:endParaRPr lang="en-IN"/>
          </a:p>
        </p:txBody>
      </p:sp>
    </p:spTree>
    <p:extLst>
      <p:ext uri="{BB962C8B-B14F-4D97-AF65-F5344CB8AC3E}">
        <p14:creationId xmlns:p14="http://schemas.microsoft.com/office/powerpoint/2010/main" val="37762453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Pricing Methods</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599372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Peak load Pricing </a:t>
            </a:r>
            <a:endParaRPr lang="en-IN" dirty="0"/>
          </a:p>
        </p:txBody>
      </p:sp>
      <p:sp>
        <p:nvSpPr>
          <p:cNvPr id="3" name="Content Placeholder 2"/>
          <p:cNvSpPr>
            <a:spLocks noGrp="1"/>
          </p:cNvSpPr>
          <p:nvPr>
            <p:ph idx="1"/>
          </p:nvPr>
        </p:nvSpPr>
        <p:spPr/>
        <p:txBody>
          <a:bodyPr/>
          <a:lstStyle/>
          <a:p>
            <a:r>
              <a:rPr lang="en-IN" dirty="0" smtClean="0"/>
              <a:t>Peak Load pricing involves charging different prices at different points in times. </a:t>
            </a:r>
          </a:p>
          <a:p>
            <a:r>
              <a:rPr lang="en-IN" dirty="0" smtClean="0"/>
              <a:t>For Some goods and services demand peaks at particular times. For </a:t>
            </a:r>
            <a:r>
              <a:rPr lang="en-IN" dirty="0" err="1" smtClean="0"/>
              <a:t>eg.roads</a:t>
            </a:r>
            <a:r>
              <a:rPr lang="en-IN" dirty="0" smtClean="0"/>
              <a:t> and tunnels during rush hour, electricity during summer, amusement parks on weekends. </a:t>
            </a:r>
          </a:p>
          <a:p>
            <a:endParaRPr lang="en-IN" dirty="0"/>
          </a:p>
        </p:txBody>
      </p:sp>
    </p:spTree>
    <p:extLst>
      <p:ext uri="{BB962C8B-B14F-4D97-AF65-F5344CB8AC3E}">
        <p14:creationId xmlns:p14="http://schemas.microsoft.com/office/powerpoint/2010/main" val="16243726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8727" y="365126"/>
            <a:ext cx="2530764" cy="724766"/>
          </a:xfrm>
        </p:spPr>
        <p:txBody>
          <a:bodyPr/>
          <a:lstStyle/>
          <a:p>
            <a:pPr algn="ctr"/>
            <a:r>
              <a:rPr lang="en-IN" dirty="0" smtClean="0"/>
              <a:t>Bundling </a:t>
            </a:r>
            <a:endParaRPr lang="en-IN" dirty="0"/>
          </a:p>
        </p:txBody>
      </p:sp>
      <p:sp>
        <p:nvSpPr>
          <p:cNvPr id="3" name="Content Placeholder 2"/>
          <p:cNvSpPr>
            <a:spLocks noGrp="1"/>
          </p:cNvSpPr>
          <p:nvPr>
            <p:ph idx="1"/>
          </p:nvPr>
        </p:nvSpPr>
        <p:spPr>
          <a:xfrm>
            <a:off x="810491" y="1089892"/>
            <a:ext cx="10515600" cy="5142489"/>
          </a:xfrm>
        </p:spPr>
        <p:txBody>
          <a:bodyPr>
            <a:normAutofit/>
          </a:bodyPr>
          <a:lstStyle/>
          <a:p>
            <a:r>
              <a:rPr lang="en-IN" dirty="0" smtClean="0"/>
              <a:t>Bundling is the practice of selling two or more products together for a single price. </a:t>
            </a:r>
            <a:endParaRPr lang="en-IN" dirty="0"/>
          </a:p>
          <a:p>
            <a:r>
              <a:rPr lang="en-IN" dirty="0" smtClean="0"/>
              <a:t>Pure Bundling: When the products are available as a package, the pricing strategy is referred to as pure bundling. </a:t>
            </a:r>
          </a:p>
          <a:p>
            <a:r>
              <a:rPr lang="en-IN" dirty="0" smtClean="0"/>
              <a:t>Mixed Bundling: If at least some products can also be purchased separately, then the firm is using mixed bundling. </a:t>
            </a:r>
          </a:p>
          <a:p>
            <a:r>
              <a:rPr lang="en-IN" dirty="0" smtClean="0"/>
              <a:t>Tying </a:t>
            </a:r>
            <a:r>
              <a:rPr lang="en-US" dirty="0" smtClean="0"/>
              <a:t>: </a:t>
            </a:r>
            <a:r>
              <a:rPr lang="en-US" dirty="0"/>
              <a:t>The purchase of the main product (tying product) requires </a:t>
            </a:r>
            <a:r>
              <a:rPr lang="en-US" dirty="0" smtClean="0"/>
              <a:t>the purchase </a:t>
            </a:r>
            <a:r>
              <a:rPr lang="en-US" dirty="0"/>
              <a:t>of another product (tied product) which is generally an </a:t>
            </a:r>
            <a:r>
              <a:rPr lang="en-US" dirty="0" smtClean="0"/>
              <a:t>additional complementary </a:t>
            </a:r>
            <a:r>
              <a:rPr lang="en-US" dirty="0"/>
              <a:t>product.</a:t>
            </a:r>
            <a:endParaRPr lang="en-IN" dirty="0" smtClean="0"/>
          </a:p>
          <a:p>
            <a:endParaRPr lang="en-US" dirty="0"/>
          </a:p>
          <a:p>
            <a:endParaRPr lang="en-US" dirty="0"/>
          </a:p>
        </p:txBody>
      </p:sp>
    </p:spTree>
    <p:extLst>
      <p:ext uri="{BB962C8B-B14F-4D97-AF65-F5344CB8AC3E}">
        <p14:creationId xmlns:p14="http://schemas.microsoft.com/office/powerpoint/2010/main" val="35953641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Examples of Bundling </a:t>
            </a:r>
            <a:endParaRPr lang="en-IN" dirty="0"/>
          </a:p>
        </p:txBody>
      </p:sp>
      <p:sp>
        <p:nvSpPr>
          <p:cNvPr id="3" name="Content Placeholder 2"/>
          <p:cNvSpPr>
            <a:spLocks noGrp="1"/>
          </p:cNvSpPr>
          <p:nvPr>
            <p:ph idx="1"/>
          </p:nvPr>
        </p:nvSpPr>
        <p:spPr/>
        <p:txBody>
          <a:bodyPr>
            <a:normAutofit fontScale="92500" lnSpcReduction="20000"/>
          </a:bodyPr>
          <a:lstStyle/>
          <a:p>
            <a:r>
              <a:rPr lang="en-US" b="1" dirty="0" smtClean="0"/>
              <a:t>Pure </a:t>
            </a:r>
            <a:r>
              <a:rPr lang="en-US" b="1" dirty="0"/>
              <a:t>Bundling</a:t>
            </a:r>
            <a:r>
              <a:rPr lang="en-US" dirty="0"/>
              <a:t>: </a:t>
            </a:r>
            <a:endParaRPr lang="en-US" dirty="0" smtClean="0"/>
          </a:p>
          <a:p>
            <a:pPr lvl="1" algn="just"/>
            <a:r>
              <a:rPr lang="en-US" dirty="0" smtClean="0"/>
              <a:t>Microsoft </a:t>
            </a:r>
            <a:r>
              <a:rPr lang="en-US" dirty="0"/>
              <a:t>Office 365 is available as bundle of </a:t>
            </a:r>
            <a:r>
              <a:rPr lang="en-US" dirty="0" smtClean="0"/>
              <a:t>different applications </a:t>
            </a:r>
            <a:r>
              <a:rPr lang="en-US" dirty="0"/>
              <a:t>such as word, excel, access, PowerPoint, outlook, OneNote etc</a:t>
            </a:r>
            <a:r>
              <a:rPr lang="en-US" dirty="0" smtClean="0"/>
              <a:t>. You </a:t>
            </a:r>
            <a:r>
              <a:rPr lang="en-US" dirty="0"/>
              <a:t>cannot buy these applications separately, you have to buy this in </a:t>
            </a:r>
            <a:r>
              <a:rPr lang="en-US" dirty="0" smtClean="0"/>
              <a:t>bundle only</a:t>
            </a:r>
            <a:r>
              <a:rPr lang="en-US" dirty="0"/>
              <a:t>. Microsoft has followed this practice because some applications </a:t>
            </a:r>
            <a:r>
              <a:rPr lang="en-US" dirty="0" smtClean="0"/>
              <a:t>are more </a:t>
            </a:r>
            <a:r>
              <a:rPr lang="en-US" dirty="0"/>
              <a:t>in demand as compared to others</a:t>
            </a:r>
            <a:r>
              <a:rPr lang="en-US" dirty="0" smtClean="0"/>
              <a:t>. </a:t>
            </a:r>
          </a:p>
          <a:p>
            <a:pPr lvl="1" algn="just"/>
            <a:r>
              <a:rPr lang="en-US" dirty="0"/>
              <a:t>Automobiles with features like AC, sun roofs and geographical systems.</a:t>
            </a:r>
          </a:p>
          <a:p>
            <a:pPr lvl="1" algn="just"/>
            <a:endParaRPr lang="en-US" dirty="0" smtClean="0"/>
          </a:p>
          <a:p>
            <a:pPr algn="just"/>
            <a:r>
              <a:rPr lang="en-US" b="1" dirty="0" smtClean="0"/>
              <a:t>Mixed Bundling:</a:t>
            </a:r>
            <a:endParaRPr lang="en-US" b="1" dirty="0"/>
          </a:p>
          <a:p>
            <a:pPr lvl="1"/>
            <a:r>
              <a:rPr lang="en-US" dirty="0" err="1" smtClean="0"/>
              <a:t>Eg</a:t>
            </a:r>
            <a:r>
              <a:rPr lang="en-US" dirty="0"/>
              <a:t>. MacDonald's Value meals</a:t>
            </a:r>
          </a:p>
          <a:p>
            <a:pPr lvl="1"/>
            <a:r>
              <a:rPr lang="en-US" dirty="0" smtClean="0"/>
              <a:t>Computer </a:t>
            </a:r>
            <a:r>
              <a:rPr lang="en-US" dirty="0"/>
              <a:t>package complete with a monitor, mouse, keyboard, and preloaded software for a single price.</a:t>
            </a:r>
          </a:p>
          <a:p>
            <a:pPr lvl="1"/>
            <a:r>
              <a:rPr lang="en-US" dirty="0"/>
              <a:t>Industries which use bundling practices include telecommunications services, software and computer companies, journal publishers, automobiles, vacation packages, and fast food restaurants, to</a:t>
            </a:r>
          </a:p>
          <a:p>
            <a:endParaRPr lang="en-IN" dirty="0"/>
          </a:p>
        </p:txBody>
      </p:sp>
    </p:spTree>
    <p:extLst>
      <p:ext uri="{BB962C8B-B14F-4D97-AF65-F5344CB8AC3E}">
        <p14:creationId xmlns:p14="http://schemas.microsoft.com/office/powerpoint/2010/main" val="3455246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Tying </a:t>
            </a:r>
            <a:endParaRPr lang="en-IN" dirty="0"/>
          </a:p>
        </p:txBody>
      </p:sp>
      <p:sp>
        <p:nvSpPr>
          <p:cNvPr id="3" name="Content Placeholder 2"/>
          <p:cNvSpPr>
            <a:spLocks noGrp="1"/>
          </p:cNvSpPr>
          <p:nvPr>
            <p:ph idx="1"/>
          </p:nvPr>
        </p:nvSpPr>
        <p:spPr/>
        <p:txBody>
          <a:bodyPr>
            <a:normAutofit/>
          </a:bodyPr>
          <a:lstStyle/>
          <a:p>
            <a:pPr algn="just"/>
            <a:r>
              <a:rPr lang="en-US" dirty="0"/>
              <a:t>Customers who leased a photo Copying Machine had to buy Photo copy Pricing </a:t>
            </a:r>
            <a:r>
              <a:rPr lang="en-US" dirty="0" smtClean="0"/>
              <a:t>Strategies Paper</a:t>
            </a:r>
            <a:r>
              <a:rPr lang="en-US" dirty="0"/>
              <a:t>. </a:t>
            </a:r>
            <a:endParaRPr lang="en-US" dirty="0" smtClean="0"/>
          </a:p>
          <a:p>
            <a:pPr algn="just"/>
            <a:r>
              <a:rPr lang="en-US" dirty="0" smtClean="0"/>
              <a:t>Another </a:t>
            </a:r>
            <a:r>
              <a:rPr lang="en-US" dirty="0"/>
              <a:t>case of tying was that by Kodak in which Kodak held </a:t>
            </a:r>
            <a:r>
              <a:rPr lang="en-US" dirty="0" smtClean="0"/>
              <a:t>a monopoly </a:t>
            </a:r>
            <a:r>
              <a:rPr lang="en-US" dirty="0"/>
              <a:t>in the market for Kodak Copier Parts. Kodak engaged in </a:t>
            </a:r>
            <a:r>
              <a:rPr lang="en-US" dirty="0" smtClean="0"/>
              <a:t>tying when </a:t>
            </a:r>
            <a:r>
              <a:rPr lang="en-US" dirty="0"/>
              <a:t>it refused to sell its parts to consumers or independent service </a:t>
            </a:r>
            <a:r>
              <a:rPr lang="en-US" dirty="0" smtClean="0"/>
              <a:t>providers except </a:t>
            </a:r>
            <a:r>
              <a:rPr lang="en-US" dirty="0"/>
              <a:t>in connection with a Kodak Service Contract. </a:t>
            </a:r>
            <a:endParaRPr lang="en-US" dirty="0" smtClean="0"/>
          </a:p>
          <a:p>
            <a:pPr algn="just"/>
            <a:r>
              <a:rPr lang="en-US" dirty="0" smtClean="0"/>
              <a:t>Today </a:t>
            </a:r>
            <a:r>
              <a:rPr lang="en-US" dirty="0"/>
              <a:t>when you buy </a:t>
            </a:r>
            <a:r>
              <a:rPr lang="en-US" dirty="0" smtClean="0"/>
              <a:t>a Mach3 </a:t>
            </a:r>
            <a:r>
              <a:rPr lang="en-US" dirty="0"/>
              <a:t>razor, you must buy the tied product i.e. the cartridge that fits into </a:t>
            </a:r>
            <a:r>
              <a:rPr lang="en-US" dirty="0" smtClean="0"/>
              <a:t>the Mach3 </a:t>
            </a:r>
            <a:r>
              <a:rPr lang="en-US" dirty="0"/>
              <a:t>razor</a:t>
            </a:r>
            <a:r>
              <a:rPr lang="en-US" dirty="0" smtClean="0"/>
              <a:t>.</a:t>
            </a:r>
          </a:p>
          <a:p>
            <a:pPr algn="just"/>
            <a:r>
              <a:rPr lang="en-US" dirty="0"/>
              <a:t>In </a:t>
            </a:r>
            <a:r>
              <a:rPr lang="en-US" dirty="0" smtClean="0"/>
              <a:t>India too</a:t>
            </a:r>
            <a:r>
              <a:rPr lang="en-US" dirty="0"/>
              <a:t>, a number of automobile companies are providing finance and </a:t>
            </a:r>
            <a:r>
              <a:rPr lang="en-US" dirty="0" smtClean="0"/>
              <a:t>bundling the </a:t>
            </a:r>
            <a:r>
              <a:rPr lang="en-US" dirty="0"/>
              <a:t>automobile with financing.</a:t>
            </a:r>
            <a:endParaRPr lang="en-IN" dirty="0"/>
          </a:p>
        </p:txBody>
      </p:sp>
    </p:spTree>
    <p:extLst>
      <p:ext uri="{BB962C8B-B14F-4D97-AF65-F5344CB8AC3E}">
        <p14:creationId xmlns:p14="http://schemas.microsoft.com/office/powerpoint/2010/main" val="3795614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Transfer Pricing </a:t>
            </a:r>
            <a:endParaRPr lang="en-IN" dirty="0"/>
          </a:p>
        </p:txBody>
      </p:sp>
      <p:sp>
        <p:nvSpPr>
          <p:cNvPr id="3" name="Content Placeholder 2"/>
          <p:cNvSpPr>
            <a:spLocks noGrp="1"/>
          </p:cNvSpPr>
          <p:nvPr>
            <p:ph idx="1"/>
          </p:nvPr>
        </p:nvSpPr>
        <p:spPr/>
        <p:txBody>
          <a:bodyPr>
            <a:normAutofit lnSpcReduction="10000"/>
          </a:bodyPr>
          <a:lstStyle/>
          <a:p>
            <a:pPr algn="just"/>
            <a:r>
              <a:rPr lang="en-IN" dirty="0" smtClean="0"/>
              <a:t>Many firms are vertically integrated-they contain several divisions with some divisions producing parts and components that other divisions use to produce finished product. </a:t>
            </a:r>
          </a:p>
          <a:p>
            <a:pPr algn="just"/>
            <a:r>
              <a:rPr lang="en-IN" dirty="0" smtClean="0"/>
              <a:t>For </a:t>
            </a:r>
            <a:r>
              <a:rPr lang="en-IN" dirty="0" err="1" smtClean="0"/>
              <a:t>eg</a:t>
            </a:r>
            <a:r>
              <a:rPr lang="en-IN" dirty="0" smtClean="0"/>
              <a:t>. Automobile companies have upstream divisions that produce engines, brakes, radiators and other components. </a:t>
            </a:r>
          </a:p>
          <a:p>
            <a:pPr algn="just"/>
            <a:r>
              <a:rPr lang="en-IN" dirty="0" smtClean="0"/>
              <a:t>Downstream divisions use to produce the finished cars. </a:t>
            </a:r>
          </a:p>
          <a:p>
            <a:pPr algn="just"/>
            <a:r>
              <a:rPr lang="en-IN" dirty="0" smtClean="0"/>
              <a:t>Transfer pricing are valuation of these parts and components within the firm. </a:t>
            </a:r>
          </a:p>
          <a:p>
            <a:pPr algn="just"/>
            <a:r>
              <a:rPr lang="en-IN" dirty="0" smtClean="0"/>
              <a:t>Transfer prices are internal prices at which parts and components from upstream divisions are sold to down stream divisions. </a:t>
            </a:r>
            <a:endParaRPr lang="en-IN" dirty="0"/>
          </a:p>
        </p:txBody>
      </p:sp>
    </p:spTree>
    <p:extLst>
      <p:ext uri="{BB962C8B-B14F-4D97-AF65-F5344CB8AC3E}">
        <p14:creationId xmlns:p14="http://schemas.microsoft.com/office/powerpoint/2010/main" val="2776839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Transfer Pricing</a:t>
            </a:r>
            <a:endParaRPr lang="en-IN" dirty="0"/>
          </a:p>
        </p:txBody>
      </p:sp>
      <p:sp>
        <p:nvSpPr>
          <p:cNvPr id="3" name="Content Placeholder 2"/>
          <p:cNvSpPr>
            <a:spLocks noGrp="1"/>
          </p:cNvSpPr>
          <p:nvPr>
            <p:ph idx="1"/>
          </p:nvPr>
        </p:nvSpPr>
        <p:spPr/>
        <p:txBody>
          <a:bodyPr>
            <a:normAutofit lnSpcReduction="10000"/>
          </a:bodyPr>
          <a:lstStyle/>
          <a:p>
            <a:r>
              <a:rPr lang="en-US" dirty="0" smtClean="0"/>
              <a:t>Transactions covered under transfer pricing are </a:t>
            </a:r>
          </a:p>
          <a:p>
            <a:pPr lvl="1"/>
            <a:r>
              <a:rPr lang="en-US" dirty="0" smtClean="0"/>
              <a:t>Sale of finished goods, </a:t>
            </a:r>
          </a:p>
          <a:p>
            <a:pPr lvl="1"/>
            <a:r>
              <a:rPr lang="en-US" dirty="0" smtClean="0"/>
              <a:t>Purchase of raw material,</a:t>
            </a:r>
          </a:p>
          <a:p>
            <a:pPr lvl="1"/>
            <a:r>
              <a:rPr lang="en-US" dirty="0" smtClean="0"/>
              <a:t> IT Enabled services,</a:t>
            </a:r>
          </a:p>
          <a:p>
            <a:pPr lvl="1"/>
            <a:r>
              <a:rPr lang="en-US" dirty="0" smtClean="0"/>
              <a:t>Purchase of fixed assets, </a:t>
            </a:r>
          </a:p>
          <a:p>
            <a:pPr lvl="1"/>
            <a:r>
              <a:rPr lang="en-US" dirty="0" smtClean="0"/>
              <a:t>Sale or purchase of machinery, </a:t>
            </a:r>
          </a:p>
          <a:p>
            <a:pPr lvl="1"/>
            <a:r>
              <a:rPr lang="en-US" dirty="0" smtClean="0"/>
              <a:t>Sale or purchase of Intangibles, </a:t>
            </a:r>
          </a:p>
          <a:p>
            <a:pPr lvl="1"/>
            <a:r>
              <a:rPr lang="en-US" dirty="0" smtClean="0"/>
              <a:t>Reimbursement of expenses paid/received, Support services,</a:t>
            </a:r>
          </a:p>
          <a:p>
            <a:pPr lvl="1"/>
            <a:r>
              <a:rPr lang="en-US" dirty="0" smtClean="0"/>
              <a:t>Software Development services, </a:t>
            </a:r>
          </a:p>
          <a:p>
            <a:pPr lvl="1"/>
            <a:r>
              <a:rPr lang="en-US" dirty="0" smtClean="0"/>
              <a:t>Technical Service fees, Management fees,</a:t>
            </a:r>
          </a:p>
          <a:p>
            <a:pPr lvl="1"/>
            <a:r>
              <a:rPr lang="en-US" dirty="0" smtClean="0"/>
              <a:t>Royalty fees, Corporate Guarantee fees, Loan received or paid etc.</a:t>
            </a:r>
            <a:endParaRPr lang="en-IN" dirty="0"/>
          </a:p>
        </p:txBody>
      </p:sp>
    </p:spTree>
    <p:extLst>
      <p:ext uri="{BB962C8B-B14F-4D97-AF65-F5344CB8AC3E}">
        <p14:creationId xmlns:p14="http://schemas.microsoft.com/office/powerpoint/2010/main" val="1703491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prstClr val="black"/>
                </a:solidFill>
              </a:rPr>
              <a:t>Purpose of </a:t>
            </a:r>
            <a:r>
              <a:rPr lang="en-US" dirty="0" smtClean="0">
                <a:solidFill>
                  <a:prstClr val="black"/>
                </a:solidFill>
              </a:rPr>
              <a:t>Transfer Pricing Strategies</a:t>
            </a:r>
            <a:r>
              <a:rPr lang="en-US" dirty="0">
                <a:solidFill>
                  <a:prstClr val="black"/>
                </a:solidFill>
              </a:rPr>
              <a:t/>
            </a:r>
            <a:br>
              <a:rPr lang="en-US" dirty="0">
                <a:solidFill>
                  <a:prstClr val="black"/>
                </a:solidFill>
              </a:rPr>
            </a:br>
            <a:endParaRPr lang="en-IN" dirty="0"/>
          </a:p>
        </p:txBody>
      </p:sp>
      <p:sp>
        <p:nvSpPr>
          <p:cNvPr id="3" name="Content Placeholder 2"/>
          <p:cNvSpPr>
            <a:spLocks noGrp="1"/>
          </p:cNvSpPr>
          <p:nvPr>
            <p:ph idx="1"/>
          </p:nvPr>
        </p:nvSpPr>
        <p:spPr/>
        <p:txBody>
          <a:bodyPr/>
          <a:lstStyle/>
          <a:p>
            <a:pPr lvl="0"/>
            <a:r>
              <a:rPr lang="en-US" dirty="0">
                <a:solidFill>
                  <a:prstClr val="black"/>
                </a:solidFill>
              </a:rPr>
              <a:t>Profits of different units can be ascertained separately and this helps in separate performance evaluation of each unit of an organization.</a:t>
            </a:r>
          </a:p>
          <a:p>
            <a:pPr lvl="0"/>
            <a:r>
              <a:rPr lang="en-US" dirty="0">
                <a:solidFill>
                  <a:prstClr val="black"/>
                </a:solidFill>
              </a:rPr>
              <a:t>Transfer pricing also impact resource allocation among different units of an organization.</a:t>
            </a:r>
            <a:endParaRPr lang="en-IN" dirty="0">
              <a:solidFill>
                <a:prstClr val="black"/>
              </a:solidFill>
            </a:endParaRPr>
          </a:p>
          <a:p>
            <a:endParaRPr lang="en-IN" dirty="0"/>
          </a:p>
        </p:txBody>
      </p:sp>
    </p:spTree>
    <p:extLst>
      <p:ext uri="{BB962C8B-B14F-4D97-AF65-F5344CB8AC3E}">
        <p14:creationId xmlns:p14="http://schemas.microsoft.com/office/powerpoint/2010/main" val="3342032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dirty="0" smtClean="0"/>
              <a:t>Fully distributed versus Incremental Cost Pricing </a:t>
            </a:r>
            <a:endParaRPr lang="en-IN" sz="3600" dirty="0"/>
          </a:p>
        </p:txBody>
      </p:sp>
      <p:sp>
        <p:nvSpPr>
          <p:cNvPr id="3" name="Content Placeholder 2"/>
          <p:cNvSpPr>
            <a:spLocks noGrp="1"/>
          </p:cNvSpPr>
          <p:nvPr>
            <p:ph idx="1"/>
          </p:nvPr>
        </p:nvSpPr>
        <p:spPr/>
        <p:txBody>
          <a:bodyPr>
            <a:normAutofit fontScale="92500" lnSpcReduction="20000"/>
          </a:bodyPr>
          <a:lstStyle/>
          <a:p>
            <a:r>
              <a:rPr lang="en-IN" dirty="0" smtClean="0"/>
              <a:t>Fully distributed cost pricing method allocates a portion of firm’s common costs to each product or service. </a:t>
            </a:r>
          </a:p>
          <a:p>
            <a:pPr algn="just"/>
            <a:r>
              <a:rPr lang="en-IN" dirty="0" smtClean="0"/>
              <a:t>Price of each is set so that it covers the designated portion of common costs plus costs that are directly related to the provision of the product or service. </a:t>
            </a:r>
          </a:p>
          <a:p>
            <a:pPr algn="just"/>
            <a:r>
              <a:rPr lang="en-IN" dirty="0" smtClean="0"/>
              <a:t>Some costs are clearly related to the provision of a particular product or service. For example meters on homes are there for the sole purpose of measuring the amount of electricity used in the house. </a:t>
            </a:r>
          </a:p>
          <a:p>
            <a:pPr algn="just"/>
            <a:r>
              <a:rPr lang="en-IN" dirty="0" smtClean="0"/>
              <a:t>High voltage transmission lines. Electricity for residential users is transmitted to urban areas over such lines. These same </a:t>
            </a:r>
            <a:r>
              <a:rPr lang="en-IN" dirty="0" smtClean="0"/>
              <a:t>facilities </a:t>
            </a:r>
            <a:r>
              <a:rPr lang="en-IN" dirty="0" smtClean="0"/>
              <a:t>are also used to serve industrial and commercial customers. For an electric utility expenses associated with high voltage transmission are referred to as common costs. </a:t>
            </a:r>
            <a:endParaRPr lang="en-IN" dirty="0"/>
          </a:p>
        </p:txBody>
      </p:sp>
    </p:spTree>
    <p:extLst>
      <p:ext uri="{BB962C8B-B14F-4D97-AF65-F5344CB8AC3E}">
        <p14:creationId xmlns:p14="http://schemas.microsoft.com/office/powerpoint/2010/main" val="172665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Incremental Cost Pricing Method </a:t>
            </a:r>
            <a:endParaRPr lang="en-IN" dirty="0"/>
          </a:p>
        </p:txBody>
      </p:sp>
      <p:sp>
        <p:nvSpPr>
          <p:cNvPr id="3" name="Content Placeholder 2"/>
          <p:cNvSpPr>
            <a:spLocks noGrp="1"/>
          </p:cNvSpPr>
          <p:nvPr>
            <p:ph idx="1"/>
          </p:nvPr>
        </p:nvSpPr>
        <p:spPr/>
        <p:txBody>
          <a:bodyPr/>
          <a:lstStyle/>
          <a:p>
            <a:pPr algn="just"/>
            <a:r>
              <a:rPr lang="en-IN" dirty="0" smtClean="0"/>
              <a:t>Suppose a train has a route that carries passengers between Delhi and Ajmer. The managers are considering an intermediate stop in Jaipur. The rails, locomotives, and coaches already exist. So the additional expense would be the energy cost of transporting extra passengers and the establishment of terminal </a:t>
            </a:r>
            <a:r>
              <a:rPr lang="en-IN" dirty="0" err="1" smtClean="0"/>
              <a:t>facilties</a:t>
            </a:r>
            <a:r>
              <a:rPr lang="en-IN" dirty="0" smtClean="0"/>
              <a:t> in Jaipur. </a:t>
            </a:r>
          </a:p>
          <a:p>
            <a:pPr algn="just"/>
            <a:r>
              <a:rPr lang="en-IN" dirty="0" smtClean="0"/>
              <a:t>Incremental cost are additional cost that would not be incurred if the product were not produced. </a:t>
            </a:r>
            <a:endParaRPr lang="en-IN" dirty="0"/>
          </a:p>
        </p:txBody>
      </p:sp>
    </p:spTree>
    <p:extLst>
      <p:ext uri="{BB962C8B-B14F-4D97-AF65-F5344CB8AC3E}">
        <p14:creationId xmlns:p14="http://schemas.microsoft.com/office/powerpoint/2010/main" val="285909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Predatory Pricing </a:t>
            </a:r>
            <a:endParaRPr lang="en-IN" dirty="0"/>
          </a:p>
        </p:txBody>
      </p:sp>
      <p:sp>
        <p:nvSpPr>
          <p:cNvPr id="3" name="Content Placeholder 2"/>
          <p:cNvSpPr>
            <a:spLocks noGrp="1"/>
          </p:cNvSpPr>
          <p:nvPr>
            <p:ph idx="1"/>
          </p:nvPr>
        </p:nvSpPr>
        <p:spPr/>
        <p:txBody>
          <a:bodyPr>
            <a:normAutofit fontScale="92500" lnSpcReduction="10000"/>
          </a:bodyPr>
          <a:lstStyle/>
          <a:p>
            <a:pPr algn="just"/>
            <a:r>
              <a:rPr lang="en-US" dirty="0" smtClean="0"/>
              <a:t>Predatory pricing occurs when a firm sells a good or service at a price below cost  (or very cheaply) with the intention of forcing rival firms out of business.</a:t>
            </a:r>
          </a:p>
          <a:p>
            <a:pPr lvl="1" algn="just"/>
            <a:r>
              <a:rPr lang="en-US" dirty="0" smtClean="0"/>
              <a:t>Predatory pricing could be a method to deal with new firms who enter an industry.</a:t>
            </a:r>
          </a:p>
          <a:p>
            <a:pPr lvl="1" algn="just"/>
            <a:r>
              <a:rPr lang="en-US" dirty="0" smtClean="0"/>
              <a:t>If a monopoly is enjoying supernormal profits, it is likely to attract new firms into the industry – who would reduce the incumbent’s profitability.</a:t>
            </a:r>
          </a:p>
          <a:p>
            <a:pPr lvl="1" algn="just"/>
            <a:r>
              <a:rPr lang="en-US" dirty="0" smtClean="0"/>
              <a:t>However, in response, the incumbent monopoly could cut prices and make a temporary loss.</a:t>
            </a:r>
          </a:p>
          <a:p>
            <a:pPr lvl="1" algn="just"/>
            <a:r>
              <a:rPr lang="en-US" dirty="0" smtClean="0"/>
              <a:t>These low prices and operating at a loss may force the new firm out of business.</a:t>
            </a:r>
          </a:p>
          <a:p>
            <a:pPr lvl="1" algn="just"/>
            <a:r>
              <a:rPr lang="en-US" dirty="0" smtClean="0"/>
              <a:t>The incumbent monopoly may have significant savings to finance a price war, whilst the new firm is more vulnerable due to financing cost of entering the market.</a:t>
            </a:r>
          </a:p>
          <a:p>
            <a:pPr lvl="1" algn="just"/>
            <a:r>
              <a:rPr lang="en-US" dirty="0" smtClean="0"/>
              <a:t>If successful, the monopoly firm regains its monopoly power, but also its action of predatory pricing discourages other firms from trying to enter.</a:t>
            </a:r>
            <a:endParaRPr lang="en-IN" dirty="0"/>
          </a:p>
        </p:txBody>
      </p:sp>
    </p:spTree>
    <p:extLst>
      <p:ext uri="{BB962C8B-B14F-4D97-AF65-F5344CB8AC3E}">
        <p14:creationId xmlns:p14="http://schemas.microsoft.com/office/powerpoint/2010/main" val="2369550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Predatory Pricing Example</a:t>
            </a:r>
            <a:endParaRPr lang="en-IN" dirty="0"/>
          </a:p>
        </p:txBody>
      </p:sp>
      <p:sp>
        <p:nvSpPr>
          <p:cNvPr id="3" name="Content Placeholder 2"/>
          <p:cNvSpPr>
            <a:spLocks noGrp="1"/>
          </p:cNvSpPr>
          <p:nvPr>
            <p:ph idx="1"/>
          </p:nvPr>
        </p:nvSpPr>
        <p:spPr/>
        <p:txBody>
          <a:bodyPr>
            <a:normAutofit fontScale="92500" lnSpcReduction="10000"/>
          </a:bodyPr>
          <a:lstStyle/>
          <a:p>
            <a:r>
              <a:rPr lang="en-US" b="1" dirty="0" smtClean="0"/>
              <a:t>Darlington Bus wars (1994)</a:t>
            </a:r>
          </a:p>
          <a:p>
            <a:pPr algn="just"/>
            <a:r>
              <a:rPr lang="en-US" dirty="0" smtClean="0"/>
              <a:t>In the Darlington bus wars, Busways  (owned by Stagecoach from July 1994) a new entrant into the deregulated bus markets, offered free bus travel to try and force the rival Darlington Bus company out of business. </a:t>
            </a:r>
          </a:p>
          <a:p>
            <a:pPr algn="just"/>
            <a:r>
              <a:rPr lang="en-US" dirty="0" smtClean="0"/>
              <a:t>Busways were also successful in attracting bus drivers from its rival (by paying higher wages. For a time, they also offered free bus rides – attracting customers from their rivals The result was that Darlington Transport Company (DTC) went out of business leading to monopoly power for the remaining Busways company.</a:t>
            </a:r>
          </a:p>
          <a:p>
            <a:pPr algn="just"/>
            <a:r>
              <a:rPr lang="en-US" dirty="0" smtClean="0"/>
              <a:t>In a report into the entry of Busways, the Monopolies and Mergers commission reported that the actions of Busways did amount to predatory pricing. (Report by MMC)</a:t>
            </a:r>
            <a:endParaRPr lang="en-IN" dirty="0"/>
          </a:p>
        </p:txBody>
      </p:sp>
    </p:spTree>
    <p:extLst>
      <p:ext uri="{BB962C8B-B14F-4D97-AF65-F5344CB8AC3E}">
        <p14:creationId xmlns:p14="http://schemas.microsoft.com/office/powerpoint/2010/main" val="528058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Ramsey Pricing </a:t>
            </a:r>
            <a:endParaRPr lang="en-IN" dirty="0"/>
          </a:p>
        </p:txBody>
      </p:sp>
      <p:sp>
        <p:nvSpPr>
          <p:cNvPr id="3" name="Content Placeholder 2"/>
          <p:cNvSpPr>
            <a:spLocks noGrp="1"/>
          </p:cNvSpPr>
          <p:nvPr>
            <p:ph idx="1"/>
          </p:nvPr>
        </p:nvSpPr>
        <p:spPr/>
        <p:txBody>
          <a:bodyPr>
            <a:normAutofit/>
          </a:bodyPr>
          <a:lstStyle/>
          <a:p>
            <a:pPr algn="just"/>
            <a:r>
              <a:rPr lang="en-IN" dirty="0" smtClean="0"/>
              <a:t>No product should be supplied by a firm unless its incremental revenues are expected to exceed its incremental cost. </a:t>
            </a:r>
          </a:p>
          <a:p>
            <a:pPr algn="just"/>
            <a:r>
              <a:rPr lang="en-IN" dirty="0" smtClean="0"/>
              <a:t>If there are common costs managers must decide which products will be priced above incremental cost and how much. </a:t>
            </a:r>
          </a:p>
          <a:p>
            <a:pPr algn="just"/>
            <a:r>
              <a:rPr lang="en-IN" dirty="0" smtClean="0"/>
              <a:t>For regulated firms limited to a maximum rate of profit and for non profit enterprises expected to just cover their costs some other approach may be necessary. One such method </a:t>
            </a:r>
            <a:r>
              <a:rPr lang="en-IN" dirty="0" err="1" smtClean="0"/>
              <a:t>os</a:t>
            </a:r>
            <a:r>
              <a:rPr lang="en-IN" dirty="0" smtClean="0"/>
              <a:t> Ramsey pricing. </a:t>
            </a:r>
          </a:p>
          <a:p>
            <a:pPr algn="just"/>
            <a:r>
              <a:rPr lang="en-IN" b="1" dirty="0" smtClean="0"/>
              <a:t>Ramsey pricing requires that price deviations from marginal cost be inversely related to the elasticity of demand. </a:t>
            </a:r>
          </a:p>
          <a:p>
            <a:pPr marL="0" indent="0" algn="just">
              <a:buNone/>
            </a:pPr>
            <a:endParaRPr lang="en-IN" b="1" dirty="0" smtClean="0"/>
          </a:p>
          <a:p>
            <a:pPr marL="0" indent="0" algn="just">
              <a:buNone/>
            </a:pPr>
            <a:endParaRPr lang="en-IN" dirty="0"/>
          </a:p>
        </p:txBody>
      </p:sp>
    </p:spTree>
    <p:extLst>
      <p:ext uri="{BB962C8B-B14F-4D97-AF65-F5344CB8AC3E}">
        <p14:creationId xmlns:p14="http://schemas.microsoft.com/office/powerpoint/2010/main" val="2519456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4337"/>
          </a:xfrm>
        </p:spPr>
        <p:txBody>
          <a:bodyPr/>
          <a:lstStyle/>
          <a:p>
            <a:r>
              <a:rPr lang="en-IN" dirty="0" smtClean="0"/>
              <a:t>Other Pricing Strategies </a:t>
            </a:r>
            <a:endParaRPr lang="en-IN" dirty="0"/>
          </a:p>
        </p:txBody>
      </p:sp>
      <p:sp>
        <p:nvSpPr>
          <p:cNvPr id="3" name="Content Placeholder 2"/>
          <p:cNvSpPr>
            <a:spLocks noGrp="1"/>
          </p:cNvSpPr>
          <p:nvPr>
            <p:ph idx="1"/>
          </p:nvPr>
        </p:nvSpPr>
        <p:spPr>
          <a:xfrm>
            <a:off x="838200" y="1432290"/>
            <a:ext cx="10515600" cy="5017062"/>
          </a:xfrm>
        </p:spPr>
        <p:txBody>
          <a:bodyPr>
            <a:normAutofit fontScale="92500" lnSpcReduction="20000"/>
          </a:bodyPr>
          <a:lstStyle/>
          <a:p>
            <a:pPr algn="just"/>
            <a:r>
              <a:rPr lang="en-US" dirty="0" smtClean="0"/>
              <a:t>Prestige Pricing :</a:t>
            </a:r>
          </a:p>
          <a:p>
            <a:pPr lvl="1" algn="just"/>
            <a:r>
              <a:rPr lang="en-US" dirty="0" smtClean="0"/>
              <a:t>Prestige pricing is a type of pricing strategy, where a product is placed at a higher price, because consumers associate higher price with higher quality and a prestige is attached to the ownership of the product. This is also known as Image Pricing. NIKE is one of the best examples of prestige pricing.</a:t>
            </a:r>
          </a:p>
          <a:p>
            <a:pPr algn="just"/>
            <a:r>
              <a:rPr lang="en-US" dirty="0" smtClean="0"/>
              <a:t>Price Skimming</a:t>
            </a:r>
          </a:p>
          <a:p>
            <a:pPr lvl="1" algn="just"/>
            <a:r>
              <a:rPr lang="en-US" dirty="0" smtClean="0"/>
              <a:t>It is a strategy where a company charges high prices from consumers at first and earn substantial profits, later reduces the prices gradually to attract other customers who are price sensitive. APPLE is the best example of this type of pricing strategy.</a:t>
            </a:r>
          </a:p>
          <a:p>
            <a:pPr algn="just"/>
            <a:r>
              <a:rPr lang="en-US" dirty="0" smtClean="0"/>
              <a:t>Penetration Pricing</a:t>
            </a:r>
          </a:p>
          <a:p>
            <a:pPr lvl="1" algn="just"/>
            <a:r>
              <a:rPr lang="en-US" dirty="0" smtClean="0"/>
              <a:t>Companies charge relatively lower prices for their product to attract customers and increase market share. This pricing strategy is to lure customers away from competitor’s products.</a:t>
            </a:r>
          </a:p>
          <a:p>
            <a:pPr algn="just"/>
            <a:r>
              <a:rPr lang="en-US" dirty="0" smtClean="0"/>
              <a:t>Psychological Pricing</a:t>
            </a:r>
          </a:p>
          <a:p>
            <a:pPr lvl="1" algn="just"/>
            <a:r>
              <a:rPr lang="en-US" dirty="0" smtClean="0"/>
              <a:t>Psychological pricing involves pricing that has impact on the psychology of the consumers. E.g., Companies set prices such as ` 499 etc. which consumers perceive as lower prices than they actually are.</a:t>
            </a:r>
            <a:endParaRPr lang="en-IN" dirty="0"/>
          </a:p>
        </p:txBody>
      </p:sp>
    </p:spTree>
    <p:extLst>
      <p:ext uri="{BB962C8B-B14F-4D97-AF65-F5344CB8AC3E}">
        <p14:creationId xmlns:p14="http://schemas.microsoft.com/office/powerpoint/2010/main" val="3901723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TotalTime>
  <Words>1369</Words>
  <Application>Microsoft Office PowerPoint</Application>
  <PresentationFormat>Widescreen</PresentationFormat>
  <Paragraphs>79</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Pricing Methods</vt:lpstr>
      <vt:lpstr>Peak load Pricing </vt:lpstr>
      <vt:lpstr>Bundling </vt:lpstr>
      <vt:lpstr>Examples of Bundling </vt:lpstr>
      <vt:lpstr>Tying </vt:lpstr>
      <vt:lpstr>Transfer Pricing </vt:lpstr>
      <vt:lpstr>Transfer Pricing</vt:lpstr>
      <vt:lpstr>Purpose of Transfer Pricing Strategies </vt:lpstr>
      <vt:lpstr>Fully distributed versus Incremental Cost Pricing </vt:lpstr>
      <vt:lpstr>Incremental Cost Pricing Method </vt:lpstr>
      <vt:lpstr>Predatory Pricing </vt:lpstr>
      <vt:lpstr>Predatory Pricing Example</vt:lpstr>
      <vt:lpstr>Ramsey Pricing </vt:lpstr>
      <vt:lpstr>Other Pricing Strategies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Pricing Methods</dc:title>
  <dc:creator>vaith</dc:creator>
  <cp:lastModifiedBy>vaith</cp:lastModifiedBy>
  <cp:revision>16</cp:revision>
  <dcterms:created xsi:type="dcterms:W3CDTF">2024-09-30T14:24:52Z</dcterms:created>
  <dcterms:modified xsi:type="dcterms:W3CDTF">2025-10-09T03:43:14Z</dcterms:modified>
</cp:coreProperties>
</file>