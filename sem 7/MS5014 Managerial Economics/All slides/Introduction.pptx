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0"/>
  </p:notesMasterIdLst>
  <p:handoutMasterIdLst>
    <p:handoutMasterId r:id="rId41"/>
  </p:handoutMasterIdLst>
  <p:sldIdLst>
    <p:sldId id="256" r:id="rId2"/>
    <p:sldId id="257" r:id="rId3"/>
    <p:sldId id="260" r:id="rId4"/>
    <p:sldId id="288" r:id="rId5"/>
    <p:sldId id="292" r:id="rId6"/>
    <p:sldId id="295" r:id="rId7"/>
    <p:sldId id="296" r:id="rId8"/>
    <p:sldId id="294" r:id="rId9"/>
    <p:sldId id="267" r:id="rId10"/>
    <p:sldId id="301" r:id="rId11"/>
    <p:sldId id="303" r:id="rId12"/>
    <p:sldId id="304" r:id="rId13"/>
    <p:sldId id="305" r:id="rId14"/>
    <p:sldId id="306" r:id="rId15"/>
    <p:sldId id="307" r:id="rId16"/>
    <p:sldId id="308" r:id="rId17"/>
    <p:sldId id="297" r:id="rId18"/>
    <p:sldId id="290" r:id="rId19"/>
    <p:sldId id="291" r:id="rId20"/>
    <p:sldId id="278" r:id="rId21"/>
    <p:sldId id="259" r:id="rId22"/>
    <p:sldId id="286" r:id="rId23"/>
    <p:sldId id="287" r:id="rId24"/>
    <p:sldId id="284" r:id="rId25"/>
    <p:sldId id="281" r:id="rId26"/>
    <p:sldId id="298" r:id="rId27"/>
    <p:sldId id="309" r:id="rId28"/>
    <p:sldId id="283" r:id="rId29"/>
    <p:sldId id="262" r:id="rId30"/>
    <p:sldId id="264" r:id="rId31"/>
    <p:sldId id="266" r:id="rId32"/>
    <p:sldId id="271" r:id="rId33"/>
    <p:sldId id="273" r:id="rId34"/>
    <p:sldId id="272" r:id="rId35"/>
    <p:sldId id="275" r:id="rId36"/>
    <p:sldId id="299" r:id="rId37"/>
    <p:sldId id="300" r:id="rId38"/>
    <p:sldId id="276" r:id="rId3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51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755" autoAdjust="0"/>
  </p:normalViewPr>
  <p:slideViewPr>
    <p:cSldViewPr snapToGrid="0">
      <p:cViewPr varScale="1">
        <p:scale>
          <a:sx n="63" d="100"/>
          <a:sy n="63" d="100"/>
        </p:scale>
        <p:origin x="764" y="64"/>
      </p:cViewPr>
      <p:guideLst/>
    </p:cSldViewPr>
  </p:slideViewPr>
  <p:outlineViewPr>
    <p:cViewPr>
      <p:scale>
        <a:sx n="33" d="100"/>
        <a:sy n="33" d="100"/>
      </p:scale>
      <p:origin x="0" y="-28196"/>
    </p:cViewPr>
  </p:outlineViewPr>
  <p:notesTextViewPr>
    <p:cViewPr>
      <p:scale>
        <a:sx n="1" d="1"/>
        <a:sy n="1" d="1"/>
      </p:scale>
      <p:origin x="0" y="0"/>
    </p:cViewPr>
  </p:notesTextViewPr>
  <p:notesViewPr>
    <p:cSldViewPr snapToGrid="0">
      <p:cViewPr varScale="1">
        <p:scale>
          <a:sx n="51" d="100"/>
          <a:sy n="51" d="100"/>
        </p:scale>
        <p:origin x="2692" y="56"/>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handoutMaster" Target="handoutMasters/handoutMaster1.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3E10CEF-52D8-4C30-9DF9-3135F2439B12}" type="doc">
      <dgm:prSet loTypeId="urn:microsoft.com/office/officeart/2011/layout/HexagonRadial" loCatId="cycle" qsTypeId="urn:microsoft.com/office/officeart/2005/8/quickstyle/simple1" qsCatId="simple" csTypeId="urn:microsoft.com/office/officeart/2005/8/colors/colorful5" csCatId="colorful" phldr="1"/>
      <dgm:spPr/>
      <dgm:t>
        <a:bodyPr/>
        <a:lstStyle/>
        <a:p>
          <a:endParaRPr lang="en-US"/>
        </a:p>
      </dgm:t>
    </dgm:pt>
    <dgm:pt modelId="{7800B64F-B4C8-43B9-98D0-5A30FBCB47D9}">
      <dgm:prSet phldrT="[Text]"/>
      <dgm:spPr/>
      <dgm:t>
        <a:bodyPr/>
        <a:lstStyle/>
        <a:p>
          <a:r>
            <a:rPr lang="en-US" dirty="0" smtClean="0">
              <a:solidFill>
                <a:schemeClr val="tx1"/>
              </a:solidFill>
            </a:rPr>
            <a:t>Economics</a:t>
          </a:r>
          <a:endParaRPr lang="en-US" dirty="0">
            <a:solidFill>
              <a:schemeClr val="tx1"/>
            </a:solidFill>
          </a:endParaRPr>
        </a:p>
      </dgm:t>
    </dgm:pt>
    <dgm:pt modelId="{C20C8CB1-2783-453B-BBB8-8E4CF9A69FF8}" type="parTrans" cxnId="{AFE31611-60C7-48CC-AE07-272FF65960BE}">
      <dgm:prSet/>
      <dgm:spPr/>
      <dgm:t>
        <a:bodyPr/>
        <a:lstStyle/>
        <a:p>
          <a:endParaRPr lang="en-US"/>
        </a:p>
      </dgm:t>
    </dgm:pt>
    <dgm:pt modelId="{524DF4FC-BDF9-4BD3-A345-A5EF53483E8F}" type="sibTrans" cxnId="{AFE31611-60C7-48CC-AE07-272FF65960BE}">
      <dgm:prSet/>
      <dgm:spPr/>
      <dgm:t>
        <a:bodyPr/>
        <a:lstStyle/>
        <a:p>
          <a:endParaRPr lang="en-US"/>
        </a:p>
      </dgm:t>
    </dgm:pt>
    <dgm:pt modelId="{F9E83695-3E9A-48BE-B527-1836DA48AC7F}">
      <dgm:prSet phldrT="[Text]"/>
      <dgm:spPr/>
      <dgm:t>
        <a:bodyPr/>
        <a:lstStyle/>
        <a:p>
          <a:r>
            <a:rPr lang="en-US" dirty="0" smtClean="0"/>
            <a:t>Resource allocation</a:t>
          </a:r>
          <a:endParaRPr lang="en-US" dirty="0"/>
        </a:p>
      </dgm:t>
    </dgm:pt>
    <dgm:pt modelId="{71100DD2-E6B5-4DD9-A585-BD1E187D991F}" type="parTrans" cxnId="{E966EACD-FD71-477E-95C2-C50088FAEC6C}">
      <dgm:prSet/>
      <dgm:spPr/>
      <dgm:t>
        <a:bodyPr/>
        <a:lstStyle/>
        <a:p>
          <a:endParaRPr lang="en-US"/>
        </a:p>
      </dgm:t>
    </dgm:pt>
    <dgm:pt modelId="{31894C94-B2E6-441A-A00E-042D37260A9F}" type="sibTrans" cxnId="{E966EACD-FD71-477E-95C2-C50088FAEC6C}">
      <dgm:prSet/>
      <dgm:spPr/>
      <dgm:t>
        <a:bodyPr/>
        <a:lstStyle/>
        <a:p>
          <a:endParaRPr lang="en-US"/>
        </a:p>
      </dgm:t>
    </dgm:pt>
    <dgm:pt modelId="{75F09D54-CB0C-4932-B4DA-730E9FC5B96D}">
      <dgm:prSet phldrT="[Text]"/>
      <dgm:spPr/>
      <dgm:t>
        <a:bodyPr/>
        <a:lstStyle/>
        <a:p>
          <a:r>
            <a:rPr lang="en-US" dirty="0" smtClean="0"/>
            <a:t>Scarcity </a:t>
          </a:r>
          <a:endParaRPr lang="en-US" dirty="0"/>
        </a:p>
      </dgm:t>
    </dgm:pt>
    <dgm:pt modelId="{59A29F75-F9FA-464F-8176-76851D9823CD}" type="parTrans" cxnId="{BFE9959F-5038-471C-B7B9-A4494B23D9B4}">
      <dgm:prSet/>
      <dgm:spPr/>
      <dgm:t>
        <a:bodyPr/>
        <a:lstStyle/>
        <a:p>
          <a:endParaRPr lang="en-US"/>
        </a:p>
      </dgm:t>
    </dgm:pt>
    <dgm:pt modelId="{DE62F300-9B97-486F-8163-4BF2B81ECBFC}" type="sibTrans" cxnId="{BFE9959F-5038-471C-B7B9-A4494B23D9B4}">
      <dgm:prSet/>
      <dgm:spPr/>
      <dgm:t>
        <a:bodyPr/>
        <a:lstStyle/>
        <a:p>
          <a:endParaRPr lang="en-US"/>
        </a:p>
      </dgm:t>
    </dgm:pt>
    <dgm:pt modelId="{44903B6F-71EE-4B60-8351-F4684917A9AB}">
      <dgm:prSet phldrT="[Text]"/>
      <dgm:spPr/>
      <dgm:t>
        <a:bodyPr/>
        <a:lstStyle/>
        <a:p>
          <a:r>
            <a:rPr lang="en-US" dirty="0" smtClean="0"/>
            <a:t>Efficiency vs Equality  </a:t>
          </a:r>
          <a:endParaRPr lang="en-US" dirty="0"/>
        </a:p>
      </dgm:t>
    </dgm:pt>
    <dgm:pt modelId="{0C6E8A16-2581-4353-946A-187193ABE69E}" type="parTrans" cxnId="{316E0A6F-2BD1-4254-A7F0-7C1E256B2B33}">
      <dgm:prSet/>
      <dgm:spPr/>
      <dgm:t>
        <a:bodyPr/>
        <a:lstStyle/>
        <a:p>
          <a:endParaRPr lang="en-US"/>
        </a:p>
      </dgm:t>
    </dgm:pt>
    <dgm:pt modelId="{A12FD1DB-D26D-43DA-9360-78E597B7B3EE}" type="sibTrans" cxnId="{316E0A6F-2BD1-4254-A7F0-7C1E256B2B33}">
      <dgm:prSet/>
      <dgm:spPr/>
      <dgm:t>
        <a:bodyPr/>
        <a:lstStyle/>
        <a:p>
          <a:endParaRPr lang="en-US"/>
        </a:p>
      </dgm:t>
    </dgm:pt>
    <dgm:pt modelId="{BB5A63FC-2A09-49AB-AB04-A87D806B47C1}">
      <dgm:prSet phldrT="[Text]"/>
      <dgm:spPr/>
      <dgm:t>
        <a:bodyPr/>
        <a:lstStyle/>
        <a:p>
          <a:r>
            <a:rPr lang="en-US" dirty="0" smtClean="0"/>
            <a:t>Decision Making </a:t>
          </a:r>
          <a:endParaRPr lang="en-US" dirty="0"/>
        </a:p>
      </dgm:t>
    </dgm:pt>
    <dgm:pt modelId="{B6985CAE-7D61-4F7B-8549-BCCD84DA4AD2}" type="parTrans" cxnId="{6922F2A7-2960-480B-BAF7-D824E8371377}">
      <dgm:prSet/>
      <dgm:spPr/>
      <dgm:t>
        <a:bodyPr/>
        <a:lstStyle/>
        <a:p>
          <a:endParaRPr lang="en-US"/>
        </a:p>
      </dgm:t>
    </dgm:pt>
    <dgm:pt modelId="{DDA75910-54BA-4835-BF4F-7000B952DE77}" type="sibTrans" cxnId="{6922F2A7-2960-480B-BAF7-D824E8371377}">
      <dgm:prSet/>
      <dgm:spPr/>
      <dgm:t>
        <a:bodyPr/>
        <a:lstStyle/>
        <a:p>
          <a:endParaRPr lang="en-US"/>
        </a:p>
      </dgm:t>
    </dgm:pt>
    <dgm:pt modelId="{2303E8A9-A7D7-40C9-867D-53BDFFA14C90}">
      <dgm:prSet phldrT="[Text]"/>
      <dgm:spPr/>
      <dgm:t>
        <a:bodyPr/>
        <a:lstStyle/>
        <a:p>
          <a:r>
            <a:rPr lang="en-US" dirty="0" smtClean="0"/>
            <a:t>Interaction </a:t>
          </a:r>
          <a:endParaRPr lang="en-US" dirty="0"/>
        </a:p>
      </dgm:t>
    </dgm:pt>
    <dgm:pt modelId="{A4A0FBBD-7775-416A-B925-214A3B368DDA}" type="parTrans" cxnId="{533179B6-B118-41D9-BD21-EE12EDCE6F4B}">
      <dgm:prSet/>
      <dgm:spPr/>
      <dgm:t>
        <a:bodyPr/>
        <a:lstStyle/>
        <a:p>
          <a:endParaRPr lang="en-US"/>
        </a:p>
      </dgm:t>
    </dgm:pt>
    <dgm:pt modelId="{09813B84-ED3D-47AB-ADA9-0579D23DA4FB}" type="sibTrans" cxnId="{533179B6-B118-41D9-BD21-EE12EDCE6F4B}">
      <dgm:prSet/>
      <dgm:spPr/>
      <dgm:t>
        <a:bodyPr/>
        <a:lstStyle/>
        <a:p>
          <a:endParaRPr lang="en-US"/>
        </a:p>
      </dgm:t>
    </dgm:pt>
    <dgm:pt modelId="{86BF7071-9C5D-4454-B65A-7924E5ADDCC3}">
      <dgm:prSet phldrT="[Text]"/>
      <dgm:spPr/>
      <dgm:t>
        <a:bodyPr/>
        <a:lstStyle/>
        <a:p>
          <a:r>
            <a:rPr lang="en-US" dirty="0" smtClean="0"/>
            <a:t>Economy as whole </a:t>
          </a:r>
          <a:endParaRPr lang="en-US" dirty="0"/>
        </a:p>
      </dgm:t>
    </dgm:pt>
    <dgm:pt modelId="{72703A34-3EB4-41B8-8AC1-AC599E0CA81D}" type="parTrans" cxnId="{ACA519D3-13C3-40CE-B70C-D259573379D0}">
      <dgm:prSet/>
      <dgm:spPr/>
      <dgm:t>
        <a:bodyPr/>
        <a:lstStyle/>
        <a:p>
          <a:endParaRPr lang="en-US"/>
        </a:p>
      </dgm:t>
    </dgm:pt>
    <dgm:pt modelId="{835E0FCE-216C-41C1-9D5A-1230D71FA255}" type="sibTrans" cxnId="{ACA519D3-13C3-40CE-B70C-D259573379D0}">
      <dgm:prSet/>
      <dgm:spPr/>
      <dgm:t>
        <a:bodyPr/>
        <a:lstStyle/>
        <a:p>
          <a:endParaRPr lang="en-US"/>
        </a:p>
      </dgm:t>
    </dgm:pt>
    <dgm:pt modelId="{291CBFF4-05AE-4BA2-A9A9-8DF237648D34}" type="pres">
      <dgm:prSet presAssocID="{53E10CEF-52D8-4C30-9DF9-3135F2439B12}" presName="Name0" presStyleCnt="0">
        <dgm:presLayoutVars>
          <dgm:chMax val="1"/>
          <dgm:chPref val="1"/>
          <dgm:dir/>
          <dgm:animOne val="branch"/>
          <dgm:animLvl val="lvl"/>
        </dgm:presLayoutVars>
      </dgm:prSet>
      <dgm:spPr/>
      <dgm:t>
        <a:bodyPr/>
        <a:lstStyle/>
        <a:p>
          <a:endParaRPr lang="en-US"/>
        </a:p>
      </dgm:t>
    </dgm:pt>
    <dgm:pt modelId="{55574F17-C324-43A6-A0F2-82D73E8F36D8}" type="pres">
      <dgm:prSet presAssocID="{7800B64F-B4C8-43B9-98D0-5A30FBCB47D9}" presName="Parent" presStyleLbl="node0" presStyleIdx="0" presStyleCnt="1">
        <dgm:presLayoutVars>
          <dgm:chMax val="6"/>
          <dgm:chPref val="6"/>
        </dgm:presLayoutVars>
      </dgm:prSet>
      <dgm:spPr/>
      <dgm:t>
        <a:bodyPr/>
        <a:lstStyle/>
        <a:p>
          <a:endParaRPr lang="en-US"/>
        </a:p>
      </dgm:t>
    </dgm:pt>
    <dgm:pt modelId="{8DC27171-BAB9-49AC-A156-4DD292C59FE4}" type="pres">
      <dgm:prSet presAssocID="{F9E83695-3E9A-48BE-B527-1836DA48AC7F}" presName="Accent1" presStyleCnt="0"/>
      <dgm:spPr/>
    </dgm:pt>
    <dgm:pt modelId="{A9686056-73C4-4B23-8614-F00799B43835}" type="pres">
      <dgm:prSet presAssocID="{F9E83695-3E9A-48BE-B527-1836DA48AC7F}" presName="Accent" presStyleLbl="bgShp" presStyleIdx="0" presStyleCnt="6"/>
      <dgm:spPr/>
    </dgm:pt>
    <dgm:pt modelId="{ED92145C-5D8E-4D9A-87AA-C7151EDF360E}" type="pres">
      <dgm:prSet presAssocID="{F9E83695-3E9A-48BE-B527-1836DA48AC7F}" presName="Child1" presStyleLbl="node1" presStyleIdx="0" presStyleCnt="6">
        <dgm:presLayoutVars>
          <dgm:chMax val="0"/>
          <dgm:chPref val="0"/>
          <dgm:bulletEnabled val="1"/>
        </dgm:presLayoutVars>
      </dgm:prSet>
      <dgm:spPr/>
      <dgm:t>
        <a:bodyPr/>
        <a:lstStyle/>
        <a:p>
          <a:endParaRPr lang="en-US"/>
        </a:p>
      </dgm:t>
    </dgm:pt>
    <dgm:pt modelId="{6A4F75FE-C760-4232-AD79-84AFF08E3B5A}" type="pres">
      <dgm:prSet presAssocID="{75F09D54-CB0C-4932-B4DA-730E9FC5B96D}" presName="Accent2" presStyleCnt="0"/>
      <dgm:spPr/>
    </dgm:pt>
    <dgm:pt modelId="{47A4FDBF-A9C6-4F9F-B25E-F63D54DFCF51}" type="pres">
      <dgm:prSet presAssocID="{75F09D54-CB0C-4932-B4DA-730E9FC5B96D}" presName="Accent" presStyleLbl="bgShp" presStyleIdx="1" presStyleCnt="6"/>
      <dgm:spPr/>
    </dgm:pt>
    <dgm:pt modelId="{0C3F92FB-8D1F-407B-B5EF-6BFEA74750CA}" type="pres">
      <dgm:prSet presAssocID="{75F09D54-CB0C-4932-B4DA-730E9FC5B96D}" presName="Child2" presStyleLbl="node1" presStyleIdx="1" presStyleCnt="6">
        <dgm:presLayoutVars>
          <dgm:chMax val="0"/>
          <dgm:chPref val="0"/>
          <dgm:bulletEnabled val="1"/>
        </dgm:presLayoutVars>
      </dgm:prSet>
      <dgm:spPr/>
      <dgm:t>
        <a:bodyPr/>
        <a:lstStyle/>
        <a:p>
          <a:endParaRPr lang="en-US"/>
        </a:p>
      </dgm:t>
    </dgm:pt>
    <dgm:pt modelId="{4979A6CD-6E5D-4D2A-9011-6C7B5561E2E6}" type="pres">
      <dgm:prSet presAssocID="{44903B6F-71EE-4B60-8351-F4684917A9AB}" presName="Accent3" presStyleCnt="0"/>
      <dgm:spPr/>
    </dgm:pt>
    <dgm:pt modelId="{6DE71F76-94D0-4913-8CED-AEA73F122C3F}" type="pres">
      <dgm:prSet presAssocID="{44903B6F-71EE-4B60-8351-F4684917A9AB}" presName="Accent" presStyleLbl="bgShp" presStyleIdx="2" presStyleCnt="6"/>
      <dgm:spPr/>
    </dgm:pt>
    <dgm:pt modelId="{B324BA14-4EE2-45D6-AD97-C362D7DDDFD8}" type="pres">
      <dgm:prSet presAssocID="{44903B6F-71EE-4B60-8351-F4684917A9AB}" presName="Child3" presStyleLbl="node1" presStyleIdx="2" presStyleCnt="6">
        <dgm:presLayoutVars>
          <dgm:chMax val="0"/>
          <dgm:chPref val="0"/>
          <dgm:bulletEnabled val="1"/>
        </dgm:presLayoutVars>
      </dgm:prSet>
      <dgm:spPr/>
      <dgm:t>
        <a:bodyPr/>
        <a:lstStyle/>
        <a:p>
          <a:endParaRPr lang="en-US"/>
        </a:p>
      </dgm:t>
    </dgm:pt>
    <dgm:pt modelId="{EC7EDDF5-EAE0-41C5-BA11-E4AF4716F868}" type="pres">
      <dgm:prSet presAssocID="{BB5A63FC-2A09-49AB-AB04-A87D806B47C1}" presName="Accent4" presStyleCnt="0"/>
      <dgm:spPr/>
    </dgm:pt>
    <dgm:pt modelId="{30F764DD-AA77-4CA2-8EDE-6DDE47CE9678}" type="pres">
      <dgm:prSet presAssocID="{BB5A63FC-2A09-49AB-AB04-A87D806B47C1}" presName="Accent" presStyleLbl="bgShp" presStyleIdx="3" presStyleCnt="6"/>
      <dgm:spPr/>
    </dgm:pt>
    <dgm:pt modelId="{CF79DAFF-44F7-46D1-B461-92586B477636}" type="pres">
      <dgm:prSet presAssocID="{BB5A63FC-2A09-49AB-AB04-A87D806B47C1}" presName="Child4" presStyleLbl="node1" presStyleIdx="3" presStyleCnt="6">
        <dgm:presLayoutVars>
          <dgm:chMax val="0"/>
          <dgm:chPref val="0"/>
          <dgm:bulletEnabled val="1"/>
        </dgm:presLayoutVars>
      </dgm:prSet>
      <dgm:spPr/>
      <dgm:t>
        <a:bodyPr/>
        <a:lstStyle/>
        <a:p>
          <a:endParaRPr lang="en-US"/>
        </a:p>
      </dgm:t>
    </dgm:pt>
    <dgm:pt modelId="{0B98B0E6-E67F-43E4-8294-F006B0B77D49}" type="pres">
      <dgm:prSet presAssocID="{2303E8A9-A7D7-40C9-867D-53BDFFA14C90}" presName="Accent5" presStyleCnt="0"/>
      <dgm:spPr/>
    </dgm:pt>
    <dgm:pt modelId="{D02F7027-3CA9-4A32-9913-E44B7F3B5CDF}" type="pres">
      <dgm:prSet presAssocID="{2303E8A9-A7D7-40C9-867D-53BDFFA14C90}" presName="Accent" presStyleLbl="bgShp" presStyleIdx="4" presStyleCnt="6"/>
      <dgm:spPr/>
    </dgm:pt>
    <dgm:pt modelId="{F19B66A1-B95C-48BF-AACE-C6B8EBD8114B}" type="pres">
      <dgm:prSet presAssocID="{2303E8A9-A7D7-40C9-867D-53BDFFA14C90}" presName="Child5" presStyleLbl="node1" presStyleIdx="4" presStyleCnt="6">
        <dgm:presLayoutVars>
          <dgm:chMax val="0"/>
          <dgm:chPref val="0"/>
          <dgm:bulletEnabled val="1"/>
        </dgm:presLayoutVars>
      </dgm:prSet>
      <dgm:spPr/>
      <dgm:t>
        <a:bodyPr/>
        <a:lstStyle/>
        <a:p>
          <a:endParaRPr lang="en-US"/>
        </a:p>
      </dgm:t>
    </dgm:pt>
    <dgm:pt modelId="{FB027A7A-701C-4261-A912-ADA6882B3DAF}" type="pres">
      <dgm:prSet presAssocID="{86BF7071-9C5D-4454-B65A-7924E5ADDCC3}" presName="Accent6" presStyleCnt="0"/>
      <dgm:spPr/>
    </dgm:pt>
    <dgm:pt modelId="{C781C7D9-B537-4FBE-ACD2-4F70AA29D87B}" type="pres">
      <dgm:prSet presAssocID="{86BF7071-9C5D-4454-B65A-7924E5ADDCC3}" presName="Accent" presStyleLbl="bgShp" presStyleIdx="5" presStyleCnt="6"/>
      <dgm:spPr/>
    </dgm:pt>
    <dgm:pt modelId="{DA10A0A8-6016-41C5-BDB1-02CA60241323}" type="pres">
      <dgm:prSet presAssocID="{86BF7071-9C5D-4454-B65A-7924E5ADDCC3}" presName="Child6" presStyleLbl="node1" presStyleIdx="5" presStyleCnt="6">
        <dgm:presLayoutVars>
          <dgm:chMax val="0"/>
          <dgm:chPref val="0"/>
          <dgm:bulletEnabled val="1"/>
        </dgm:presLayoutVars>
      </dgm:prSet>
      <dgm:spPr/>
      <dgm:t>
        <a:bodyPr/>
        <a:lstStyle/>
        <a:p>
          <a:endParaRPr lang="en-US"/>
        </a:p>
      </dgm:t>
    </dgm:pt>
  </dgm:ptLst>
  <dgm:cxnLst>
    <dgm:cxn modelId="{E966EACD-FD71-477E-95C2-C50088FAEC6C}" srcId="{7800B64F-B4C8-43B9-98D0-5A30FBCB47D9}" destId="{F9E83695-3E9A-48BE-B527-1836DA48AC7F}" srcOrd="0" destOrd="0" parTransId="{71100DD2-E6B5-4DD9-A585-BD1E187D991F}" sibTransId="{31894C94-B2E6-441A-A00E-042D37260A9F}"/>
    <dgm:cxn modelId="{ACA519D3-13C3-40CE-B70C-D259573379D0}" srcId="{7800B64F-B4C8-43B9-98D0-5A30FBCB47D9}" destId="{86BF7071-9C5D-4454-B65A-7924E5ADDCC3}" srcOrd="5" destOrd="0" parTransId="{72703A34-3EB4-41B8-8AC1-AC599E0CA81D}" sibTransId="{835E0FCE-216C-41C1-9D5A-1230D71FA255}"/>
    <dgm:cxn modelId="{F7A60E8C-D62E-4933-8A9C-7D72AE92BC0A}" type="presOf" srcId="{75F09D54-CB0C-4932-B4DA-730E9FC5B96D}" destId="{0C3F92FB-8D1F-407B-B5EF-6BFEA74750CA}" srcOrd="0" destOrd="0" presId="urn:microsoft.com/office/officeart/2011/layout/HexagonRadial"/>
    <dgm:cxn modelId="{145F91F9-E8D2-49C1-A18F-89B2B90B5C80}" type="presOf" srcId="{53E10CEF-52D8-4C30-9DF9-3135F2439B12}" destId="{291CBFF4-05AE-4BA2-A9A9-8DF237648D34}" srcOrd="0" destOrd="0" presId="urn:microsoft.com/office/officeart/2011/layout/HexagonRadial"/>
    <dgm:cxn modelId="{316E0A6F-2BD1-4254-A7F0-7C1E256B2B33}" srcId="{7800B64F-B4C8-43B9-98D0-5A30FBCB47D9}" destId="{44903B6F-71EE-4B60-8351-F4684917A9AB}" srcOrd="2" destOrd="0" parTransId="{0C6E8A16-2581-4353-946A-187193ABE69E}" sibTransId="{A12FD1DB-D26D-43DA-9360-78E597B7B3EE}"/>
    <dgm:cxn modelId="{5DC69B0F-8033-4CA1-90B3-7008B8C4E00B}" type="presOf" srcId="{7800B64F-B4C8-43B9-98D0-5A30FBCB47D9}" destId="{55574F17-C324-43A6-A0F2-82D73E8F36D8}" srcOrd="0" destOrd="0" presId="urn:microsoft.com/office/officeart/2011/layout/HexagonRadial"/>
    <dgm:cxn modelId="{6922F2A7-2960-480B-BAF7-D824E8371377}" srcId="{7800B64F-B4C8-43B9-98D0-5A30FBCB47D9}" destId="{BB5A63FC-2A09-49AB-AB04-A87D806B47C1}" srcOrd="3" destOrd="0" parTransId="{B6985CAE-7D61-4F7B-8549-BCCD84DA4AD2}" sibTransId="{DDA75910-54BA-4835-BF4F-7000B952DE77}"/>
    <dgm:cxn modelId="{763A7006-758F-497C-86E9-0C1265933B01}" type="presOf" srcId="{44903B6F-71EE-4B60-8351-F4684917A9AB}" destId="{B324BA14-4EE2-45D6-AD97-C362D7DDDFD8}" srcOrd="0" destOrd="0" presId="urn:microsoft.com/office/officeart/2011/layout/HexagonRadial"/>
    <dgm:cxn modelId="{391D1813-FCE1-4F36-8162-78E6CC0F81ED}" type="presOf" srcId="{2303E8A9-A7D7-40C9-867D-53BDFFA14C90}" destId="{F19B66A1-B95C-48BF-AACE-C6B8EBD8114B}" srcOrd="0" destOrd="0" presId="urn:microsoft.com/office/officeart/2011/layout/HexagonRadial"/>
    <dgm:cxn modelId="{3C188E85-25AD-4E34-8F3E-2EFE9B09DF6B}" type="presOf" srcId="{F9E83695-3E9A-48BE-B527-1836DA48AC7F}" destId="{ED92145C-5D8E-4D9A-87AA-C7151EDF360E}" srcOrd="0" destOrd="0" presId="urn:microsoft.com/office/officeart/2011/layout/HexagonRadial"/>
    <dgm:cxn modelId="{9C131E61-C39B-4A23-B83A-BAA534B84D8A}" type="presOf" srcId="{BB5A63FC-2A09-49AB-AB04-A87D806B47C1}" destId="{CF79DAFF-44F7-46D1-B461-92586B477636}" srcOrd="0" destOrd="0" presId="urn:microsoft.com/office/officeart/2011/layout/HexagonRadial"/>
    <dgm:cxn modelId="{55369FD2-4981-4410-B887-329246A1BC7E}" type="presOf" srcId="{86BF7071-9C5D-4454-B65A-7924E5ADDCC3}" destId="{DA10A0A8-6016-41C5-BDB1-02CA60241323}" srcOrd="0" destOrd="0" presId="urn:microsoft.com/office/officeart/2011/layout/HexagonRadial"/>
    <dgm:cxn modelId="{533179B6-B118-41D9-BD21-EE12EDCE6F4B}" srcId="{7800B64F-B4C8-43B9-98D0-5A30FBCB47D9}" destId="{2303E8A9-A7D7-40C9-867D-53BDFFA14C90}" srcOrd="4" destOrd="0" parTransId="{A4A0FBBD-7775-416A-B925-214A3B368DDA}" sibTransId="{09813B84-ED3D-47AB-ADA9-0579D23DA4FB}"/>
    <dgm:cxn modelId="{BFE9959F-5038-471C-B7B9-A4494B23D9B4}" srcId="{7800B64F-B4C8-43B9-98D0-5A30FBCB47D9}" destId="{75F09D54-CB0C-4932-B4DA-730E9FC5B96D}" srcOrd="1" destOrd="0" parTransId="{59A29F75-F9FA-464F-8176-76851D9823CD}" sibTransId="{DE62F300-9B97-486F-8163-4BF2B81ECBFC}"/>
    <dgm:cxn modelId="{AFE31611-60C7-48CC-AE07-272FF65960BE}" srcId="{53E10CEF-52D8-4C30-9DF9-3135F2439B12}" destId="{7800B64F-B4C8-43B9-98D0-5A30FBCB47D9}" srcOrd="0" destOrd="0" parTransId="{C20C8CB1-2783-453B-BBB8-8E4CF9A69FF8}" sibTransId="{524DF4FC-BDF9-4BD3-A345-A5EF53483E8F}"/>
    <dgm:cxn modelId="{8FB6C71F-B95A-44CF-A5ED-5AEC9A4BA90A}" type="presParOf" srcId="{291CBFF4-05AE-4BA2-A9A9-8DF237648D34}" destId="{55574F17-C324-43A6-A0F2-82D73E8F36D8}" srcOrd="0" destOrd="0" presId="urn:microsoft.com/office/officeart/2011/layout/HexagonRadial"/>
    <dgm:cxn modelId="{876414E9-EC27-4A2D-9E5E-B000AD9293B6}" type="presParOf" srcId="{291CBFF4-05AE-4BA2-A9A9-8DF237648D34}" destId="{8DC27171-BAB9-49AC-A156-4DD292C59FE4}" srcOrd="1" destOrd="0" presId="urn:microsoft.com/office/officeart/2011/layout/HexagonRadial"/>
    <dgm:cxn modelId="{286EFE2B-C7FB-428A-B08E-41805FE44AB9}" type="presParOf" srcId="{8DC27171-BAB9-49AC-A156-4DD292C59FE4}" destId="{A9686056-73C4-4B23-8614-F00799B43835}" srcOrd="0" destOrd="0" presId="urn:microsoft.com/office/officeart/2011/layout/HexagonRadial"/>
    <dgm:cxn modelId="{76C8B6D9-EDE0-4CB1-BB11-115A265471E8}" type="presParOf" srcId="{291CBFF4-05AE-4BA2-A9A9-8DF237648D34}" destId="{ED92145C-5D8E-4D9A-87AA-C7151EDF360E}" srcOrd="2" destOrd="0" presId="urn:microsoft.com/office/officeart/2011/layout/HexagonRadial"/>
    <dgm:cxn modelId="{CA595BD4-E758-4694-8AB3-4EE0586F7D88}" type="presParOf" srcId="{291CBFF4-05AE-4BA2-A9A9-8DF237648D34}" destId="{6A4F75FE-C760-4232-AD79-84AFF08E3B5A}" srcOrd="3" destOrd="0" presId="urn:microsoft.com/office/officeart/2011/layout/HexagonRadial"/>
    <dgm:cxn modelId="{80F62C32-84CA-4008-910C-154DB957CE84}" type="presParOf" srcId="{6A4F75FE-C760-4232-AD79-84AFF08E3B5A}" destId="{47A4FDBF-A9C6-4F9F-B25E-F63D54DFCF51}" srcOrd="0" destOrd="0" presId="urn:microsoft.com/office/officeart/2011/layout/HexagonRadial"/>
    <dgm:cxn modelId="{B3FA48D9-DECB-499C-8D3C-5BA185AF7D8C}" type="presParOf" srcId="{291CBFF4-05AE-4BA2-A9A9-8DF237648D34}" destId="{0C3F92FB-8D1F-407B-B5EF-6BFEA74750CA}" srcOrd="4" destOrd="0" presId="urn:microsoft.com/office/officeart/2011/layout/HexagonRadial"/>
    <dgm:cxn modelId="{5D2FC59D-D5F2-4424-B925-3050D2816375}" type="presParOf" srcId="{291CBFF4-05AE-4BA2-A9A9-8DF237648D34}" destId="{4979A6CD-6E5D-4D2A-9011-6C7B5561E2E6}" srcOrd="5" destOrd="0" presId="urn:microsoft.com/office/officeart/2011/layout/HexagonRadial"/>
    <dgm:cxn modelId="{5E3CDA55-B927-43CB-AD54-DC39DBED8A28}" type="presParOf" srcId="{4979A6CD-6E5D-4D2A-9011-6C7B5561E2E6}" destId="{6DE71F76-94D0-4913-8CED-AEA73F122C3F}" srcOrd="0" destOrd="0" presId="urn:microsoft.com/office/officeart/2011/layout/HexagonRadial"/>
    <dgm:cxn modelId="{D406C0CF-7F29-4792-ACD1-A8FAD90DD9A5}" type="presParOf" srcId="{291CBFF4-05AE-4BA2-A9A9-8DF237648D34}" destId="{B324BA14-4EE2-45D6-AD97-C362D7DDDFD8}" srcOrd="6" destOrd="0" presId="urn:microsoft.com/office/officeart/2011/layout/HexagonRadial"/>
    <dgm:cxn modelId="{BF24E6D7-2E32-4C56-9FE3-94AA970D040D}" type="presParOf" srcId="{291CBFF4-05AE-4BA2-A9A9-8DF237648D34}" destId="{EC7EDDF5-EAE0-41C5-BA11-E4AF4716F868}" srcOrd="7" destOrd="0" presId="urn:microsoft.com/office/officeart/2011/layout/HexagonRadial"/>
    <dgm:cxn modelId="{8A5F7697-9422-41F7-8ADE-60FD6695F498}" type="presParOf" srcId="{EC7EDDF5-EAE0-41C5-BA11-E4AF4716F868}" destId="{30F764DD-AA77-4CA2-8EDE-6DDE47CE9678}" srcOrd="0" destOrd="0" presId="urn:microsoft.com/office/officeart/2011/layout/HexagonRadial"/>
    <dgm:cxn modelId="{CED47416-D0C1-407C-A74C-0DA118D35242}" type="presParOf" srcId="{291CBFF4-05AE-4BA2-A9A9-8DF237648D34}" destId="{CF79DAFF-44F7-46D1-B461-92586B477636}" srcOrd="8" destOrd="0" presId="urn:microsoft.com/office/officeart/2011/layout/HexagonRadial"/>
    <dgm:cxn modelId="{2070B2A0-C10C-42C8-BC4F-029BD60E42CC}" type="presParOf" srcId="{291CBFF4-05AE-4BA2-A9A9-8DF237648D34}" destId="{0B98B0E6-E67F-43E4-8294-F006B0B77D49}" srcOrd="9" destOrd="0" presId="urn:microsoft.com/office/officeart/2011/layout/HexagonRadial"/>
    <dgm:cxn modelId="{D3FBA988-0185-4289-A980-264E34961484}" type="presParOf" srcId="{0B98B0E6-E67F-43E4-8294-F006B0B77D49}" destId="{D02F7027-3CA9-4A32-9913-E44B7F3B5CDF}" srcOrd="0" destOrd="0" presId="urn:microsoft.com/office/officeart/2011/layout/HexagonRadial"/>
    <dgm:cxn modelId="{3F5587CF-D773-4DF1-BBEC-155DCCD8F982}" type="presParOf" srcId="{291CBFF4-05AE-4BA2-A9A9-8DF237648D34}" destId="{F19B66A1-B95C-48BF-AACE-C6B8EBD8114B}" srcOrd="10" destOrd="0" presId="urn:microsoft.com/office/officeart/2011/layout/HexagonRadial"/>
    <dgm:cxn modelId="{5ABA6E58-2C2A-4C9D-9428-111FA3EA1A74}" type="presParOf" srcId="{291CBFF4-05AE-4BA2-A9A9-8DF237648D34}" destId="{FB027A7A-701C-4261-A912-ADA6882B3DAF}" srcOrd="11" destOrd="0" presId="urn:microsoft.com/office/officeart/2011/layout/HexagonRadial"/>
    <dgm:cxn modelId="{0E984B03-98BA-47FD-ACFB-D44C155C783F}" type="presParOf" srcId="{FB027A7A-701C-4261-A912-ADA6882B3DAF}" destId="{C781C7D9-B537-4FBE-ACD2-4F70AA29D87B}" srcOrd="0" destOrd="0" presId="urn:microsoft.com/office/officeart/2011/layout/HexagonRadial"/>
    <dgm:cxn modelId="{001BD027-DA5B-4273-9FB5-B0608687070D}" type="presParOf" srcId="{291CBFF4-05AE-4BA2-A9A9-8DF237648D34}" destId="{DA10A0A8-6016-41C5-BDB1-02CA60241323}" srcOrd="12" destOrd="0" presId="urn:microsoft.com/office/officeart/2011/layout/HexagonRadial"/>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5574F17-C324-43A6-A0F2-82D73E8F36D8}">
      <dsp:nvSpPr>
        <dsp:cNvPr id="0" name=""/>
        <dsp:cNvSpPr/>
      </dsp:nvSpPr>
      <dsp:spPr>
        <a:xfrm>
          <a:off x="2952810" y="1748061"/>
          <a:ext cx="2221862" cy="1922001"/>
        </a:xfrm>
        <a:prstGeom prst="hexagon">
          <a:avLst>
            <a:gd name="adj" fmla="val 28570"/>
            <a:gd name="vf" fmla="val 11547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lvl="0" algn="ctr" defTabSz="889000">
            <a:lnSpc>
              <a:spcPct val="90000"/>
            </a:lnSpc>
            <a:spcBef>
              <a:spcPct val="0"/>
            </a:spcBef>
            <a:spcAft>
              <a:spcPct val="35000"/>
            </a:spcAft>
          </a:pPr>
          <a:r>
            <a:rPr lang="en-US" sz="2000" kern="1200" dirty="0" smtClean="0">
              <a:solidFill>
                <a:schemeClr val="tx1"/>
              </a:solidFill>
            </a:rPr>
            <a:t>Economics</a:t>
          </a:r>
          <a:endParaRPr lang="en-US" sz="2000" kern="1200" dirty="0">
            <a:solidFill>
              <a:schemeClr val="tx1"/>
            </a:solidFill>
          </a:endParaRPr>
        </a:p>
      </dsp:txBody>
      <dsp:txXfrm>
        <a:off x="3321004" y="2066564"/>
        <a:ext cx="1485474" cy="1284995"/>
      </dsp:txXfrm>
    </dsp:sp>
    <dsp:sp modelId="{47A4FDBF-A9C6-4F9F-B25E-F63D54DFCF51}">
      <dsp:nvSpPr>
        <dsp:cNvPr id="0" name=""/>
        <dsp:cNvSpPr/>
      </dsp:nvSpPr>
      <dsp:spPr>
        <a:xfrm>
          <a:off x="4344123" y="828514"/>
          <a:ext cx="838302" cy="722308"/>
        </a:xfrm>
        <a:prstGeom prst="hexagon">
          <a:avLst>
            <a:gd name="adj" fmla="val 28900"/>
            <a:gd name="vf" fmla="val 115470"/>
          </a:avLst>
        </a:prstGeom>
        <a:solidFill>
          <a:schemeClr val="accent5">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D92145C-5D8E-4D9A-87AA-C7151EDF360E}">
      <dsp:nvSpPr>
        <dsp:cNvPr id="0" name=""/>
        <dsp:cNvSpPr/>
      </dsp:nvSpPr>
      <dsp:spPr>
        <a:xfrm>
          <a:off x="3157475" y="0"/>
          <a:ext cx="1820800" cy="1575206"/>
        </a:xfrm>
        <a:prstGeom prst="hexagon">
          <a:avLst>
            <a:gd name="adj" fmla="val 28570"/>
            <a:gd name="vf" fmla="val 11547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lvl="0" algn="ctr" defTabSz="889000">
            <a:lnSpc>
              <a:spcPct val="90000"/>
            </a:lnSpc>
            <a:spcBef>
              <a:spcPct val="0"/>
            </a:spcBef>
            <a:spcAft>
              <a:spcPct val="35000"/>
            </a:spcAft>
          </a:pPr>
          <a:r>
            <a:rPr lang="en-US" sz="2000" kern="1200" dirty="0" smtClean="0"/>
            <a:t>Resource allocation</a:t>
          </a:r>
          <a:endParaRPr lang="en-US" sz="2000" kern="1200" dirty="0"/>
        </a:p>
      </dsp:txBody>
      <dsp:txXfrm>
        <a:off x="3459220" y="261045"/>
        <a:ext cx="1217310" cy="1053116"/>
      </dsp:txXfrm>
    </dsp:sp>
    <dsp:sp modelId="{6DE71F76-94D0-4913-8CED-AEA73F122C3F}">
      <dsp:nvSpPr>
        <dsp:cNvPr id="0" name=""/>
        <dsp:cNvSpPr/>
      </dsp:nvSpPr>
      <dsp:spPr>
        <a:xfrm>
          <a:off x="5322487" y="2178846"/>
          <a:ext cx="838302" cy="722308"/>
        </a:xfrm>
        <a:prstGeom prst="hexagon">
          <a:avLst>
            <a:gd name="adj" fmla="val 28900"/>
            <a:gd name="vf" fmla="val 115470"/>
          </a:avLst>
        </a:prstGeom>
        <a:solidFill>
          <a:schemeClr val="accent5">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C3F92FB-8D1F-407B-B5EF-6BFEA74750CA}">
      <dsp:nvSpPr>
        <dsp:cNvPr id="0" name=""/>
        <dsp:cNvSpPr/>
      </dsp:nvSpPr>
      <dsp:spPr>
        <a:xfrm>
          <a:off x="4827361" y="968857"/>
          <a:ext cx="1820800" cy="1575206"/>
        </a:xfrm>
        <a:prstGeom prst="hexagon">
          <a:avLst>
            <a:gd name="adj" fmla="val 28570"/>
            <a:gd name="vf" fmla="val 115470"/>
          </a:avLst>
        </a:prstGeom>
        <a:solidFill>
          <a:schemeClr val="accent5">
            <a:hueOff val="-1470669"/>
            <a:satOff val="-2046"/>
            <a:lumOff val="-78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lvl="0" algn="ctr" defTabSz="889000">
            <a:lnSpc>
              <a:spcPct val="90000"/>
            </a:lnSpc>
            <a:spcBef>
              <a:spcPct val="0"/>
            </a:spcBef>
            <a:spcAft>
              <a:spcPct val="35000"/>
            </a:spcAft>
          </a:pPr>
          <a:r>
            <a:rPr lang="en-US" sz="2000" kern="1200" dirty="0" smtClean="0"/>
            <a:t>Scarcity </a:t>
          </a:r>
          <a:endParaRPr lang="en-US" sz="2000" kern="1200" dirty="0"/>
        </a:p>
      </dsp:txBody>
      <dsp:txXfrm>
        <a:off x="5129106" y="1229902"/>
        <a:ext cx="1217310" cy="1053116"/>
      </dsp:txXfrm>
    </dsp:sp>
    <dsp:sp modelId="{30F764DD-AA77-4CA2-8EDE-6DDE47CE9678}">
      <dsp:nvSpPr>
        <dsp:cNvPr id="0" name=""/>
        <dsp:cNvSpPr/>
      </dsp:nvSpPr>
      <dsp:spPr>
        <a:xfrm>
          <a:off x="4642852" y="3703117"/>
          <a:ext cx="838302" cy="722308"/>
        </a:xfrm>
        <a:prstGeom prst="hexagon">
          <a:avLst>
            <a:gd name="adj" fmla="val 28900"/>
            <a:gd name="vf" fmla="val 115470"/>
          </a:avLst>
        </a:prstGeom>
        <a:solidFill>
          <a:schemeClr val="accent5">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324BA14-4EE2-45D6-AD97-C362D7DDDFD8}">
      <dsp:nvSpPr>
        <dsp:cNvPr id="0" name=""/>
        <dsp:cNvSpPr/>
      </dsp:nvSpPr>
      <dsp:spPr>
        <a:xfrm>
          <a:off x="4827361" y="2873519"/>
          <a:ext cx="1820800" cy="1575206"/>
        </a:xfrm>
        <a:prstGeom prst="hexagon">
          <a:avLst>
            <a:gd name="adj" fmla="val 28570"/>
            <a:gd name="vf" fmla="val 115470"/>
          </a:avLst>
        </a:prstGeom>
        <a:solidFill>
          <a:schemeClr val="accent5">
            <a:hueOff val="-2941338"/>
            <a:satOff val="-4091"/>
            <a:lumOff val="-1569"/>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lvl="0" algn="ctr" defTabSz="889000">
            <a:lnSpc>
              <a:spcPct val="90000"/>
            </a:lnSpc>
            <a:spcBef>
              <a:spcPct val="0"/>
            </a:spcBef>
            <a:spcAft>
              <a:spcPct val="35000"/>
            </a:spcAft>
          </a:pPr>
          <a:r>
            <a:rPr lang="en-US" sz="2000" kern="1200" dirty="0" smtClean="0"/>
            <a:t>Efficiency vs Equality  </a:t>
          </a:r>
          <a:endParaRPr lang="en-US" sz="2000" kern="1200" dirty="0"/>
        </a:p>
      </dsp:txBody>
      <dsp:txXfrm>
        <a:off x="5129106" y="3134564"/>
        <a:ext cx="1217310" cy="1053116"/>
      </dsp:txXfrm>
    </dsp:sp>
    <dsp:sp modelId="{D02F7027-3CA9-4A32-9913-E44B7F3B5CDF}">
      <dsp:nvSpPr>
        <dsp:cNvPr id="0" name=""/>
        <dsp:cNvSpPr/>
      </dsp:nvSpPr>
      <dsp:spPr>
        <a:xfrm>
          <a:off x="2956944" y="3861342"/>
          <a:ext cx="838302" cy="722308"/>
        </a:xfrm>
        <a:prstGeom prst="hexagon">
          <a:avLst>
            <a:gd name="adj" fmla="val 28900"/>
            <a:gd name="vf" fmla="val 115470"/>
          </a:avLst>
        </a:prstGeom>
        <a:solidFill>
          <a:schemeClr val="accent5">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F79DAFF-44F7-46D1-B461-92586B477636}">
      <dsp:nvSpPr>
        <dsp:cNvPr id="0" name=""/>
        <dsp:cNvSpPr/>
      </dsp:nvSpPr>
      <dsp:spPr>
        <a:xfrm>
          <a:off x="3157475" y="3843460"/>
          <a:ext cx="1820800" cy="1575206"/>
        </a:xfrm>
        <a:prstGeom prst="hexagon">
          <a:avLst>
            <a:gd name="adj" fmla="val 28570"/>
            <a:gd name="vf" fmla="val 115470"/>
          </a:avLst>
        </a:prstGeom>
        <a:solidFill>
          <a:schemeClr val="accent5">
            <a:hueOff val="-4412007"/>
            <a:satOff val="-6137"/>
            <a:lumOff val="-235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lvl="0" algn="ctr" defTabSz="889000">
            <a:lnSpc>
              <a:spcPct val="90000"/>
            </a:lnSpc>
            <a:spcBef>
              <a:spcPct val="0"/>
            </a:spcBef>
            <a:spcAft>
              <a:spcPct val="35000"/>
            </a:spcAft>
          </a:pPr>
          <a:r>
            <a:rPr lang="en-US" sz="2000" kern="1200" dirty="0" smtClean="0"/>
            <a:t>Decision Making </a:t>
          </a:r>
          <a:endParaRPr lang="en-US" sz="2000" kern="1200" dirty="0"/>
        </a:p>
      </dsp:txBody>
      <dsp:txXfrm>
        <a:off x="3459220" y="4104505"/>
        <a:ext cx="1217310" cy="1053116"/>
      </dsp:txXfrm>
    </dsp:sp>
    <dsp:sp modelId="{C781C7D9-B537-4FBE-ACD2-4F70AA29D87B}">
      <dsp:nvSpPr>
        <dsp:cNvPr id="0" name=""/>
        <dsp:cNvSpPr/>
      </dsp:nvSpPr>
      <dsp:spPr>
        <a:xfrm>
          <a:off x="1962559" y="2511552"/>
          <a:ext cx="838302" cy="722308"/>
        </a:xfrm>
        <a:prstGeom prst="hexagon">
          <a:avLst>
            <a:gd name="adj" fmla="val 28900"/>
            <a:gd name="vf" fmla="val 115470"/>
          </a:avLst>
        </a:prstGeom>
        <a:solidFill>
          <a:schemeClr val="accent5">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19B66A1-B95C-48BF-AACE-C6B8EBD8114B}">
      <dsp:nvSpPr>
        <dsp:cNvPr id="0" name=""/>
        <dsp:cNvSpPr/>
      </dsp:nvSpPr>
      <dsp:spPr>
        <a:xfrm>
          <a:off x="1479837" y="2874602"/>
          <a:ext cx="1820800" cy="1575206"/>
        </a:xfrm>
        <a:prstGeom prst="hexagon">
          <a:avLst>
            <a:gd name="adj" fmla="val 28570"/>
            <a:gd name="vf" fmla="val 115470"/>
          </a:avLst>
        </a:prstGeom>
        <a:solidFill>
          <a:schemeClr val="accent5">
            <a:hueOff val="-5882676"/>
            <a:satOff val="-8182"/>
            <a:lumOff val="-313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lvl="0" algn="ctr" defTabSz="889000">
            <a:lnSpc>
              <a:spcPct val="90000"/>
            </a:lnSpc>
            <a:spcBef>
              <a:spcPct val="0"/>
            </a:spcBef>
            <a:spcAft>
              <a:spcPct val="35000"/>
            </a:spcAft>
          </a:pPr>
          <a:r>
            <a:rPr lang="en-US" sz="2000" kern="1200" dirty="0" smtClean="0"/>
            <a:t>Interaction </a:t>
          </a:r>
          <a:endParaRPr lang="en-US" sz="2000" kern="1200" dirty="0"/>
        </a:p>
      </dsp:txBody>
      <dsp:txXfrm>
        <a:off x="1781582" y="3135647"/>
        <a:ext cx="1217310" cy="1053116"/>
      </dsp:txXfrm>
    </dsp:sp>
    <dsp:sp modelId="{DA10A0A8-6016-41C5-BDB1-02CA60241323}">
      <dsp:nvSpPr>
        <dsp:cNvPr id="0" name=""/>
        <dsp:cNvSpPr/>
      </dsp:nvSpPr>
      <dsp:spPr>
        <a:xfrm>
          <a:off x="1479837" y="966690"/>
          <a:ext cx="1820800" cy="1575206"/>
        </a:xfrm>
        <a:prstGeom prst="hexagon">
          <a:avLst>
            <a:gd name="adj" fmla="val 28570"/>
            <a:gd name="vf" fmla="val 115470"/>
          </a:avLst>
        </a:prstGeom>
        <a:solidFill>
          <a:schemeClr val="accent5">
            <a:hueOff val="-7353344"/>
            <a:satOff val="-10228"/>
            <a:lumOff val="-392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lvl="0" algn="ctr" defTabSz="889000">
            <a:lnSpc>
              <a:spcPct val="90000"/>
            </a:lnSpc>
            <a:spcBef>
              <a:spcPct val="0"/>
            </a:spcBef>
            <a:spcAft>
              <a:spcPct val="35000"/>
            </a:spcAft>
          </a:pPr>
          <a:r>
            <a:rPr lang="en-US" sz="2000" kern="1200" dirty="0" smtClean="0"/>
            <a:t>Economy as whole </a:t>
          </a:r>
          <a:endParaRPr lang="en-US" sz="2000" kern="1200" dirty="0"/>
        </a:p>
      </dsp:txBody>
      <dsp:txXfrm>
        <a:off x="1781582" y="1227735"/>
        <a:ext cx="1217310" cy="1053116"/>
      </dsp:txXfrm>
    </dsp:sp>
  </dsp:spTree>
</dsp:drawing>
</file>

<file path=ppt/diagrams/layout1.xml><?xml version="1.0" encoding="utf-8"?>
<dgm:layoutDef xmlns:dgm="http://schemas.openxmlformats.org/drawingml/2006/diagram" xmlns:a="http://schemas.openxmlformats.org/drawingml/2006/main" uniqueId="urn:microsoft.com/office/officeart/2011/layout/HexagonRadial">
  <dgm:title val="Hexagon Radial"/>
  <dgm:desc val="Use to show a sequential process that relates to a central idea or theme. Limited to six Level 2 shapes. Works best with small amounts of text. Unused text does not appear, but remains available if you switch layouts."/>
  <dgm:catLst>
    <dgm:cat type="cycle" pri="8500"/>
    <dgm:cat type="officeonline" pri="9000"/>
  </dgm:catLst>
  <dgm:sampData>
    <dgm:dataModel>
      <dgm:ptLst>
        <dgm:pt modelId="0" type="doc"/>
        <dgm:pt modelId="10">
          <dgm:prSet phldr="1"/>
        </dgm:pt>
        <dgm:pt modelId="11">
          <dgm:prSet phldr="1"/>
        </dgm:pt>
        <dgm:pt modelId="12">
          <dgm:prSet phldr="1"/>
        </dgm:pt>
        <dgm:pt modelId="13">
          <dgm:prSet phldr="1"/>
        </dgm:pt>
        <dgm:pt modelId="14">
          <dgm:prSet phldr="1"/>
        </dgm:pt>
        <dgm:pt modelId="15">
          <dgm:prSet phldr="1"/>
        </dgm:pt>
        <dgm:pt modelId="16">
          <dgm:prSet phldr="1"/>
        </dgm:pt>
      </dgm:ptLst>
      <dgm:cxnLst>
        <dgm:cxn modelId="40" srcId="0" destId="10" srcOrd="0" destOrd="0"/>
        <dgm:cxn modelId="50" srcId="10" destId="11" srcOrd="0" destOrd="0"/>
        <dgm:cxn modelId="60" srcId="10" destId="12" srcOrd="0" destOrd="0"/>
        <dgm:cxn modelId="70" srcId="10" destId="13" srcOrd="0" destOrd="0"/>
        <dgm:cxn modelId="80" srcId="10" destId="14" srcOrd="0" destOrd="0"/>
        <dgm:cxn modelId="90" srcId="10" destId="15" srcOrd="0" destOrd="0"/>
        <dgm:cxn modelId="100" srcId="10" destId="16" srcOrd="0" destOrd="0"/>
      </dgm:cxnLst>
      <dgm:bg/>
      <dgm:whole/>
    </dgm:dataModel>
  </dgm:sampData>
  <dgm:styleData>
    <dgm:dataModel>
      <dgm:ptLst>
        <dgm:pt modelId="0" type="doc"/>
        <dgm:pt modelId="10">
          <dgm:prSet phldr="1"/>
        </dgm:pt>
        <dgm:pt modelId="11">
          <dgm:prSet phldr="1"/>
        </dgm:pt>
        <dgm:pt modelId="12">
          <dgm:prSet phldr="1"/>
        </dgm:pt>
        <dgm:pt modelId="13">
          <dgm:prSet phldr="1"/>
        </dgm:pt>
      </dgm:ptLst>
      <dgm:cxnLst>
        <dgm:cxn modelId="40" srcId="0" destId="10" srcOrd="0" destOrd="0"/>
        <dgm:cxn modelId="50" srcId="10" destId="11" srcOrd="0" destOrd="0"/>
        <dgm:cxn modelId="60" srcId="10" destId="12" srcOrd="0" destOrd="0"/>
        <dgm:cxn modelId="70" srcId="10" destId="13" srcOrd="0" destOrd="0"/>
      </dgm:cxnLst>
      <dgm:bg/>
      <dgm:whole/>
    </dgm:dataModel>
  </dgm:styleData>
  <dgm:clrData>
    <dgm:dataModel>
      <dgm:ptLst>
        <dgm:pt modelId="0" type="doc"/>
        <dgm:pt modelId="10">
          <dgm:prSet phldr="1"/>
        </dgm:pt>
        <dgm:pt modelId="11">
          <dgm:prSet phldr="1"/>
        </dgm:pt>
        <dgm:pt modelId="12">
          <dgm:prSet phldr="1"/>
        </dgm:pt>
        <dgm:pt modelId="13">
          <dgm:prSet phldr="1"/>
        </dgm:pt>
        <dgm:pt modelId="14">
          <dgm:prSet phldr="1"/>
        </dgm:pt>
        <dgm:pt modelId="15">
          <dgm:prSet phldr="1"/>
        </dgm:pt>
        <dgm:pt modelId="16">
          <dgm:prSet phldr="1"/>
        </dgm:pt>
      </dgm:ptLst>
      <dgm:cxnLst>
        <dgm:cxn modelId="40" srcId="0" destId="10" srcOrd="0" destOrd="0"/>
        <dgm:cxn modelId="50" srcId="10" destId="11" srcOrd="0" destOrd="0"/>
        <dgm:cxn modelId="60" srcId="10" destId="12" srcOrd="0" destOrd="0"/>
        <dgm:cxn modelId="70" srcId="10" destId="13" srcOrd="0" destOrd="0"/>
        <dgm:cxn modelId="80" srcId="10" destId="14" srcOrd="0" destOrd="0"/>
        <dgm:cxn modelId="90" srcId="10" destId="15" srcOrd="0" destOrd="0"/>
        <dgm:cxn modelId="100" srcId="10" destId="16" srcOrd="0" destOrd="0"/>
      </dgm:cxnLst>
      <dgm:bg/>
      <dgm:whole/>
    </dgm:dataModel>
  </dgm:clrData>
  <dgm:layoutNode name="Name0">
    <dgm:varLst>
      <dgm:chMax val="1"/>
      <dgm:chPref val="1"/>
      <dgm:dir/>
      <dgm:animOne val="branch"/>
      <dgm:animLvl val="lvl"/>
    </dgm:varLst>
    <dgm:shape xmlns:r="http://schemas.openxmlformats.org/officeDocument/2006/relationships" r:blip="">
      <dgm:adjLst/>
    </dgm:shape>
    <dgm:choose name="Name1">
      <dgm:if name="Name2" func="var" arg="dir" op="equ" val="norm">
        <dgm:choose name="Name3">
          <dgm:if name="Name4" axis="ch ch" ptType="node node" st="1 1" cnt="1 0" func="cnt" op="equ" val="0">
            <dgm:alg type="composite">
              <dgm:param type="ar" val="1.1561"/>
            </dgm:alg>
            <dgm:constrLst>
              <dgm:constr type="primFontSz" for="des" forName="Parent" val="65"/>
              <dgm:constr type="l" for="ch" forName="Parent" refType="w" fact="0"/>
              <dgm:constr type="t" for="ch" forName="Parent" refType="h" fact="0"/>
              <dgm:constr type="w" for="ch" forName="Parent" refType="w"/>
              <dgm:constr type="h" for="ch" forName="Parent" refType="h"/>
            </dgm:constrLst>
          </dgm:if>
          <dgm:if name="Name5" axis="ch ch" ptType="node node" st="1 1" cnt="1 0" func="cnt" op="lte" val="1">
            <dgm:alg type="composite">
              <dgm:param type="ar" val="1.368"/>
            </dgm:alg>
            <dgm:constrLst>
              <dgm:constr type="primFontSz" for="des" forName="Parent" val="65"/>
              <dgm:constr type="primFontSz" for="des" forName="Child1" val="65"/>
              <dgm:constr type="primFontSz" for="des" forName="Child1" refType="primFontSz" refFor="des" refForName="Parent" op="lte"/>
              <dgm:constr type="l" for="ch" forName="Accent1" refType="w" fact="0.1685"/>
              <dgm:constr type="t" for="ch" forName="Accent1" refType="h" fact="0.2946"/>
              <dgm:constr type="w" for="ch" forName="Accent1" refType="w" fact="0.462"/>
              <dgm:constr type="h" for="ch" forName="Accent1" refType="h" fact="0.5472"/>
              <dgm:constr type="l" for="ch" forName="Parent" refType="w" fact="0"/>
              <dgm:constr type="t" for="ch" forName="Parent" refType="h" fact="0.2885"/>
              <dgm:constr type="w" for="ch" forName="Parent" refType="w" fact="0.6013"/>
              <dgm:constr type="h" for="ch" forName="Parent" refType="h" fact="0.7115"/>
              <dgm:constr type="l" for="ch" forName="Child1" refType="w" fact="0.5073"/>
              <dgm:constr type="t" for="ch" forName="Child1" refType="h" fact="0"/>
              <dgm:constr type="w" for="ch" forName="Child1" refType="w" fact="0.4927"/>
              <dgm:constr type="h" for="ch" forName="Child1" refType="h" fact="0.5831"/>
            </dgm:constrLst>
          </dgm:if>
          <dgm:if name="Name6" axis="ch ch" ptType="node node" st="1 1" cnt="1 0" func="cnt" op="equ" val="2">
            <dgm:alg type="composite">
              <dgm:param type="ar" val="1.0619"/>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2" refType="primFontSz" refFor="des" refForName="Child1" op="equ"/>
              <dgm:constr type="l" for="ch" forName="Accent2" refType="w" fact="0.6413"/>
              <dgm:constr type="t" for="ch" forName="Accent2" refType="h" fact="0.3477"/>
              <dgm:constr type="w" for="ch" forName="Accent2" refType="w" fact="0.2269"/>
              <dgm:constr type="h" for="ch" forName="Accent2" refType="h" fact="0.2076"/>
              <dgm:constr type="l" for="ch" forName="Accent1" refType="w" fact="0"/>
              <dgm:constr type="t" for="ch" forName="Accent1" refType="h" fact="0"/>
              <dgm:constr type="w" for="ch" forName="Accent1" refType="w" fact="0"/>
              <dgm:constr type="h" for="ch" forName="Accent1" refType="h" fact="0"/>
              <dgm:constr type="l" for="ch" forName="Parent" refType="w" fact="0"/>
              <dgm:constr type="t" for="ch" forName="Parent" refType="h" fact="0.2239"/>
              <dgm:constr type="w" for="ch" forName="Parent" refType="w" fact="0.6013"/>
              <dgm:constr type="h" for="ch" forName="Parent" refType="h" fact="0.5523"/>
              <dgm:constr type="l" for="ch" forName="Child1" refType="w" fact="0.5073"/>
              <dgm:constr type="t" for="ch" forName="Child1" refType="h" fact="0"/>
              <dgm:constr type="w" for="ch" forName="Child1" refType="w" fact="0.4927"/>
              <dgm:constr type="h" for="ch" forName="Child1" refType="h" fact="0.4527"/>
              <dgm:constr type="l" for="ch" forName="Child2" refType="w" fact="0.5073"/>
              <dgm:constr type="t" for="ch" forName="Child2" refType="h" fact="0.5473"/>
              <dgm:constr type="w" for="ch" forName="Child2" refType="w" fact="0.4927"/>
              <dgm:constr type="h" for="ch" forName="Child2" refType="h" fact="0.4527"/>
            </dgm:constrLst>
          </dgm:if>
          <dgm:if name="Name7" axis="ch ch" ptType="node node" st="1 1" cnt="1 0" func="cnt" op="equ" val="3">
            <dgm:alg type="composite">
              <dgm:param type="ar" val="0.8305"/>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2" refType="primFontSz" refFor="des" refForName="Child1" op="equ"/>
              <dgm:constr type="primFontSz" for="des" forName="Child3" refType="primFontSz" refFor="des" refForName="Child1" op="equ"/>
              <dgm:constr type="l" for="ch" forName="Accent3" refType="w" fact="0.4573"/>
              <dgm:constr type="t" for="ch" forName="Accent3" refType="h" fact="0.6145"/>
              <dgm:constr type="w" for="ch" forName="Accent3" refType="w" fact="0.2269"/>
              <dgm:constr type="h" for="ch" forName="Accent3" refType="h" fact="0.1623"/>
              <dgm:constr type="l" for="ch" forName="Accent2" refType="w" fact="0.6413"/>
              <dgm:constr type="t" for="ch" forName="Accent2" refType="h" fact="0.2719"/>
              <dgm:constr type="w" for="ch" forName="Accent2" refType="w" fact="0.2269"/>
              <dgm:constr type="h" for="ch" forName="Accent2" refType="h" fact="0.1623"/>
              <dgm:constr type="l" for="ch" forName="Accent1" refType="w" fact="0"/>
              <dgm:constr type="t" for="ch" forName="Accent1" refType="h" fact="0"/>
              <dgm:constr type="w" for="ch" forName="Accent1" refType="w" fact="0"/>
              <dgm:constr type="h" for="ch" forName="Accent1" refType="h" fact="0"/>
              <dgm:constr type="l" for="ch" forName="Child3" refType="w" fact="0.0554"/>
              <dgm:constr type="t" for="ch" forName="Child3" refType="h" fact="0.646"/>
              <dgm:constr type="w" for="ch" forName="Child3" refType="w" fact="0.4927"/>
              <dgm:constr type="h" for="ch" forName="Child3" refType="h" fact="0.354"/>
              <dgm:constr type="l" for="ch" forName="Parent" refType="w" fact="0"/>
              <dgm:constr type="t" for="ch" forName="Parent" refType="h" fact="0.1751"/>
              <dgm:constr type="w" for="ch" forName="Parent" refType="w" fact="0.6013"/>
              <dgm:constr type="h" for="ch" forName="Parent" refType="h" fact="0.4319"/>
              <dgm:constr type="l" for="ch" forName="Child1" refType="w" fact="0.5073"/>
              <dgm:constr type="t" for="ch" forName="Child1" refType="h" fact="0"/>
              <dgm:constr type="w" for="ch" forName="Child1" refType="w" fact="0.4927"/>
              <dgm:constr type="h" for="ch" forName="Child1" refType="h" fact="0.354"/>
              <dgm:constr type="l" for="ch" forName="Child2" refType="w" fact="0.5073"/>
              <dgm:constr type="t" for="ch" forName="Child2" refType="h" fact="0.428"/>
              <dgm:constr type="w" for="ch" forName="Child2" refType="w" fact="0.4927"/>
              <dgm:constr type="h" for="ch" forName="Child2" refType="h" fact="0.354"/>
            </dgm:constrLst>
          </dgm:if>
          <dgm:if name="Name8" axis="ch ch" ptType="node node" st="1 1" cnt="1 0" func="cnt" op="equ" val="4">
            <dgm:alg type="composite">
              <dgm:param type="ar" val="0.682"/>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4" refType="w" fact="0.4573"/>
              <dgm:constr type="t" for="ch" forName="Accent4" refType="h" fact="0.6834"/>
              <dgm:constr type="w" for="ch" forName="Accent4" refType="w" fact="0.2269"/>
              <dgm:constr type="h" for="ch" forName="Accent4" refType="h" fact="0.1333"/>
              <dgm:constr type="l" for="ch" forName="Accent3" refType="w" fact="0.6413"/>
              <dgm:constr type="t" for="ch" forName="Accent3" refType="h" fact="0.4021"/>
              <dgm:constr type="w" for="ch" forName="Accent3" refType="w" fact="0.2269"/>
              <dgm:constr type="h" for="ch" forName="Accent3" refType="h" fact="0.1333"/>
              <dgm:constr type="l" for="ch" forName="Accent2" refType="w" fact="0.3765"/>
              <dgm:constr type="t" for="ch" forName="Accent2" refType="h" fact="0.1529"/>
              <dgm:constr type="w" for="ch" forName="Accent2" refType="w" fact="0.2269"/>
              <dgm:constr type="h" for="ch" forName="Accent2" refType="h" fact="0.1333"/>
              <dgm:constr type="l" for="ch" forName="Accent1" refType="w" fact="0"/>
              <dgm:constr type="t" for="ch" forName="Accent1" refType="h" fact="0"/>
              <dgm:constr type="w" for="ch" forName="Accent1" refType="w" fact="0"/>
              <dgm:constr type="h" for="ch" forName="Accent1" refType="h" fact="0"/>
              <dgm:constr type="l" for="ch" forName="Child4" refType="w" fact="0.0554"/>
              <dgm:constr type="t" for="ch" forName="Child4" refType="h" fact="0.7093"/>
              <dgm:constr type="w" for="ch" forName="Child4" refType="w" fact="0.4927"/>
              <dgm:constr type="h" for="ch" forName="Child4" refType="h" fact="0.2907"/>
              <dgm:constr type="l" for="ch" forName="Parent" refType="w" fact="0"/>
              <dgm:constr type="t" for="ch" forName="Parent" refType="h" fact="0.3226"/>
              <dgm:constr type="w" for="ch" forName="Parent" refType="w" fact="0.6013"/>
              <dgm:constr type="h" for="ch" forName="Parent" refType="h" fact="0.3547"/>
              <dgm:constr type="l" for="ch" forName="Child2" refType="w" fact="0.5073"/>
              <dgm:constr type="t" for="ch" forName="Child2" refType="h" fact="0.1788"/>
              <dgm:constr type="w" for="ch" forName="Child2" refType="w" fact="0.4927"/>
              <dgm:constr type="h" for="ch" forName="Child2" refType="h" fact="0.2907"/>
              <dgm:constr type="l" for="ch" forName="Child3" refType="w" fact="0.5073"/>
              <dgm:constr type="t" for="ch" forName="Child3" refType="h" fact="0.5303"/>
              <dgm:constr type="w" for="ch" forName="Child3" refType="w" fact="0.4927"/>
              <dgm:constr type="h" for="ch" forName="Child3" refType="h" fact="0.2907"/>
              <dgm:constr type="l" for="ch" forName="Child1" refType="w" fact="0.0554"/>
              <dgm:constr type="t" for="ch" forName="Child1" refType="h" fact="0"/>
              <dgm:constr type="w" for="ch" forName="Child1" refType="w" fact="0.4927"/>
              <dgm:constr type="h" for="ch" forName="Child1" refType="h" fact="0.2907"/>
            </dgm:constrLst>
          </dgm:if>
          <dgm:if name="Name9" axis="ch ch" ptType="node node" st="1 1" cnt="1 0" func="cnt" op="equ" val="5">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5" refType="w" fact="0.2858"/>
              <dgm:constr type="t" for="ch" forName="Accent5" refType="h" fact="0.7126"/>
              <dgm:constr type="w" for="ch" forName="Accent5" refType="w" fact="0.1622"/>
              <dgm:constr type="h" for="ch" forName="Accent5" refType="h" fact="0.1333"/>
              <dgm:constr type="l" for="ch" forName="Accent4" refType="w" fact="0.612"/>
              <dgm:constr type="t" for="ch" forName="Accent4" refType="h" fact="0.6834"/>
              <dgm:constr type="w" for="ch" forName="Accent4" refType="w" fact="0.1622"/>
              <dgm:constr type="h" for="ch" forName="Accent4" refType="h" fact="0.1333"/>
              <dgm:constr type="l" for="ch" forName="Accent3" refType="w" fact="0.7435"/>
              <dgm:constr type="t" for="ch" forName="Accent3" refType="h" fact="0.4021"/>
              <dgm:constr type="w" for="ch" forName="Accent3" refType="w" fact="0.1622"/>
              <dgm:constr type="h" for="ch" forName="Accent3" refType="h" fact="0.1333"/>
              <dgm:constr type="l" for="ch" forName="Accent2" refType="w" fact="0.5542"/>
              <dgm:constr type="t" for="ch" forName="Accent2" refType="h" fact="0.1529"/>
              <dgm:constr type="w" for="ch" forName="Accent2" refType="w" fact="0.1622"/>
              <dgm:constr type="h" for="ch" forName="Accent2" refType="h" fact="0.1333"/>
              <dgm:constr type="l" for="ch" forName="Accent1" refType="w" fact="0"/>
              <dgm:constr type="t" for="ch" forName="Accent1" refType="h" fact="0"/>
              <dgm:constr type="w" for="ch" forName="Accent1" refType="w" fact="0"/>
              <dgm:constr type="h" for="ch" forName="Accent1" refType="h" fact="0"/>
              <dgm:constr type="l" for="ch" forName="Child4" refType="w" fact="0.3246"/>
              <dgm:constr type="t" for="ch" forName="Child4" refType="h" fact="0.7093"/>
              <dgm:constr type="w" for="ch" forName="Child4" refType="w" fact="0.3523"/>
              <dgm:constr type="h" for="ch" forName="Child4" refType="h" fact="0.2907"/>
              <dgm:constr type="l" for="ch" forName="Parent" refType="w" fact="0.285"/>
              <dgm:constr type="t" for="ch" forName="Parent" refType="h" fact="0.3226"/>
              <dgm:constr type="w" for="ch" forName="Parent" refType="w" fact="0.4299"/>
              <dgm:constr type="h" for="ch" forName="Parent" refType="h" fact="0.3547"/>
              <dgm:constr type="l" for="ch" forName="Child2" refType="w" fact="0.6477"/>
              <dgm:constr type="t" for="ch" forName="Child2" refType="h" fact="0.1788"/>
              <dgm:constr type="w" for="ch" forName="Child2" refType="w" fact="0.3523"/>
              <dgm:constr type="h" for="ch" forName="Child2" refType="h" fact="0.2907"/>
              <dgm:constr type="l" for="ch" forName="Child3" refType="w" fact="0.6477"/>
              <dgm:constr type="t" for="ch" forName="Child3" refType="h" fact="0.5303"/>
              <dgm:constr type="w" for="ch" forName="Child3" refType="w" fact="0.3523"/>
              <dgm:constr type="h" for="ch" forName="Child3" refType="h" fact="0.2907"/>
              <dgm:constr type="l" for="ch" forName="Child5" refType="w" fact="0"/>
              <dgm:constr type="t" for="ch" forName="Child5" refType="h" fact="0.5305"/>
              <dgm:constr type="w" for="ch" forName="Child5" refType="w" fact="0.3523"/>
              <dgm:constr type="h" for="ch" forName="Child5" refType="h" fact="0.2907"/>
              <dgm:constr type="l" for="ch" forName="Child1" refType="w" fact="0.3246"/>
              <dgm:constr type="t" for="ch" forName="Child1" refType="h" fact="0"/>
              <dgm:constr type="w" for="ch" forName="Child1" refType="w" fact="0.3523"/>
              <dgm:constr type="h" for="ch" forName="Child1" refType="h" fact="0.2907"/>
            </dgm:constrLst>
          </dgm:if>
          <dgm:else name="Name10">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6" refType="primFontSz" refFor="des" refForName="Parent" op="lte"/>
              <dgm:constr type="primFontSz" for="des" forName="Child7"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ptType="node" op="equ" val="65"/>
              <dgm:constr type="l" for="ch" forName="Accent6" refType="w" fact="0.0934"/>
              <dgm:constr type="t" for="ch" forName="Accent6" refType="h" fact="0.4635"/>
              <dgm:constr type="w" for="ch" forName="Accent6" refType="w" fact="0.1622"/>
              <dgm:constr type="h" for="ch" forName="Accent6" refType="h" fact="0.1333"/>
              <dgm:constr type="l" for="ch" forName="Accent5" refType="w" fact="0.2858"/>
              <dgm:constr type="t" for="ch" forName="Accent5" refType="h" fact="0.7126"/>
              <dgm:constr type="w" for="ch" forName="Accent5" refType="w" fact="0.1622"/>
              <dgm:constr type="h" for="ch" forName="Accent5" refType="h" fact="0.1333"/>
              <dgm:constr type="l" for="ch" forName="Accent4" refType="w" fact="0.612"/>
              <dgm:constr type="t" for="ch" forName="Accent4" refType="h" fact="0.6834"/>
              <dgm:constr type="w" for="ch" forName="Accent4" refType="w" fact="0.1622"/>
              <dgm:constr type="h" for="ch" forName="Accent4" refType="h" fact="0.1333"/>
              <dgm:constr type="l" for="ch" forName="Accent3" refType="w" fact="0.7435"/>
              <dgm:constr type="t" for="ch" forName="Accent3" refType="h" fact="0.4021"/>
              <dgm:constr type="w" for="ch" forName="Accent3" refType="w" fact="0.1622"/>
              <dgm:constr type="h" for="ch" forName="Accent3" refType="h" fact="0.1333"/>
              <dgm:constr type="l" for="ch" forName="Accent2" refType="w" fact="0.5542"/>
              <dgm:constr type="t" for="ch" forName="Accent2" refType="h" fact="0.1529"/>
              <dgm:constr type="w" for="ch" forName="Accent2" refType="w" fact="0.1622"/>
              <dgm:constr type="h" for="ch" forName="Accent2" refType="h" fact="0.1333"/>
              <dgm:constr type="l" for="ch" forName="Accent1" refType="w" fact="0"/>
              <dgm:constr type="t" for="ch" forName="Accent1" refType="h" fact="0"/>
              <dgm:constr type="w" for="ch" forName="Accent1" refType="w" fact="0"/>
              <dgm:constr type="h" for="ch" forName="Accent1" refType="h" fact="0"/>
              <dgm:constr type="l" for="ch" forName="Child4" refType="w" fact="0.3246"/>
              <dgm:constr type="t" for="ch" forName="Child4" refType="h" fact="0.7093"/>
              <dgm:constr type="w" for="ch" forName="Child4" refType="w" fact="0.3523"/>
              <dgm:constr type="h" for="ch" forName="Child4" refType="h" fact="0.2907"/>
              <dgm:constr type="l" for="ch" forName="Parent" refType="w" fact="0.285"/>
              <dgm:constr type="t" for="ch" forName="Parent" refType="h" fact="0.3226"/>
              <dgm:constr type="w" for="ch" forName="Parent" refType="w" fact="0.4299"/>
              <dgm:constr type="h" for="ch" forName="Parent" refType="h" fact="0.3547"/>
              <dgm:constr type="l" for="ch" forName="Child2" refType="w" fact="0.6477"/>
              <dgm:constr type="t" for="ch" forName="Child2" refType="h" fact="0.1788"/>
              <dgm:constr type="w" for="ch" forName="Child2" refType="w" fact="0.3523"/>
              <dgm:constr type="h" for="ch" forName="Child2" refType="h" fact="0.2907"/>
              <dgm:constr type="l" for="ch" forName="Child3" refType="w" fact="0.6477"/>
              <dgm:constr type="t" for="ch" forName="Child3" refType="h" fact="0.5303"/>
              <dgm:constr type="w" for="ch" forName="Child3" refType="w" fact="0.3523"/>
              <dgm:constr type="h" for="ch" forName="Child3" refType="h" fact="0.2907"/>
              <dgm:constr type="l" for="ch" forName="Child5" refType="w" fact="0"/>
              <dgm:constr type="t" for="ch" forName="Child5" refType="h" fact="0.5305"/>
              <dgm:constr type="w" for="ch" forName="Child5" refType="w" fact="0.3523"/>
              <dgm:constr type="h" for="ch" forName="Child5" refType="h" fact="0.2907"/>
              <dgm:constr type="l" for="ch" forName="Child6" refType="w" fact="0"/>
              <dgm:constr type="t" for="ch" forName="Child6" refType="h" fact="0.1784"/>
              <dgm:constr type="w" for="ch" forName="Child6" refType="w" fact="0.3523"/>
              <dgm:constr type="h" for="ch" forName="Child6" refType="h" fact="0.2907"/>
              <dgm:constr type="l" for="ch" forName="Child1" refType="w" fact="0.3246"/>
              <dgm:constr type="t" for="ch" forName="Child1" refType="h" fact="0"/>
              <dgm:constr type="w" for="ch" forName="Child1" refType="w" fact="0.3523"/>
              <dgm:constr type="h" for="ch" forName="Child1" refType="h" fact="0.2907"/>
            </dgm:constrLst>
          </dgm:else>
        </dgm:choose>
      </dgm:if>
      <dgm:else name="Name11">
        <dgm:choose name="Name12">
          <dgm:if name="Name13" axis="ch ch" ptType="node node" st="1 1" cnt="1 0" func="cnt" op="equ" val="0">
            <dgm:alg type="composite">
              <dgm:param type="ar" val="1.1561"/>
            </dgm:alg>
            <dgm:constrLst>
              <dgm:constr type="primFontSz" for="des" forName="Parent" val="65"/>
              <dgm:constr type="l" for="ch" forName="Parent" refType="w" fact="0"/>
              <dgm:constr type="t" for="ch" forName="Parent" refType="h" fact="0"/>
              <dgm:constr type="w" for="ch" forName="Parent" refType="w"/>
              <dgm:constr type="h" for="ch" forName="Parent" refType="h"/>
            </dgm:constrLst>
          </dgm:if>
          <dgm:if name="Name14" axis="ch ch" ptType="node node" st="1 1" cnt="1 0" func="cnt" op="lte" val="1">
            <dgm:alg type="composite">
              <dgm:param type="ar" val="1.368"/>
            </dgm:alg>
            <dgm:constrLst>
              <dgm:constr type="primFontSz" for="des" forName="Parent" val="65"/>
              <dgm:constr type="primFontSz" for="des" forName="Child1" val="65"/>
              <dgm:constr type="primFontSz" for="des" forName="Child1" refType="primFontSz" refFor="des" refForName="Parent" op="lte"/>
              <dgm:constr type="r" for="ch" forName="Accent1" refType="w" fact="0.8315"/>
              <dgm:constr type="t" for="ch" forName="Accent1" refType="h" fact="0.2946"/>
              <dgm:constr type="w" for="ch" forName="Accent1" refType="w" fact="0.462"/>
              <dgm:constr type="h" for="ch" forName="Accent1" refType="h" fact="0.5472"/>
              <dgm:constr type="r" for="ch" forName="Parent" refType="w"/>
              <dgm:constr type="t" for="ch" forName="Parent" refType="h" fact="0.2885"/>
              <dgm:constr type="w" for="ch" forName="Parent" refType="w" fact="0.6013"/>
              <dgm:constr type="h" for="ch" forName="Parent" refType="h" fact="0.7115"/>
              <dgm:constr type="r" for="ch" forName="Child1" refType="w" fact="0.4927"/>
              <dgm:constr type="t" for="ch" forName="Child1" refType="h" fact="0"/>
              <dgm:constr type="w" for="ch" forName="Child1" refType="w" fact="0.4927"/>
              <dgm:constr type="h" for="ch" forName="Child1" refType="h" fact="0.5831"/>
            </dgm:constrLst>
          </dgm:if>
          <dgm:if name="Name15" axis="ch ch" ptType="node node" st="1 1" cnt="1 0" func="cnt" op="equ" val="2">
            <dgm:alg type="composite">
              <dgm:param type="ar" val="1.0619"/>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2" refType="primFontSz" refFor="des" refForName="Child1" op="equ"/>
              <dgm:constr type="r" for="ch" forName="Accent2" refType="w" fact="0.3587"/>
              <dgm:constr type="t" for="ch" forName="Accent2" refType="h" fact="0.3477"/>
              <dgm:constr type="w" for="ch" forName="Accent2" refType="w" fact="0.2269"/>
              <dgm:constr type="h" for="ch" forName="Accent2" refType="h" fact="0.2076"/>
              <dgm:constr type="r" for="ch" forName="Accent1" refType="w" fact="0"/>
              <dgm:constr type="t" for="ch" forName="Accent1" refType="h" fact="0"/>
              <dgm:constr type="w" for="ch" forName="Accent1" refType="w" fact="0"/>
              <dgm:constr type="h" for="ch" forName="Accent1" refType="h" fact="0"/>
              <dgm:constr type="r" for="ch" forName="Parent" refType="w"/>
              <dgm:constr type="t" for="ch" forName="Parent" refType="h" fact="0.2239"/>
              <dgm:constr type="w" for="ch" forName="Parent" refType="w" fact="0.6013"/>
              <dgm:constr type="h" for="ch" forName="Parent" refType="h" fact="0.5523"/>
              <dgm:constr type="r" for="ch" forName="Child1" refType="w" fact="0.4927"/>
              <dgm:constr type="t" for="ch" forName="Child1" refType="h" fact="0"/>
              <dgm:constr type="w" for="ch" forName="Child1" refType="w" fact="0.4927"/>
              <dgm:constr type="h" for="ch" forName="Child1" refType="h" fact="0.4527"/>
              <dgm:constr type="r" for="ch" forName="Child2" refType="w" fact="0.5073"/>
              <dgm:constr type="t" for="ch" forName="Child2" refType="h" fact="0.5473"/>
              <dgm:constr type="w" for="ch" forName="Child2" refType="w" fact="0.4927"/>
              <dgm:constr type="h" for="ch" forName="Child2" refType="h" fact="0.4527"/>
            </dgm:constrLst>
          </dgm:if>
          <dgm:if name="Name16" axis="ch ch" ptType="node node" st="1 1" cnt="1 0" func="cnt" op="equ" val="3">
            <dgm:alg type="composite">
              <dgm:param type="ar" val="0.8305"/>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2" refType="primFontSz" refFor="des" refForName="Child1" op="equ"/>
              <dgm:constr type="primFontSz" for="des" forName="Child3" refType="primFontSz" refFor="des" refForName="Child1" op="equ"/>
              <dgm:constr type="r" for="ch" forName="Accent3" refType="w" fact="0.5427"/>
              <dgm:constr type="t" for="ch" forName="Accent3" refType="h" fact="0.6145"/>
              <dgm:constr type="w" for="ch" forName="Accent3" refType="w" fact="0.2269"/>
              <dgm:constr type="h" for="ch" forName="Accent3" refType="h" fact="0.1623"/>
              <dgm:constr type="r" for="ch" forName="Accent2" refType="w" fact="0.3587"/>
              <dgm:constr type="t" for="ch" forName="Accent2" refType="h" fact="0.2719"/>
              <dgm:constr type="w" for="ch" forName="Accent2" refType="w" fact="0.2269"/>
              <dgm:constr type="h" for="ch" forName="Accent2" refType="h" fact="0.1623"/>
              <dgm:constr type="r" for="ch" forName="Accent1" refType="w" fact="0"/>
              <dgm:constr type="t" for="ch" forName="Accent1" refType="h" fact="0"/>
              <dgm:constr type="w" for="ch" forName="Accent1" refType="w" fact="0"/>
              <dgm:constr type="h" for="ch" forName="Accent1" refType="h" fact="0"/>
              <dgm:constr type="r" for="ch" forName="Child3" refType="w" fact="0.9446"/>
              <dgm:constr type="t" for="ch" forName="Child3" refType="h" fact="0.646"/>
              <dgm:constr type="w" for="ch" forName="Child3" refType="w" fact="0.4927"/>
              <dgm:constr type="h" for="ch" forName="Child3" refType="h" fact="0.354"/>
              <dgm:constr type="r" for="ch" forName="Parent" refType="w"/>
              <dgm:constr type="t" for="ch" forName="Parent" refType="h" fact="0.1751"/>
              <dgm:constr type="w" for="ch" forName="Parent" refType="w" fact="0.6013"/>
              <dgm:constr type="h" for="ch" forName="Parent" refType="h" fact="0.4319"/>
              <dgm:constr type="r" for="ch" forName="Child1" refType="w" fact="0.4927"/>
              <dgm:constr type="t" for="ch" forName="Child1" refType="h" fact="0"/>
              <dgm:constr type="w" for="ch" forName="Child1" refType="w" fact="0.4927"/>
              <dgm:constr type="h" for="ch" forName="Child1" refType="h" fact="0.354"/>
              <dgm:constr type="r" for="ch" forName="Child2" refType="w" fact="0.4927"/>
              <dgm:constr type="t" for="ch" forName="Child2" refType="h" fact="0.428"/>
              <dgm:constr type="w" for="ch" forName="Child2" refType="w" fact="0.4927"/>
              <dgm:constr type="h" for="ch" forName="Child2" refType="h" fact="0.354"/>
            </dgm:constrLst>
          </dgm:if>
          <dgm:if name="Name17" axis="ch ch" ptType="node node" st="1 1" cnt="1 0" func="cnt" op="equ" val="4">
            <dgm:alg type="composite">
              <dgm:param type="ar" val="0.682"/>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r" for="ch" forName="Accent4" refType="w" fact="0.5427"/>
              <dgm:constr type="t" for="ch" forName="Accent4" refType="h" fact="0.6834"/>
              <dgm:constr type="w" for="ch" forName="Accent4" refType="w" fact="0.2269"/>
              <dgm:constr type="h" for="ch" forName="Accent4" refType="h" fact="0.1333"/>
              <dgm:constr type="r" for="ch" forName="Accent3" refType="w" fact="0.3587"/>
              <dgm:constr type="t" for="ch" forName="Accent3" refType="h" fact="0.4021"/>
              <dgm:constr type="w" for="ch" forName="Accent3" refType="w" fact="0.2269"/>
              <dgm:constr type="h" for="ch" forName="Accent3" refType="h" fact="0.1333"/>
              <dgm:constr type="r" for="ch" forName="Accent2" refType="w" fact="0.6235"/>
              <dgm:constr type="t" for="ch" forName="Accent2" refType="h" fact="0.1529"/>
              <dgm:constr type="w" for="ch" forName="Accent2" refType="w" fact="0.2269"/>
              <dgm:constr type="h" for="ch" forName="Accent2" refType="h" fact="0.1333"/>
              <dgm:constr type="r" for="ch" forName="Accent1" refType="w" fact="0"/>
              <dgm:constr type="t" for="ch" forName="Accent1" refType="h" fact="0"/>
              <dgm:constr type="w" for="ch" forName="Accent1" refType="w" fact="0"/>
              <dgm:constr type="h" for="ch" forName="Accent1" refType="h" fact="0"/>
              <dgm:constr type="r" for="ch" forName="Child4" refType="w" fact="0.9446"/>
              <dgm:constr type="t" for="ch" forName="Child4" refType="h" fact="0.7093"/>
              <dgm:constr type="w" for="ch" forName="Child4" refType="w" fact="0.4927"/>
              <dgm:constr type="h" for="ch" forName="Child4" refType="h" fact="0.2907"/>
              <dgm:constr type="r" for="ch" forName="Parent" refType="w"/>
              <dgm:constr type="t" for="ch" forName="Parent" refType="h" fact="0.3226"/>
              <dgm:constr type="w" for="ch" forName="Parent" refType="w" fact="0.6013"/>
              <dgm:constr type="h" for="ch" forName="Parent" refType="h" fact="0.3547"/>
              <dgm:constr type="r" for="ch" forName="Child2" refType="w" fact="0.4927"/>
              <dgm:constr type="t" for="ch" forName="Child2" refType="h" fact="0.1788"/>
              <dgm:constr type="w" for="ch" forName="Child2" refType="w" fact="0.4927"/>
              <dgm:constr type="h" for="ch" forName="Child2" refType="h" fact="0.2907"/>
              <dgm:constr type="r" for="ch" forName="Child3" refType="w" fact="0.4927"/>
              <dgm:constr type="t" for="ch" forName="Child3" refType="h" fact="0.5303"/>
              <dgm:constr type="w" for="ch" forName="Child3" refType="w" fact="0.4927"/>
              <dgm:constr type="h" for="ch" forName="Child3" refType="h" fact="0.2907"/>
              <dgm:constr type="r" for="ch" forName="Child1" refType="w" fact="0.9446"/>
              <dgm:constr type="t" for="ch" forName="Child1" refType="h" fact="0"/>
              <dgm:constr type="w" for="ch" forName="Child1" refType="w" fact="0.4927"/>
              <dgm:constr type="h" for="ch" forName="Child1" refType="h" fact="0.2907"/>
            </dgm:constrLst>
          </dgm:if>
          <dgm:if name="Name18" axis="ch ch" ptType="node node" st="1 1" cnt="1 0" func="cnt" op="equ" val="5">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r" for="ch" forName="Accent5" refType="w" fact="0.7142"/>
              <dgm:constr type="t" for="ch" forName="Accent5" refType="h" fact="0.7126"/>
              <dgm:constr type="w" for="ch" forName="Accent5" refType="w" fact="0.1622"/>
              <dgm:constr type="h" for="ch" forName="Accent5" refType="h" fact="0.1333"/>
              <dgm:constr type="r" for="ch" forName="Accent4" refType="w" fact="0.388"/>
              <dgm:constr type="t" for="ch" forName="Accent4" refType="h" fact="0.6834"/>
              <dgm:constr type="w" for="ch" forName="Accent4" refType="w" fact="0.1622"/>
              <dgm:constr type="h" for="ch" forName="Accent4" refType="h" fact="0.1333"/>
              <dgm:constr type="r" for="ch" forName="Accent3" refType="w" fact="0.2565"/>
              <dgm:constr type="t" for="ch" forName="Accent3" refType="h" fact="0.4021"/>
              <dgm:constr type="w" for="ch" forName="Accent3" refType="w" fact="0.1622"/>
              <dgm:constr type="h" for="ch" forName="Accent3" refType="h" fact="0.1333"/>
              <dgm:constr type="r" for="ch" forName="Accent2" refType="w" fact="0.4458"/>
              <dgm:constr type="t" for="ch" forName="Accent2" refType="h" fact="0.1529"/>
              <dgm:constr type="w" for="ch" forName="Accent2" refType="w" fact="0.1622"/>
              <dgm:constr type="h" for="ch" forName="Accent2" refType="h" fact="0.1333"/>
              <dgm:constr type="r" for="ch" forName="Accent1" refType="w" fact="0"/>
              <dgm:constr type="t" for="ch" forName="Accent1" refType="h" fact="0"/>
              <dgm:constr type="w" for="ch" forName="Accent1" refType="w" fact="0"/>
              <dgm:constr type="h" for="ch" forName="Accent1" refType="h" fact="0"/>
              <dgm:constr type="r" for="ch" forName="Child4" refType="w" fact="0.6754"/>
              <dgm:constr type="t" for="ch" forName="Child4" refType="h" fact="0.7093"/>
              <dgm:constr type="w" for="ch" forName="Child4" refType="w" fact="0.3523"/>
              <dgm:constr type="h" for="ch" forName="Child4" refType="h" fact="0.2907"/>
              <dgm:constr type="r" for="ch" forName="Parent" refType="w" fact="0.715"/>
              <dgm:constr type="t" for="ch" forName="Parent" refType="h" fact="0.3226"/>
              <dgm:constr type="w" for="ch" forName="Parent" refType="w" fact="0.4299"/>
              <dgm:constr type="h" for="ch" forName="Parent" refType="h" fact="0.3547"/>
              <dgm:constr type="r" for="ch" forName="Child2" refType="w" fact="0.3523"/>
              <dgm:constr type="t" for="ch" forName="Child2" refType="h" fact="0.1788"/>
              <dgm:constr type="w" for="ch" forName="Child2" refType="w" fact="0.3523"/>
              <dgm:constr type="h" for="ch" forName="Child2" refType="h" fact="0.2907"/>
              <dgm:constr type="r" for="ch" forName="Child3" refType="w" fact="0.3523"/>
              <dgm:constr type="t" for="ch" forName="Child3" refType="h" fact="0.5303"/>
              <dgm:constr type="w" for="ch" forName="Child3" refType="w" fact="0.3523"/>
              <dgm:constr type="h" for="ch" forName="Child3" refType="h" fact="0.2907"/>
              <dgm:constr type="r" for="ch" forName="Child5" refType="w"/>
              <dgm:constr type="t" for="ch" forName="Child5" refType="h" fact="0.5305"/>
              <dgm:constr type="w" for="ch" forName="Child5" refType="w" fact="0.3523"/>
              <dgm:constr type="h" for="ch" forName="Child5" refType="h" fact="0.2907"/>
              <dgm:constr type="r" for="ch" forName="Child1" refType="w" fact="0.6754"/>
              <dgm:constr type="t" for="ch" forName="Child1" refType="h" fact="0"/>
              <dgm:constr type="w" for="ch" forName="Child1" refType="w" fact="0.3523"/>
              <dgm:constr type="h" for="ch" forName="Child1" refType="h" fact="0.2907"/>
            </dgm:constrLst>
          </dgm:if>
          <dgm:else name="Name19">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6" refType="primFontSz" refFor="des" refForName="Parent" op="lte"/>
              <dgm:constr type="primFontSz" for="des" forName="Child7"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ptType="node" op="equ" val="65"/>
              <dgm:constr type="r" for="ch" forName="Accent6" refType="w" fact="0.9066"/>
              <dgm:constr type="t" for="ch" forName="Accent6" refType="h" fact="0.4635"/>
              <dgm:constr type="w" for="ch" forName="Accent6" refType="w" fact="0.1622"/>
              <dgm:constr type="h" for="ch" forName="Accent6" refType="h" fact="0.1333"/>
              <dgm:constr type="r" for="ch" forName="Accent5" refType="w" fact="0.7142"/>
              <dgm:constr type="t" for="ch" forName="Accent5" refType="h" fact="0.7126"/>
              <dgm:constr type="w" for="ch" forName="Accent5" refType="w" fact="0.1622"/>
              <dgm:constr type="h" for="ch" forName="Accent5" refType="h" fact="0.1333"/>
              <dgm:constr type="r" for="ch" forName="Accent4" refType="w" fact="0.388"/>
              <dgm:constr type="t" for="ch" forName="Accent4" refType="h" fact="0.6834"/>
              <dgm:constr type="w" for="ch" forName="Accent4" refType="w" fact="0.1622"/>
              <dgm:constr type="h" for="ch" forName="Accent4" refType="h" fact="0.1333"/>
              <dgm:constr type="r" for="ch" forName="Accent3" refType="w" fact="0.2565"/>
              <dgm:constr type="t" for="ch" forName="Accent3" refType="h" fact="0.4021"/>
              <dgm:constr type="w" for="ch" forName="Accent3" refType="w" fact="0.1622"/>
              <dgm:constr type="h" for="ch" forName="Accent3" refType="h" fact="0.1333"/>
              <dgm:constr type="r" for="ch" forName="Accent2" refType="w" fact="0.4458"/>
              <dgm:constr type="t" for="ch" forName="Accent2" refType="h" fact="0.1529"/>
              <dgm:constr type="w" for="ch" forName="Accent2" refType="w" fact="0.1622"/>
              <dgm:constr type="h" for="ch" forName="Accent2" refType="h" fact="0.1333"/>
              <dgm:constr type="r" for="ch" forName="Accent1" refType="w" fact="0"/>
              <dgm:constr type="t" for="ch" forName="Accent1" refType="h" fact="0"/>
              <dgm:constr type="w" for="ch" forName="Accent1" refType="w" fact="0"/>
              <dgm:constr type="h" for="ch" forName="Accent1" refType="h" fact="0"/>
              <dgm:constr type="r" for="ch" forName="Child4" refType="w" fact="0.6754"/>
              <dgm:constr type="t" for="ch" forName="Child4" refType="h" fact="0.7093"/>
              <dgm:constr type="w" for="ch" forName="Child4" refType="w" fact="0.3523"/>
              <dgm:constr type="h" for="ch" forName="Child4" refType="h" fact="0.2907"/>
              <dgm:constr type="r" for="ch" forName="Parent" refType="w" fact="0.715"/>
              <dgm:constr type="t" for="ch" forName="Parent" refType="h" fact="0.3226"/>
              <dgm:constr type="w" for="ch" forName="Parent" refType="w" fact="0.4299"/>
              <dgm:constr type="h" for="ch" forName="Parent" refType="h" fact="0.3547"/>
              <dgm:constr type="r" for="ch" forName="Child2" refType="w" fact="0.3523"/>
              <dgm:constr type="t" for="ch" forName="Child2" refType="h" fact="0.1788"/>
              <dgm:constr type="w" for="ch" forName="Child2" refType="w" fact="0.3523"/>
              <dgm:constr type="h" for="ch" forName="Child2" refType="h" fact="0.2907"/>
              <dgm:constr type="r" for="ch" forName="Child3" refType="w" fact="0.3523"/>
              <dgm:constr type="t" for="ch" forName="Child3" refType="h" fact="0.5303"/>
              <dgm:constr type="w" for="ch" forName="Child3" refType="w" fact="0.3523"/>
              <dgm:constr type="h" for="ch" forName="Child3" refType="h" fact="0.2907"/>
              <dgm:constr type="r" for="ch" forName="Child5" refType="w"/>
              <dgm:constr type="t" for="ch" forName="Child5" refType="h" fact="0.5305"/>
              <dgm:constr type="w" for="ch" forName="Child5" refType="w" fact="0.3523"/>
              <dgm:constr type="h" for="ch" forName="Child5" refType="h" fact="0.2907"/>
              <dgm:constr type="r" for="ch" forName="Child6" refType="w"/>
              <dgm:constr type="t" for="ch" forName="Child6" refType="h" fact="0.1784"/>
              <dgm:constr type="w" for="ch" forName="Child6" refType="w" fact="0.3523"/>
              <dgm:constr type="h" for="ch" forName="Child6" refType="h" fact="0.2907"/>
              <dgm:constr type="r" for="ch" forName="Child1" refType="w" fact="0.6754"/>
              <dgm:constr type="t" for="ch" forName="Child1" refType="h" fact="0"/>
              <dgm:constr type="w" for="ch" forName="Child1" refType="w" fact="0.3523"/>
              <dgm:constr type="h" for="ch" forName="Child1" refType="h" fact="0.2907"/>
            </dgm:constrLst>
          </dgm:else>
        </dgm:choose>
      </dgm:else>
    </dgm:choose>
    <dgm:forEach name="wrapper" axis="self" ptType="parTrans">
      <dgm:forEach name="accentRepeat" axis="self">
        <dgm:layoutNode name="Accent" styleLbl="bgShp">
          <dgm:alg type="sp"/>
          <dgm:shape xmlns:r="http://schemas.openxmlformats.org/officeDocument/2006/relationships" type="hexagon" r:blip="" zOrderOff="-2">
            <dgm:adjLst>
              <dgm:adj idx="1" val="0.289"/>
              <dgm:adj idx="2" val="1.1547"/>
            </dgm:adjLst>
          </dgm:shape>
          <dgm:presOf/>
        </dgm:layoutNode>
      </dgm:forEach>
    </dgm:forEach>
    <dgm:forEach name="Name20" axis="ch" ptType="node" cnt="1">
      <dgm:layoutNode name="Parent" styleLbl="node0">
        <dgm:varLst>
          <dgm:chMax val="6"/>
          <dgm:chPref val="6"/>
        </dgm:varLst>
        <dgm:alg type="tx"/>
        <dgm:shape xmlns:r="http://schemas.openxmlformats.org/officeDocument/2006/relationships" type="hexagon" r:blip="">
          <dgm:adjLst>
            <dgm:adj idx="1" val="0.2857"/>
            <dgm:adj idx="2" val="1.1547"/>
          </dgm:adjLst>
        </dgm:shape>
        <dgm:presOf axis="self"/>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1" axis="ch ch" ptType="node node" st="1 1" cnt="1 1">
      <dgm:layoutNode name="Accent1">
        <dgm:alg type="sp"/>
        <dgm:shape xmlns:r="http://schemas.openxmlformats.org/officeDocument/2006/relationships" r:blip="" zOrderOff="-2">
          <dgm:adjLst/>
        </dgm:shape>
        <dgm:presOf/>
        <dgm:constrLst/>
        <dgm:forEach name="Name22" ref="accentRepeat"/>
      </dgm:layoutNode>
      <dgm:layoutNode name="Child1"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3" axis="ch ch" ptType="node node" st="1 2" cnt="1 1">
      <dgm:layoutNode name="Accent2">
        <dgm:alg type="sp"/>
        <dgm:shape xmlns:r="http://schemas.openxmlformats.org/officeDocument/2006/relationships" r:blip="" zOrderOff="-2">
          <dgm:adjLst/>
        </dgm:shape>
        <dgm:presOf/>
        <dgm:constrLst/>
        <dgm:forEach name="Name24" ref="accentRepeat"/>
      </dgm:layoutNode>
      <dgm:layoutNode name="Child2"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5" axis="ch ch" ptType="node node" st="1 3" cnt="1 1">
      <dgm:layoutNode name="Accent3">
        <dgm:alg type="sp"/>
        <dgm:shape xmlns:r="http://schemas.openxmlformats.org/officeDocument/2006/relationships" r:blip="" zOrderOff="-2">
          <dgm:adjLst/>
        </dgm:shape>
        <dgm:presOf/>
        <dgm:constrLst/>
        <dgm:forEach name="Name26" ref="accentRepeat"/>
      </dgm:layoutNode>
      <dgm:layoutNode name="Child3"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7" axis="ch ch" ptType="node node" st="1 4" cnt="1 1">
      <dgm:layoutNode name="Accent4">
        <dgm:alg type="sp"/>
        <dgm:shape xmlns:r="http://schemas.openxmlformats.org/officeDocument/2006/relationships" r:blip="">
          <dgm:adjLst/>
        </dgm:shape>
        <dgm:presOf/>
        <dgm:constrLst/>
        <dgm:forEach name="Name28" ref="accentRepeat"/>
      </dgm:layoutNode>
      <dgm:layoutNode name="Child4"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9" axis="ch ch" ptType="node node" st="1 5" cnt="1 1">
      <dgm:layoutNode name="Accent5">
        <dgm:alg type="sp"/>
        <dgm:shape xmlns:r="http://schemas.openxmlformats.org/officeDocument/2006/relationships" r:blip="">
          <dgm:adjLst/>
        </dgm:shape>
        <dgm:presOf/>
        <dgm:constrLst/>
        <dgm:forEach name="Name30" ref="accentRepeat"/>
      </dgm:layoutNode>
      <dgm:layoutNode name="Child5"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31" axis="ch ch" ptType="node node" st="1 6" cnt="1 1">
      <dgm:layoutNode name="Accent6">
        <dgm:alg type="sp"/>
        <dgm:shape xmlns:r="http://schemas.openxmlformats.org/officeDocument/2006/relationships" r:blip="">
          <dgm:adjLst/>
        </dgm:shape>
        <dgm:presOf/>
        <dgm:constrLst/>
        <dgm:forEach name="Name32" ref="accentRepeat"/>
      </dgm:layoutNode>
      <dgm:layoutNode name="Child6"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07081A0-38E7-43D1-B17A-CE6E6C058422}" type="datetimeFigureOut">
              <a:rPr lang="en-IN" smtClean="0"/>
              <a:t>05-08-2025</a:t>
            </a:fld>
            <a:endParaRPr lang="en-IN"/>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AE3D2BA-CFBB-4E10-98FF-614A4AD8C902}" type="slidenum">
              <a:rPr lang="en-IN" smtClean="0"/>
              <a:t>‹#›</a:t>
            </a:fld>
            <a:endParaRPr lang="en-IN"/>
          </a:p>
        </p:txBody>
      </p:sp>
    </p:spTree>
    <p:extLst>
      <p:ext uri="{BB962C8B-B14F-4D97-AF65-F5344CB8AC3E}">
        <p14:creationId xmlns:p14="http://schemas.microsoft.com/office/powerpoint/2010/main" val="3845352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A09588D-2888-4072-B130-49C0B789CE77}" type="datetimeFigureOut">
              <a:rPr lang="en-IN" smtClean="0"/>
              <a:t>05-08-2025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789FC79-C538-4C85-BB03-B6CA3D4574BE}" type="slidenum">
              <a:rPr lang="en-IN" smtClean="0"/>
              <a:t>‹#›</a:t>
            </a:fld>
            <a:endParaRPr lang="en-IN"/>
          </a:p>
        </p:txBody>
      </p:sp>
    </p:spTree>
    <p:extLst>
      <p:ext uri="{BB962C8B-B14F-4D97-AF65-F5344CB8AC3E}">
        <p14:creationId xmlns:p14="http://schemas.microsoft.com/office/powerpoint/2010/main" val="38082401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884FDA74-C56F-4030-BF6A-575A0BBC073A}" type="datetimeFigureOut">
              <a:rPr lang="en-US" smtClean="0"/>
              <a:t>8/5/2025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97EDFCB-B9DE-40AC-9A31-E168612EFE43}" type="slidenum">
              <a:rPr lang="en-US" smtClean="0"/>
              <a:t>‹#›</a:t>
            </a:fld>
            <a:endParaRPr lang="en-US"/>
          </a:p>
        </p:txBody>
      </p:sp>
    </p:spTree>
    <p:extLst>
      <p:ext uri="{BB962C8B-B14F-4D97-AF65-F5344CB8AC3E}">
        <p14:creationId xmlns:p14="http://schemas.microsoft.com/office/powerpoint/2010/main" val="42863820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84FDA74-C56F-4030-BF6A-575A0BBC073A}" type="datetimeFigureOut">
              <a:rPr lang="en-US" smtClean="0"/>
              <a:t>8/5/2025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97EDFCB-B9DE-40AC-9A31-E168612EFE43}" type="slidenum">
              <a:rPr lang="en-US" smtClean="0"/>
              <a:t>‹#›</a:t>
            </a:fld>
            <a:endParaRPr lang="en-US"/>
          </a:p>
        </p:txBody>
      </p:sp>
    </p:spTree>
    <p:extLst>
      <p:ext uri="{BB962C8B-B14F-4D97-AF65-F5344CB8AC3E}">
        <p14:creationId xmlns:p14="http://schemas.microsoft.com/office/powerpoint/2010/main" val="35544233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884FDA74-C56F-4030-BF6A-575A0BBC073A}" type="datetimeFigureOut">
              <a:rPr lang="en-US" smtClean="0"/>
              <a:t>8/5/2025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97EDFCB-B9DE-40AC-9A31-E168612EFE43}" type="slidenum">
              <a:rPr lang="en-US" smtClean="0"/>
              <a:t>‹#›</a:t>
            </a:fld>
            <a:endParaRPr lang="en-US"/>
          </a:p>
        </p:txBody>
      </p:sp>
    </p:spTree>
    <p:extLst>
      <p:ext uri="{BB962C8B-B14F-4D97-AF65-F5344CB8AC3E}">
        <p14:creationId xmlns:p14="http://schemas.microsoft.com/office/powerpoint/2010/main" val="374271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884FDA74-C56F-4030-BF6A-575A0BBC073A}" type="datetimeFigureOut">
              <a:rPr lang="en-US" smtClean="0"/>
              <a:t>8/5/2025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97EDFCB-B9DE-40AC-9A31-E168612EFE43}" type="slidenum">
              <a:rPr lang="en-US" smtClean="0"/>
              <a:t>‹#›</a:t>
            </a:fld>
            <a:endParaRPr lang="en-US"/>
          </a:p>
        </p:txBody>
      </p:sp>
    </p:spTree>
    <p:extLst>
      <p:ext uri="{BB962C8B-B14F-4D97-AF65-F5344CB8AC3E}">
        <p14:creationId xmlns:p14="http://schemas.microsoft.com/office/powerpoint/2010/main" val="12294430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884FDA74-C56F-4030-BF6A-575A0BBC073A}" type="datetimeFigureOut">
              <a:rPr lang="en-US" smtClean="0"/>
              <a:t>8/5/2025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97EDFCB-B9DE-40AC-9A31-E168612EFE43}" type="slidenum">
              <a:rPr lang="en-US" smtClean="0"/>
              <a:t>‹#›</a:t>
            </a:fld>
            <a:endParaRPr lang="en-US"/>
          </a:p>
        </p:txBody>
      </p:sp>
    </p:spTree>
    <p:extLst>
      <p:ext uri="{BB962C8B-B14F-4D97-AF65-F5344CB8AC3E}">
        <p14:creationId xmlns:p14="http://schemas.microsoft.com/office/powerpoint/2010/main" val="27125869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884FDA74-C56F-4030-BF6A-575A0BBC073A}" type="datetimeFigureOut">
              <a:rPr lang="en-US" smtClean="0"/>
              <a:t>8/5/2025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97EDFCB-B9DE-40AC-9A31-E168612EFE43}" type="slidenum">
              <a:rPr lang="en-US" smtClean="0"/>
              <a:t>‹#›</a:t>
            </a:fld>
            <a:endParaRPr lang="en-US"/>
          </a:p>
        </p:txBody>
      </p:sp>
    </p:spTree>
    <p:extLst>
      <p:ext uri="{BB962C8B-B14F-4D97-AF65-F5344CB8AC3E}">
        <p14:creationId xmlns:p14="http://schemas.microsoft.com/office/powerpoint/2010/main" val="36762102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84FDA74-C56F-4030-BF6A-575A0BBC073A}" type="datetimeFigureOut">
              <a:rPr lang="en-US" smtClean="0"/>
              <a:t>8/5/2025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97EDFCB-B9DE-40AC-9A31-E168612EFE43}" type="slidenum">
              <a:rPr lang="en-US" smtClean="0"/>
              <a:t>‹#›</a:t>
            </a:fld>
            <a:endParaRPr lang="en-US"/>
          </a:p>
        </p:txBody>
      </p:sp>
    </p:spTree>
    <p:extLst>
      <p:ext uri="{BB962C8B-B14F-4D97-AF65-F5344CB8AC3E}">
        <p14:creationId xmlns:p14="http://schemas.microsoft.com/office/powerpoint/2010/main" val="6599756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884FDA74-C56F-4030-BF6A-575A0BBC073A}" type="datetimeFigureOut">
              <a:rPr lang="en-US" smtClean="0"/>
              <a:t>8/5/2025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97EDFCB-B9DE-40AC-9A31-E168612EFE43}" type="slidenum">
              <a:rPr lang="en-US" smtClean="0"/>
              <a:t>‹#›</a:t>
            </a:fld>
            <a:endParaRPr lang="en-US"/>
          </a:p>
        </p:txBody>
      </p:sp>
    </p:spTree>
    <p:extLst>
      <p:ext uri="{BB962C8B-B14F-4D97-AF65-F5344CB8AC3E}">
        <p14:creationId xmlns:p14="http://schemas.microsoft.com/office/powerpoint/2010/main" val="2490464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884FDA74-C56F-4030-BF6A-575A0BBC073A}" type="datetimeFigureOut">
              <a:rPr lang="en-US" smtClean="0"/>
              <a:t>8/5/2025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97EDFCB-B9DE-40AC-9A31-E168612EFE43}" type="slidenum">
              <a:rPr lang="en-US" smtClean="0"/>
              <a:t>‹#›</a:t>
            </a:fld>
            <a:endParaRPr lang="en-US"/>
          </a:p>
        </p:txBody>
      </p:sp>
    </p:spTree>
    <p:extLst>
      <p:ext uri="{BB962C8B-B14F-4D97-AF65-F5344CB8AC3E}">
        <p14:creationId xmlns:p14="http://schemas.microsoft.com/office/powerpoint/2010/main" val="1377137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84FDA74-C56F-4030-BF6A-575A0BBC073A}" type="datetimeFigureOut">
              <a:rPr lang="en-US" smtClean="0"/>
              <a:t>8/5/2025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97EDFCB-B9DE-40AC-9A31-E168612EFE43}" type="slidenum">
              <a:rPr lang="en-US" smtClean="0"/>
              <a:t>‹#›</a:t>
            </a:fld>
            <a:endParaRPr lang="en-US"/>
          </a:p>
        </p:txBody>
      </p:sp>
    </p:spTree>
    <p:extLst>
      <p:ext uri="{BB962C8B-B14F-4D97-AF65-F5344CB8AC3E}">
        <p14:creationId xmlns:p14="http://schemas.microsoft.com/office/powerpoint/2010/main" val="36982507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84FDA74-C56F-4030-BF6A-575A0BBC073A}" type="datetimeFigureOut">
              <a:rPr lang="en-US" smtClean="0"/>
              <a:t>8/5/2025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97EDFCB-B9DE-40AC-9A31-E168612EFE43}" type="slidenum">
              <a:rPr lang="en-US" smtClean="0"/>
              <a:t>‹#›</a:t>
            </a:fld>
            <a:endParaRPr lang="en-US"/>
          </a:p>
        </p:txBody>
      </p:sp>
    </p:spTree>
    <p:extLst>
      <p:ext uri="{BB962C8B-B14F-4D97-AF65-F5344CB8AC3E}">
        <p14:creationId xmlns:p14="http://schemas.microsoft.com/office/powerpoint/2010/main" val="36229817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84FDA74-C56F-4030-BF6A-575A0BBC073A}" type="datetimeFigureOut">
              <a:rPr lang="en-US" smtClean="0"/>
              <a:t>8/5/2025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97EDFCB-B9DE-40AC-9A31-E168612EFE43}" type="slidenum">
              <a:rPr lang="en-US" smtClean="0"/>
              <a:t>‹#›</a:t>
            </a:fld>
            <a:endParaRPr lang="en-US"/>
          </a:p>
        </p:txBody>
      </p:sp>
    </p:spTree>
    <p:extLst>
      <p:ext uri="{BB962C8B-B14F-4D97-AF65-F5344CB8AC3E}">
        <p14:creationId xmlns:p14="http://schemas.microsoft.com/office/powerpoint/2010/main" val="40197737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err="1" smtClean="0"/>
              <a:t>ManagerialEconomics</a:t>
            </a:r>
            <a:r>
              <a:rPr lang="en-US" dirty="0" smtClean="0"/>
              <a:t> </a:t>
            </a:r>
            <a:endParaRPr lang="en-US" dirty="0"/>
          </a:p>
        </p:txBody>
      </p:sp>
      <p:sp>
        <p:nvSpPr>
          <p:cNvPr id="3" name="Subtitle 2"/>
          <p:cNvSpPr>
            <a:spLocks noGrp="1"/>
          </p:cNvSpPr>
          <p:nvPr>
            <p:ph type="subTitle" idx="1"/>
          </p:nvPr>
        </p:nvSpPr>
        <p:spPr/>
        <p:txBody>
          <a:bodyPr/>
          <a:lstStyle/>
          <a:p>
            <a:r>
              <a:rPr lang="en-US" dirty="0" smtClean="0"/>
              <a:t>Introduction </a:t>
            </a:r>
            <a:endParaRPr lang="en-US" dirty="0"/>
          </a:p>
        </p:txBody>
      </p:sp>
    </p:spTree>
    <p:extLst>
      <p:ext uri="{BB962C8B-B14F-4D97-AF65-F5344CB8AC3E}">
        <p14:creationId xmlns:p14="http://schemas.microsoft.com/office/powerpoint/2010/main" val="369561107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Introduction </a:t>
            </a:r>
            <a:endParaRPr lang="en-US" dirty="0"/>
          </a:p>
        </p:txBody>
      </p:sp>
      <p:sp>
        <p:nvSpPr>
          <p:cNvPr id="3" name="Content Placeholder 2"/>
          <p:cNvSpPr>
            <a:spLocks noGrp="1"/>
          </p:cNvSpPr>
          <p:nvPr>
            <p:ph idx="1"/>
          </p:nvPr>
        </p:nvSpPr>
        <p:spPr/>
        <p:txBody>
          <a:bodyPr>
            <a:normAutofit fontScale="92500"/>
          </a:bodyPr>
          <a:lstStyle/>
          <a:p>
            <a:r>
              <a:rPr lang="en-US" dirty="0" smtClean="0"/>
              <a:t>The study of Economics has expanded to include vast range of topics like </a:t>
            </a:r>
          </a:p>
          <a:p>
            <a:pPr lvl="1"/>
            <a:r>
              <a:rPr lang="en-US" dirty="0" smtClean="0"/>
              <a:t>Explores the behavior of financial markets including interest rates and stock prices.</a:t>
            </a:r>
          </a:p>
          <a:p>
            <a:pPr lvl="1"/>
            <a:r>
              <a:rPr lang="en-US" dirty="0" smtClean="0"/>
              <a:t>Examines the reason why some countries or people have high incomes while others are poor and suggests ways that incomes of poor can be raised without harming the economy.</a:t>
            </a:r>
          </a:p>
          <a:p>
            <a:pPr lvl="1"/>
            <a:r>
              <a:rPr lang="en-US" dirty="0" smtClean="0"/>
              <a:t>Studies business cycles</a:t>
            </a:r>
          </a:p>
          <a:p>
            <a:pPr lvl="1"/>
            <a:r>
              <a:rPr lang="en-US" dirty="0" smtClean="0"/>
              <a:t>Studies international trade and finance and the impacts of globalization</a:t>
            </a:r>
          </a:p>
          <a:p>
            <a:pPr lvl="1"/>
            <a:r>
              <a:rPr lang="en-US" dirty="0" smtClean="0"/>
              <a:t>Looks at growth in developing countries </a:t>
            </a:r>
          </a:p>
          <a:p>
            <a:pPr lvl="1"/>
            <a:r>
              <a:rPr lang="en-US" dirty="0" smtClean="0"/>
              <a:t>Asks how government polices can be used to pursue important economic goals such as rapid economic growth, efficient use of resources, full employment, price stability and a fair distribution of income.   </a:t>
            </a:r>
            <a:endParaRPr lang="en-US" dirty="0"/>
          </a:p>
        </p:txBody>
      </p:sp>
    </p:spTree>
    <p:extLst>
      <p:ext uri="{BB962C8B-B14F-4D97-AF65-F5344CB8AC3E}">
        <p14:creationId xmlns:p14="http://schemas.microsoft.com/office/powerpoint/2010/main" val="246104687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Economics- ‘</a:t>
            </a:r>
            <a:r>
              <a:rPr lang="en-US" dirty="0" err="1" smtClean="0"/>
              <a:t>oikonomos</a:t>
            </a:r>
            <a:r>
              <a:rPr lang="en-US" dirty="0" smtClean="0"/>
              <a:t>’</a:t>
            </a:r>
            <a:endParaRPr lang="en-US" dirty="0"/>
          </a:p>
        </p:txBody>
      </p:sp>
      <p:sp>
        <p:nvSpPr>
          <p:cNvPr id="3" name="Content Placeholder 2"/>
          <p:cNvSpPr>
            <a:spLocks noGrp="1"/>
          </p:cNvSpPr>
          <p:nvPr>
            <p:ph idx="1"/>
          </p:nvPr>
        </p:nvSpPr>
        <p:spPr/>
        <p:txBody>
          <a:bodyPr/>
          <a:lstStyle/>
          <a:p>
            <a:r>
              <a:rPr lang="en-US" dirty="0" smtClean="0"/>
              <a:t>‘</a:t>
            </a:r>
            <a:r>
              <a:rPr lang="en-US" dirty="0" err="1" smtClean="0"/>
              <a:t>Oikonomos</a:t>
            </a:r>
            <a:r>
              <a:rPr lang="en-US" dirty="0" smtClean="0"/>
              <a:t>’ means ‘one who manages a household’</a:t>
            </a:r>
          </a:p>
          <a:p>
            <a:r>
              <a:rPr lang="en-US" dirty="0" smtClean="0"/>
              <a:t>Household and economies have much in common.</a:t>
            </a:r>
          </a:p>
          <a:p>
            <a:r>
              <a:rPr lang="en-US" dirty="0" smtClean="0"/>
              <a:t>Household faces many decisions like economy. </a:t>
            </a:r>
          </a:p>
          <a:p>
            <a:endParaRPr lang="en-US" dirty="0" smtClean="0"/>
          </a:p>
          <a:p>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671566713"/>
              </p:ext>
            </p:extLst>
          </p:nvPr>
        </p:nvGraphicFramePr>
        <p:xfrm>
          <a:off x="964276" y="3396827"/>
          <a:ext cx="8123382" cy="2651760"/>
        </p:xfrm>
        <a:graphic>
          <a:graphicData uri="http://schemas.openxmlformats.org/drawingml/2006/table">
            <a:tbl>
              <a:tblPr firstRow="1" bandRow="1">
                <a:tableStyleId>{5C22544A-7EE6-4342-B048-85BDC9FD1C3A}</a:tableStyleId>
              </a:tblPr>
              <a:tblGrid>
                <a:gridCol w="4061691">
                  <a:extLst>
                    <a:ext uri="{9D8B030D-6E8A-4147-A177-3AD203B41FA5}">
                      <a16:colId xmlns:a16="http://schemas.microsoft.com/office/drawing/2014/main" val="3202938785"/>
                    </a:ext>
                  </a:extLst>
                </a:gridCol>
                <a:gridCol w="4061691">
                  <a:extLst>
                    <a:ext uri="{9D8B030D-6E8A-4147-A177-3AD203B41FA5}">
                      <a16:colId xmlns:a16="http://schemas.microsoft.com/office/drawing/2014/main" val="1560053213"/>
                    </a:ext>
                  </a:extLst>
                </a:gridCol>
              </a:tblGrid>
              <a:tr h="0">
                <a:tc>
                  <a:txBody>
                    <a:bodyPr/>
                    <a:lstStyle/>
                    <a:p>
                      <a:pPr algn="ctr"/>
                      <a:r>
                        <a:rPr lang="en-US" dirty="0" smtClean="0"/>
                        <a:t>Household </a:t>
                      </a:r>
                      <a:endParaRPr lang="en-US" dirty="0"/>
                    </a:p>
                  </a:txBody>
                  <a:tcPr/>
                </a:tc>
                <a:tc>
                  <a:txBody>
                    <a:bodyPr/>
                    <a:lstStyle/>
                    <a:p>
                      <a:pPr algn="ctr"/>
                      <a:r>
                        <a:rPr lang="en-US" dirty="0" smtClean="0"/>
                        <a:t>Economy </a:t>
                      </a:r>
                      <a:endParaRPr lang="en-US" dirty="0"/>
                    </a:p>
                  </a:txBody>
                  <a:tcPr/>
                </a:tc>
                <a:extLst>
                  <a:ext uri="{0D108BD9-81ED-4DB2-BD59-A6C34878D82A}">
                    <a16:rowId xmlns:a16="http://schemas.microsoft.com/office/drawing/2014/main" val="2117767344"/>
                  </a:ext>
                </a:extLst>
              </a:tr>
              <a:tr h="0">
                <a:tc>
                  <a:txBody>
                    <a:bodyPr/>
                    <a:lstStyle/>
                    <a:p>
                      <a:r>
                        <a:rPr lang="en-US" dirty="0" smtClean="0"/>
                        <a:t>Who should do what? (production) </a:t>
                      </a:r>
                      <a:endParaRPr lang="en-US" dirty="0"/>
                    </a:p>
                  </a:txBody>
                  <a:tcPr/>
                </a:tc>
                <a:tc>
                  <a:txBody>
                    <a:bodyPr/>
                    <a:lstStyle/>
                    <a:p>
                      <a:r>
                        <a:rPr lang="en-US" dirty="0" smtClean="0"/>
                        <a:t>Who should do what?</a:t>
                      </a:r>
                      <a:r>
                        <a:rPr lang="en-US" baseline="0" dirty="0" smtClean="0"/>
                        <a:t> (Production)</a:t>
                      </a:r>
                      <a:endParaRPr lang="en-US" dirty="0"/>
                    </a:p>
                  </a:txBody>
                  <a:tcPr/>
                </a:tc>
                <a:extLst>
                  <a:ext uri="{0D108BD9-81ED-4DB2-BD59-A6C34878D82A}">
                    <a16:rowId xmlns:a16="http://schemas.microsoft.com/office/drawing/2014/main" val="3689635252"/>
                  </a:ext>
                </a:extLst>
              </a:tr>
              <a:tr h="0">
                <a:tc>
                  <a:txBody>
                    <a:bodyPr/>
                    <a:lstStyle/>
                    <a:p>
                      <a:r>
                        <a:rPr lang="en-US" dirty="0" smtClean="0"/>
                        <a:t>What to consume and how much in quantity?</a:t>
                      </a:r>
                      <a:r>
                        <a:rPr lang="en-US" baseline="0" dirty="0" smtClean="0"/>
                        <a:t> (consumption)</a:t>
                      </a:r>
                      <a:endParaRPr lang="en-US" dirty="0"/>
                    </a:p>
                  </a:txBody>
                  <a:tcPr/>
                </a:tc>
                <a:tc>
                  <a:txBody>
                    <a:bodyPr/>
                    <a:lstStyle/>
                    <a:p>
                      <a:r>
                        <a:rPr lang="en-US" dirty="0" smtClean="0"/>
                        <a:t>What to consume</a:t>
                      </a:r>
                      <a:r>
                        <a:rPr lang="en-US" baseline="0" dirty="0" smtClean="0"/>
                        <a:t> and how much in quantity?</a:t>
                      </a:r>
                      <a:endParaRPr lang="en-US" dirty="0"/>
                    </a:p>
                  </a:txBody>
                  <a:tcPr/>
                </a:tc>
                <a:extLst>
                  <a:ext uri="{0D108BD9-81ED-4DB2-BD59-A6C34878D82A}">
                    <a16:rowId xmlns:a16="http://schemas.microsoft.com/office/drawing/2014/main" val="2559240830"/>
                  </a:ext>
                </a:extLst>
              </a:tr>
              <a:tr h="0">
                <a:tc>
                  <a:txBody>
                    <a:bodyPr/>
                    <a:lstStyle/>
                    <a:p>
                      <a:r>
                        <a:rPr lang="en-US" dirty="0" smtClean="0"/>
                        <a:t>How to allocate the household resources?</a:t>
                      </a:r>
                      <a:endParaRPr lang="en-US" dirty="0"/>
                    </a:p>
                  </a:txBody>
                  <a:tcPr/>
                </a:tc>
                <a:tc>
                  <a:txBody>
                    <a:bodyPr/>
                    <a:lstStyle/>
                    <a:p>
                      <a:r>
                        <a:rPr lang="en-US" dirty="0" smtClean="0"/>
                        <a:t>How to allocate economy’s resources? </a:t>
                      </a:r>
                      <a:endParaRPr lang="en-US" dirty="0"/>
                    </a:p>
                  </a:txBody>
                  <a:tcPr/>
                </a:tc>
                <a:extLst>
                  <a:ext uri="{0D108BD9-81ED-4DB2-BD59-A6C34878D82A}">
                    <a16:rowId xmlns:a16="http://schemas.microsoft.com/office/drawing/2014/main" val="686494714"/>
                  </a:ext>
                </a:extLst>
              </a:tr>
              <a:tr h="0">
                <a:tc>
                  <a:txBody>
                    <a:bodyPr/>
                    <a:lstStyle/>
                    <a:p>
                      <a:r>
                        <a:rPr lang="en-US" dirty="0" smtClean="0"/>
                        <a:t>How to distribute</a:t>
                      </a:r>
                      <a:r>
                        <a:rPr lang="en-US" baseline="0" dirty="0" smtClean="0"/>
                        <a:t> among themselves? (distribution)</a:t>
                      </a:r>
                      <a:endParaRPr lang="en-US" dirty="0"/>
                    </a:p>
                  </a:txBody>
                  <a:tcPr/>
                </a:tc>
                <a:tc>
                  <a:txBody>
                    <a:bodyPr/>
                    <a:lstStyle/>
                    <a:p>
                      <a:r>
                        <a:rPr lang="en-US" dirty="0" smtClean="0"/>
                        <a:t>How to distribute among people?</a:t>
                      </a:r>
                      <a:endParaRPr lang="en-US" dirty="0"/>
                    </a:p>
                  </a:txBody>
                  <a:tcPr/>
                </a:tc>
                <a:extLst>
                  <a:ext uri="{0D108BD9-81ED-4DB2-BD59-A6C34878D82A}">
                    <a16:rowId xmlns:a16="http://schemas.microsoft.com/office/drawing/2014/main" val="2687919732"/>
                  </a:ext>
                </a:extLst>
              </a:tr>
            </a:tbl>
          </a:graphicData>
        </a:graphic>
      </p:graphicFrame>
    </p:spTree>
    <p:extLst>
      <p:ext uri="{BB962C8B-B14F-4D97-AF65-F5344CB8AC3E}">
        <p14:creationId xmlns:p14="http://schemas.microsoft.com/office/powerpoint/2010/main" val="151443650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Three Economic Problems of Economic Organisation </a:t>
            </a:r>
            <a:endParaRPr lang="en-IN" dirty="0"/>
          </a:p>
        </p:txBody>
      </p:sp>
      <p:sp>
        <p:nvSpPr>
          <p:cNvPr id="3" name="Content Placeholder 2"/>
          <p:cNvSpPr>
            <a:spLocks noGrp="1"/>
          </p:cNvSpPr>
          <p:nvPr>
            <p:ph idx="1"/>
          </p:nvPr>
        </p:nvSpPr>
        <p:spPr/>
        <p:txBody>
          <a:bodyPr>
            <a:normAutofit lnSpcReduction="10000"/>
          </a:bodyPr>
          <a:lstStyle/>
          <a:p>
            <a:r>
              <a:rPr lang="en-IN" dirty="0" smtClean="0"/>
              <a:t>What commodities are produced and in what quantities? </a:t>
            </a:r>
          </a:p>
          <a:p>
            <a:pPr lvl="1"/>
            <a:r>
              <a:rPr lang="en-IN" dirty="0" smtClean="0"/>
              <a:t>How much of each possible goods and services it will make and when they will be produced?</a:t>
            </a:r>
          </a:p>
          <a:p>
            <a:r>
              <a:rPr lang="en-IN" dirty="0" smtClean="0"/>
              <a:t>How are goods produced?</a:t>
            </a:r>
          </a:p>
          <a:p>
            <a:pPr lvl="1"/>
            <a:r>
              <a:rPr lang="en-IN" dirty="0" smtClean="0"/>
              <a:t>Who will do the production and with what resources? What production technique? Who farms and who </a:t>
            </a:r>
            <a:r>
              <a:rPr lang="en-IN" dirty="0" err="1" smtClean="0"/>
              <a:t>teaches?Is</a:t>
            </a:r>
            <a:r>
              <a:rPr lang="en-IN" dirty="0" smtClean="0"/>
              <a:t> electricity generated from coal, oil or sun?</a:t>
            </a:r>
          </a:p>
          <a:p>
            <a:r>
              <a:rPr lang="en-IN" dirty="0" smtClean="0"/>
              <a:t>For whom goods are produced? </a:t>
            </a:r>
          </a:p>
          <a:p>
            <a:pPr lvl="1"/>
            <a:r>
              <a:rPr lang="en-IN" dirty="0" smtClean="0"/>
              <a:t>who gets to eat the fruit of economic </a:t>
            </a:r>
            <a:r>
              <a:rPr lang="en-IN" dirty="0" err="1" smtClean="0"/>
              <a:t>activity?Is</a:t>
            </a:r>
            <a:r>
              <a:rPr lang="en-IN" dirty="0" smtClean="0"/>
              <a:t> the distribution of income and wealth fair and equitable? Are many people poor and few are rich? Do high income goes to teacher or </a:t>
            </a:r>
            <a:r>
              <a:rPr lang="en-IN" dirty="0" err="1" smtClean="0"/>
              <a:t>atheletes</a:t>
            </a:r>
            <a:r>
              <a:rPr lang="en-IN" dirty="0" smtClean="0"/>
              <a:t> or autoworkers or venture capitalist?</a:t>
            </a:r>
            <a:endParaRPr lang="en-IN" dirty="0"/>
          </a:p>
        </p:txBody>
      </p:sp>
    </p:spTree>
    <p:extLst>
      <p:ext uri="{BB962C8B-B14F-4D97-AF65-F5344CB8AC3E}">
        <p14:creationId xmlns:p14="http://schemas.microsoft.com/office/powerpoint/2010/main" val="393152001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Definition: Economics  </a:t>
            </a:r>
            <a:endParaRPr lang="en-US" dirty="0"/>
          </a:p>
        </p:txBody>
      </p:sp>
      <p:sp>
        <p:nvSpPr>
          <p:cNvPr id="3" name="Content Placeholder 2"/>
          <p:cNvSpPr>
            <a:spLocks noGrp="1"/>
          </p:cNvSpPr>
          <p:nvPr>
            <p:ph idx="1"/>
          </p:nvPr>
        </p:nvSpPr>
        <p:spPr/>
        <p:txBody>
          <a:bodyPr>
            <a:normAutofit lnSpcReduction="10000"/>
          </a:bodyPr>
          <a:lstStyle/>
          <a:p>
            <a:pPr algn="just"/>
            <a:r>
              <a:rPr lang="en-US" sz="3200" dirty="0" smtClean="0">
                <a:solidFill>
                  <a:srgbClr val="00B050"/>
                </a:solidFill>
              </a:rPr>
              <a:t>Economics is “the study of how societies use scarce resources to produce valuable commodities and distribute among different people”. </a:t>
            </a:r>
          </a:p>
          <a:p>
            <a:pPr algn="just"/>
            <a:r>
              <a:rPr lang="en-US" dirty="0" smtClean="0"/>
              <a:t>Behind this definition are twin themes of Economics </a:t>
            </a:r>
          </a:p>
          <a:p>
            <a:pPr lvl="1" algn="just"/>
            <a:r>
              <a:rPr lang="en-US" sz="3200" dirty="0" smtClean="0">
                <a:solidFill>
                  <a:srgbClr val="FF0000"/>
                </a:solidFill>
              </a:rPr>
              <a:t>Scarcity </a:t>
            </a:r>
            <a:r>
              <a:rPr lang="en-US" sz="2800" dirty="0" smtClean="0">
                <a:solidFill>
                  <a:srgbClr val="000510"/>
                </a:solidFill>
              </a:rPr>
              <a:t>means the limited nature of society’s resources, given society’s unlimited wants and needs.</a:t>
            </a:r>
          </a:p>
          <a:p>
            <a:pPr lvl="1" algn="just"/>
            <a:r>
              <a:rPr lang="en-US" sz="3200" dirty="0" smtClean="0">
                <a:solidFill>
                  <a:srgbClr val="FF0000"/>
                </a:solidFill>
              </a:rPr>
              <a:t>Efficiency </a:t>
            </a:r>
            <a:r>
              <a:rPr lang="en-US" sz="2800" dirty="0"/>
              <a:t>means </a:t>
            </a:r>
            <a:r>
              <a:rPr lang="en-US" sz="2800" dirty="0" smtClean="0"/>
              <a:t>the most effective use of a society’s resources in satisfying people’s wants and needs. </a:t>
            </a:r>
          </a:p>
          <a:p>
            <a:pPr lvl="1" algn="just"/>
            <a:r>
              <a:rPr lang="en-US" sz="2800" dirty="0">
                <a:solidFill>
                  <a:srgbClr val="FF0000"/>
                </a:solidFill>
              </a:rPr>
              <a:t>Equality</a:t>
            </a:r>
            <a:r>
              <a:rPr lang="en-US" sz="2800" dirty="0" smtClean="0"/>
              <a:t> </a:t>
            </a:r>
            <a:r>
              <a:rPr lang="en-US" sz="2800" dirty="0" smtClean="0">
                <a:solidFill>
                  <a:srgbClr val="000510"/>
                </a:solidFill>
              </a:rPr>
              <a:t>means the property of distributing economic prosperity uniformly among the members of the society.  </a:t>
            </a:r>
            <a:endParaRPr lang="en-US" sz="2800" dirty="0"/>
          </a:p>
        </p:txBody>
      </p:sp>
    </p:spTree>
    <p:extLst>
      <p:ext uri="{BB962C8B-B14F-4D97-AF65-F5344CB8AC3E}">
        <p14:creationId xmlns:p14="http://schemas.microsoft.com/office/powerpoint/2010/main" val="153279024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smtClean="0"/>
              <a:t>A World Without a Scarcity </a:t>
            </a:r>
            <a:endParaRPr lang="en-IN" dirty="0"/>
          </a:p>
        </p:txBody>
      </p:sp>
      <p:pic>
        <p:nvPicPr>
          <p:cNvPr id="6" name="Content Placeholder 5"/>
          <p:cNvPicPr>
            <a:picLocks noGrp="1" noChangeAspect="1"/>
          </p:cNvPicPr>
          <p:nvPr>
            <p:ph sz="half" idx="1"/>
          </p:nvPr>
        </p:nvPicPr>
        <p:blipFill>
          <a:blip r:embed="rId2" cstate="print">
            <a:extLst>
              <a:ext uri="{28A0092B-C50C-407E-A947-70E740481C1C}">
                <a14:useLocalDpi xmlns:a14="http://schemas.microsoft.com/office/drawing/2010/main" val="0"/>
              </a:ext>
            </a:extLst>
          </a:blip>
          <a:stretch>
            <a:fillRect/>
          </a:stretch>
        </p:blipFill>
        <p:spPr>
          <a:xfrm>
            <a:off x="838200" y="1825625"/>
            <a:ext cx="5034699" cy="4351338"/>
          </a:xfrm>
        </p:spPr>
      </p:pic>
      <p:pic>
        <p:nvPicPr>
          <p:cNvPr id="5" name="Content Placeholder 4"/>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172200" y="1825626"/>
            <a:ext cx="5181600" cy="4351338"/>
          </a:xfrm>
        </p:spPr>
      </p:pic>
    </p:spTree>
    <p:extLst>
      <p:ext uri="{BB962C8B-B14F-4D97-AF65-F5344CB8AC3E}">
        <p14:creationId xmlns:p14="http://schemas.microsoft.com/office/powerpoint/2010/main" val="419921640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smtClean="0"/>
              <a:t>Free Goods Vs Economic Goods</a:t>
            </a:r>
            <a:endParaRPr lang="en-IN" dirty="0"/>
          </a:p>
        </p:txBody>
      </p:sp>
      <p:sp>
        <p:nvSpPr>
          <p:cNvPr id="3" name="Content Placeholder 2"/>
          <p:cNvSpPr>
            <a:spLocks noGrp="1"/>
          </p:cNvSpPr>
          <p:nvPr>
            <p:ph sz="half" idx="1"/>
          </p:nvPr>
        </p:nvSpPr>
        <p:spPr/>
        <p:txBody>
          <a:bodyPr/>
          <a:lstStyle/>
          <a:p>
            <a:r>
              <a:rPr lang="en-IN" dirty="0" smtClean="0"/>
              <a:t>Free Goods</a:t>
            </a:r>
          </a:p>
          <a:p>
            <a:r>
              <a:rPr lang="en-IN" dirty="0" smtClean="0"/>
              <a:t>Goods which exist in such large quantities that they need not be rationed out among those wishing to use them. Thus their market price is zero. </a:t>
            </a:r>
          </a:p>
          <a:p>
            <a:r>
              <a:rPr lang="en-IN" dirty="0" smtClean="0"/>
              <a:t>Example: Air or Sea water</a:t>
            </a:r>
            <a:endParaRPr lang="en-IN" dirty="0"/>
          </a:p>
        </p:txBody>
      </p:sp>
      <p:sp>
        <p:nvSpPr>
          <p:cNvPr id="4" name="Content Placeholder 3"/>
          <p:cNvSpPr>
            <a:spLocks noGrp="1"/>
          </p:cNvSpPr>
          <p:nvPr>
            <p:ph sz="half" idx="2"/>
          </p:nvPr>
        </p:nvSpPr>
        <p:spPr/>
        <p:txBody>
          <a:bodyPr/>
          <a:lstStyle/>
          <a:p>
            <a:r>
              <a:rPr lang="en-IN" dirty="0" smtClean="0"/>
              <a:t>Economic Goods</a:t>
            </a:r>
          </a:p>
          <a:p>
            <a:pPr algn="just"/>
            <a:r>
              <a:rPr lang="en-IN" dirty="0" smtClean="0"/>
              <a:t>A good that is scarce relative to the total amount of it desired. It must be therefore rationed usually by charging a positive price. </a:t>
            </a:r>
          </a:p>
          <a:p>
            <a:pPr algn="just"/>
            <a:r>
              <a:rPr lang="en-IN" dirty="0" smtClean="0"/>
              <a:t>Economic Goods which uses scarce resources in Production. </a:t>
            </a:r>
            <a:endParaRPr lang="en-IN" dirty="0"/>
          </a:p>
        </p:txBody>
      </p:sp>
    </p:spTree>
    <p:extLst>
      <p:ext uri="{BB962C8B-B14F-4D97-AF65-F5344CB8AC3E}">
        <p14:creationId xmlns:p14="http://schemas.microsoft.com/office/powerpoint/2010/main" val="243354551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smtClean="0"/>
              <a:t>Water Scarcity </a:t>
            </a:r>
            <a:endParaRPr lang="en-IN" dirty="0"/>
          </a:p>
        </p:txBody>
      </p:sp>
      <p:pic>
        <p:nvPicPr>
          <p:cNvPr id="5" name="Picture Placeholder 4"/>
          <p:cNvPicPr>
            <a:picLocks noGrp="1" noChangeAspect="1"/>
          </p:cNvPicPr>
          <p:nvPr>
            <p:ph type="pic" idx="1"/>
          </p:nvPr>
        </p:nvPicPr>
        <p:blipFill>
          <a:blip r:embed="rId2">
            <a:extLst>
              <a:ext uri="{28A0092B-C50C-407E-A947-70E740481C1C}">
                <a14:useLocalDpi xmlns:a14="http://schemas.microsoft.com/office/drawing/2010/main" val="0"/>
              </a:ext>
            </a:extLst>
          </a:blip>
          <a:srcRect l="14381" r="14381"/>
          <a:stretch>
            <a:fillRect/>
          </a:stretch>
        </p:blipFill>
        <p:spPr/>
      </p:pic>
      <p:sp>
        <p:nvSpPr>
          <p:cNvPr id="4" name="Text Placeholder 3"/>
          <p:cNvSpPr>
            <a:spLocks noGrp="1"/>
          </p:cNvSpPr>
          <p:nvPr>
            <p:ph type="body" sz="half" idx="2"/>
          </p:nvPr>
        </p:nvSpPr>
        <p:spPr>
          <a:xfrm>
            <a:off x="839788" y="2057399"/>
            <a:ext cx="3932237" cy="4022889"/>
          </a:xfrm>
        </p:spPr>
        <p:txBody>
          <a:bodyPr>
            <a:noAutofit/>
          </a:bodyPr>
          <a:lstStyle/>
          <a:p>
            <a:pPr algn="just"/>
            <a:r>
              <a:rPr lang="en-US" sz="2000" dirty="0"/>
              <a:t>The Cape Town water crisis in South Africa was a period of severe water shortage in the Western Cape region, most notably affecting the City of Cape Town. </a:t>
            </a:r>
            <a:endParaRPr lang="en-US" sz="2000" dirty="0" smtClean="0"/>
          </a:p>
          <a:p>
            <a:pPr algn="just"/>
            <a:r>
              <a:rPr lang="en-US" sz="2000" dirty="0" smtClean="0"/>
              <a:t>While </a:t>
            </a:r>
            <a:r>
              <a:rPr lang="en-US" sz="2000" dirty="0"/>
              <a:t>dam water levels had been decreasing since 2015, the Cape Town water crisis peaked during mid-2017 to mid-2018 when water levels hovered between 14 and 29 percent of total dam </a:t>
            </a:r>
            <a:r>
              <a:rPr lang="en-US" sz="2000" dirty="0" smtClean="0"/>
              <a:t>capacity.</a:t>
            </a:r>
          </a:p>
          <a:p>
            <a:pPr algn="just"/>
            <a:r>
              <a:rPr lang="en-US" sz="2000" dirty="0" smtClean="0"/>
              <a:t>Extreme Drought from 2015-2017</a:t>
            </a:r>
          </a:p>
          <a:p>
            <a:pPr algn="just"/>
            <a:r>
              <a:rPr lang="en-US" sz="2000" dirty="0" smtClean="0"/>
              <a:t>Bad Planning and Infrastructure </a:t>
            </a:r>
          </a:p>
        </p:txBody>
      </p:sp>
    </p:spTree>
    <p:extLst>
      <p:ext uri="{BB962C8B-B14F-4D97-AF65-F5344CB8AC3E}">
        <p14:creationId xmlns:p14="http://schemas.microsoft.com/office/powerpoint/2010/main" val="387074117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smtClean="0"/>
              <a:t>Efficiency vs Scarcity </a:t>
            </a:r>
            <a:endParaRPr lang="en-IN" dirty="0"/>
          </a:p>
        </p:txBody>
      </p:sp>
      <p:sp>
        <p:nvSpPr>
          <p:cNvPr id="3" name="Content Placeholder 2"/>
          <p:cNvSpPr>
            <a:spLocks noGrp="1"/>
          </p:cNvSpPr>
          <p:nvPr>
            <p:ph idx="1"/>
          </p:nvPr>
        </p:nvSpPr>
        <p:spPr/>
        <p:txBody>
          <a:bodyPr/>
          <a:lstStyle/>
          <a:p>
            <a:r>
              <a:rPr lang="en-IN" dirty="0" smtClean="0"/>
              <a:t>Number of Hospitals and Hospital Beds</a:t>
            </a:r>
          </a:p>
          <a:p>
            <a:pPr lvl="1"/>
            <a:r>
              <a:rPr lang="en-IN" dirty="0" smtClean="0"/>
              <a:t>Total Population - </a:t>
            </a:r>
            <a:r>
              <a:rPr lang="en-IN" b="1" dirty="0" smtClean="0"/>
              <a:t>1,428,627,663 (2023 United nations Data)</a:t>
            </a:r>
          </a:p>
          <a:p>
            <a:pPr lvl="1"/>
            <a:r>
              <a:rPr lang="en-IN" dirty="0" smtClean="0"/>
              <a:t>From National Health Profile -2022 </a:t>
            </a:r>
          </a:p>
          <a:p>
            <a:pPr lvl="1"/>
            <a:r>
              <a:rPr lang="en-IN" dirty="0" smtClean="0"/>
              <a:t>Total 7,39,024 government hospital beds</a:t>
            </a:r>
          </a:p>
          <a:p>
            <a:pPr lvl="1"/>
            <a:r>
              <a:rPr lang="en-IN" dirty="0" smtClean="0"/>
              <a:t>This amounts 0.55 beds per 1000 population </a:t>
            </a:r>
          </a:p>
          <a:p>
            <a:pPr lvl="1"/>
            <a:endParaRPr lang="en-IN" dirty="0"/>
          </a:p>
        </p:txBody>
      </p:sp>
    </p:spTree>
    <p:extLst>
      <p:ext uri="{BB962C8B-B14F-4D97-AF65-F5344CB8AC3E}">
        <p14:creationId xmlns:p14="http://schemas.microsoft.com/office/powerpoint/2010/main" val="210523837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dirty="0" smtClean="0"/>
              <a:t>Boeing and Airbus</a:t>
            </a:r>
            <a:endParaRPr lang="en-IN" dirty="0"/>
          </a:p>
        </p:txBody>
      </p:sp>
      <p:sp>
        <p:nvSpPr>
          <p:cNvPr id="3" name="Subtitle 2"/>
          <p:cNvSpPr>
            <a:spLocks noGrp="1"/>
          </p:cNvSpPr>
          <p:nvPr>
            <p:ph type="subTitle" idx="1"/>
          </p:nvPr>
        </p:nvSpPr>
        <p:spPr/>
        <p:txBody>
          <a:bodyPr>
            <a:normAutofit/>
          </a:bodyPr>
          <a:lstStyle/>
          <a:p>
            <a:r>
              <a:rPr lang="en-IN" sz="4000" dirty="0" smtClean="0"/>
              <a:t>Case study </a:t>
            </a:r>
            <a:endParaRPr lang="en-IN" sz="4000" dirty="0"/>
          </a:p>
        </p:txBody>
      </p:sp>
    </p:spTree>
    <p:extLst>
      <p:ext uri="{BB962C8B-B14F-4D97-AF65-F5344CB8AC3E}">
        <p14:creationId xmlns:p14="http://schemas.microsoft.com/office/powerpoint/2010/main" val="409440693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40080" y="81280"/>
            <a:ext cx="10728960" cy="5832430"/>
          </a:xfrm>
          <a:prstGeom prst="rect">
            <a:avLst/>
          </a:prstGeom>
        </p:spPr>
        <p:txBody>
          <a:bodyPr wrap="square">
            <a:spAutoFit/>
          </a:bodyPr>
          <a:lstStyle/>
          <a:p>
            <a:pPr algn="ctr">
              <a:lnSpc>
                <a:spcPct val="107000"/>
              </a:lnSpc>
              <a:spcAft>
                <a:spcPts val="800"/>
              </a:spcAft>
            </a:pPr>
            <a:r>
              <a:rPr lang="en-IN" b="1" dirty="0">
                <a:latin typeface="Times New Roman" panose="02020603050405020304" pitchFamily="18" charset="0"/>
                <a:ea typeface="Calibri" panose="020F0502020204030204" pitchFamily="34" charset="0"/>
                <a:cs typeface="Mangal"/>
              </a:rPr>
              <a:t>Airbus and Boeing</a:t>
            </a:r>
            <a:endParaRPr lang="en-IN" sz="1400" dirty="0">
              <a:latin typeface="Calibri" panose="020F0502020204030204" pitchFamily="34" charset="0"/>
              <a:ea typeface="Calibri" panose="020F0502020204030204" pitchFamily="34" charset="0"/>
              <a:cs typeface="Mangal"/>
            </a:endParaRPr>
          </a:p>
          <a:p>
            <a:pPr algn="just">
              <a:lnSpc>
                <a:spcPct val="107000"/>
              </a:lnSpc>
              <a:spcAft>
                <a:spcPts val="800"/>
              </a:spcAft>
            </a:pPr>
            <a:r>
              <a:rPr lang="en-IN" sz="2400" dirty="0">
                <a:latin typeface="Times New Roman" panose="02020603050405020304" pitchFamily="18" charset="0"/>
                <a:ea typeface="Calibri" panose="020F0502020204030204" pitchFamily="34" charset="0"/>
                <a:cs typeface="Times New Roman" panose="02020603050405020304" pitchFamily="18" charset="0"/>
              </a:rPr>
              <a:t>Airbus and Boeing comprise a duopoly in the manufacture of large commercial jet aircraft (with 150 or more seats). Boeing’s is most successful and profitable plane is the </a:t>
            </a:r>
            <a:r>
              <a:rPr lang="en-IN" sz="2400" b="1" dirty="0">
                <a:latin typeface="Times New Roman" panose="02020603050405020304" pitchFamily="18" charset="0"/>
                <a:ea typeface="Calibri" panose="020F0502020204030204" pitchFamily="34" charset="0"/>
                <a:cs typeface="Times New Roman" panose="02020603050405020304" pitchFamily="18" charset="0"/>
              </a:rPr>
              <a:t>Boeing 737</a:t>
            </a:r>
            <a:r>
              <a:rPr lang="en-IN" sz="2400" dirty="0">
                <a:latin typeface="Times New Roman" panose="02020603050405020304" pitchFamily="18" charset="0"/>
                <a:ea typeface="Calibri" panose="020F0502020204030204" pitchFamily="34" charset="0"/>
                <a:cs typeface="Times New Roman" panose="02020603050405020304" pitchFamily="18" charset="0"/>
              </a:rPr>
              <a:t>, a twin-engine, single-aisle, medium-range jet. First flown in 1967, the Boeing 737 has been developed into nine models. As of December 2010, Boeing had delivered 6,687 units of 737 with  a further 2186 on order. The Boeing 737 competes with Airbus’s A320 family comprising five models, the A318, A319, A320, A321, and ACJ business jet. According to Boeing forecasts, airlines would buy </a:t>
            </a:r>
            <a:r>
              <a:rPr lang="en-IN" sz="2400" dirty="0" smtClean="0">
                <a:latin typeface="Times New Roman" panose="02020603050405020304" pitchFamily="18" charset="0"/>
                <a:ea typeface="Calibri" panose="020F0502020204030204" pitchFamily="34" charset="0"/>
                <a:cs typeface="Times New Roman" panose="02020603050405020304" pitchFamily="18" charset="0"/>
              </a:rPr>
              <a:t>23,370 </a:t>
            </a:r>
            <a:r>
              <a:rPr lang="en-IN" sz="2400" dirty="0">
                <a:latin typeface="Times New Roman" panose="02020603050405020304" pitchFamily="18" charset="0"/>
                <a:ea typeface="Calibri" panose="020F0502020204030204" pitchFamily="34" charset="0"/>
                <a:cs typeface="Times New Roman" panose="02020603050405020304" pitchFamily="18" charset="0"/>
              </a:rPr>
              <a:t>new single-aisle planes in the next 20 years.   </a:t>
            </a:r>
            <a:endParaRPr lang="en-IN" sz="2400" dirty="0" smtClean="0">
              <a:latin typeface="Times New Roman" panose="02020603050405020304" pitchFamily="18" charset="0"/>
              <a:ea typeface="Calibri" panose="020F0502020204030204" pitchFamily="34" charset="0"/>
              <a:cs typeface="Times New Roman" panose="02020603050405020304" pitchFamily="18" charset="0"/>
            </a:endParaRPr>
          </a:p>
          <a:p>
            <a:pPr algn="just"/>
            <a:r>
              <a:rPr lang="en-IN" sz="2400" dirty="0">
                <a:latin typeface="Times New Roman" panose="02020603050405020304" pitchFamily="18" charset="0"/>
                <a:cs typeface="Times New Roman" panose="02020603050405020304" pitchFamily="18" charset="0"/>
              </a:rPr>
              <a:t>However, at the Paris Air show in June 2011, Jim </a:t>
            </a:r>
            <a:r>
              <a:rPr lang="en-IN" sz="2400" dirty="0" err="1">
                <a:latin typeface="Times New Roman" panose="02020603050405020304" pitchFamily="18" charset="0"/>
                <a:cs typeface="Times New Roman" panose="02020603050405020304" pitchFamily="18" charset="0"/>
              </a:rPr>
              <a:t>Albaugh</a:t>
            </a:r>
            <a:r>
              <a:rPr lang="en-IN" sz="2400" dirty="0">
                <a:latin typeface="Times New Roman" panose="02020603050405020304" pitchFamily="18" charset="0"/>
                <a:cs typeface="Times New Roman" panose="02020603050405020304" pitchFamily="18" charset="0"/>
              </a:rPr>
              <a:t>, CEO of Boeing Commercial Airplanes, conceded: The days of the duopoly with Airbus are over”. Manufacturers from China, Canada, Russia, and Brazil have developed, launched, or are poised to launch new aircraft to compete with Boeing’s 737 and Airbus’s A320 family. </a:t>
            </a:r>
          </a:p>
          <a:p>
            <a:pPr algn="just">
              <a:lnSpc>
                <a:spcPct val="107000"/>
              </a:lnSpc>
              <a:spcAft>
                <a:spcPts val="800"/>
              </a:spcAft>
            </a:pPr>
            <a:endParaRPr lang="en-IN" sz="1400" dirty="0">
              <a:effectLst/>
              <a:latin typeface="Calibri" panose="020F0502020204030204" pitchFamily="34" charset="0"/>
              <a:ea typeface="Calibri" panose="020F0502020204030204" pitchFamily="34" charset="0"/>
              <a:cs typeface="Mangal"/>
            </a:endParaRPr>
          </a:p>
        </p:txBody>
      </p:sp>
    </p:spTree>
    <p:extLst>
      <p:ext uri="{BB962C8B-B14F-4D97-AF65-F5344CB8AC3E}">
        <p14:creationId xmlns:p14="http://schemas.microsoft.com/office/powerpoint/2010/main" val="230730274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10640" y="1108814"/>
            <a:ext cx="9591040" cy="5727337"/>
          </a:xfrm>
          <a:prstGeom prst="rect">
            <a:avLst/>
          </a:prstGeom>
        </p:spPr>
        <p:txBody>
          <a:bodyPr wrap="square">
            <a:spAutoFit/>
          </a:bodyPr>
          <a:lstStyle/>
          <a:p>
            <a:pPr algn="just">
              <a:lnSpc>
                <a:spcPct val="107000"/>
              </a:lnSpc>
              <a:spcAft>
                <a:spcPts val="800"/>
              </a:spcAft>
            </a:pPr>
            <a:r>
              <a:rPr lang="en-IN" sz="2400" dirty="0">
                <a:latin typeface="Times New Roman" panose="02020603050405020304" pitchFamily="18" charset="0"/>
                <a:cs typeface="Times New Roman" panose="02020603050405020304" pitchFamily="18" charset="0"/>
              </a:rPr>
              <a:t>In 2006, the predecessor to the Commercial Aircraft Corporation of </a:t>
            </a:r>
            <a:r>
              <a:rPr lang="en-IN" sz="2400" dirty="0" smtClean="0">
                <a:latin typeface="Times New Roman" panose="02020603050405020304" pitchFamily="18" charset="0"/>
                <a:cs typeface="Times New Roman" panose="02020603050405020304" pitchFamily="18" charset="0"/>
              </a:rPr>
              <a:t>China (COMAC) </a:t>
            </a:r>
            <a:r>
              <a:rPr lang="en-IN" sz="2400" dirty="0">
                <a:latin typeface="Times New Roman" panose="02020603050405020304" pitchFamily="18" charset="0"/>
                <a:cs typeface="Times New Roman" panose="02020603050405020304" pitchFamily="18" charset="0"/>
              </a:rPr>
              <a:t>launched the C919, a 150-seat single-aisle plane. The C919 is scheduled to fly in 2014 and begin commercial deliveries in 2016. In November 2010, COMAC announced another 100 orders, mainly from three Chinese carriers-Air China, China Southern Airlines, and China Eastern Airlines. </a:t>
            </a:r>
          </a:p>
          <a:p>
            <a:pPr algn="just">
              <a:lnSpc>
                <a:spcPct val="107000"/>
              </a:lnSpc>
              <a:spcAft>
                <a:spcPts val="800"/>
              </a:spcAft>
            </a:pPr>
            <a:r>
              <a:rPr lang="en-IN" sz="2400" dirty="0" smtClean="0">
                <a:latin typeface="Times New Roman" panose="02020603050405020304" pitchFamily="18" charset="0"/>
                <a:ea typeface="Calibri" panose="020F0502020204030204" pitchFamily="34" charset="0"/>
                <a:cs typeface="Mangal"/>
              </a:rPr>
              <a:t>Another </a:t>
            </a:r>
            <a:r>
              <a:rPr lang="en-IN" sz="2400" dirty="0">
                <a:latin typeface="Times New Roman" panose="02020603050405020304" pitchFamily="18" charset="0"/>
                <a:ea typeface="Calibri" panose="020F0502020204030204" pitchFamily="34" charset="0"/>
                <a:cs typeface="Mangal"/>
              </a:rPr>
              <a:t>entrant to the market for </a:t>
            </a:r>
            <a:r>
              <a:rPr lang="en-IN" sz="2400" dirty="0" smtClean="0">
                <a:latin typeface="Times New Roman" panose="02020603050405020304" pitchFamily="18" charset="0"/>
                <a:ea typeface="Calibri" panose="020F0502020204030204" pitchFamily="34" charset="0"/>
                <a:cs typeface="Mangal"/>
              </a:rPr>
              <a:t>150-seatsingle-aisle jets is the </a:t>
            </a:r>
            <a:r>
              <a:rPr lang="en-IN" sz="2400" dirty="0">
                <a:latin typeface="Times New Roman" panose="02020603050405020304" pitchFamily="18" charset="0"/>
                <a:ea typeface="Calibri" panose="020F0502020204030204" pitchFamily="34" charset="0"/>
                <a:cs typeface="Mangal"/>
              </a:rPr>
              <a:t>Canadian Manufacturer, Bombardier. Bombardier had long manufactured regional jets, which are smaller short-range planes with up to 100 seats. It aspired to expand into larger aircraft, but only began development in 2008 upon securing an order from Deutsche Lufthansa. The new C Series, a family of 100 to 149-seat aircraft, is scheduled to enter service in 2013. The C Series will reduce fuel consumption by 20% through the use of advanced materials and a more fuel-efficient engine the PW1000G from Pratt &amp;Whitney. </a:t>
            </a:r>
            <a:endParaRPr lang="en-IN" sz="2400" dirty="0">
              <a:latin typeface="Calibri" panose="020F0502020204030204" pitchFamily="34" charset="0"/>
              <a:ea typeface="Calibri" panose="020F0502020204030204" pitchFamily="34" charset="0"/>
              <a:cs typeface="Mangal"/>
            </a:endParaRPr>
          </a:p>
        </p:txBody>
      </p:sp>
    </p:spTree>
    <p:extLst>
      <p:ext uri="{BB962C8B-B14F-4D97-AF65-F5344CB8AC3E}">
        <p14:creationId xmlns:p14="http://schemas.microsoft.com/office/powerpoint/2010/main" val="2830080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82320" y="2641926"/>
            <a:ext cx="11023600" cy="375552"/>
          </a:xfrm>
          <a:prstGeom prst="rect">
            <a:avLst/>
          </a:prstGeom>
        </p:spPr>
        <p:txBody>
          <a:bodyPr wrap="square">
            <a:spAutoFit/>
          </a:bodyPr>
          <a:lstStyle/>
          <a:p>
            <a:pPr algn="just">
              <a:lnSpc>
                <a:spcPct val="107000"/>
              </a:lnSpc>
              <a:spcAft>
                <a:spcPts val="800"/>
              </a:spcAft>
            </a:pPr>
            <a:endParaRPr lang="en-IN" dirty="0">
              <a:latin typeface="Calibri" panose="020F0502020204030204" pitchFamily="34" charset="0"/>
              <a:ea typeface="Calibri" panose="020F0502020204030204" pitchFamily="34" charset="0"/>
              <a:cs typeface="Mangal"/>
            </a:endParaRPr>
          </a:p>
        </p:txBody>
      </p:sp>
      <p:sp>
        <p:nvSpPr>
          <p:cNvPr id="3" name="Rectangle 2"/>
          <p:cNvSpPr/>
          <p:nvPr/>
        </p:nvSpPr>
        <p:spPr>
          <a:xfrm>
            <a:off x="609600" y="955040"/>
            <a:ext cx="10414000" cy="4936993"/>
          </a:xfrm>
          <a:prstGeom prst="rect">
            <a:avLst/>
          </a:prstGeom>
        </p:spPr>
        <p:txBody>
          <a:bodyPr wrap="square">
            <a:spAutoFit/>
          </a:bodyPr>
          <a:lstStyle/>
          <a:p>
            <a:pPr algn="just">
              <a:lnSpc>
                <a:spcPct val="107000"/>
              </a:lnSpc>
              <a:spcAft>
                <a:spcPts val="800"/>
              </a:spcAft>
            </a:pPr>
            <a:r>
              <a:rPr lang="en-IN" sz="2400" dirty="0">
                <a:latin typeface="Times New Roman" panose="02020603050405020304" pitchFamily="18" charset="0"/>
                <a:ea typeface="Calibri" panose="020F0502020204030204" pitchFamily="34" charset="0"/>
                <a:cs typeface="Times New Roman" panose="02020603050405020304" pitchFamily="18" charset="0"/>
              </a:rPr>
              <a:t>Two other entrants are </a:t>
            </a:r>
            <a:r>
              <a:rPr lang="en-IN" sz="2400" dirty="0" err="1">
                <a:latin typeface="Times New Roman" panose="02020603050405020304" pitchFamily="18" charset="0"/>
                <a:ea typeface="Calibri" panose="020F0502020204030204" pitchFamily="34" charset="0"/>
                <a:cs typeface="Times New Roman" panose="02020603050405020304" pitchFamily="18" charset="0"/>
              </a:rPr>
              <a:t>Irkut</a:t>
            </a:r>
            <a:r>
              <a:rPr lang="en-IN" sz="2400" dirty="0">
                <a:latin typeface="Times New Roman" panose="02020603050405020304" pitchFamily="18" charset="0"/>
                <a:ea typeface="Calibri" panose="020F0502020204030204" pitchFamily="34" charset="0"/>
                <a:cs typeface="Times New Roman" panose="02020603050405020304" pitchFamily="18" charset="0"/>
              </a:rPr>
              <a:t> of Russia and Embraer of Russia. Primarily </a:t>
            </a:r>
            <a:r>
              <a:rPr lang="en-IN" sz="2400" dirty="0" smtClean="0">
                <a:latin typeface="Times New Roman" panose="02020603050405020304" pitchFamily="18" charset="0"/>
                <a:ea typeface="Calibri" panose="020F0502020204030204" pitchFamily="34" charset="0"/>
                <a:cs typeface="Times New Roman" panose="02020603050405020304" pitchFamily="18" charset="0"/>
              </a:rPr>
              <a:t>a </a:t>
            </a:r>
            <a:r>
              <a:rPr lang="en-IN" sz="2400" dirty="0">
                <a:latin typeface="Times New Roman" panose="02020603050405020304" pitchFamily="18" charset="0"/>
                <a:ea typeface="Calibri" panose="020F0502020204030204" pitchFamily="34" charset="0"/>
                <a:cs typeface="Times New Roman" panose="02020603050405020304" pitchFamily="18" charset="0"/>
              </a:rPr>
              <a:t>manufacturer of military aircraft, </a:t>
            </a:r>
            <a:r>
              <a:rPr lang="en-IN" sz="2400" dirty="0" err="1">
                <a:latin typeface="Times New Roman" panose="02020603050405020304" pitchFamily="18" charset="0"/>
                <a:ea typeface="Calibri" panose="020F0502020204030204" pitchFamily="34" charset="0"/>
                <a:cs typeface="Times New Roman" panose="02020603050405020304" pitchFamily="18" charset="0"/>
              </a:rPr>
              <a:t>Irkut</a:t>
            </a:r>
            <a:r>
              <a:rPr lang="en-IN" sz="2400" dirty="0">
                <a:latin typeface="Times New Roman" panose="02020603050405020304" pitchFamily="18" charset="0"/>
                <a:ea typeface="Calibri" panose="020F0502020204030204" pitchFamily="34" charset="0"/>
                <a:cs typeface="Times New Roman" panose="02020603050405020304" pitchFamily="18" charset="0"/>
              </a:rPr>
              <a:t> is seeking to diversify into commercial jets. It launched the MC-21 in 2007 and secured orders from Russian airlines. The MC-21 is scheduled to enter service around 2016.  </a:t>
            </a:r>
          </a:p>
          <a:p>
            <a:pPr algn="just">
              <a:lnSpc>
                <a:spcPct val="107000"/>
              </a:lnSpc>
              <a:spcAft>
                <a:spcPts val="800"/>
              </a:spcAft>
            </a:pPr>
            <a:r>
              <a:rPr lang="en-IN" sz="2400" dirty="0">
                <a:latin typeface="Times New Roman" panose="02020603050405020304" pitchFamily="18" charset="0"/>
                <a:cs typeface="Times New Roman" panose="02020603050405020304" pitchFamily="18" charset="0"/>
              </a:rPr>
              <a:t>Embraer like Bombardier, is an established manufacturer of regional jets. However, as of June 2011, it had not secured any orders and deferred a decision on whether to commence development. CEO </a:t>
            </a:r>
            <a:r>
              <a:rPr lang="en-IN" sz="2400" dirty="0" err="1">
                <a:latin typeface="Times New Roman" panose="02020603050405020304" pitchFamily="18" charset="0"/>
                <a:cs typeface="Times New Roman" panose="02020603050405020304" pitchFamily="18" charset="0"/>
              </a:rPr>
              <a:t>Frederico</a:t>
            </a: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Curado</a:t>
            </a:r>
            <a:r>
              <a:rPr lang="en-IN" sz="2400" dirty="0">
                <a:latin typeface="Times New Roman" panose="02020603050405020304" pitchFamily="18" charset="0"/>
                <a:cs typeface="Times New Roman" panose="02020603050405020304" pitchFamily="18" charset="0"/>
              </a:rPr>
              <a:t> remarked: Going up against Boeing and Airbus in head-to-head competition is really tough not only because of their size, but because of their existing product line and industrial capacity. They can have a very quick response and literally flood the market. Moreover, Tom Enders, CEO of Airbus, cautioned that there might not be sufficient room for six manufacturers. </a:t>
            </a:r>
          </a:p>
        </p:txBody>
      </p:sp>
    </p:spTree>
    <p:extLst>
      <p:ext uri="{BB962C8B-B14F-4D97-AF65-F5344CB8AC3E}">
        <p14:creationId xmlns:p14="http://schemas.microsoft.com/office/powerpoint/2010/main" val="34581557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72160" y="1256995"/>
            <a:ext cx="9540240" cy="4936993"/>
          </a:xfrm>
          <a:prstGeom prst="rect">
            <a:avLst/>
          </a:prstGeom>
        </p:spPr>
        <p:txBody>
          <a:bodyPr wrap="square">
            <a:spAutoFit/>
          </a:bodyPr>
          <a:lstStyle/>
          <a:p>
            <a:pPr algn="just">
              <a:lnSpc>
                <a:spcPct val="107000"/>
              </a:lnSpc>
              <a:spcAft>
                <a:spcPts val="800"/>
              </a:spcAft>
            </a:pPr>
            <a:r>
              <a:rPr lang="en-IN" sz="2400" dirty="0">
                <a:latin typeface="Times New Roman" panose="02020603050405020304" pitchFamily="18" charset="0"/>
                <a:ea typeface="Calibri" panose="020F0502020204030204" pitchFamily="34" charset="0"/>
                <a:cs typeface="Mangal"/>
              </a:rPr>
              <a:t>In December 2010, Airbus announced that it would develop a new version of the A320-the A320neo (New Engine Option). The A320neo would be powered by either CFM International’s LEAP-X engine or the engine in Bombardier’s C Series, Pratt &amp; Whitney’s PW1000G. In March 2011, Airbus announced that it would raise production of the 320 family from 34 to 36 units per month. </a:t>
            </a:r>
            <a:endParaRPr lang="en-IN" sz="2400" dirty="0">
              <a:latin typeface="Calibri" panose="020F0502020204030204" pitchFamily="34" charset="0"/>
              <a:ea typeface="Calibri" panose="020F0502020204030204" pitchFamily="34" charset="0"/>
              <a:cs typeface="Mangal"/>
            </a:endParaRPr>
          </a:p>
          <a:p>
            <a:pPr algn="just">
              <a:lnSpc>
                <a:spcPct val="107000"/>
              </a:lnSpc>
              <a:spcAft>
                <a:spcPts val="800"/>
              </a:spcAft>
            </a:pPr>
            <a:r>
              <a:rPr lang="en-IN" sz="2400" dirty="0">
                <a:latin typeface="Times New Roman" panose="02020603050405020304" pitchFamily="18" charset="0"/>
                <a:ea typeface="Calibri" panose="020F0502020204030204" pitchFamily="34" charset="0"/>
                <a:cs typeface="Mangal"/>
              </a:rPr>
              <a:t>Boeing’s Jim </a:t>
            </a:r>
            <a:r>
              <a:rPr lang="en-IN" sz="2400" dirty="0" err="1">
                <a:latin typeface="Times New Roman" panose="02020603050405020304" pitchFamily="18" charset="0"/>
                <a:ea typeface="Calibri" panose="020F0502020204030204" pitchFamily="34" charset="0"/>
                <a:cs typeface="Mangal"/>
              </a:rPr>
              <a:t>Albaugh</a:t>
            </a:r>
            <a:r>
              <a:rPr lang="en-IN" sz="2400" dirty="0">
                <a:latin typeface="Times New Roman" panose="02020603050405020304" pitchFamily="18" charset="0"/>
                <a:ea typeface="Calibri" panose="020F0502020204030204" pitchFamily="34" charset="0"/>
                <a:cs typeface="Mangal"/>
              </a:rPr>
              <a:t> acknowledged that the C Series 300 appeared to target customers of the Boeing 737. He insisted that Boeing would respond: “I look at the 737 business that we have, and it is one of the cornerstones of Boeing Commercial, and it is a marketplace we are going to defend”. Just before the Paris Air Show, Boeing announced an increase in production of the Boeing 737 from 31.5 to 42 units per month. </a:t>
            </a:r>
            <a:endParaRPr lang="en-IN" sz="2400" dirty="0">
              <a:effectLst/>
              <a:latin typeface="Calibri" panose="020F0502020204030204" pitchFamily="34" charset="0"/>
              <a:ea typeface="Calibri" panose="020F0502020204030204" pitchFamily="34" charset="0"/>
              <a:cs typeface="Mangal"/>
            </a:endParaRPr>
          </a:p>
        </p:txBody>
      </p:sp>
    </p:spTree>
    <p:extLst>
      <p:ext uri="{BB962C8B-B14F-4D97-AF65-F5344CB8AC3E}">
        <p14:creationId xmlns:p14="http://schemas.microsoft.com/office/powerpoint/2010/main" val="195601247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04240" y="1108814"/>
            <a:ext cx="9895840" cy="5537350"/>
          </a:xfrm>
          <a:prstGeom prst="rect">
            <a:avLst/>
          </a:prstGeom>
        </p:spPr>
        <p:txBody>
          <a:bodyPr wrap="square">
            <a:spAutoFit/>
          </a:bodyPr>
          <a:lstStyle/>
          <a:p>
            <a:pPr marL="342900" lvl="0" indent="-342900" algn="just">
              <a:lnSpc>
                <a:spcPct val="107000"/>
              </a:lnSpc>
              <a:spcAft>
                <a:spcPts val="0"/>
              </a:spcAft>
              <a:buFont typeface="Symbol" panose="05050102010706020507" pitchFamily="18" charset="2"/>
              <a:buChar char=""/>
            </a:pPr>
            <a:r>
              <a:rPr lang="en-IN" sz="2400" dirty="0">
                <a:latin typeface="Times New Roman" panose="02020603050405020304" pitchFamily="18" charset="0"/>
                <a:ea typeface="Calibri" panose="020F0502020204030204" pitchFamily="34" charset="0"/>
                <a:cs typeface="Mangal"/>
              </a:rPr>
              <a:t>Why did Bombardier wait until securing orders from Lufthansa before launching the C Series? </a:t>
            </a:r>
            <a:endParaRPr lang="en-IN" sz="2400" dirty="0">
              <a:latin typeface="Calibri" panose="020F0502020204030204" pitchFamily="34" charset="0"/>
              <a:ea typeface="Calibri" panose="020F0502020204030204" pitchFamily="34" charset="0"/>
              <a:cs typeface="Mangal"/>
            </a:endParaRPr>
          </a:p>
          <a:p>
            <a:pPr marL="342900" lvl="0" indent="-342900" algn="just">
              <a:lnSpc>
                <a:spcPct val="107000"/>
              </a:lnSpc>
              <a:spcAft>
                <a:spcPts val="0"/>
              </a:spcAft>
              <a:buFont typeface="Symbol" panose="05050102010706020507" pitchFamily="18" charset="2"/>
              <a:buChar char=""/>
            </a:pPr>
            <a:r>
              <a:rPr lang="en-IN" sz="2400" dirty="0">
                <a:latin typeface="Times New Roman" panose="02020603050405020304" pitchFamily="18" charset="0"/>
                <a:ea typeface="Calibri" panose="020F0502020204030204" pitchFamily="34" charset="0"/>
                <a:cs typeface="Mangal"/>
              </a:rPr>
              <a:t>Why does Bombardier emphasize the fuel efficiency of its C Series? </a:t>
            </a:r>
            <a:endParaRPr lang="en-IN" sz="2400" dirty="0">
              <a:latin typeface="Calibri" panose="020F0502020204030204" pitchFamily="34" charset="0"/>
              <a:ea typeface="Calibri" panose="020F0502020204030204" pitchFamily="34" charset="0"/>
              <a:cs typeface="Mangal"/>
            </a:endParaRPr>
          </a:p>
          <a:p>
            <a:pPr marL="342900" lvl="0" indent="-342900" algn="just">
              <a:lnSpc>
                <a:spcPct val="107000"/>
              </a:lnSpc>
              <a:spcAft>
                <a:spcPts val="0"/>
              </a:spcAft>
              <a:buFont typeface="Symbol" panose="05050102010706020507" pitchFamily="18" charset="2"/>
              <a:buChar char=""/>
            </a:pPr>
            <a:r>
              <a:rPr lang="en-IN" sz="2400" dirty="0">
                <a:latin typeface="Times New Roman" panose="02020603050405020304" pitchFamily="18" charset="0"/>
                <a:ea typeface="Calibri" panose="020F0502020204030204" pitchFamily="34" charset="0"/>
                <a:cs typeface="Mangal"/>
              </a:rPr>
              <a:t>Who among the new entrants that have commenced development- Bombardier, COMAC, and </a:t>
            </a:r>
            <a:r>
              <a:rPr lang="en-IN" sz="2400" dirty="0" err="1">
                <a:latin typeface="Times New Roman" panose="02020603050405020304" pitchFamily="18" charset="0"/>
                <a:ea typeface="Calibri" panose="020F0502020204030204" pitchFamily="34" charset="0"/>
                <a:cs typeface="Mangal"/>
              </a:rPr>
              <a:t>Irkut</a:t>
            </a:r>
            <a:r>
              <a:rPr lang="en-IN" sz="2400" dirty="0">
                <a:latin typeface="Times New Roman" panose="02020603050405020304" pitchFamily="18" charset="0"/>
                <a:ea typeface="Calibri" panose="020F0502020204030204" pitchFamily="34" charset="0"/>
                <a:cs typeface="Mangal"/>
              </a:rPr>
              <a:t>- has the best chance of succeeding in competition with Boeing and Airbus? Should Embraer stay out of the market? </a:t>
            </a:r>
            <a:endParaRPr lang="en-IN" sz="2400" dirty="0">
              <a:latin typeface="Calibri" panose="020F0502020204030204" pitchFamily="34" charset="0"/>
              <a:ea typeface="Calibri" panose="020F0502020204030204" pitchFamily="34" charset="0"/>
              <a:cs typeface="Mangal"/>
            </a:endParaRPr>
          </a:p>
          <a:p>
            <a:pPr marL="342900" lvl="0" indent="-342900" algn="just">
              <a:lnSpc>
                <a:spcPct val="107000"/>
              </a:lnSpc>
              <a:spcAft>
                <a:spcPts val="800"/>
              </a:spcAft>
              <a:buFont typeface="Symbol" panose="05050102010706020507" pitchFamily="18" charset="2"/>
              <a:buChar char=""/>
            </a:pPr>
            <a:r>
              <a:rPr lang="en-IN" sz="2400" dirty="0">
                <a:latin typeface="Times New Roman" panose="02020603050405020304" pitchFamily="18" charset="0"/>
                <a:ea typeface="Calibri" panose="020F0502020204030204" pitchFamily="34" charset="0"/>
                <a:cs typeface="Mangal"/>
              </a:rPr>
              <a:t>What about Boeing? How should it respond to a new entry? Should it launch a new product or, like Airbus, modify its existing plane? </a:t>
            </a:r>
            <a:endParaRPr lang="en-IN" sz="2400" dirty="0" smtClean="0">
              <a:latin typeface="Times New Roman" panose="02020603050405020304" pitchFamily="18" charset="0"/>
              <a:ea typeface="Calibri" panose="020F0502020204030204" pitchFamily="34" charset="0"/>
              <a:cs typeface="Mangal"/>
            </a:endParaRPr>
          </a:p>
          <a:p>
            <a:pPr marL="342900" lvl="0" indent="-342900" algn="just">
              <a:lnSpc>
                <a:spcPct val="107000"/>
              </a:lnSpc>
              <a:spcAft>
                <a:spcPts val="800"/>
              </a:spcAft>
              <a:buFont typeface="Symbol" panose="05050102010706020507" pitchFamily="18" charset="2"/>
              <a:buChar char=""/>
            </a:pPr>
            <a:r>
              <a:rPr lang="en-IN" sz="2400" dirty="0" smtClean="0">
                <a:latin typeface="Times New Roman" panose="02020603050405020304" pitchFamily="18" charset="0"/>
                <a:ea typeface="Calibri" panose="020F0502020204030204" pitchFamily="34" charset="0"/>
                <a:cs typeface="Mangal"/>
              </a:rPr>
              <a:t>Did </a:t>
            </a:r>
            <a:r>
              <a:rPr lang="en-IN" sz="2400" dirty="0">
                <a:latin typeface="Times New Roman" panose="02020603050405020304" pitchFamily="18" charset="0"/>
                <a:ea typeface="Calibri" panose="020F0502020204030204" pitchFamily="34" charset="0"/>
                <a:cs typeface="Mangal"/>
              </a:rPr>
              <a:t>it make sense to expand production of the 737? </a:t>
            </a:r>
            <a:endParaRPr lang="en-IN" sz="2400" dirty="0" smtClean="0">
              <a:latin typeface="Times New Roman" panose="02020603050405020304" pitchFamily="18" charset="0"/>
              <a:ea typeface="Calibri" panose="020F0502020204030204" pitchFamily="34" charset="0"/>
              <a:cs typeface="Mangal"/>
            </a:endParaRPr>
          </a:p>
          <a:p>
            <a:pPr marL="342900" lvl="0" indent="-342900" algn="just">
              <a:lnSpc>
                <a:spcPct val="107000"/>
              </a:lnSpc>
              <a:spcAft>
                <a:spcPts val="800"/>
              </a:spcAft>
              <a:buFont typeface="Symbol" panose="05050102010706020507" pitchFamily="18" charset="2"/>
              <a:buChar char=""/>
            </a:pPr>
            <a:r>
              <a:rPr lang="en-IN" sz="2400" dirty="0" smtClean="0">
                <a:latin typeface="Times New Roman" panose="02020603050405020304" pitchFamily="18" charset="0"/>
                <a:ea typeface="Calibri" panose="020F0502020204030204" pitchFamily="34" charset="0"/>
                <a:cs typeface="Mangal"/>
              </a:rPr>
              <a:t>Why </a:t>
            </a:r>
            <a:r>
              <a:rPr lang="en-IN" sz="2400" dirty="0">
                <a:latin typeface="Times New Roman" panose="02020603050405020304" pitchFamily="18" charset="0"/>
                <a:ea typeface="Calibri" panose="020F0502020204030204" pitchFamily="34" charset="0"/>
                <a:cs typeface="Mangal"/>
              </a:rPr>
              <a:t>did Airbus respond to the entry of Bombardier and COMAC with a new version of A320 rather than a totally new plane? </a:t>
            </a:r>
            <a:endParaRPr lang="en-IN" sz="2400" dirty="0">
              <a:latin typeface="Calibri" panose="020F0502020204030204" pitchFamily="34" charset="0"/>
              <a:ea typeface="Calibri" panose="020F0502020204030204" pitchFamily="34" charset="0"/>
              <a:cs typeface="Mangal"/>
            </a:endParaRPr>
          </a:p>
          <a:p>
            <a:pPr algn="just">
              <a:lnSpc>
                <a:spcPct val="107000"/>
              </a:lnSpc>
              <a:spcAft>
                <a:spcPts val="800"/>
              </a:spcAft>
            </a:pPr>
            <a:r>
              <a:rPr lang="en-IN" sz="2400" dirty="0">
                <a:latin typeface="Times New Roman" panose="02020603050405020304" pitchFamily="18" charset="0"/>
                <a:ea typeface="Calibri" panose="020F0502020204030204" pitchFamily="34" charset="0"/>
                <a:cs typeface="Mangal"/>
              </a:rPr>
              <a:t>All these questions are answered by Managerial Economics. </a:t>
            </a:r>
            <a:endParaRPr lang="en-IN" sz="2400" dirty="0">
              <a:effectLst/>
              <a:latin typeface="Calibri" panose="020F0502020204030204" pitchFamily="34" charset="0"/>
              <a:ea typeface="Calibri" panose="020F0502020204030204" pitchFamily="34" charset="0"/>
              <a:cs typeface="Mangal"/>
            </a:endParaRPr>
          </a:p>
        </p:txBody>
      </p:sp>
    </p:spTree>
    <p:extLst>
      <p:ext uri="{BB962C8B-B14F-4D97-AF65-F5344CB8AC3E}">
        <p14:creationId xmlns:p14="http://schemas.microsoft.com/office/powerpoint/2010/main" val="393830257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98880" y="2197381"/>
            <a:ext cx="9580880" cy="3488071"/>
          </a:xfrm>
          <a:prstGeom prst="rect">
            <a:avLst/>
          </a:prstGeom>
        </p:spPr>
        <p:txBody>
          <a:bodyPr wrap="square">
            <a:spAutoFit/>
          </a:bodyPr>
          <a:lstStyle/>
          <a:p>
            <a:pPr algn="ctr">
              <a:lnSpc>
                <a:spcPct val="107000"/>
              </a:lnSpc>
              <a:spcAft>
                <a:spcPts val="800"/>
              </a:spcAft>
            </a:pPr>
            <a:r>
              <a:rPr lang="en-IN" sz="3200" dirty="0" smtClean="0">
                <a:latin typeface="Times New Roman" panose="02020603050405020304" pitchFamily="18" charset="0"/>
                <a:ea typeface="Calibri" panose="020F0502020204030204" pitchFamily="34" charset="0"/>
                <a:cs typeface="Mangal"/>
              </a:rPr>
              <a:t>Managerial Economics </a:t>
            </a:r>
          </a:p>
          <a:p>
            <a:pPr algn="just">
              <a:lnSpc>
                <a:spcPct val="107000"/>
              </a:lnSpc>
              <a:spcAft>
                <a:spcPts val="800"/>
              </a:spcAft>
            </a:pPr>
            <a:r>
              <a:rPr lang="en-IN" sz="2400" dirty="0" smtClean="0">
                <a:latin typeface="Times New Roman" panose="02020603050405020304" pitchFamily="18" charset="0"/>
                <a:ea typeface="Calibri" panose="020F0502020204030204" pitchFamily="34" charset="0"/>
                <a:cs typeface="Mangal"/>
              </a:rPr>
              <a:t>Managerial </a:t>
            </a:r>
            <a:r>
              <a:rPr lang="en-IN" sz="2400" dirty="0">
                <a:latin typeface="Times New Roman" panose="02020603050405020304" pitchFamily="18" charset="0"/>
                <a:ea typeface="Calibri" panose="020F0502020204030204" pitchFamily="34" charset="0"/>
                <a:cs typeface="Mangal"/>
              </a:rPr>
              <a:t>economics is the science of cost-effective management of scarce resources. Wherever resources are scarce, managers can make more cost-effective decisions by applying the discipline of managerial economics. The decisions may regard customers, suppliers, competitors, or the internal workings of the organization. Whether the organization is a profit-oriented business, non profit organization, or a household, managers must make the best use of scarce resources. </a:t>
            </a:r>
            <a:endParaRPr lang="en-IN" sz="2400" dirty="0">
              <a:effectLst/>
              <a:latin typeface="Calibri" panose="020F0502020204030204" pitchFamily="34" charset="0"/>
              <a:ea typeface="Calibri" panose="020F0502020204030204" pitchFamily="34" charset="0"/>
              <a:cs typeface="Mangal"/>
            </a:endParaRPr>
          </a:p>
        </p:txBody>
      </p:sp>
    </p:spTree>
    <p:extLst>
      <p:ext uri="{BB962C8B-B14F-4D97-AF65-F5344CB8AC3E}">
        <p14:creationId xmlns:p14="http://schemas.microsoft.com/office/powerpoint/2010/main" val="343474204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856772"/>
          </a:xfrm>
        </p:spPr>
        <p:txBody>
          <a:bodyPr/>
          <a:lstStyle/>
          <a:p>
            <a:pPr algn="ctr"/>
            <a:r>
              <a:rPr lang="en-IN" dirty="0" smtClean="0"/>
              <a:t>Managerial Economics </a:t>
            </a:r>
            <a:endParaRPr lang="en-IN" dirty="0"/>
          </a:p>
        </p:txBody>
      </p:sp>
      <p:sp>
        <p:nvSpPr>
          <p:cNvPr id="3" name="Content Placeholder 2"/>
          <p:cNvSpPr>
            <a:spLocks noGrp="1"/>
          </p:cNvSpPr>
          <p:nvPr>
            <p:ph idx="1"/>
          </p:nvPr>
        </p:nvSpPr>
        <p:spPr>
          <a:xfrm>
            <a:off x="838200" y="1165253"/>
            <a:ext cx="10515600" cy="5011710"/>
          </a:xfrm>
        </p:spPr>
        <p:txBody>
          <a:bodyPr>
            <a:normAutofit fontScale="85000" lnSpcReduction="20000"/>
          </a:bodyPr>
          <a:lstStyle/>
          <a:p>
            <a:pPr algn="just"/>
            <a:r>
              <a:rPr lang="en-IN" dirty="0" smtClean="0"/>
              <a:t>Managerial Economics refers to the application of economic theory and the tools of analysis of decision science to examine how an </a:t>
            </a:r>
            <a:r>
              <a:rPr lang="en-IN" dirty="0" err="1" smtClean="0"/>
              <a:t>organizationn</a:t>
            </a:r>
            <a:r>
              <a:rPr lang="en-IN" dirty="0" smtClean="0"/>
              <a:t> can achieve its aims or objectives most efficiently. </a:t>
            </a:r>
          </a:p>
          <a:p>
            <a:pPr algn="just"/>
            <a:r>
              <a:rPr lang="en-IN" dirty="0" smtClean="0"/>
              <a:t>Management decision need to be made in any organisation be it a firm, a not for profit organisation or a government agency when it seeks to achieve some goal or objective subject to some constraints. </a:t>
            </a:r>
          </a:p>
          <a:p>
            <a:pPr algn="just"/>
            <a:r>
              <a:rPr lang="en-IN" dirty="0" smtClean="0">
                <a:solidFill>
                  <a:srgbClr val="FF0000"/>
                </a:solidFill>
              </a:rPr>
              <a:t>A firm </a:t>
            </a:r>
            <a:r>
              <a:rPr lang="en-IN" dirty="0" smtClean="0"/>
              <a:t>may seek to maximise profits subject to limitations on the availability of essential inputs and in the face of legal constraints. </a:t>
            </a:r>
          </a:p>
          <a:p>
            <a:pPr algn="just"/>
            <a:endParaRPr lang="en-IN" dirty="0" smtClean="0">
              <a:solidFill>
                <a:srgbClr val="FF0000"/>
              </a:solidFill>
            </a:endParaRPr>
          </a:p>
          <a:p>
            <a:pPr algn="just"/>
            <a:r>
              <a:rPr lang="en-IN" dirty="0" smtClean="0">
                <a:solidFill>
                  <a:srgbClr val="FF0000"/>
                </a:solidFill>
              </a:rPr>
              <a:t>A hospital </a:t>
            </a:r>
            <a:r>
              <a:rPr lang="en-IN" dirty="0" smtClean="0"/>
              <a:t>may seek to treat as many patients as possible at an adequate medical standard with its limited physical resources (physicians, technicians, nurses, </a:t>
            </a:r>
            <a:r>
              <a:rPr lang="en-IN" dirty="0" err="1" smtClean="0"/>
              <a:t>equipments</a:t>
            </a:r>
            <a:r>
              <a:rPr lang="en-IN" dirty="0" smtClean="0"/>
              <a:t>, beds) and budget. </a:t>
            </a:r>
          </a:p>
          <a:p>
            <a:pPr algn="just"/>
            <a:endParaRPr lang="en-IN" dirty="0" smtClean="0"/>
          </a:p>
          <a:p>
            <a:pPr algn="just"/>
            <a:r>
              <a:rPr lang="en-IN" dirty="0" smtClean="0"/>
              <a:t>The goal of a </a:t>
            </a:r>
            <a:r>
              <a:rPr lang="en-IN" dirty="0" smtClean="0">
                <a:solidFill>
                  <a:srgbClr val="FF0000"/>
                </a:solidFill>
              </a:rPr>
              <a:t>state university </a:t>
            </a:r>
            <a:r>
              <a:rPr lang="en-IN" dirty="0" smtClean="0"/>
              <a:t>may be to provide an adequate education to as many students as possible subject to physical and financial constraints it faces. </a:t>
            </a:r>
            <a:endParaRPr lang="en-IN" dirty="0"/>
          </a:p>
        </p:txBody>
      </p:sp>
    </p:spTree>
    <p:extLst>
      <p:ext uri="{BB962C8B-B14F-4D97-AF65-F5344CB8AC3E}">
        <p14:creationId xmlns:p14="http://schemas.microsoft.com/office/powerpoint/2010/main" val="212634194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smtClean="0"/>
              <a:t>Types of Economy </a:t>
            </a:r>
            <a:endParaRPr lang="en-IN" dirty="0"/>
          </a:p>
        </p:txBody>
      </p:sp>
      <p:sp>
        <p:nvSpPr>
          <p:cNvPr id="3" name="Content Placeholder 2"/>
          <p:cNvSpPr>
            <a:spLocks noGrp="1"/>
          </p:cNvSpPr>
          <p:nvPr>
            <p:ph idx="1"/>
          </p:nvPr>
        </p:nvSpPr>
        <p:spPr/>
        <p:txBody>
          <a:bodyPr>
            <a:normAutofit/>
          </a:bodyPr>
          <a:lstStyle/>
          <a:p>
            <a:pPr algn="just"/>
            <a:r>
              <a:rPr lang="en-IN" dirty="0" smtClean="0">
                <a:solidFill>
                  <a:srgbClr val="FF0000"/>
                </a:solidFill>
              </a:rPr>
              <a:t>Market Economy ,Planned Economy and Mixed Economy </a:t>
            </a:r>
          </a:p>
          <a:p>
            <a:pPr algn="just"/>
            <a:endParaRPr lang="en-IN" dirty="0">
              <a:solidFill>
                <a:srgbClr val="FF0000"/>
              </a:solidFill>
            </a:endParaRPr>
          </a:p>
          <a:p>
            <a:pPr algn="just"/>
            <a:r>
              <a:rPr lang="en-IN" dirty="0" smtClean="0">
                <a:solidFill>
                  <a:srgbClr val="FF0000"/>
                </a:solidFill>
              </a:rPr>
              <a:t>Market Economy </a:t>
            </a:r>
            <a:r>
              <a:rPr lang="en-IN" dirty="0" smtClean="0"/>
              <a:t>is one in which the </a:t>
            </a:r>
            <a:r>
              <a:rPr lang="en-IN" dirty="0" smtClean="0">
                <a:solidFill>
                  <a:srgbClr val="FF0000"/>
                </a:solidFill>
              </a:rPr>
              <a:t>individuals and private firms </a:t>
            </a:r>
            <a:r>
              <a:rPr lang="en-IN" dirty="0" smtClean="0"/>
              <a:t>make the decision about production and distribution. </a:t>
            </a:r>
          </a:p>
          <a:p>
            <a:pPr algn="just"/>
            <a:r>
              <a:rPr lang="en-IN" dirty="0" smtClean="0"/>
              <a:t>The extreme case of market economy in which the government keeps its hands off economic decision is called </a:t>
            </a:r>
            <a:r>
              <a:rPr lang="en-IN" dirty="0" smtClean="0">
                <a:solidFill>
                  <a:srgbClr val="FF0000"/>
                </a:solidFill>
              </a:rPr>
              <a:t>laissez faire </a:t>
            </a:r>
            <a:r>
              <a:rPr lang="en-IN" dirty="0" smtClean="0"/>
              <a:t>economy. </a:t>
            </a:r>
          </a:p>
          <a:p>
            <a:pPr marL="0" indent="0">
              <a:buNone/>
            </a:pPr>
            <a:endParaRPr lang="en-IN" dirty="0"/>
          </a:p>
        </p:txBody>
      </p:sp>
    </p:spTree>
    <p:extLst>
      <p:ext uri="{BB962C8B-B14F-4D97-AF65-F5344CB8AC3E}">
        <p14:creationId xmlns:p14="http://schemas.microsoft.com/office/powerpoint/2010/main" val="143463354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65909" y="514061"/>
            <a:ext cx="10515600" cy="5720484"/>
          </a:xfrm>
        </p:spPr>
        <p:txBody>
          <a:bodyPr/>
          <a:lstStyle/>
          <a:p>
            <a:pPr algn="just"/>
            <a:r>
              <a:rPr lang="en-IN" dirty="0">
                <a:solidFill>
                  <a:srgbClr val="FF0000"/>
                </a:solidFill>
              </a:rPr>
              <a:t>Planned or Command Economy  </a:t>
            </a:r>
            <a:r>
              <a:rPr lang="en-IN" dirty="0"/>
              <a:t>is one in which </a:t>
            </a:r>
            <a:r>
              <a:rPr lang="en-IN" dirty="0">
                <a:solidFill>
                  <a:srgbClr val="FF0000"/>
                </a:solidFill>
              </a:rPr>
              <a:t>government</a:t>
            </a:r>
            <a:r>
              <a:rPr lang="en-IN" dirty="0"/>
              <a:t> makes all important decisions about production and distribution. </a:t>
            </a:r>
          </a:p>
          <a:p>
            <a:pPr lvl="1" algn="just"/>
            <a:r>
              <a:rPr lang="en-IN" dirty="0"/>
              <a:t>For example Command Economy which operated in the Soviet Union during 20</a:t>
            </a:r>
            <a:r>
              <a:rPr lang="en-IN" baseline="30000" dirty="0"/>
              <a:t>th</a:t>
            </a:r>
            <a:r>
              <a:rPr lang="en-IN" dirty="0"/>
              <a:t> century.  </a:t>
            </a:r>
          </a:p>
          <a:p>
            <a:pPr lvl="1" algn="just"/>
            <a:r>
              <a:rPr lang="en-IN" dirty="0"/>
              <a:t>The government owns the most of means of production. It also owns and directs the operations of enterprises in most industries. It is employer of most of workers and tells them how to do their job.</a:t>
            </a:r>
          </a:p>
          <a:p>
            <a:pPr lvl="1" algn="just"/>
            <a:r>
              <a:rPr lang="en-IN" dirty="0"/>
              <a:t>It decides how the output of the society is to be divided among different goods and services. </a:t>
            </a:r>
            <a:endParaRPr lang="en-IN" dirty="0" smtClean="0"/>
          </a:p>
          <a:p>
            <a:pPr algn="just"/>
            <a:r>
              <a:rPr lang="en-IN" dirty="0">
                <a:solidFill>
                  <a:srgbClr val="FF0000"/>
                </a:solidFill>
              </a:rPr>
              <a:t>Mixed Economy </a:t>
            </a:r>
            <a:r>
              <a:rPr lang="en-IN" dirty="0"/>
              <a:t>with elements of market and government plays important role in decision making. </a:t>
            </a:r>
          </a:p>
          <a:p>
            <a:pPr algn="just"/>
            <a:endParaRPr lang="en-IN" dirty="0"/>
          </a:p>
          <a:p>
            <a:endParaRPr lang="en-IN" dirty="0"/>
          </a:p>
        </p:txBody>
      </p:sp>
    </p:spTree>
    <p:extLst>
      <p:ext uri="{BB962C8B-B14F-4D97-AF65-F5344CB8AC3E}">
        <p14:creationId xmlns:p14="http://schemas.microsoft.com/office/powerpoint/2010/main" val="207571021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p:cNvGraphicFramePr/>
          <p:nvPr>
            <p:extLst>
              <p:ext uri="{D42A27DB-BD31-4B8C-83A1-F6EECF244321}">
                <p14:modId xmlns:p14="http://schemas.microsoft.com/office/powerpoint/2010/main" val="358613245"/>
              </p:ext>
            </p:extLst>
          </p:nvPr>
        </p:nvGraphicFramePr>
        <p:xfrm>
          <a:off x="2032000" y="719666"/>
          <a:ext cx="8128000" cy="5418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6985204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Foundations of Economics</a:t>
            </a:r>
            <a:endParaRPr lang="en-US" dirty="0"/>
          </a:p>
        </p:txBody>
      </p:sp>
      <p:sp>
        <p:nvSpPr>
          <p:cNvPr id="3" name="Content Placeholder 2"/>
          <p:cNvSpPr>
            <a:spLocks noGrp="1"/>
          </p:cNvSpPr>
          <p:nvPr>
            <p:ph idx="1"/>
          </p:nvPr>
        </p:nvSpPr>
        <p:spPr/>
        <p:txBody>
          <a:bodyPr/>
          <a:lstStyle/>
          <a:p>
            <a:r>
              <a:rPr lang="en-US" dirty="0" smtClean="0"/>
              <a:t>How People Make decisions?</a:t>
            </a:r>
          </a:p>
          <a:p>
            <a:pPr lvl="1"/>
            <a:r>
              <a:rPr lang="en-US" dirty="0" smtClean="0"/>
              <a:t>Principle 1: People face </a:t>
            </a:r>
            <a:r>
              <a:rPr lang="en-US" dirty="0" smtClean="0">
                <a:solidFill>
                  <a:srgbClr val="FF0000"/>
                </a:solidFill>
              </a:rPr>
              <a:t>TRADE OFF</a:t>
            </a:r>
          </a:p>
          <a:p>
            <a:pPr lvl="1"/>
            <a:r>
              <a:rPr lang="en-US" dirty="0" smtClean="0"/>
              <a:t>Principle 2: The cost of something is what you give up to get it- </a:t>
            </a:r>
            <a:r>
              <a:rPr lang="en-US" dirty="0" smtClean="0">
                <a:solidFill>
                  <a:srgbClr val="FF0000"/>
                </a:solidFill>
              </a:rPr>
              <a:t>OPPORTUNITY COST</a:t>
            </a:r>
          </a:p>
          <a:p>
            <a:pPr lvl="1"/>
            <a:r>
              <a:rPr lang="en-US" dirty="0" smtClean="0">
                <a:solidFill>
                  <a:srgbClr val="000510"/>
                </a:solidFill>
              </a:rPr>
              <a:t>Principle 3: Rational people think at </a:t>
            </a:r>
            <a:r>
              <a:rPr lang="en-US" dirty="0" smtClean="0">
                <a:solidFill>
                  <a:srgbClr val="FF0000"/>
                </a:solidFill>
              </a:rPr>
              <a:t>MARGIN</a:t>
            </a:r>
          </a:p>
          <a:p>
            <a:pPr lvl="1"/>
            <a:r>
              <a:rPr lang="en-US" dirty="0" smtClean="0">
                <a:solidFill>
                  <a:srgbClr val="000510"/>
                </a:solidFill>
              </a:rPr>
              <a:t>Principle 4: People Respond to </a:t>
            </a:r>
            <a:r>
              <a:rPr lang="en-US" dirty="0" smtClean="0">
                <a:solidFill>
                  <a:srgbClr val="FF0000"/>
                </a:solidFill>
              </a:rPr>
              <a:t>INCENTIVES </a:t>
            </a:r>
          </a:p>
          <a:p>
            <a:r>
              <a:rPr lang="en-US" dirty="0" smtClean="0">
                <a:solidFill>
                  <a:srgbClr val="000510"/>
                </a:solidFill>
              </a:rPr>
              <a:t>How People Interact? </a:t>
            </a:r>
          </a:p>
          <a:p>
            <a:pPr lvl="1"/>
            <a:r>
              <a:rPr lang="en-US" dirty="0" smtClean="0">
                <a:solidFill>
                  <a:srgbClr val="000510"/>
                </a:solidFill>
              </a:rPr>
              <a:t>Principle 5: </a:t>
            </a:r>
            <a:r>
              <a:rPr lang="en-US" dirty="0" smtClean="0">
                <a:solidFill>
                  <a:srgbClr val="FF0000"/>
                </a:solidFill>
              </a:rPr>
              <a:t>Trade</a:t>
            </a:r>
            <a:r>
              <a:rPr lang="en-US" dirty="0" smtClean="0">
                <a:solidFill>
                  <a:srgbClr val="000510"/>
                </a:solidFill>
              </a:rPr>
              <a:t> can make everyone </a:t>
            </a:r>
            <a:r>
              <a:rPr lang="en-US" dirty="0" smtClean="0">
                <a:solidFill>
                  <a:srgbClr val="FF0000"/>
                </a:solidFill>
              </a:rPr>
              <a:t>better off </a:t>
            </a:r>
          </a:p>
          <a:p>
            <a:pPr lvl="1"/>
            <a:r>
              <a:rPr lang="en-US" dirty="0" smtClean="0">
                <a:solidFill>
                  <a:srgbClr val="000510"/>
                </a:solidFill>
              </a:rPr>
              <a:t>Principle 6: </a:t>
            </a:r>
            <a:r>
              <a:rPr lang="en-US" dirty="0" smtClean="0">
                <a:solidFill>
                  <a:srgbClr val="FF0000"/>
                </a:solidFill>
              </a:rPr>
              <a:t>Markets</a:t>
            </a:r>
            <a:r>
              <a:rPr lang="en-US" dirty="0" smtClean="0">
                <a:solidFill>
                  <a:srgbClr val="000510"/>
                </a:solidFill>
              </a:rPr>
              <a:t> are usually a good way to organize economic activity</a:t>
            </a:r>
          </a:p>
          <a:p>
            <a:pPr lvl="1"/>
            <a:r>
              <a:rPr lang="en-US" dirty="0" smtClean="0">
                <a:solidFill>
                  <a:srgbClr val="000510"/>
                </a:solidFill>
              </a:rPr>
              <a:t>Principle 7: </a:t>
            </a:r>
            <a:r>
              <a:rPr lang="en-US" dirty="0" smtClean="0">
                <a:solidFill>
                  <a:srgbClr val="FF0000"/>
                </a:solidFill>
              </a:rPr>
              <a:t>Government</a:t>
            </a:r>
            <a:r>
              <a:rPr lang="en-US" dirty="0" smtClean="0">
                <a:solidFill>
                  <a:srgbClr val="000510"/>
                </a:solidFill>
              </a:rPr>
              <a:t> can sometimes </a:t>
            </a:r>
            <a:r>
              <a:rPr lang="en-US" dirty="0" smtClean="0">
                <a:solidFill>
                  <a:srgbClr val="FF0000"/>
                </a:solidFill>
              </a:rPr>
              <a:t>improve</a:t>
            </a:r>
            <a:r>
              <a:rPr lang="en-US" dirty="0" smtClean="0">
                <a:solidFill>
                  <a:srgbClr val="000510"/>
                </a:solidFill>
              </a:rPr>
              <a:t> market outcomes.  </a:t>
            </a:r>
          </a:p>
        </p:txBody>
      </p:sp>
    </p:spTree>
    <p:extLst>
      <p:ext uri="{BB962C8B-B14F-4D97-AF65-F5344CB8AC3E}">
        <p14:creationId xmlns:p14="http://schemas.microsoft.com/office/powerpoint/2010/main" val="3193694387"/>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739100" y="120074"/>
            <a:ext cx="10215417" cy="6216072"/>
          </a:xfrm>
          <a:prstGeom prst="rect">
            <a:avLst/>
          </a:prstGeom>
        </p:spPr>
      </p:pic>
    </p:spTree>
    <p:extLst>
      <p:ext uri="{BB962C8B-B14F-4D97-AF65-F5344CB8AC3E}">
        <p14:creationId xmlns:p14="http://schemas.microsoft.com/office/powerpoint/2010/main" val="2606397320"/>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smtClean="0"/>
              <a:t>Decision Making by a Agricultural Farmer </a:t>
            </a:r>
            <a:endParaRPr lang="en-IN" dirty="0"/>
          </a:p>
        </p:txBody>
      </p:sp>
      <p:sp>
        <p:nvSpPr>
          <p:cNvPr id="3" name="Content Placeholder 2"/>
          <p:cNvSpPr>
            <a:spLocks noGrp="1"/>
          </p:cNvSpPr>
          <p:nvPr>
            <p:ph idx="1"/>
          </p:nvPr>
        </p:nvSpPr>
        <p:spPr/>
        <p:txBody>
          <a:bodyPr>
            <a:normAutofit fontScale="92500" lnSpcReduction="10000"/>
          </a:bodyPr>
          <a:lstStyle/>
          <a:p>
            <a:r>
              <a:rPr lang="en-US" dirty="0"/>
              <a:t>A technological advance in an industry enables the country to produce more commodities for any given number of another commodity. </a:t>
            </a:r>
          </a:p>
          <a:p>
            <a:r>
              <a:rPr lang="en-US" dirty="0"/>
              <a:t>Example: System of Rice Intensification </a:t>
            </a:r>
          </a:p>
          <a:p>
            <a:r>
              <a:rPr lang="en-US" dirty="0"/>
              <a:t>Mr. </a:t>
            </a:r>
            <a:r>
              <a:rPr lang="en-US" dirty="0" err="1"/>
              <a:t>Solaimalai</a:t>
            </a:r>
            <a:r>
              <a:rPr lang="en-US" dirty="0"/>
              <a:t>, who owns two hectares of land and had leased another two hectares in Andaman village in Madurai district, had set a record by producing 13,787 kilograms/ha of rice (or 20,680 kilo/ha of paddy) during the 2011-12 </a:t>
            </a:r>
            <a:r>
              <a:rPr lang="en-US" dirty="0" err="1"/>
              <a:t>kharif</a:t>
            </a:r>
            <a:r>
              <a:rPr lang="en-US" dirty="0"/>
              <a:t> season.</a:t>
            </a:r>
          </a:p>
          <a:p>
            <a:r>
              <a:rPr lang="en-US" dirty="0"/>
              <a:t>Techniques such as land levelling, use of bio-</a:t>
            </a:r>
            <a:r>
              <a:rPr lang="en-US" dirty="0" err="1"/>
              <a:t>fertilisers</a:t>
            </a:r>
            <a:r>
              <a:rPr lang="en-US" dirty="0"/>
              <a:t> and organic manure in the paddy variety – CR 1009 – had ensured the highest yield for the winner. In the previous season, </a:t>
            </a:r>
          </a:p>
          <a:p>
            <a:r>
              <a:rPr lang="en-US" dirty="0" smtClean="0"/>
              <a:t>Before 2011-12- </a:t>
            </a:r>
            <a:r>
              <a:rPr lang="en-US" dirty="0"/>
              <a:t>harvested 8,125 kilos of paddy per hectare. </a:t>
            </a:r>
          </a:p>
          <a:p>
            <a:endParaRPr lang="en-IN" dirty="0"/>
          </a:p>
        </p:txBody>
      </p:sp>
    </p:spTree>
    <p:extLst>
      <p:ext uri="{BB962C8B-B14F-4D97-AF65-F5344CB8AC3E}">
        <p14:creationId xmlns:p14="http://schemas.microsoft.com/office/powerpoint/2010/main" val="279393275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Firm or Business Organisation </a:t>
            </a:r>
            <a:endParaRPr lang="en-IN" dirty="0"/>
          </a:p>
        </p:txBody>
      </p:sp>
      <p:pic>
        <p:nvPicPr>
          <p:cNvPr id="5" name="Picture Placeholder 4"/>
          <p:cNvPicPr>
            <a:picLocks noGrp="1" noChangeAspect="1"/>
          </p:cNvPicPr>
          <p:nvPr>
            <p:ph type="pic" idx="1"/>
          </p:nvPr>
        </p:nvPicPr>
        <p:blipFill>
          <a:blip r:embed="rId2"/>
          <a:srcRect t="1212" b="1212"/>
          <a:stretch>
            <a:fillRect/>
          </a:stretch>
        </p:blipFill>
        <p:spPr>
          <a:prstGeom prst="rect">
            <a:avLst/>
          </a:prstGeom>
        </p:spPr>
      </p:pic>
      <p:sp>
        <p:nvSpPr>
          <p:cNvPr id="4" name="Text Placeholder 3"/>
          <p:cNvSpPr>
            <a:spLocks noGrp="1"/>
          </p:cNvSpPr>
          <p:nvPr>
            <p:ph type="body" sz="half" idx="2"/>
          </p:nvPr>
        </p:nvSpPr>
        <p:spPr/>
        <p:txBody>
          <a:bodyPr>
            <a:normAutofit/>
          </a:bodyPr>
          <a:lstStyle/>
          <a:p>
            <a:pPr marL="342900" indent="-342900" algn="just">
              <a:buFont typeface="Arial" panose="020B0604020202020204" pitchFamily="34" charset="0"/>
              <a:buChar char="•"/>
            </a:pPr>
            <a:r>
              <a:rPr lang="en-IN" sz="2400" dirty="0" smtClean="0"/>
              <a:t>Profit </a:t>
            </a:r>
          </a:p>
          <a:p>
            <a:pPr marL="342900" indent="-342900" algn="just">
              <a:buFont typeface="Arial" panose="020B0604020202020204" pitchFamily="34" charset="0"/>
              <a:buChar char="•"/>
            </a:pPr>
            <a:r>
              <a:rPr lang="en-IN" sz="2400" dirty="0" smtClean="0"/>
              <a:t>Faces Many Decisions </a:t>
            </a:r>
          </a:p>
          <a:p>
            <a:pPr marL="342900" indent="-342900" algn="just">
              <a:buFont typeface="Arial" panose="020B0604020202020204" pitchFamily="34" charset="0"/>
              <a:buChar char="•"/>
            </a:pPr>
            <a:r>
              <a:rPr lang="en-IN" sz="2400" dirty="0" smtClean="0"/>
              <a:t>What to Produce?</a:t>
            </a:r>
          </a:p>
          <a:p>
            <a:pPr marL="342900" indent="-342900" algn="just">
              <a:buFont typeface="Arial" panose="020B0604020202020204" pitchFamily="34" charset="0"/>
              <a:buChar char="•"/>
            </a:pPr>
            <a:r>
              <a:rPr lang="en-IN" sz="2400" dirty="0" smtClean="0"/>
              <a:t>How to Produce?</a:t>
            </a:r>
          </a:p>
          <a:p>
            <a:pPr marL="342900" indent="-342900" algn="just">
              <a:buFont typeface="Arial" panose="020B0604020202020204" pitchFamily="34" charset="0"/>
              <a:buChar char="•"/>
            </a:pPr>
            <a:r>
              <a:rPr lang="en-IN" sz="2400" dirty="0" smtClean="0"/>
              <a:t>For Whom to produce? </a:t>
            </a:r>
            <a:endParaRPr lang="en-IN" sz="2400" dirty="0"/>
          </a:p>
        </p:txBody>
      </p:sp>
    </p:spTree>
    <p:extLst>
      <p:ext uri="{BB962C8B-B14F-4D97-AF65-F5344CB8AC3E}">
        <p14:creationId xmlns:p14="http://schemas.microsoft.com/office/powerpoint/2010/main" val="364586612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smtClean="0"/>
              <a:t>Examples of Decision Making at the Firm Level</a:t>
            </a:r>
            <a:endParaRPr lang="en-IN" dirty="0"/>
          </a:p>
        </p:txBody>
      </p:sp>
      <p:sp>
        <p:nvSpPr>
          <p:cNvPr id="3" name="Content Placeholder 2"/>
          <p:cNvSpPr>
            <a:spLocks noGrp="1"/>
          </p:cNvSpPr>
          <p:nvPr>
            <p:ph idx="1"/>
          </p:nvPr>
        </p:nvSpPr>
        <p:spPr/>
        <p:txBody>
          <a:bodyPr>
            <a:normAutofit fontScale="85000" lnSpcReduction="20000"/>
          </a:bodyPr>
          <a:lstStyle/>
          <a:p>
            <a:pPr algn="just"/>
            <a:r>
              <a:rPr lang="en-US" dirty="0"/>
              <a:t>Deciding the price of a product and the quantity of the commodity to be produced</a:t>
            </a:r>
          </a:p>
          <a:p>
            <a:pPr algn="just"/>
            <a:r>
              <a:rPr lang="en-US" dirty="0"/>
              <a:t>Deciding whether to manufacture a product or to buy from another manufacturer</a:t>
            </a:r>
          </a:p>
          <a:p>
            <a:pPr algn="just"/>
            <a:r>
              <a:rPr lang="en-US" dirty="0"/>
              <a:t>Choosing the production technique to be employed in the production of a given product</a:t>
            </a:r>
          </a:p>
          <a:p>
            <a:pPr algn="just"/>
            <a:r>
              <a:rPr lang="en-US" dirty="0"/>
              <a:t>Deciding on the level of inventory a firm will maintain of a product or raw material</a:t>
            </a:r>
          </a:p>
          <a:p>
            <a:pPr algn="just"/>
            <a:r>
              <a:rPr lang="en-US" dirty="0"/>
              <a:t>Deciding on the advertising media and the intensity of the advertising campaign</a:t>
            </a:r>
          </a:p>
          <a:p>
            <a:pPr algn="just"/>
            <a:r>
              <a:rPr lang="en-US" dirty="0"/>
              <a:t>Making employment and training decisions</a:t>
            </a:r>
          </a:p>
          <a:p>
            <a:pPr algn="just"/>
            <a:r>
              <a:rPr lang="en-US" dirty="0"/>
              <a:t>Making decisions regarding further business investment and the mode of financing the investment</a:t>
            </a:r>
          </a:p>
          <a:p>
            <a:endParaRPr lang="en-US" dirty="0"/>
          </a:p>
          <a:p>
            <a:endParaRPr lang="en-US" dirty="0"/>
          </a:p>
        </p:txBody>
      </p:sp>
    </p:spTree>
    <p:extLst>
      <p:ext uri="{BB962C8B-B14F-4D97-AF65-F5344CB8AC3E}">
        <p14:creationId xmlns:p14="http://schemas.microsoft.com/office/powerpoint/2010/main" val="36529669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solidFill>
                  <a:srgbClr val="231F20"/>
                </a:solidFill>
                <a:latin typeface="NewBaskerville-Roman"/>
              </a:rPr>
              <a:t>Pharmaceutical Company</a:t>
            </a:r>
            <a:endParaRPr lang="en-IN" dirty="0"/>
          </a:p>
        </p:txBody>
      </p:sp>
      <p:sp>
        <p:nvSpPr>
          <p:cNvPr id="3" name="Content Placeholder 2"/>
          <p:cNvSpPr>
            <a:spLocks noGrp="1"/>
          </p:cNvSpPr>
          <p:nvPr>
            <p:ph idx="1"/>
          </p:nvPr>
        </p:nvSpPr>
        <p:spPr/>
        <p:txBody>
          <a:bodyPr>
            <a:normAutofit lnSpcReduction="10000"/>
          </a:bodyPr>
          <a:lstStyle/>
          <a:p>
            <a:pPr algn="just"/>
            <a:r>
              <a:rPr lang="en-US" dirty="0">
                <a:solidFill>
                  <a:srgbClr val="231F20"/>
                </a:solidFill>
                <a:latin typeface="NewBaskerville-Roman"/>
              </a:rPr>
              <a:t>A five-year-old pharmaceutical company faces a major research and </a:t>
            </a:r>
            <a:r>
              <a:rPr lang="en-US" dirty="0" smtClean="0">
                <a:solidFill>
                  <a:srgbClr val="231F20"/>
                </a:solidFill>
                <a:latin typeface="NewBaskerville-Roman"/>
              </a:rPr>
              <a:t>development decision</a:t>
            </a:r>
            <a:r>
              <a:rPr lang="en-US" dirty="0">
                <a:solidFill>
                  <a:srgbClr val="231F20"/>
                </a:solidFill>
                <a:latin typeface="NewBaskerville-Roman"/>
              </a:rPr>
              <a:t>. </a:t>
            </a:r>
            <a:endParaRPr lang="en-US" dirty="0" smtClean="0">
              <a:solidFill>
                <a:srgbClr val="231F20"/>
              </a:solidFill>
              <a:latin typeface="NewBaskerville-Roman"/>
            </a:endParaRPr>
          </a:p>
          <a:p>
            <a:pPr algn="just"/>
            <a:r>
              <a:rPr lang="en-US" dirty="0" smtClean="0">
                <a:solidFill>
                  <a:srgbClr val="231F20"/>
                </a:solidFill>
                <a:latin typeface="NewBaskerville-Roman"/>
              </a:rPr>
              <a:t>It </a:t>
            </a:r>
            <a:r>
              <a:rPr lang="en-US" dirty="0">
                <a:solidFill>
                  <a:srgbClr val="231F20"/>
                </a:solidFill>
                <a:latin typeface="NewBaskerville-Roman"/>
              </a:rPr>
              <a:t>already has spent a year of preliminary research toward producing </a:t>
            </a:r>
            <a:r>
              <a:rPr lang="en-US" dirty="0" smtClean="0">
                <a:solidFill>
                  <a:srgbClr val="231F20"/>
                </a:solidFill>
                <a:latin typeface="NewBaskerville-Roman"/>
              </a:rPr>
              <a:t>a </a:t>
            </a:r>
            <a:r>
              <a:rPr lang="en-US" dirty="0">
                <a:solidFill>
                  <a:srgbClr val="231F20"/>
                </a:solidFill>
                <a:latin typeface="NewBaskerville-Roman"/>
              </a:rPr>
              <a:t>protein that dissolves blood clots. Such a drug would be </a:t>
            </a:r>
            <a:r>
              <a:rPr lang="en-US" dirty="0" smtClean="0">
                <a:solidFill>
                  <a:srgbClr val="231F20"/>
                </a:solidFill>
                <a:latin typeface="NewBaskerville-Roman"/>
              </a:rPr>
              <a:t>of tremendous </a:t>
            </a:r>
            <a:r>
              <a:rPr lang="en-US" dirty="0">
                <a:solidFill>
                  <a:srgbClr val="231F20"/>
                </a:solidFill>
                <a:latin typeface="NewBaskerville-Roman"/>
              </a:rPr>
              <a:t>value in the treatment of heart attacks, some 80 percent of </a:t>
            </a:r>
            <a:r>
              <a:rPr lang="en-US" dirty="0" smtClean="0">
                <a:solidFill>
                  <a:srgbClr val="231F20"/>
                </a:solidFill>
                <a:latin typeface="NewBaskerville-Roman"/>
              </a:rPr>
              <a:t>which are </a:t>
            </a:r>
            <a:r>
              <a:rPr lang="en-US" dirty="0">
                <a:solidFill>
                  <a:srgbClr val="231F20"/>
                </a:solidFill>
                <a:latin typeface="NewBaskerville-Roman"/>
              </a:rPr>
              <a:t>caused by clots. </a:t>
            </a:r>
            <a:endParaRPr lang="en-US" dirty="0" smtClean="0">
              <a:solidFill>
                <a:srgbClr val="231F20"/>
              </a:solidFill>
              <a:latin typeface="NewBaskerville-Roman"/>
            </a:endParaRPr>
          </a:p>
          <a:p>
            <a:pPr algn="just"/>
            <a:r>
              <a:rPr lang="en-US" dirty="0" smtClean="0">
                <a:solidFill>
                  <a:srgbClr val="231F20"/>
                </a:solidFill>
                <a:latin typeface="NewBaskerville-Roman"/>
              </a:rPr>
              <a:t>The </a:t>
            </a:r>
            <a:r>
              <a:rPr lang="en-US" dirty="0">
                <a:solidFill>
                  <a:srgbClr val="231F20"/>
                </a:solidFill>
                <a:latin typeface="NewBaskerville-Roman"/>
              </a:rPr>
              <a:t>primary method the company has been pursuing </a:t>
            </a:r>
            <a:r>
              <a:rPr lang="en-US" dirty="0" smtClean="0">
                <a:solidFill>
                  <a:srgbClr val="231F20"/>
                </a:solidFill>
                <a:latin typeface="NewBaskerville-Roman"/>
              </a:rPr>
              <a:t>relies on </a:t>
            </a:r>
            <a:r>
              <a:rPr lang="en-US" dirty="0">
                <a:solidFill>
                  <a:srgbClr val="231F20"/>
                </a:solidFill>
                <a:latin typeface="NewBaskerville-Roman"/>
              </a:rPr>
              <a:t>conventional, state-of-the-art biochemistry. </a:t>
            </a:r>
            <a:endParaRPr lang="en-US" dirty="0" smtClean="0">
              <a:solidFill>
                <a:srgbClr val="231F20"/>
              </a:solidFill>
              <a:latin typeface="NewBaskerville-Roman"/>
            </a:endParaRPr>
          </a:p>
          <a:p>
            <a:pPr algn="just"/>
            <a:r>
              <a:rPr lang="en-US" dirty="0" smtClean="0">
                <a:solidFill>
                  <a:srgbClr val="231F20"/>
                </a:solidFill>
                <a:latin typeface="NewBaskerville-Roman"/>
              </a:rPr>
              <a:t>Continuing </a:t>
            </a:r>
            <a:r>
              <a:rPr lang="en-US" dirty="0">
                <a:solidFill>
                  <a:srgbClr val="231F20"/>
                </a:solidFill>
                <a:latin typeface="NewBaskerville-Roman"/>
              </a:rPr>
              <a:t>this approach </a:t>
            </a:r>
            <a:r>
              <a:rPr lang="en-US" dirty="0" smtClean="0">
                <a:solidFill>
                  <a:srgbClr val="231F20"/>
                </a:solidFill>
                <a:latin typeface="NewBaskerville-Roman"/>
              </a:rPr>
              <a:t>will require </a:t>
            </a:r>
            <a:r>
              <a:rPr lang="en-US" dirty="0">
                <a:solidFill>
                  <a:srgbClr val="231F20"/>
                </a:solidFill>
                <a:latin typeface="NewBaskerville-Roman"/>
              </a:rPr>
              <a:t>an estimated $10 million additional investment and should lead to </a:t>
            </a:r>
            <a:r>
              <a:rPr lang="en-US" dirty="0" smtClean="0">
                <a:solidFill>
                  <a:srgbClr val="231F20"/>
                </a:solidFill>
                <a:latin typeface="NewBaskerville-Roman"/>
              </a:rPr>
              <a:t>a commercially </a:t>
            </a:r>
            <a:r>
              <a:rPr lang="en-US" dirty="0">
                <a:solidFill>
                  <a:srgbClr val="231F20"/>
                </a:solidFill>
                <a:latin typeface="NewBaskerville-Roman"/>
              </a:rPr>
              <a:t>successful product, although the exact profit is highly uncertain</a:t>
            </a:r>
            <a:r>
              <a:rPr lang="en-US" dirty="0" smtClean="0">
                <a:solidFill>
                  <a:srgbClr val="231F20"/>
                </a:solidFill>
                <a:latin typeface="NewBaskerville-Roman"/>
              </a:rPr>
              <a:t>. </a:t>
            </a:r>
          </a:p>
          <a:p>
            <a:endParaRPr lang="en-IN" dirty="0"/>
          </a:p>
        </p:txBody>
      </p:sp>
    </p:spTree>
    <p:extLst>
      <p:ext uri="{BB962C8B-B14F-4D97-AF65-F5344CB8AC3E}">
        <p14:creationId xmlns:p14="http://schemas.microsoft.com/office/powerpoint/2010/main" val="423792902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a:t>Pharmaceutical Company</a:t>
            </a:r>
          </a:p>
        </p:txBody>
      </p:sp>
      <p:pic>
        <p:nvPicPr>
          <p:cNvPr id="4" name="Content Placeholder 3"/>
          <p:cNvPicPr>
            <a:picLocks noGrp="1" noChangeAspect="1"/>
          </p:cNvPicPr>
          <p:nvPr>
            <p:ph idx="1"/>
          </p:nvPr>
        </p:nvPicPr>
        <p:blipFill>
          <a:blip r:embed="rId2"/>
          <a:stretch>
            <a:fillRect/>
          </a:stretch>
        </p:blipFill>
        <p:spPr>
          <a:xfrm>
            <a:off x="1021080" y="1609408"/>
            <a:ext cx="9458960" cy="4351338"/>
          </a:xfrm>
          <a:prstGeom prst="rect">
            <a:avLst/>
          </a:prstGeom>
        </p:spPr>
      </p:pic>
    </p:spTree>
    <p:extLst>
      <p:ext uri="{BB962C8B-B14F-4D97-AF65-F5344CB8AC3E}">
        <p14:creationId xmlns:p14="http://schemas.microsoft.com/office/powerpoint/2010/main" val="966240254"/>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Non Profit Hospital </a:t>
            </a:r>
            <a:endParaRPr lang="en-IN" dirty="0"/>
          </a:p>
        </p:txBody>
      </p:sp>
      <p:sp>
        <p:nvSpPr>
          <p:cNvPr id="3" name="Picture Placeholder 2"/>
          <p:cNvSpPr>
            <a:spLocks noGrp="1"/>
          </p:cNvSpPr>
          <p:nvPr>
            <p:ph type="pic" idx="1"/>
          </p:nvPr>
        </p:nvSpPr>
        <p:spPr/>
      </p:sp>
      <p:sp>
        <p:nvSpPr>
          <p:cNvPr id="4" name="Text Placeholder 3"/>
          <p:cNvSpPr>
            <a:spLocks noGrp="1"/>
          </p:cNvSpPr>
          <p:nvPr>
            <p:ph type="body" sz="half" idx="2"/>
          </p:nvPr>
        </p:nvSpPr>
        <p:spPr/>
        <p:txBody>
          <a:bodyPr>
            <a:normAutofit lnSpcReduction="10000"/>
          </a:bodyPr>
          <a:lstStyle/>
          <a:p>
            <a:r>
              <a:rPr lang="en-US" sz="2000" dirty="0"/>
              <a:t>While a nonprofit hospital is not like a typical firm seeking to maximize its profits, </a:t>
            </a:r>
            <a:endParaRPr lang="en-US" sz="2000" dirty="0" smtClean="0"/>
          </a:p>
          <a:p>
            <a:r>
              <a:rPr lang="en-US" sz="2000" dirty="0" smtClean="0"/>
              <a:t>A </a:t>
            </a:r>
            <a:r>
              <a:rPr lang="en-US" sz="2000" dirty="0"/>
              <a:t>hospital does strive to provide its patients the best medical care possible given its limited staff (doctors, nurses, and support staff), equipment, space, and other resources. </a:t>
            </a:r>
            <a:endParaRPr lang="en-US" sz="2000" dirty="0" smtClean="0"/>
          </a:p>
          <a:p>
            <a:r>
              <a:rPr lang="en-US" sz="2000" dirty="0" smtClean="0"/>
              <a:t>The </a:t>
            </a:r>
            <a:r>
              <a:rPr lang="en-US" sz="2000" dirty="0"/>
              <a:t>hospital administrator can use the concepts and tools </a:t>
            </a:r>
            <a:r>
              <a:rPr lang="en-US" sz="2000"/>
              <a:t>of </a:t>
            </a:r>
            <a:r>
              <a:rPr lang="en-US" sz="2000" smtClean="0"/>
              <a:t>economics </a:t>
            </a:r>
            <a:r>
              <a:rPr lang="en-US" sz="2000" dirty="0"/>
              <a:t>to determine the optimal allocation of the limited resources available to the hospital.</a:t>
            </a:r>
          </a:p>
          <a:p>
            <a:endParaRPr lang="en-IN" dirty="0"/>
          </a:p>
        </p:txBody>
      </p:sp>
      <p:pic>
        <p:nvPicPr>
          <p:cNvPr id="6" name="Picture 5"/>
          <p:cNvPicPr>
            <a:picLocks noChangeAspect="1"/>
          </p:cNvPicPr>
          <p:nvPr/>
        </p:nvPicPr>
        <p:blipFill>
          <a:blip r:embed="rId2"/>
          <a:stretch>
            <a:fillRect/>
          </a:stretch>
        </p:blipFill>
        <p:spPr>
          <a:xfrm>
            <a:off x="5183188" y="987426"/>
            <a:ext cx="6066703" cy="4873624"/>
          </a:xfrm>
          <a:prstGeom prst="rect">
            <a:avLst/>
          </a:prstGeom>
        </p:spPr>
      </p:pic>
    </p:spTree>
    <p:extLst>
      <p:ext uri="{BB962C8B-B14F-4D97-AF65-F5344CB8AC3E}">
        <p14:creationId xmlns:p14="http://schemas.microsoft.com/office/powerpoint/2010/main" val="363216624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42953" y="365126"/>
            <a:ext cx="4513812" cy="349769"/>
          </a:xfrm>
        </p:spPr>
        <p:txBody>
          <a:bodyPr>
            <a:normAutofit fontScale="90000"/>
          </a:bodyPr>
          <a:lstStyle/>
          <a:p>
            <a:pPr algn="ctr"/>
            <a:r>
              <a:rPr lang="en-US" sz="3200" b="1" dirty="0" smtClean="0"/>
              <a:t>How People make decisions?</a:t>
            </a:r>
            <a:r>
              <a:rPr lang="en-US" dirty="0" smtClean="0"/>
              <a:t> </a:t>
            </a:r>
            <a:endParaRPr lang="en-US" dirty="0"/>
          </a:p>
        </p:txBody>
      </p:sp>
      <p:sp>
        <p:nvSpPr>
          <p:cNvPr id="3" name="Content Placeholder 2"/>
          <p:cNvSpPr>
            <a:spLocks noGrp="1"/>
          </p:cNvSpPr>
          <p:nvPr>
            <p:ph idx="1"/>
          </p:nvPr>
        </p:nvSpPr>
        <p:spPr>
          <a:xfrm>
            <a:off x="838200" y="1097280"/>
            <a:ext cx="10515600" cy="5079683"/>
          </a:xfrm>
        </p:spPr>
        <p:txBody>
          <a:bodyPr/>
          <a:lstStyle/>
          <a:p>
            <a:r>
              <a:rPr lang="en-US" dirty="0" smtClean="0"/>
              <a:t>Principle 1: People face trade off –make decision-choose one and give up all other choices. </a:t>
            </a:r>
          </a:p>
          <a:p>
            <a:pPr marL="0" indent="0">
              <a:buNone/>
            </a:pPr>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1741827980"/>
              </p:ext>
            </p:extLst>
          </p:nvPr>
        </p:nvGraphicFramePr>
        <p:xfrm>
          <a:off x="1978430" y="2168119"/>
          <a:ext cx="7423265" cy="3941577"/>
        </p:xfrm>
        <a:graphic>
          <a:graphicData uri="http://schemas.openxmlformats.org/drawingml/2006/table">
            <a:tbl>
              <a:tblPr firstRow="1" bandRow="1">
                <a:tableStyleId>{5C22544A-7EE6-4342-B048-85BDC9FD1C3A}</a:tableStyleId>
              </a:tblPr>
              <a:tblGrid>
                <a:gridCol w="1484653">
                  <a:extLst>
                    <a:ext uri="{9D8B030D-6E8A-4147-A177-3AD203B41FA5}">
                      <a16:colId xmlns:a16="http://schemas.microsoft.com/office/drawing/2014/main" val="3037665777"/>
                    </a:ext>
                  </a:extLst>
                </a:gridCol>
                <a:gridCol w="1484653">
                  <a:extLst>
                    <a:ext uri="{9D8B030D-6E8A-4147-A177-3AD203B41FA5}">
                      <a16:colId xmlns:a16="http://schemas.microsoft.com/office/drawing/2014/main" val="2885667052"/>
                    </a:ext>
                  </a:extLst>
                </a:gridCol>
                <a:gridCol w="1484653">
                  <a:extLst>
                    <a:ext uri="{9D8B030D-6E8A-4147-A177-3AD203B41FA5}">
                      <a16:colId xmlns:a16="http://schemas.microsoft.com/office/drawing/2014/main" val="10275898"/>
                    </a:ext>
                  </a:extLst>
                </a:gridCol>
                <a:gridCol w="1484653">
                  <a:extLst>
                    <a:ext uri="{9D8B030D-6E8A-4147-A177-3AD203B41FA5}">
                      <a16:colId xmlns:a16="http://schemas.microsoft.com/office/drawing/2014/main" val="270592660"/>
                    </a:ext>
                  </a:extLst>
                </a:gridCol>
                <a:gridCol w="1484653">
                  <a:extLst>
                    <a:ext uri="{9D8B030D-6E8A-4147-A177-3AD203B41FA5}">
                      <a16:colId xmlns:a16="http://schemas.microsoft.com/office/drawing/2014/main" val="1397863127"/>
                    </a:ext>
                  </a:extLst>
                </a:gridCol>
              </a:tblGrid>
              <a:tr h="739408">
                <a:tc>
                  <a:txBody>
                    <a:bodyPr/>
                    <a:lstStyle/>
                    <a:p>
                      <a:r>
                        <a:rPr lang="en-US" sz="1400" dirty="0" smtClean="0"/>
                        <a:t>Economic actors</a:t>
                      </a:r>
                      <a:endParaRPr lang="en-US" sz="1400" dirty="0"/>
                    </a:p>
                  </a:txBody>
                  <a:tcPr/>
                </a:tc>
                <a:tc>
                  <a:txBody>
                    <a:bodyPr/>
                    <a:lstStyle/>
                    <a:p>
                      <a:r>
                        <a:rPr lang="en-US" sz="1400" dirty="0" smtClean="0"/>
                        <a:t>Resource </a:t>
                      </a:r>
                      <a:endParaRPr lang="en-US" sz="1400" dirty="0"/>
                    </a:p>
                  </a:txBody>
                  <a:tcPr/>
                </a:tc>
                <a:tc>
                  <a:txBody>
                    <a:bodyPr/>
                    <a:lstStyle/>
                    <a:p>
                      <a:r>
                        <a:rPr lang="en-US" sz="1400" dirty="0" smtClean="0"/>
                        <a:t>Choice 1</a:t>
                      </a:r>
                      <a:endParaRPr lang="en-US" sz="1400" dirty="0"/>
                    </a:p>
                  </a:txBody>
                  <a:tcPr/>
                </a:tc>
                <a:tc>
                  <a:txBody>
                    <a:bodyPr/>
                    <a:lstStyle/>
                    <a:p>
                      <a:r>
                        <a:rPr lang="en-US" sz="1400" dirty="0" smtClean="0"/>
                        <a:t>Choice 2</a:t>
                      </a:r>
                      <a:endParaRPr lang="en-US" sz="1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smtClean="0"/>
                        <a:t>Choice 3</a:t>
                      </a:r>
                    </a:p>
                    <a:p>
                      <a:endParaRPr lang="en-US" sz="1400" dirty="0"/>
                    </a:p>
                  </a:txBody>
                  <a:tcPr/>
                </a:tc>
                <a:extLst>
                  <a:ext uri="{0D108BD9-81ED-4DB2-BD59-A6C34878D82A}">
                    <a16:rowId xmlns:a16="http://schemas.microsoft.com/office/drawing/2014/main" val="1696385459"/>
                  </a:ext>
                </a:extLst>
              </a:tr>
              <a:tr h="482495">
                <a:tc rowSpan="4">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smtClean="0"/>
                        <a:t>Individuals/Household</a:t>
                      </a:r>
                      <a:r>
                        <a:rPr lang="en-US" sz="1400" baseline="0" dirty="0" smtClean="0"/>
                        <a:t> </a:t>
                      </a:r>
                      <a:endParaRPr lang="en-US" sz="1400" dirty="0" smtClean="0"/>
                    </a:p>
                    <a:p>
                      <a:endParaRPr lang="en-US" sz="1400" dirty="0"/>
                    </a:p>
                  </a:txBody>
                  <a:tcPr/>
                </a:tc>
                <a:tc>
                  <a:txBody>
                    <a:bodyPr/>
                    <a:lstStyle/>
                    <a:p>
                      <a:r>
                        <a:rPr lang="en-US" sz="1400" dirty="0" smtClean="0"/>
                        <a:t>Time </a:t>
                      </a:r>
                      <a:endParaRPr lang="en-US" sz="1400" dirty="0"/>
                    </a:p>
                  </a:txBody>
                  <a:tcPr/>
                </a:tc>
                <a:tc>
                  <a:txBody>
                    <a:bodyPr/>
                    <a:lstStyle/>
                    <a:p>
                      <a:r>
                        <a:rPr lang="en-US" sz="1400" dirty="0" smtClean="0"/>
                        <a:t>Work for 8 </a:t>
                      </a:r>
                      <a:r>
                        <a:rPr lang="en-US" sz="1400" dirty="0" err="1" smtClean="0"/>
                        <a:t>hrs</a:t>
                      </a:r>
                      <a:endParaRPr lang="en-US" sz="1400" dirty="0"/>
                    </a:p>
                  </a:txBody>
                  <a:tcPr/>
                </a:tc>
                <a:tc>
                  <a:txBody>
                    <a:bodyPr/>
                    <a:lstStyle/>
                    <a:p>
                      <a:r>
                        <a:rPr lang="en-US" sz="1400" dirty="0" smtClean="0"/>
                        <a:t>Full</a:t>
                      </a:r>
                      <a:r>
                        <a:rPr lang="en-US" sz="1400" baseline="0" dirty="0" smtClean="0"/>
                        <a:t> time work</a:t>
                      </a:r>
                      <a:endParaRPr lang="en-US" sz="1400" dirty="0"/>
                    </a:p>
                  </a:txBody>
                  <a:tcPr/>
                </a:tc>
                <a:tc>
                  <a:txBody>
                    <a:bodyPr/>
                    <a:lstStyle/>
                    <a:p>
                      <a:r>
                        <a:rPr lang="en-US" sz="1400" dirty="0" smtClean="0"/>
                        <a:t>Part time job</a:t>
                      </a:r>
                      <a:endParaRPr lang="en-US" sz="1400" dirty="0"/>
                    </a:p>
                  </a:txBody>
                  <a:tcPr/>
                </a:tc>
                <a:extLst>
                  <a:ext uri="{0D108BD9-81ED-4DB2-BD59-A6C34878D82A}">
                    <a16:rowId xmlns:a16="http://schemas.microsoft.com/office/drawing/2014/main" val="1834452652"/>
                  </a:ext>
                </a:extLst>
              </a:tr>
              <a:tr h="279449">
                <a:tc vMerge="1">
                  <a:txBody>
                    <a:bodyPr/>
                    <a:lstStyle/>
                    <a:p>
                      <a:endParaRPr lang="en-US" dirty="0"/>
                    </a:p>
                  </a:txBody>
                  <a:tcPr/>
                </a:tc>
                <a:tc>
                  <a:txBody>
                    <a:bodyPr/>
                    <a:lstStyle/>
                    <a:p>
                      <a:r>
                        <a:rPr lang="en-US" sz="1400" dirty="0" smtClean="0"/>
                        <a:t>land</a:t>
                      </a:r>
                      <a:endParaRPr lang="en-US" sz="1400" dirty="0"/>
                    </a:p>
                  </a:txBody>
                  <a:tcPr/>
                </a:tc>
                <a:tc>
                  <a:txBody>
                    <a:bodyPr/>
                    <a:lstStyle/>
                    <a:p>
                      <a:r>
                        <a:rPr lang="en-US" sz="1400" dirty="0" smtClean="0"/>
                        <a:t>Cultivate </a:t>
                      </a:r>
                      <a:endParaRPr lang="en-US" sz="1400" dirty="0"/>
                    </a:p>
                  </a:txBody>
                  <a:tcPr/>
                </a:tc>
                <a:tc>
                  <a:txBody>
                    <a:bodyPr/>
                    <a:lstStyle/>
                    <a:p>
                      <a:r>
                        <a:rPr lang="en-US" sz="1400" dirty="0" smtClean="0"/>
                        <a:t>No</a:t>
                      </a:r>
                      <a:r>
                        <a:rPr lang="en-US" sz="1400" baseline="0" dirty="0" smtClean="0"/>
                        <a:t> cultivation </a:t>
                      </a:r>
                      <a:endParaRPr lang="en-US" sz="1400" dirty="0"/>
                    </a:p>
                  </a:txBody>
                  <a:tcPr/>
                </a:tc>
                <a:tc>
                  <a:txBody>
                    <a:bodyPr/>
                    <a:lstStyle/>
                    <a:p>
                      <a:r>
                        <a:rPr lang="en-US" sz="1400" dirty="0" smtClean="0"/>
                        <a:t>Give for lease </a:t>
                      </a:r>
                      <a:endParaRPr lang="en-US" sz="1400" dirty="0"/>
                    </a:p>
                  </a:txBody>
                  <a:tcPr/>
                </a:tc>
                <a:extLst>
                  <a:ext uri="{0D108BD9-81ED-4DB2-BD59-A6C34878D82A}">
                    <a16:rowId xmlns:a16="http://schemas.microsoft.com/office/drawing/2014/main" val="4064315708"/>
                  </a:ext>
                </a:extLst>
              </a:tr>
              <a:tr h="689277">
                <a:tc vMerge="1">
                  <a:txBody>
                    <a:bodyPr/>
                    <a:lstStyle/>
                    <a:p>
                      <a:endParaRPr lang="en-US" dirty="0"/>
                    </a:p>
                  </a:txBody>
                  <a:tcPr/>
                </a:tc>
                <a:tc>
                  <a:txBody>
                    <a:bodyPr/>
                    <a:lstStyle/>
                    <a:p>
                      <a:r>
                        <a:rPr lang="en-US" sz="1400" dirty="0" smtClean="0"/>
                        <a:t>Finance </a:t>
                      </a:r>
                      <a:endParaRPr lang="en-US" sz="1400" dirty="0"/>
                    </a:p>
                  </a:txBody>
                  <a:tcPr/>
                </a:tc>
                <a:tc>
                  <a:txBody>
                    <a:bodyPr/>
                    <a:lstStyle/>
                    <a:p>
                      <a:r>
                        <a:rPr lang="en-US" sz="1400" dirty="0" smtClean="0"/>
                        <a:t>Health,</a:t>
                      </a:r>
                    </a:p>
                    <a:p>
                      <a:r>
                        <a:rPr lang="en-US" sz="1400" dirty="0" smtClean="0"/>
                        <a:t>education ,house </a:t>
                      </a:r>
                      <a:endParaRPr lang="en-US" sz="1400" dirty="0"/>
                    </a:p>
                  </a:txBody>
                  <a:tcPr/>
                </a:tc>
                <a:tc>
                  <a:txBody>
                    <a:bodyPr/>
                    <a:lstStyle/>
                    <a:p>
                      <a:r>
                        <a:rPr lang="en-US" sz="1400" dirty="0" smtClean="0"/>
                        <a:t>Savings</a:t>
                      </a:r>
                      <a:r>
                        <a:rPr lang="en-US" sz="1400" baseline="0" dirty="0" smtClean="0"/>
                        <a:t> </a:t>
                      </a:r>
                      <a:endParaRPr lang="en-US" sz="1400" dirty="0"/>
                    </a:p>
                  </a:txBody>
                  <a:tcPr/>
                </a:tc>
                <a:tc>
                  <a:txBody>
                    <a:bodyPr/>
                    <a:lstStyle/>
                    <a:p>
                      <a:r>
                        <a:rPr lang="en-US" sz="1400" dirty="0" smtClean="0"/>
                        <a:t>Spend on luxury goods</a:t>
                      </a:r>
                      <a:endParaRPr lang="en-US" sz="1400" dirty="0"/>
                    </a:p>
                  </a:txBody>
                  <a:tcPr/>
                </a:tc>
                <a:extLst>
                  <a:ext uri="{0D108BD9-81ED-4DB2-BD59-A6C34878D82A}">
                    <a16:rowId xmlns:a16="http://schemas.microsoft.com/office/drawing/2014/main" val="4277904042"/>
                  </a:ext>
                </a:extLst>
              </a:tr>
              <a:tr h="279449">
                <a:tc vMerge="1">
                  <a:txBody>
                    <a:bodyPr/>
                    <a:lstStyle/>
                    <a:p>
                      <a:endParaRPr lang="en-US" dirty="0"/>
                    </a:p>
                  </a:txBody>
                  <a:tcPr/>
                </a:tc>
                <a:tc>
                  <a:txBody>
                    <a:bodyPr/>
                    <a:lstStyle/>
                    <a:p>
                      <a:r>
                        <a:rPr lang="en-US" sz="1400" dirty="0" smtClean="0"/>
                        <a:t>Buildings </a:t>
                      </a:r>
                      <a:endParaRPr lang="en-US" sz="1400" dirty="0"/>
                    </a:p>
                  </a:txBody>
                  <a:tcPr/>
                </a:tc>
                <a:tc>
                  <a:txBody>
                    <a:bodyPr/>
                    <a:lstStyle/>
                    <a:p>
                      <a:r>
                        <a:rPr lang="en-US" sz="1400" dirty="0" smtClean="0"/>
                        <a:t>Own use</a:t>
                      </a:r>
                      <a:endParaRPr lang="en-US" sz="1400" dirty="0"/>
                    </a:p>
                  </a:txBody>
                  <a:tcPr/>
                </a:tc>
                <a:tc>
                  <a:txBody>
                    <a:bodyPr/>
                    <a:lstStyle/>
                    <a:p>
                      <a:r>
                        <a:rPr lang="en-US" sz="1400" dirty="0" smtClean="0"/>
                        <a:t>Rent out </a:t>
                      </a:r>
                      <a:endParaRPr lang="en-US" sz="1400" dirty="0"/>
                    </a:p>
                  </a:txBody>
                  <a:tcPr/>
                </a:tc>
                <a:tc>
                  <a:txBody>
                    <a:bodyPr/>
                    <a:lstStyle/>
                    <a:p>
                      <a:r>
                        <a:rPr lang="en-US" sz="1400" dirty="0" smtClean="0"/>
                        <a:t>Not in use </a:t>
                      </a:r>
                      <a:endParaRPr lang="en-US" sz="1400" dirty="0"/>
                    </a:p>
                  </a:txBody>
                  <a:tcPr/>
                </a:tc>
                <a:extLst>
                  <a:ext uri="{0D108BD9-81ED-4DB2-BD59-A6C34878D82A}">
                    <a16:rowId xmlns:a16="http://schemas.microsoft.com/office/drawing/2014/main" val="1113713519"/>
                  </a:ext>
                </a:extLst>
              </a:tr>
              <a:tr h="689277">
                <a:tc>
                  <a:txBody>
                    <a:bodyPr/>
                    <a:lstStyle/>
                    <a:p>
                      <a:r>
                        <a:rPr lang="en-US" sz="1400" dirty="0" smtClean="0"/>
                        <a:t>Firms </a:t>
                      </a:r>
                      <a:endParaRPr lang="en-US" sz="1400" dirty="0"/>
                    </a:p>
                  </a:txBody>
                  <a:tcPr/>
                </a:tc>
                <a:tc>
                  <a:txBody>
                    <a:bodyPr/>
                    <a:lstStyle/>
                    <a:p>
                      <a:r>
                        <a:rPr lang="en-US" sz="1400" dirty="0" smtClean="0"/>
                        <a:t>Annual profit </a:t>
                      </a:r>
                      <a:endParaRPr lang="en-US" sz="1400" dirty="0"/>
                    </a:p>
                  </a:txBody>
                  <a:tcPr/>
                </a:tc>
                <a:tc>
                  <a:txBody>
                    <a:bodyPr/>
                    <a:lstStyle/>
                    <a:p>
                      <a:r>
                        <a:rPr lang="en-US" sz="1400" dirty="0" smtClean="0"/>
                        <a:t>Invest in expansion</a:t>
                      </a:r>
                      <a:r>
                        <a:rPr lang="en-US" sz="1400" baseline="0" dirty="0" smtClean="0"/>
                        <a:t> </a:t>
                      </a:r>
                      <a:endParaRPr lang="en-US" sz="1400" dirty="0"/>
                    </a:p>
                  </a:txBody>
                  <a:tcPr/>
                </a:tc>
                <a:tc>
                  <a:txBody>
                    <a:bodyPr/>
                    <a:lstStyle/>
                    <a:p>
                      <a:r>
                        <a:rPr lang="en-US" sz="1400" dirty="0" smtClean="0"/>
                        <a:t>Future investment </a:t>
                      </a:r>
                      <a:endParaRPr lang="en-US" sz="1400" dirty="0"/>
                    </a:p>
                  </a:txBody>
                  <a:tcPr/>
                </a:tc>
                <a:tc>
                  <a:txBody>
                    <a:bodyPr/>
                    <a:lstStyle/>
                    <a:p>
                      <a:r>
                        <a:rPr lang="en-US" sz="1400" dirty="0" smtClean="0"/>
                        <a:t>New machinery or technology </a:t>
                      </a:r>
                      <a:endParaRPr lang="en-US" sz="1400" dirty="0"/>
                    </a:p>
                  </a:txBody>
                  <a:tcPr/>
                </a:tc>
                <a:extLst>
                  <a:ext uri="{0D108BD9-81ED-4DB2-BD59-A6C34878D82A}">
                    <a16:rowId xmlns:a16="http://schemas.microsoft.com/office/drawing/2014/main" val="44581609"/>
                  </a:ext>
                </a:extLst>
              </a:tr>
              <a:tr h="689277">
                <a:tc>
                  <a:txBody>
                    <a:bodyPr/>
                    <a:lstStyle/>
                    <a:p>
                      <a:r>
                        <a:rPr lang="en-US" sz="1400" dirty="0" smtClean="0"/>
                        <a:t>Society </a:t>
                      </a:r>
                      <a:endParaRPr lang="en-US" sz="1400" dirty="0"/>
                    </a:p>
                  </a:txBody>
                  <a:tcPr/>
                </a:tc>
                <a:tc>
                  <a:txBody>
                    <a:bodyPr/>
                    <a:lstStyle/>
                    <a:p>
                      <a:r>
                        <a:rPr lang="en-US" sz="1400" dirty="0" smtClean="0"/>
                        <a:t>Environment,</a:t>
                      </a:r>
                    </a:p>
                    <a:p>
                      <a:r>
                        <a:rPr lang="en-US" sz="1400" dirty="0" smtClean="0"/>
                        <a:t>clean air, </a:t>
                      </a:r>
                      <a:r>
                        <a:rPr lang="en-US" sz="1400" dirty="0" err="1" smtClean="0"/>
                        <a:t>labour</a:t>
                      </a:r>
                      <a:r>
                        <a:rPr lang="en-US" sz="1400" baseline="0" dirty="0" smtClean="0"/>
                        <a:t> force </a:t>
                      </a:r>
                      <a:endParaRPr lang="en-US" sz="1400" dirty="0"/>
                    </a:p>
                  </a:txBody>
                  <a:tcPr/>
                </a:tc>
                <a:tc>
                  <a:txBody>
                    <a:bodyPr/>
                    <a:lstStyle/>
                    <a:p>
                      <a:r>
                        <a:rPr lang="en-US" sz="1400" dirty="0" smtClean="0"/>
                        <a:t>Industries </a:t>
                      </a:r>
                      <a:endParaRPr lang="en-US" sz="1400" dirty="0"/>
                    </a:p>
                  </a:txBody>
                  <a:tcPr/>
                </a:tc>
                <a:tc>
                  <a:txBody>
                    <a:bodyPr/>
                    <a:lstStyle/>
                    <a:p>
                      <a:r>
                        <a:rPr lang="en-US" sz="1400" dirty="0" smtClean="0"/>
                        <a:t>Roads and transportation </a:t>
                      </a:r>
                      <a:endParaRPr lang="en-US" sz="1400" dirty="0"/>
                    </a:p>
                  </a:txBody>
                  <a:tcPr/>
                </a:tc>
                <a:tc>
                  <a:txBody>
                    <a:bodyPr/>
                    <a:lstStyle/>
                    <a:p>
                      <a:r>
                        <a:rPr lang="en-US" sz="1400" dirty="0" smtClean="0"/>
                        <a:t>Protect the</a:t>
                      </a:r>
                      <a:r>
                        <a:rPr lang="en-US" sz="1400" baseline="0" dirty="0" smtClean="0"/>
                        <a:t> environment </a:t>
                      </a:r>
                      <a:endParaRPr lang="en-US" sz="1400" dirty="0"/>
                    </a:p>
                  </a:txBody>
                  <a:tcPr/>
                </a:tc>
                <a:extLst>
                  <a:ext uri="{0D108BD9-81ED-4DB2-BD59-A6C34878D82A}">
                    <a16:rowId xmlns:a16="http://schemas.microsoft.com/office/drawing/2014/main" val="3312567319"/>
                  </a:ext>
                </a:extLst>
              </a:tr>
            </a:tbl>
          </a:graphicData>
        </a:graphic>
      </p:graphicFrame>
    </p:spTree>
    <p:extLst>
      <p:ext uri="{BB962C8B-B14F-4D97-AF65-F5344CB8AC3E}">
        <p14:creationId xmlns:p14="http://schemas.microsoft.com/office/powerpoint/2010/main" val="176654773"/>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Olympics Beijing 2008 </a:t>
            </a:r>
          </a:p>
        </p:txBody>
      </p:sp>
      <p:pic>
        <p:nvPicPr>
          <p:cNvPr id="5" name="Content Placeholder 4"/>
          <p:cNvPicPr>
            <a:picLocks noGrp="1" noChangeAspect="1"/>
          </p:cNvPicPr>
          <p:nvPr>
            <p:ph sz="half" idx="1"/>
          </p:nvPr>
        </p:nvPicPr>
        <p:blipFill>
          <a:blip r:embed="rId2"/>
          <a:stretch>
            <a:fillRect/>
          </a:stretch>
        </p:blipFill>
        <p:spPr>
          <a:xfrm>
            <a:off x="1454727" y="2502924"/>
            <a:ext cx="4015047" cy="2526275"/>
          </a:xfrm>
          <a:prstGeom prst="rect">
            <a:avLst/>
          </a:prstGeom>
        </p:spPr>
      </p:pic>
      <p:sp>
        <p:nvSpPr>
          <p:cNvPr id="4" name="Content Placeholder 3"/>
          <p:cNvSpPr>
            <a:spLocks noGrp="1"/>
          </p:cNvSpPr>
          <p:nvPr>
            <p:ph sz="half" idx="2"/>
          </p:nvPr>
        </p:nvSpPr>
        <p:spPr/>
        <p:txBody>
          <a:bodyPr>
            <a:normAutofit fontScale="92500"/>
          </a:bodyPr>
          <a:lstStyle/>
          <a:p>
            <a:r>
              <a:rPr lang="en-US" dirty="0" smtClean="0"/>
              <a:t>Trade off faced income/GDP for clear air/healthy environment to conduct the show</a:t>
            </a:r>
          </a:p>
          <a:p>
            <a:r>
              <a:rPr lang="en-US" dirty="0" smtClean="0"/>
              <a:t>One year before Olympics </a:t>
            </a:r>
          </a:p>
          <a:p>
            <a:r>
              <a:rPr lang="en-US" dirty="0" smtClean="0"/>
              <a:t>Temporarily shut down of factories </a:t>
            </a:r>
          </a:p>
          <a:p>
            <a:r>
              <a:rPr lang="en-US" dirty="0" smtClean="0"/>
              <a:t>Use of automobiles to reduce smog </a:t>
            </a:r>
          </a:p>
          <a:p>
            <a:r>
              <a:rPr lang="en-US" dirty="0" smtClean="0"/>
              <a:t>In developed countries-clean environment-better standard of living-additional income. </a:t>
            </a:r>
            <a:endParaRPr lang="en-US" dirty="0"/>
          </a:p>
        </p:txBody>
      </p:sp>
    </p:spTree>
    <p:extLst>
      <p:ext uri="{BB962C8B-B14F-4D97-AF65-F5344CB8AC3E}">
        <p14:creationId xmlns:p14="http://schemas.microsoft.com/office/powerpoint/2010/main" val="3367537636"/>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OPPORTUNITY COST</a:t>
            </a:r>
            <a:endParaRPr lang="en-US" dirty="0"/>
          </a:p>
        </p:txBody>
      </p:sp>
      <p:sp>
        <p:nvSpPr>
          <p:cNvPr id="3" name="Content Placeholder 2"/>
          <p:cNvSpPr>
            <a:spLocks noGrp="1"/>
          </p:cNvSpPr>
          <p:nvPr>
            <p:ph idx="1"/>
          </p:nvPr>
        </p:nvSpPr>
        <p:spPr>
          <a:xfrm>
            <a:off x="838200" y="1463040"/>
            <a:ext cx="10515600" cy="4713923"/>
          </a:xfrm>
        </p:spPr>
        <p:txBody>
          <a:bodyPr/>
          <a:lstStyle/>
          <a:p>
            <a:r>
              <a:rPr lang="en-US" dirty="0" smtClean="0">
                <a:solidFill>
                  <a:srgbClr val="FF0000"/>
                </a:solidFill>
              </a:rPr>
              <a:t>Opportunity cost “</a:t>
            </a:r>
            <a:r>
              <a:rPr lang="en-US" dirty="0" smtClean="0"/>
              <a:t>is the highest valued alternative that must be sacrificed in order to get something else”. </a:t>
            </a:r>
          </a:p>
          <a:p>
            <a:r>
              <a:rPr lang="en-US" dirty="0" smtClean="0"/>
              <a:t>Every time when choice is made, there will be opportunity cost. </a:t>
            </a:r>
          </a:p>
          <a:p>
            <a:r>
              <a:rPr lang="en-US" dirty="0" smtClean="0"/>
              <a:t>The key to best possible decision is to minimize opportunity cost by choosing the option that gives the largest benefit. </a:t>
            </a:r>
          </a:p>
          <a:p>
            <a:r>
              <a:rPr lang="en-US" smtClean="0"/>
              <a:t>Applies to Individuals</a:t>
            </a:r>
            <a:r>
              <a:rPr lang="en-US" dirty="0" smtClean="0"/>
              <a:t>, firms </a:t>
            </a:r>
            <a:r>
              <a:rPr lang="en-US" smtClean="0"/>
              <a:t>and society as well.</a:t>
            </a:r>
            <a:endParaRPr lang="en-US" dirty="0" smtClean="0"/>
          </a:p>
          <a:p>
            <a:endParaRPr lang="en-US" dirty="0"/>
          </a:p>
        </p:txBody>
      </p:sp>
    </p:spTree>
    <p:extLst>
      <p:ext uri="{BB962C8B-B14F-4D97-AF65-F5344CB8AC3E}">
        <p14:creationId xmlns:p14="http://schemas.microsoft.com/office/powerpoint/2010/main" val="1601675803"/>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Rational People Think at Margin </a:t>
            </a:r>
            <a:endParaRPr lang="en-IN" dirty="0"/>
          </a:p>
        </p:txBody>
      </p:sp>
      <p:pic>
        <p:nvPicPr>
          <p:cNvPr id="1030" name="Picture 6" descr="Economics Applied 1: Rational people think at the margin"/>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401455" y="1560945"/>
            <a:ext cx="6945745" cy="44981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79976806"/>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Rational People Think at Margin -Example</a:t>
            </a:r>
            <a:endParaRPr lang="en-IN" dirty="0"/>
          </a:p>
        </p:txBody>
      </p:sp>
      <p:sp>
        <p:nvSpPr>
          <p:cNvPr id="3" name="Content Placeholder 2"/>
          <p:cNvSpPr>
            <a:spLocks noGrp="1"/>
          </p:cNvSpPr>
          <p:nvPr>
            <p:ph idx="1"/>
          </p:nvPr>
        </p:nvSpPr>
        <p:spPr/>
        <p:txBody>
          <a:bodyPr/>
          <a:lstStyle/>
          <a:p>
            <a:r>
              <a:rPr lang="en-IN" dirty="0" smtClean="0"/>
              <a:t>Flying 200 seat plane costs $ 1,00,000</a:t>
            </a:r>
          </a:p>
          <a:p>
            <a:r>
              <a:rPr lang="en-IN" dirty="0" smtClean="0"/>
              <a:t>Average cost $1,00,000/200 = $ 500</a:t>
            </a:r>
          </a:p>
          <a:p>
            <a:r>
              <a:rPr lang="en-IN" dirty="0" smtClean="0"/>
              <a:t>Plane about to take off-standby passenger willing to pay $300 </a:t>
            </a:r>
          </a:p>
          <a:p>
            <a:r>
              <a:rPr lang="en-IN" dirty="0" smtClean="0"/>
              <a:t>Marginal cost (bottle of water and packet of peanuts)</a:t>
            </a:r>
            <a:endParaRPr lang="en-IN" dirty="0"/>
          </a:p>
          <a:p>
            <a:endParaRPr lang="en-IN" dirty="0"/>
          </a:p>
        </p:txBody>
      </p:sp>
    </p:spTree>
    <p:extLst>
      <p:ext uri="{BB962C8B-B14F-4D97-AF65-F5344CB8AC3E}">
        <p14:creationId xmlns:p14="http://schemas.microsoft.com/office/powerpoint/2010/main" val="3992907101"/>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Diamond and Water Paradox</a:t>
            </a:r>
          </a:p>
        </p:txBody>
      </p:sp>
      <p:sp>
        <p:nvSpPr>
          <p:cNvPr id="3" name="Content Placeholder 2"/>
          <p:cNvSpPr>
            <a:spLocks noGrp="1"/>
          </p:cNvSpPr>
          <p:nvPr>
            <p:ph idx="1"/>
          </p:nvPr>
        </p:nvSpPr>
        <p:spPr/>
        <p:txBody>
          <a:bodyPr>
            <a:normAutofit fontScale="92500"/>
          </a:bodyPr>
          <a:lstStyle/>
          <a:p>
            <a:pPr algn="just"/>
            <a:r>
              <a:rPr lang="en-US" dirty="0" smtClean="0"/>
              <a:t>Water</a:t>
            </a:r>
            <a:r>
              <a:rPr lang="en-US" dirty="0"/>
              <a:t>, which is demanded by everyone, is extremely cheap. But diamonds, who are demanded only by the very few, are incredibly expensive. </a:t>
            </a:r>
            <a:endParaRPr lang="en-US" dirty="0" smtClean="0"/>
          </a:p>
          <a:p>
            <a:pPr algn="just"/>
            <a:r>
              <a:rPr lang="en-US" dirty="0"/>
              <a:t>T</a:t>
            </a:r>
            <a:r>
              <a:rPr lang="en-US" dirty="0" smtClean="0"/>
              <a:t>he </a:t>
            </a:r>
            <a:r>
              <a:rPr lang="en-US" dirty="0"/>
              <a:t>paradox is, “how can something for which there is so little demand be so expensive?” The solution to this riddle is that the value of something is based not only on the demand for it, but also on its supply. </a:t>
            </a:r>
            <a:endParaRPr lang="en-US" dirty="0" smtClean="0"/>
          </a:p>
          <a:p>
            <a:pPr algn="just"/>
            <a:r>
              <a:rPr lang="en-US" dirty="0" smtClean="0"/>
              <a:t>Scarcity</a:t>
            </a:r>
            <a:r>
              <a:rPr lang="en-US" dirty="0"/>
              <a:t>, in other words, is a function of both supply and demand. Diamonds are incredibly expensive because, despite their limited demand, their supply is so extremely limited that they are deemed to have great value. Water, despite its high demand, is in such abundant supply that it is very cheap</a:t>
            </a:r>
          </a:p>
          <a:p>
            <a:endParaRPr lang="en-IN" dirty="0"/>
          </a:p>
        </p:txBody>
      </p:sp>
    </p:spTree>
    <p:extLst>
      <p:ext uri="{BB962C8B-B14F-4D97-AF65-F5344CB8AC3E}">
        <p14:creationId xmlns:p14="http://schemas.microsoft.com/office/powerpoint/2010/main" val="4024562280"/>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People respond to Incentives </a:t>
            </a:r>
            <a:endParaRPr lang="en-IN" dirty="0"/>
          </a:p>
        </p:txBody>
      </p:sp>
      <p:sp>
        <p:nvSpPr>
          <p:cNvPr id="3" name="Content Placeholder 2"/>
          <p:cNvSpPr>
            <a:spLocks noGrp="1"/>
          </p:cNvSpPr>
          <p:nvPr>
            <p:ph idx="1"/>
          </p:nvPr>
        </p:nvSpPr>
        <p:spPr/>
        <p:txBody>
          <a:bodyPr/>
          <a:lstStyle/>
          <a:p>
            <a:r>
              <a:rPr lang="en-IN" dirty="0" smtClean="0"/>
              <a:t>Incentives are factors that motivate a person to act or exert effort.</a:t>
            </a:r>
          </a:p>
          <a:p>
            <a:r>
              <a:rPr lang="en-IN" dirty="0" smtClean="0"/>
              <a:t>Positive Incentive</a:t>
            </a:r>
          </a:p>
          <a:p>
            <a:r>
              <a:rPr lang="en-IN" dirty="0" smtClean="0"/>
              <a:t>Negative Incentive</a:t>
            </a:r>
          </a:p>
          <a:p>
            <a:r>
              <a:rPr lang="en-IN" dirty="0" smtClean="0"/>
              <a:t>Direct Incentive and Indirect Incentive </a:t>
            </a:r>
          </a:p>
          <a:p>
            <a:endParaRPr lang="en-IN" dirty="0"/>
          </a:p>
        </p:txBody>
      </p:sp>
    </p:spTree>
    <p:extLst>
      <p:ext uri="{BB962C8B-B14F-4D97-AF65-F5344CB8AC3E}">
        <p14:creationId xmlns:p14="http://schemas.microsoft.com/office/powerpoint/2010/main" val="34678291"/>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algn="ctr"/>
            <a:r>
              <a:rPr lang="en-IN" dirty="0" smtClean="0"/>
              <a:t>Employees Provident Fund Scheme (EPFS) </a:t>
            </a:r>
            <a:endParaRPr lang="en-IN" dirty="0"/>
          </a:p>
        </p:txBody>
      </p:sp>
      <p:sp>
        <p:nvSpPr>
          <p:cNvPr id="5" name="Content Placeholder 4"/>
          <p:cNvSpPr>
            <a:spLocks noGrp="1"/>
          </p:cNvSpPr>
          <p:nvPr>
            <p:ph idx="1"/>
          </p:nvPr>
        </p:nvSpPr>
        <p:spPr/>
        <p:txBody>
          <a:bodyPr/>
          <a:lstStyle/>
          <a:p>
            <a:pPr algn="just"/>
            <a:r>
              <a:rPr lang="en-US" dirty="0" smtClean="0"/>
              <a:t>Employees Provident Fund Scheme (EPFS) is a long-term retirement saving scheme managed by Employees provident fund organization (EPFO) and it is covered under the Employees’ Provident Funds and Miscellaneous Provisions Act, 1952.</a:t>
            </a:r>
          </a:p>
          <a:p>
            <a:pPr algn="just"/>
            <a:r>
              <a:rPr lang="en-US" dirty="0" smtClean="0"/>
              <a:t>Under EPF Scheme, an employee and employer have to pay certain percentage of equal contribution in the provident fund account and on retirement, an employee gets a lump sum amount of contribution made by employer and employee with interest on both.</a:t>
            </a:r>
            <a:endParaRPr lang="en-IN" dirty="0"/>
          </a:p>
        </p:txBody>
      </p:sp>
    </p:spTree>
    <p:extLst>
      <p:ext uri="{BB962C8B-B14F-4D97-AF65-F5344CB8AC3E}">
        <p14:creationId xmlns:p14="http://schemas.microsoft.com/office/powerpoint/2010/main" val="2487003162"/>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smtClean="0"/>
              <a:t>Employment Linked Incentives</a:t>
            </a:r>
            <a:endParaRPr lang="en-IN" dirty="0"/>
          </a:p>
        </p:txBody>
      </p:sp>
      <p:sp>
        <p:nvSpPr>
          <p:cNvPr id="3" name="Content Placeholder 2"/>
          <p:cNvSpPr>
            <a:spLocks noGrp="1"/>
          </p:cNvSpPr>
          <p:nvPr>
            <p:ph idx="1"/>
          </p:nvPr>
        </p:nvSpPr>
        <p:spPr/>
        <p:txBody>
          <a:bodyPr>
            <a:normAutofit fontScale="92500"/>
          </a:bodyPr>
          <a:lstStyle/>
          <a:p>
            <a:pPr algn="just"/>
            <a:r>
              <a:rPr lang="en-IN" dirty="0" smtClean="0">
                <a:solidFill>
                  <a:srgbClr val="FF0000"/>
                </a:solidFill>
              </a:rPr>
              <a:t>Scheme A : </a:t>
            </a:r>
            <a:r>
              <a:rPr lang="en-IN" dirty="0" smtClean="0"/>
              <a:t>Will provide one Month’s salary as an incentive to first time employees entering the formal sector and registering with Employee Fund Organisation (EPFO). This will be </a:t>
            </a:r>
            <a:r>
              <a:rPr lang="en-IN" dirty="0" err="1" smtClean="0"/>
              <a:t>upto</a:t>
            </a:r>
            <a:r>
              <a:rPr lang="en-IN" dirty="0" smtClean="0"/>
              <a:t> </a:t>
            </a:r>
            <a:r>
              <a:rPr lang="en-IN" dirty="0" err="1" smtClean="0"/>
              <a:t>Rs</a:t>
            </a:r>
            <a:r>
              <a:rPr lang="en-IN" dirty="0" smtClean="0"/>
              <a:t>. 15000 in three instalments. This is expected to benefit 210 lakh employees. </a:t>
            </a:r>
          </a:p>
          <a:p>
            <a:pPr algn="just"/>
            <a:r>
              <a:rPr lang="en-IN" dirty="0" smtClean="0">
                <a:solidFill>
                  <a:srgbClr val="FF0000"/>
                </a:solidFill>
              </a:rPr>
              <a:t>Scheme B: </a:t>
            </a:r>
            <a:r>
              <a:rPr lang="en-IN" dirty="0" smtClean="0"/>
              <a:t>Aims to help create jobs in manufacturing. It provides EPFO incentives linked to the scale of hiring to both employers and employees over the first four years of new hiring. It aims to benefit 30 lakh workers. </a:t>
            </a:r>
          </a:p>
          <a:p>
            <a:pPr algn="just"/>
            <a:r>
              <a:rPr lang="en-IN" dirty="0" smtClean="0">
                <a:solidFill>
                  <a:srgbClr val="FF0000"/>
                </a:solidFill>
              </a:rPr>
              <a:t>Scheme C : </a:t>
            </a:r>
            <a:r>
              <a:rPr lang="en-IN" dirty="0" smtClean="0"/>
              <a:t>targets employers, reimbursing up to </a:t>
            </a:r>
            <a:r>
              <a:rPr lang="en-IN" dirty="0" err="1" smtClean="0"/>
              <a:t>Rs</a:t>
            </a:r>
            <a:r>
              <a:rPr lang="en-IN" dirty="0" smtClean="0"/>
              <a:t>. 3000 per month of </a:t>
            </a:r>
            <a:r>
              <a:rPr lang="en-IN" dirty="0" err="1" smtClean="0"/>
              <a:t>Employers’s</a:t>
            </a:r>
            <a:r>
              <a:rPr lang="en-IN" dirty="0" smtClean="0"/>
              <a:t> contributions to the EPFO for two years. The workers must be new contributors EPFO and have salary below </a:t>
            </a:r>
            <a:r>
              <a:rPr lang="en-IN" dirty="0" err="1" smtClean="0"/>
              <a:t>Rs</a:t>
            </a:r>
            <a:r>
              <a:rPr lang="en-IN" dirty="0" smtClean="0"/>
              <a:t>. 1 lakh/month. This is expected to benefit 50 lakh new workers. </a:t>
            </a:r>
            <a:endParaRPr lang="en-IN" dirty="0"/>
          </a:p>
        </p:txBody>
      </p:sp>
    </p:spTree>
    <p:extLst>
      <p:ext uri="{BB962C8B-B14F-4D97-AF65-F5344CB8AC3E}">
        <p14:creationId xmlns:p14="http://schemas.microsoft.com/office/powerpoint/2010/main" val="544943116"/>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IN" dirty="0" smtClean="0"/>
              <a:t>Incentives and Innovation </a:t>
            </a:r>
            <a:endParaRPr lang="en-IN" dirty="0"/>
          </a:p>
        </p:txBody>
      </p:sp>
      <p:pic>
        <p:nvPicPr>
          <p:cNvPr id="6" name="Content Placeholder 5"/>
          <p:cNvPicPr>
            <a:picLocks noGrp="1" noChangeAspect="1"/>
          </p:cNvPicPr>
          <p:nvPr>
            <p:ph sz="half" idx="1"/>
          </p:nvPr>
        </p:nvPicPr>
        <p:blipFill>
          <a:blip r:embed="rId2"/>
          <a:stretch>
            <a:fillRect/>
          </a:stretch>
        </p:blipFill>
        <p:spPr>
          <a:xfrm>
            <a:off x="930564" y="2392218"/>
            <a:ext cx="4352636" cy="3445163"/>
          </a:xfrm>
          <a:prstGeom prst="rect">
            <a:avLst/>
          </a:prstGeom>
        </p:spPr>
      </p:pic>
      <p:sp>
        <p:nvSpPr>
          <p:cNvPr id="5" name="Content Placeholder 4"/>
          <p:cNvSpPr>
            <a:spLocks noGrp="1"/>
          </p:cNvSpPr>
          <p:nvPr>
            <p:ph sz="half" idx="2"/>
          </p:nvPr>
        </p:nvSpPr>
        <p:spPr/>
        <p:txBody>
          <a:bodyPr/>
          <a:lstStyle/>
          <a:p>
            <a:pPr algn="just"/>
            <a:r>
              <a:rPr lang="en-IN" dirty="0" smtClean="0"/>
              <a:t>Incentives play a vital role in innovation, the engine of economic growth. </a:t>
            </a:r>
          </a:p>
          <a:p>
            <a:pPr algn="just"/>
            <a:r>
              <a:rPr lang="en-IN" dirty="0" smtClean="0"/>
              <a:t>Patents and copyright laws</a:t>
            </a:r>
          </a:p>
          <a:p>
            <a:pPr algn="just"/>
            <a:r>
              <a:rPr lang="en-IN" dirty="0" smtClean="0"/>
              <a:t>Maintaining right rewards or incentives for </a:t>
            </a:r>
            <a:r>
              <a:rPr lang="en-IN" dirty="0" err="1" smtClean="0"/>
              <a:t>hardwork</a:t>
            </a:r>
            <a:r>
              <a:rPr lang="en-IN" dirty="0" smtClean="0"/>
              <a:t> innovation is essential for advancing our society.  </a:t>
            </a:r>
            <a:endParaRPr lang="en-IN" dirty="0"/>
          </a:p>
        </p:txBody>
      </p:sp>
    </p:spTree>
    <p:extLst>
      <p:ext uri="{BB962C8B-B14F-4D97-AF65-F5344CB8AC3E}">
        <p14:creationId xmlns:p14="http://schemas.microsoft.com/office/powerpoint/2010/main" val="962151722"/>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593</TotalTime>
  <Words>2989</Words>
  <Application>Microsoft Office PowerPoint</Application>
  <PresentationFormat>Widescreen</PresentationFormat>
  <Paragraphs>214</Paragraphs>
  <Slides>38</Slides>
  <Notes>0</Notes>
  <HiddenSlides>6</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38</vt:i4>
      </vt:variant>
    </vt:vector>
  </HeadingPairs>
  <TitlesOfParts>
    <vt:vector size="46" baseType="lpstr">
      <vt:lpstr>Arial</vt:lpstr>
      <vt:lpstr>Calibri</vt:lpstr>
      <vt:lpstr>Calibri Light</vt:lpstr>
      <vt:lpstr>Mangal</vt:lpstr>
      <vt:lpstr>NewBaskerville-Roman</vt:lpstr>
      <vt:lpstr>Symbol</vt:lpstr>
      <vt:lpstr>Times New Roman</vt:lpstr>
      <vt:lpstr>Office Theme</vt:lpstr>
      <vt:lpstr>ManagerialEconomics </vt:lpstr>
      <vt:lpstr>Introduction </vt:lpstr>
      <vt:lpstr>Economics- ‘oikonomos’</vt:lpstr>
      <vt:lpstr>Three Economic Problems of Economic Organisation </vt:lpstr>
      <vt:lpstr>Definition: Economics  </vt:lpstr>
      <vt:lpstr>A World Without a Scarcity </vt:lpstr>
      <vt:lpstr>Free Goods Vs Economic Goods</vt:lpstr>
      <vt:lpstr>Water Scarcity </vt:lpstr>
      <vt:lpstr>Efficiency vs Scarcity </vt:lpstr>
      <vt:lpstr>Boeing and Airbus</vt:lpstr>
      <vt:lpstr>PowerPoint Presentation</vt:lpstr>
      <vt:lpstr>PowerPoint Presentation</vt:lpstr>
      <vt:lpstr>PowerPoint Presentation</vt:lpstr>
      <vt:lpstr>PowerPoint Presentation</vt:lpstr>
      <vt:lpstr>PowerPoint Presentation</vt:lpstr>
      <vt:lpstr>PowerPoint Presentation</vt:lpstr>
      <vt:lpstr>Managerial Economics </vt:lpstr>
      <vt:lpstr>Types of Economy </vt:lpstr>
      <vt:lpstr>PowerPoint Presentation</vt:lpstr>
      <vt:lpstr>PowerPoint Presentation</vt:lpstr>
      <vt:lpstr>Foundations of Economics</vt:lpstr>
      <vt:lpstr>PowerPoint Presentation</vt:lpstr>
      <vt:lpstr>Decision Making by a Agricultural Farmer </vt:lpstr>
      <vt:lpstr>Firm or Business Organisation </vt:lpstr>
      <vt:lpstr>Examples of Decision Making at the Firm Level</vt:lpstr>
      <vt:lpstr>Pharmaceutical Company</vt:lpstr>
      <vt:lpstr>Pharmaceutical Company</vt:lpstr>
      <vt:lpstr>Non Profit Hospital </vt:lpstr>
      <vt:lpstr>How People make decisions? </vt:lpstr>
      <vt:lpstr>Olympics Beijing 2008 </vt:lpstr>
      <vt:lpstr>OPPORTUNITY COST</vt:lpstr>
      <vt:lpstr>Rational People Think at Margin </vt:lpstr>
      <vt:lpstr>Rational People Think at Margin -Example</vt:lpstr>
      <vt:lpstr>Diamond and Water Paradox</vt:lpstr>
      <vt:lpstr>People respond to Incentives </vt:lpstr>
      <vt:lpstr>Employees Provident Fund Scheme (EPFS) </vt:lpstr>
      <vt:lpstr>Employment Linked Incentives</vt:lpstr>
      <vt:lpstr>Incentives and Innovation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HS3002E:Principles of Economics</dc:title>
  <dc:creator>Admin</dc:creator>
  <cp:lastModifiedBy>vaith</cp:lastModifiedBy>
  <cp:revision>78</cp:revision>
  <dcterms:created xsi:type="dcterms:W3CDTF">2020-08-04T22:31:08Z</dcterms:created>
  <dcterms:modified xsi:type="dcterms:W3CDTF">2025-08-05T05:27:44Z</dcterms:modified>
</cp:coreProperties>
</file>