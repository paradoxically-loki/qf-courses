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80" r:id="rId12"/>
    <p:sldId id="279" r:id="rId13"/>
    <p:sldId id="267" r:id="rId14"/>
    <p:sldId id="269" r:id="rId15"/>
    <p:sldId id="270" r:id="rId16"/>
    <p:sldId id="271" r:id="rId17"/>
    <p:sldId id="272" r:id="rId18"/>
    <p:sldId id="273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3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13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75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826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241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7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12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60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8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10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83305-70C5-4367-A988-361AE858C986}" type="datetimeFigureOut">
              <a:rPr lang="en-IN" smtClean="0"/>
              <a:t>22-08-2023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D73-930E-417A-AE64-2FB4A4EAF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4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Elasticity </a:t>
            </a:r>
            <a:r>
              <a:rPr lang="en-IN" dirty="0" smtClean="0"/>
              <a:t>and its application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82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Elasticity of Demand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 A higher </a:t>
            </a:r>
            <a:r>
              <a:rPr lang="en-US" dirty="0"/>
              <a:t>price will lead to a lower quantity demanded. What you may not know is how much lower the quantity demanded will be. Similarly, the law of supply states that a higher price will lead to a higher quantity supplied. The question is: How much higher? This chapter will explain how to answer these questions and why they are critically important in the real world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To find answers to these questions, we need to understand the concept of elasticity. </a:t>
            </a:r>
            <a:endParaRPr lang="en-US" dirty="0" smtClean="0"/>
          </a:p>
          <a:p>
            <a:pPr algn="just"/>
            <a:r>
              <a:rPr lang="en-US" dirty="0" smtClean="0"/>
              <a:t>Elasticity </a:t>
            </a:r>
            <a:r>
              <a:rPr lang="en-US" dirty="0"/>
              <a:t>is an economics concept that measures responsiveness of one variable to changes in another variable.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75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Taxes on Cigarettes (Sin Tax)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Government </a:t>
            </a:r>
            <a:r>
              <a:rPr lang="en-US" dirty="0"/>
              <a:t>increasing the National Calamity Contingent Duty (NCCD) on cigarettes anywhere between 212% to 388% depending on </a:t>
            </a:r>
            <a:r>
              <a:rPr lang="en-US" dirty="0" smtClean="0"/>
              <a:t>cigarette stick sizes. </a:t>
            </a:r>
          </a:p>
          <a:p>
            <a:pPr lvl="1" algn="just"/>
            <a:r>
              <a:rPr lang="en-US" dirty="0"/>
              <a:t>Price of cigarettes will go up by 6-7% in case of lower priced packs where the stick size is small and has borne the maximum increase in duties, while for the larger size sticks and </a:t>
            </a:r>
            <a:r>
              <a:rPr lang="en-US" dirty="0" smtClean="0"/>
              <a:t>premium packs the price hike will be 4 to 5%. 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In her Budget speech, finance minister Nirmala </a:t>
            </a:r>
            <a:r>
              <a:rPr lang="en-US" dirty="0" err="1"/>
              <a:t>Sitharaman</a:t>
            </a:r>
            <a:r>
              <a:rPr lang="en-US" dirty="0"/>
              <a:t> said: “As a revenue measure, I propose to raise excise duty, by way of National Calamity Contingent Duty on cigarettes and other tobacco products.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39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Elasticity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 smtClean="0"/>
              <a:t>Elasticity is the measure of the responsiveness  of quantity demanded or quantity supplied to a change in one of its determinants. </a:t>
            </a:r>
          </a:p>
          <a:p>
            <a:pPr algn="just"/>
            <a:r>
              <a:rPr lang="en-IN" dirty="0" smtClean="0"/>
              <a:t>Elastic change-</a:t>
            </a:r>
            <a:r>
              <a:rPr lang="en-US" dirty="0"/>
              <a:t>We can usefully divide elasticities into three broad categories: </a:t>
            </a:r>
            <a:r>
              <a:rPr lang="en-US" b="1" dirty="0"/>
              <a:t>elastic, inelastic, and unitary. </a:t>
            </a:r>
            <a:endParaRPr lang="en-US" b="1" dirty="0" smtClean="0"/>
          </a:p>
          <a:p>
            <a:pPr algn="just"/>
            <a:r>
              <a:rPr lang="en-US" dirty="0" smtClean="0"/>
              <a:t>An </a:t>
            </a:r>
            <a:r>
              <a:rPr lang="en-US" dirty="0"/>
              <a:t>elastic demand or elastic supply is one in which the elasticity is greater than </a:t>
            </a:r>
            <a:r>
              <a:rPr lang="en-US" dirty="0" smtClean="0"/>
              <a:t>one</a:t>
            </a:r>
            <a:r>
              <a:rPr lang="en-US" b="1" dirty="0" smtClean="0"/>
              <a:t> (e &gt; 1)</a:t>
            </a:r>
            <a:r>
              <a:rPr lang="en-US" dirty="0" smtClean="0"/>
              <a:t>, </a:t>
            </a:r>
            <a:r>
              <a:rPr lang="en-US" dirty="0"/>
              <a:t>indicating a high responsiveness to changes in price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Elasticities that are less than </a:t>
            </a:r>
            <a:r>
              <a:rPr lang="en-US" dirty="0" smtClean="0"/>
              <a:t>one </a:t>
            </a:r>
            <a:r>
              <a:rPr lang="en-US" b="1" dirty="0" smtClean="0"/>
              <a:t>(e&lt;1)</a:t>
            </a:r>
            <a:r>
              <a:rPr lang="en-US" dirty="0" smtClean="0"/>
              <a:t>  </a:t>
            </a:r>
            <a:r>
              <a:rPr lang="en-US" dirty="0"/>
              <a:t>indicate low responsiveness to price changes and correspond to inelastic demand or inelastic supply. </a:t>
            </a:r>
            <a:endParaRPr lang="en-US" dirty="0" smtClean="0"/>
          </a:p>
          <a:p>
            <a:pPr algn="just"/>
            <a:r>
              <a:rPr lang="en-US" dirty="0" smtClean="0"/>
              <a:t>Unitary </a:t>
            </a:r>
            <a:r>
              <a:rPr lang="en-US" dirty="0"/>
              <a:t>elasticities indicate proportional responsiveness of either demand or </a:t>
            </a:r>
            <a:r>
              <a:rPr lang="en-US" dirty="0" smtClean="0"/>
              <a:t>supply</a:t>
            </a:r>
            <a:r>
              <a:rPr lang="en-US" b="1" dirty="0" smtClean="0"/>
              <a:t> (e = 1)</a:t>
            </a:r>
            <a:r>
              <a:rPr lang="en-US" dirty="0" smtClean="0"/>
              <a:t>. 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999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Price Elasticity of Demand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IN" dirty="0" smtClean="0"/>
                  <a:t>Price elasticity of demand is a measure of the responsiveness of quantity demanded to a change in price. </a:t>
                </a:r>
              </a:p>
              <a:p>
                <a:pPr algn="just"/>
                <a:r>
                  <a:rPr lang="en-IN" dirty="0" smtClean="0"/>
                  <a:t>It is a measure of how much the quantity demanded of a good responds to a change in the price of that good computed as the percentage change in quantity demanded  divided by the percentage change in price. 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𝑃𝑟𝑖𝑐𝑒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𝐸𝑙𝑎𝑠𝑡𝑖𝑐𝑖𝑡𝑦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𝑑𝑒𝑚𝑎𝑛𝑑𝑒𝑑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𝑃𝑟𝑖𝑐𝑒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endParaRPr lang="en-IN" dirty="0" smtClean="0"/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𝐹𝑜𝑟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𝑒𝑥𝑎𝑚𝑝𝑙𝑒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𝑃𝑟𝑖𝑐𝑒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𝐸𝑙𝑎𝑠𝑡𝑖𝑐𝑖𝑡𝑦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20 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𝑝𝑒𝑟𝑐𝑒𝑛𝑡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10 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𝑝𝑒𝑟𝑐𝑒𝑛𝑡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 = </a:t>
                </a:r>
                <a:r>
                  <a:rPr lang="en-IN" dirty="0" smtClean="0"/>
                  <a:t>-2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9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37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Determinants of Price Elasticity of Demand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Availability of close substitutes </a:t>
            </a:r>
            <a:endParaRPr lang="en-IN" dirty="0"/>
          </a:p>
          <a:p>
            <a:pPr lvl="1"/>
            <a:r>
              <a:rPr lang="en-IN" dirty="0" smtClean="0"/>
              <a:t>The more the substitutes the more the elastic the demand will be. </a:t>
            </a:r>
            <a:endParaRPr lang="en-IN" dirty="0"/>
          </a:p>
          <a:p>
            <a:r>
              <a:rPr lang="en-IN" dirty="0" smtClean="0"/>
              <a:t>The share of the budget spent on the good</a:t>
            </a:r>
          </a:p>
          <a:p>
            <a:pPr lvl="1"/>
            <a:r>
              <a:rPr lang="en-IN" dirty="0" err="1" smtClean="0"/>
              <a:t>Eg</a:t>
            </a:r>
            <a:r>
              <a:rPr lang="en-IN" dirty="0" smtClean="0"/>
              <a:t> 1- Purchase of Smart TV</a:t>
            </a:r>
          </a:p>
          <a:p>
            <a:pPr lvl="1"/>
            <a:r>
              <a:rPr lang="en-IN" dirty="0" err="1" smtClean="0"/>
              <a:t>Eg</a:t>
            </a:r>
            <a:r>
              <a:rPr lang="en-IN" dirty="0" smtClean="0"/>
              <a:t> 2-Purchase of inexpensive items</a:t>
            </a:r>
          </a:p>
          <a:p>
            <a:r>
              <a:rPr lang="en-IN" dirty="0" smtClean="0"/>
              <a:t>Necessary Vs Luxury Goods </a:t>
            </a:r>
          </a:p>
          <a:p>
            <a:pPr lvl="1"/>
            <a:r>
              <a:rPr lang="en-IN" dirty="0" smtClean="0"/>
              <a:t>Goods which people see as necessities will have inelastic demand (water ,electricity, LPG, house rent)</a:t>
            </a:r>
          </a:p>
          <a:p>
            <a:pPr lvl="1"/>
            <a:r>
              <a:rPr lang="en-IN" dirty="0" smtClean="0"/>
              <a:t>Luxury goods will have elastic demand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20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Determinants of Price elasticity of Demand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Time and Adjustment process</a:t>
            </a:r>
          </a:p>
          <a:p>
            <a:pPr lvl="1"/>
            <a:r>
              <a:rPr lang="en-IN" dirty="0" smtClean="0"/>
              <a:t>Immediate run-inelastic demand </a:t>
            </a:r>
          </a:p>
          <a:p>
            <a:pPr lvl="1"/>
            <a:r>
              <a:rPr lang="en-IN" dirty="0" smtClean="0"/>
              <a:t>Short run – elastic demand </a:t>
            </a:r>
          </a:p>
          <a:p>
            <a:pPr lvl="1"/>
            <a:r>
              <a:rPr lang="en-IN" dirty="0" smtClean="0"/>
              <a:t>Long run – elastic demand  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71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Computing the Price Elasticity of Demand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853" y="1969221"/>
            <a:ext cx="10515600" cy="4351338"/>
          </a:xfrm>
        </p:spPr>
        <p:txBody>
          <a:bodyPr/>
          <a:lstStyle/>
          <a:p>
            <a:r>
              <a:rPr lang="en-IN" dirty="0" smtClean="0"/>
              <a:t> Percentage Method </a:t>
            </a:r>
          </a:p>
          <a:p>
            <a:r>
              <a:rPr lang="en-IN" dirty="0" smtClean="0"/>
              <a:t>Mid Point method or Arc elasticity  </a:t>
            </a:r>
          </a:p>
          <a:p>
            <a:r>
              <a:rPr lang="en-IN" dirty="0" smtClean="0"/>
              <a:t>Point Elasticity </a:t>
            </a:r>
          </a:p>
          <a:p>
            <a:r>
              <a:rPr lang="en-IN" dirty="0" smtClean="0"/>
              <a:t>Mid Point Method  – </a:t>
            </a:r>
          </a:p>
          <a:p>
            <a:endParaRPr lang="en-IN" dirty="0"/>
          </a:p>
        </p:txBody>
      </p:sp>
      <p:pic>
        <p:nvPicPr>
          <p:cNvPr id="1026" name="Picture 2" descr="How to Calculate Price Elasticities Using the Midpoint Formula -  Quickonom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084" y="3325667"/>
            <a:ext cx="5724525" cy="10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32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Practice Problem on Mid point Method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only the ARC elasticity for the following. In each case state whether the calculated value is elastic, inelastic, or unitary.</a:t>
            </a:r>
            <a:endParaRPr lang="en-IN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$89;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1000; 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$99;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950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2. 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0 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= $89;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1000; 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$99;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700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3.  P</a:t>
            </a:r>
            <a:r>
              <a:rPr lang="en-IN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$69;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200; 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$79;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195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4. 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$3.99;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12,000; P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$3.79; Q</a:t>
            </a:r>
            <a:r>
              <a:rPr lang="en-I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 = 12,950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05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Point Elasticity </a:t>
            </a:r>
            <a:endParaRPr lang="en-IN" dirty="0"/>
          </a:p>
        </p:txBody>
      </p:sp>
      <p:pic>
        <p:nvPicPr>
          <p:cNvPr id="2050" name="Picture 2" descr="Elasticity of deman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7127"/>
            <a:ext cx="5181600" cy="433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asticity of Demand: Elastic, inelastic, unitary demands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41237"/>
            <a:ext cx="5562600" cy="408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19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Elasticity of a Linear Demand Curve</a:t>
            </a:r>
          </a:p>
        </p:txBody>
      </p:sp>
      <p:pic>
        <p:nvPicPr>
          <p:cNvPr id="90117" name="Picture 5" descr="Mankiw5-5PP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33600"/>
            <a:ext cx="82296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384524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Difference between Arc elasticity and point elasticity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9062" y="1630507"/>
            <a:ext cx="1857230" cy="419965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Arc elasticity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5127"/>
            <a:ext cx="5157787" cy="4074536"/>
          </a:xfrm>
        </p:spPr>
        <p:txBody>
          <a:bodyPr/>
          <a:lstStyle/>
          <a:p>
            <a:r>
              <a:rPr lang="en-IN" dirty="0" smtClean="0"/>
              <a:t>Arc elasticity is measured over an arc of demand curve. </a:t>
            </a:r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6182" y="1366982"/>
            <a:ext cx="2068945" cy="480291"/>
          </a:xfrm>
        </p:spPr>
        <p:txBody>
          <a:bodyPr/>
          <a:lstStyle/>
          <a:p>
            <a:r>
              <a:rPr lang="en-IN" dirty="0" smtClean="0"/>
              <a:t>Point elasticity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50473"/>
            <a:ext cx="5183188" cy="4139190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rgbClr val="424142"/>
                </a:solidFill>
                <a:latin typeface="Georgia" panose="02040502050405020303" pitchFamily="18" charset="0"/>
              </a:rPr>
              <a:t>Point </a:t>
            </a:r>
            <a:r>
              <a:rPr lang="en-US" dirty="0">
                <a:solidFill>
                  <a:srgbClr val="424142"/>
                </a:solidFill>
                <a:latin typeface="Georgia" panose="02040502050405020303" pitchFamily="18" charset="0"/>
              </a:rPr>
              <a:t>elasticity refers to measuring elasticity of demand at a particular point on the demand curve</a:t>
            </a:r>
            <a:r>
              <a:rPr lang="en-US" dirty="0" smtClean="0">
                <a:solidFill>
                  <a:srgbClr val="424142"/>
                </a:solidFill>
                <a:latin typeface="Georgia" panose="02040502050405020303" pitchFamily="18" charset="0"/>
              </a:rPr>
              <a:t>.</a:t>
            </a:r>
          </a:p>
          <a:p>
            <a:pPr algn="just"/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51" y="3214255"/>
            <a:ext cx="2997922" cy="29754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964" y="3731491"/>
            <a:ext cx="3223491" cy="24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9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Practice Problem on Point Elasticity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demand function for a cola-type drink in general is:  </a:t>
            </a: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Qd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= 20 - 2P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Calculate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point elasticity of demand at prices of $5 and $9.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522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1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100" name="Rectangle 12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102" name="Rectangle 14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3671889" y="2143126"/>
            <a:ext cx="5862637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3552825" y="2044701"/>
            <a:ext cx="5862638" cy="3300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9105" name="Freeform 17"/>
          <p:cNvSpPr>
            <a:spLocks/>
          </p:cNvSpPr>
          <p:nvPr/>
        </p:nvSpPr>
        <p:spPr bwMode="auto">
          <a:xfrm>
            <a:off x="3552825" y="2044701"/>
            <a:ext cx="5862638" cy="3300413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9106" name="Line 18"/>
          <p:cNvSpPr>
            <a:spLocks noChangeShapeType="1"/>
          </p:cNvSpPr>
          <p:nvPr/>
        </p:nvSpPr>
        <p:spPr bwMode="auto">
          <a:xfrm>
            <a:off x="3386139" y="3246439"/>
            <a:ext cx="1587" cy="24923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9107" name="Rectangle 19"/>
          <p:cNvSpPr>
            <a:spLocks noChangeArrowheads="1"/>
          </p:cNvSpPr>
          <p:nvPr/>
        </p:nvSpPr>
        <p:spPr bwMode="auto">
          <a:xfrm>
            <a:off x="3492501" y="1571625"/>
            <a:ext cx="516166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(a) Perfectly Inelastic Demand: Elasticity Equals 0</a:t>
            </a:r>
            <a:endParaRPr lang="en-US" altLang="en-US"/>
          </a:p>
        </p:txBody>
      </p:sp>
      <p:grpSp>
        <p:nvGrpSpPr>
          <p:cNvPr id="89108" name="Group 20"/>
          <p:cNvGrpSpPr>
            <a:grpSpLocks/>
          </p:cNvGrpSpPr>
          <p:nvPr/>
        </p:nvGrpSpPr>
        <p:grpSpPr bwMode="auto">
          <a:xfrm>
            <a:off x="3190876" y="3008314"/>
            <a:ext cx="3698875" cy="261937"/>
            <a:chOff x="1050" y="1895"/>
            <a:chExt cx="2330" cy="165"/>
          </a:xfrm>
        </p:grpSpPr>
        <p:sp>
          <p:nvSpPr>
            <p:cNvPr id="89109" name="Line 21"/>
            <p:cNvSpPr>
              <a:spLocks noChangeShapeType="1"/>
            </p:cNvSpPr>
            <p:nvPr/>
          </p:nvSpPr>
          <p:spPr bwMode="auto">
            <a:xfrm flipH="1">
              <a:off x="1278" y="1956"/>
              <a:ext cx="2102" cy="1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110" name="Rectangle 22"/>
            <p:cNvSpPr>
              <a:spLocks noChangeArrowheads="1"/>
            </p:cNvSpPr>
            <p:nvPr/>
          </p:nvSpPr>
          <p:spPr bwMode="auto">
            <a:xfrm>
              <a:off x="1050" y="1895"/>
              <a:ext cx="1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</p:grpSp>
      <p:grpSp>
        <p:nvGrpSpPr>
          <p:cNvPr id="89111" name="Group 23"/>
          <p:cNvGrpSpPr>
            <a:grpSpLocks/>
          </p:cNvGrpSpPr>
          <p:nvPr/>
        </p:nvGrpSpPr>
        <p:grpSpPr bwMode="auto">
          <a:xfrm>
            <a:off x="3311526" y="3444875"/>
            <a:ext cx="3578225" cy="261938"/>
            <a:chOff x="1126" y="2170"/>
            <a:chExt cx="2254" cy="165"/>
          </a:xfrm>
        </p:grpSpPr>
        <p:sp>
          <p:nvSpPr>
            <p:cNvPr id="89112" name="Line 24"/>
            <p:cNvSpPr>
              <a:spLocks noChangeShapeType="1"/>
            </p:cNvSpPr>
            <p:nvPr/>
          </p:nvSpPr>
          <p:spPr bwMode="auto">
            <a:xfrm flipH="1">
              <a:off x="1278" y="2241"/>
              <a:ext cx="2102" cy="1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113" name="Rectangle 25"/>
            <p:cNvSpPr>
              <a:spLocks noChangeArrowheads="1"/>
            </p:cNvSpPr>
            <p:nvPr/>
          </p:nvSpPr>
          <p:spPr bwMode="auto">
            <a:xfrm>
              <a:off x="1126" y="2170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sp>
        <p:nvSpPr>
          <p:cNvPr id="89114" name="Rectangle 26"/>
          <p:cNvSpPr>
            <a:spLocks noChangeArrowheads="1"/>
          </p:cNvSpPr>
          <p:nvPr/>
        </p:nvSpPr>
        <p:spPr bwMode="auto">
          <a:xfrm>
            <a:off x="8485188" y="5391150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grpSp>
        <p:nvGrpSpPr>
          <p:cNvPr id="89115" name="Group 27"/>
          <p:cNvGrpSpPr>
            <a:grpSpLocks/>
          </p:cNvGrpSpPr>
          <p:nvPr/>
        </p:nvGrpSpPr>
        <p:grpSpPr bwMode="auto">
          <a:xfrm>
            <a:off x="6704015" y="2295526"/>
            <a:ext cx="1117600" cy="3363913"/>
            <a:chOff x="3263" y="1446"/>
            <a:chExt cx="704" cy="2119"/>
          </a:xfrm>
        </p:grpSpPr>
        <p:grpSp>
          <p:nvGrpSpPr>
            <p:cNvPr id="89116" name="Group 28"/>
            <p:cNvGrpSpPr>
              <a:grpSpLocks/>
            </p:cNvGrpSpPr>
            <p:nvPr/>
          </p:nvGrpSpPr>
          <p:grpSpPr bwMode="auto">
            <a:xfrm>
              <a:off x="3380" y="1446"/>
              <a:ext cx="587" cy="1921"/>
              <a:chOff x="3380" y="1446"/>
              <a:chExt cx="587" cy="1921"/>
            </a:xfrm>
          </p:grpSpPr>
          <p:sp>
            <p:nvSpPr>
              <p:cNvPr id="89117" name="Line 29"/>
              <p:cNvSpPr>
                <a:spLocks noChangeShapeType="1"/>
              </p:cNvSpPr>
              <p:nvPr/>
            </p:nvSpPr>
            <p:spPr bwMode="auto">
              <a:xfrm flipV="1">
                <a:off x="3380" y="1498"/>
                <a:ext cx="1" cy="1869"/>
              </a:xfrm>
              <a:prstGeom prst="line">
                <a:avLst/>
              </a:prstGeom>
              <a:noFill/>
              <a:ln w="7143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118" name="Rectangle 30"/>
              <p:cNvSpPr>
                <a:spLocks noChangeArrowheads="1"/>
              </p:cNvSpPr>
              <p:nvPr/>
            </p:nvSpPr>
            <p:spPr bwMode="auto">
              <a:xfrm>
                <a:off x="3447" y="1446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Demand</a:t>
                </a:r>
                <a:endParaRPr lang="en-US" altLang="en-US"/>
              </a:p>
            </p:txBody>
          </p:sp>
        </p:grpSp>
        <p:sp>
          <p:nvSpPr>
            <p:cNvPr id="89119" name="Rectangle 31"/>
            <p:cNvSpPr>
              <a:spLocks noChangeArrowheads="1"/>
            </p:cNvSpPr>
            <p:nvPr/>
          </p:nvSpPr>
          <p:spPr bwMode="auto">
            <a:xfrm>
              <a:off x="3263" y="3400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  <p:sp>
        <p:nvSpPr>
          <p:cNvPr id="89120" name="Rectangle 32"/>
          <p:cNvSpPr>
            <a:spLocks noChangeArrowheads="1"/>
          </p:cNvSpPr>
          <p:nvPr/>
        </p:nvSpPr>
        <p:spPr bwMode="auto">
          <a:xfrm>
            <a:off x="3490913" y="53975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89121" name="Group 33"/>
          <p:cNvGrpSpPr>
            <a:grpSpLocks/>
          </p:cNvGrpSpPr>
          <p:nvPr/>
        </p:nvGrpSpPr>
        <p:grpSpPr bwMode="auto">
          <a:xfrm>
            <a:off x="2052639" y="3400426"/>
            <a:ext cx="1404937" cy="1217613"/>
            <a:chOff x="333" y="2142"/>
            <a:chExt cx="885" cy="767"/>
          </a:xfrm>
        </p:grpSpPr>
        <p:sp>
          <p:nvSpPr>
            <p:cNvPr id="89122" name="Line 34"/>
            <p:cNvSpPr>
              <a:spLocks noChangeShapeType="1"/>
            </p:cNvSpPr>
            <p:nvPr/>
          </p:nvSpPr>
          <p:spPr bwMode="auto">
            <a:xfrm flipV="1">
              <a:off x="813" y="2142"/>
              <a:ext cx="300" cy="29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9123" name="Group 35"/>
            <p:cNvGrpSpPr>
              <a:grpSpLocks/>
            </p:cNvGrpSpPr>
            <p:nvPr/>
          </p:nvGrpSpPr>
          <p:grpSpPr bwMode="auto">
            <a:xfrm>
              <a:off x="333" y="2389"/>
              <a:ext cx="885" cy="520"/>
              <a:chOff x="333" y="2389"/>
              <a:chExt cx="885" cy="520"/>
            </a:xfrm>
          </p:grpSpPr>
          <p:sp>
            <p:nvSpPr>
              <p:cNvPr id="89124" name="Rectangle 36"/>
              <p:cNvSpPr>
                <a:spLocks noChangeArrowheads="1"/>
              </p:cNvSpPr>
              <p:nvPr/>
            </p:nvSpPr>
            <p:spPr bwMode="auto">
              <a:xfrm>
                <a:off x="333" y="2389"/>
                <a:ext cx="885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125" name="Rectangle 37"/>
              <p:cNvSpPr>
                <a:spLocks noChangeArrowheads="1"/>
              </p:cNvSpPr>
              <p:nvPr/>
            </p:nvSpPr>
            <p:spPr bwMode="auto">
              <a:xfrm>
                <a:off x="402" y="2393"/>
                <a:ext cx="31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An</a:t>
                </a:r>
                <a:endParaRPr lang="en-US" altLang="en-US"/>
              </a:p>
            </p:txBody>
          </p:sp>
          <p:sp>
            <p:nvSpPr>
              <p:cNvPr id="89126" name="Rectangle 38"/>
              <p:cNvSpPr>
                <a:spLocks noChangeArrowheads="1"/>
              </p:cNvSpPr>
              <p:nvPr/>
            </p:nvSpPr>
            <p:spPr bwMode="auto">
              <a:xfrm>
                <a:off x="402" y="2557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9127" name="Rectangle 39"/>
              <p:cNvSpPr>
                <a:spLocks noChangeArrowheads="1"/>
              </p:cNvSpPr>
              <p:nvPr/>
            </p:nvSpPr>
            <p:spPr bwMode="auto">
              <a:xfrm>
                <a:off x="402" y="2722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89128" name="Group 40"/>
          <p:cNvGrpSpPr>
            <a:grpSpLocks/>
          </p:cNvGrpSpPr>
          <p:nvPr/>
        </p:nvGrpSpPr>
        <p:grpSpPr bwMode="auto">
          <a:xfrm>
            <a:off x="3935414" y="5640389"/>
            <a:ext cx="4860925" cy="509587"/>
            <a:chOff x="1519" y="3553"/>
            <a:chExt cx="3062" cy="321"/>
          </a:xfrm>
        </p:grpSpPr>
        <p:sp>
          <p:nvSpPr>
            <p:cNvPr id="89129" name="Line 41"/>
            <p:cNvSpPr>
              <a:spLocks noChangeShapeType="1"/>
            </p:cNvSpPr>
            <p:nvPr/>
          </p:nvSpPr>
          <p:spPr bwMode="auto">
            <a:xfrm flipH="1">
              <a:off x="3335" y="3553"/>
              <a:ext cx="75" cy="1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9130" name="Group 42"/>
            <p:cNvGrpSpPr>
              <a:grpSpLocks/>
            </p:cNvGrpSpPr>
            <p:nvPr/>
          </p:nvGrpSpPr>
          <p:grpSpPr bwMode="auto">
            <a:xfrm>
              <a:off x="1519" y="3676"/>
              <a:ext cx="3062" cy="198"/>
              <a:chOff x="1519" y="3676"/>
              <a:chExt cx="3062" cy="198"/>
            </a:xfrm>
          </p:grpSpPr>
          <p:sp>
            <p:nvSpPr>
              <p:cNvPr id="89131" name="Rectangle 43"/>
              <p:cNvSpPr>
                <a:spLocks noChangeArrowheads="1"/>
              </p:cNvSpPr>
              <p:nvPr/>
            </p:nvSpPr>
            <p:spPr bwMode="auto">
              <a:xfrm>
                <a:off x="1519" y="3676"/>
                <a:ext cx="3052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132" name="Rectangle 44"/>
              <p:cNvSpPr>
                <a:spLocks noChangeArrowheads="1"/>
              </p:cNvSpPr>
              <p:nvPr/>
            </p:nvSpPr>
            <p:spPr bwMode="auto">
              <a:xfrm>
                <a:off x="1599" y="3695"/>
                <a:ext cx="2982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leaves the quantity demanded unchanged.</a:t>
                </a:r>
                <a:endParaRPr lang="en-US" altLang="en-US"/>
              </a:p>
            </p:txBody>
          </p:sp>
        </p:grpSp>
      </p:grpSp>
      <p:sp>
        <p:nvSpPr>
          <p:cNvPr id="89133" name="Rectangle 45"/>
          <p:cNvSpPr>
            <a:spLocks noChangeArrowheads="1"/>
          </p:cNvSpPr>
          <p:nvPr/>
        </p:nvSpPr>
        <p:spPr bwMode="auto">
          <a:xfrm>
            <a:off x="2827339" y="2035175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61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06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3629025" y="2181226"/>
            <a:ext cx="5862638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8079" name="Rectangle 15"/>
          <p:cNvSpPr>
            <a:spLocks noChangeArrowheads="1"/>
          </p:cNvSpPr>
          <p:nvPr/>
        </p:nvSpPr>
        <p:spPr bwMode="auto">
          <a:xfrm>
            <a:off x="3533775" y="2082801"/>
            <a:ext cx="5862638" cy="3300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080" name="Freeform 16"/>
          <p:cNvSpPr>
            <a:spLocks/>
          </p:cNvSpPr>
          <p:nvPr/>
        </p:nvSpPr>
        <p:spPr bwMode="auto">
          <a:xfrm>
            <a:off x="3521075" y="2082801"/>
            <a:ext cx="5862638" cy="3300413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081" name="Line 17"/>
          <p:cNvSpPr>
            <a:spLocks noChangeShapeType="1"/>
          </p:cNvSpPr>
          <p:nvPr/>
        </p:nvSpPr>
        <p:spPr bwMode="auto">
          <a:xfrm>
            <a:off x="3343275" y="3290889"/>
            <a:ext cx="1588" cy="24288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082" name="Line 18"/>
          <p:cNvSpPr>
            <a:spLocks noChangeShapeType="1"/>
          </p:cNvSpPr>
          <p:nvPr/>
        </p:nvSpPr>
        <p:spPr bwMode="auto">
          <a:xfrm>
            <a:off x="6567489" y="5578476"/>
            <a:ext cx="217487" cy="3175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083" name="Rectangle 19"/>
          <p:cNvSpPr>
            <a:spLocks noChangeArrowheads="1"/>
          </p:cNvSpPr>
          <p:nvPr/>
        </p:nvSpPr>
        <p:spPr bwMode="auto">
          <a:xfrm>
            <a:off x="3654426" y="1609725"/>
            <a:ext cx="47961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(b) Inelastic Demand: Elasticity Is Less Than 1</a:t>
            </a:r>
            <a:endParaRPr lang="en-US" altLang="en-US"/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8515350" y="545941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88085" name="Rectangle 21"/>
          <p:cNvSpPr>
            <a:spLocks noChangeArrowheads="1"/>
          </p:cNvSpPr>
          <p:nvPr/>
        </p:nvSpPr>
        <p:spPr bwMode="auto">
          <a:xfrm>
            <a:off x="3463925" y="546576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88086" name="Group 22"/>
          <p:cNvGrpSpPr>
            <a:grpSpLocks/>
          </p:cNvGrpSpPr>
          <p:nvPr/>
        </p:nvGrpSpPr>
        <p:grpSpPr bwMode="auto">
          <a:xfrm>
            <a:off x="3144839" y="3044826"/>
            <a:ext cx="3392487" cy="2682875"/>
            <a:chOff x="1021" y="1918"/>
            <a:chExt cx="2137" cy="1690"/>
          </a:xfrm>
        </p:grpSpPr>
        <p:sp>
          <p:nvSpPr>
            <p:cNvPr id="88087" name="Freeform 23"/>
            <p:cNvSpPr>
              <a:spLocks/>
            </p:cNvSpPr>
            <p:nvPr/>
          </p:nvSpPr>
          <p:spPr bwMode="auto">
            <a:xfrm>
              <a:off x="1266" y="1980"/>
              <a:ext cx="1892" cy="1411"/>
            </a:xfrm>
            <a:custGeom>
              <a:avLst/>
              <a:gdLst>
                <a:gd name="T0" fmla="*/ 1892 w 1892"/>
                <a:gd name="T1" fmla="*/ 1411 h 1411"/>
                <a:gd name="T2" fmla="*/ 1892 w 1892"/>
                <a:gd name="T3" fmla="*/ 0 h 1411"/>
                <a:gd name="T4" fmla="*/ 0 w 1892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2" h="1411">
                  <a:moveTo>
                    <a:pt x="1892" y="1411"/>
                  </a:moveTo>
                  <a:lnTo>
                    <a:pt x="189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088" name="Rectangle 24"/>
            <p:cNvSpPr>
              <a:spLocks noChangeArrowheads="1"/>
            </p:cNvSpPr>
            <p:nvPr/>
          </p:nvSpPr>
          <p:spPr bwMode="auto">
            <a:xfrm>
              <a:off x="1021" y="1918"/>
              <a:ext cx="1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  <p:sp>
          <p:nvSpPr>
            <p:cNvPr id="88089" name="Rectangle 25"/>
            <p:cNvSpPr>
              <a:spLocks noChangeArrowheads="1"/>
            </p:cNvSpPr>
            <p:nvPr/>
          </p:nvSpPr>
          <p:spPr bwMode="auto">
            <a:xfrm>
              <a:off x="2989" y="3443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90</a:t>
              </a:r>
              <a:endParaRPr lang="en-US" altLang="en-US"/>
            </a:p>
          </p:txBody>
        </p:sp>
      </p:grpSp>
      <p:grpSp>
        <p:nvGrpSpPr>
          <p:cNvPr id="88090" name="Group 26"/>
          <p:cNvGrpSpPr>
            <a:grpSpLocks/>
          </p:cNvGrpSpPr>
          <p:nvPr/>
        </p:nvGrpSpPr>
        <p:grpSpPr bwMode="auto">
          <a:xfrm>
            <a:off x="6249990" y="2416175"/>
            <a:ext cx="2246313" cy="1746250"/>
            <a:chOff x="2977" y="1522"/>
            <a:chExt cx="1415" cy="1100"/>
          </a:xfrm>
        </p:grpSpPr>
        <p:sp>
          <p:nvSpPr>
            <p:cNvPr id="88091" name="Freeform 27"/>
            <p:cNvSpPr>
              <a:spLocks/>
            </p:cNvSpPr>
            <p:nvPr/>
          </p:nvSpPr>
          <p:spPr bwMode="auto">
            <a:xfrm>
              <a:off x="2977" y="1522"/>
              <a:ext cx="856" cy="990"/>
            </a:xfrm>
            <a:custGeom>
              <a:avLst/>
              <a:gdLst>
                <a:gd name="T0" fmla="*/ 0 w 57"/>
                <a:gd name="T1" fmla="*/ 0 h 80"/>
                <a:gd name="T2" fmla="*/ 57 w 57"/>
                <a:gd name="T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" h="80">
                  <a:moveTo>
                    <a:pt x="0" y="0"/>
                  </a:moveTo>
                  <a:cubicBezTo>
                    <a:pt x="10" y="33"/>
                    <a:pt x="14" y="64"/>
                    <a:pt x="57" y="80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092" name="Rectangle 28"/>
            <p:cNvSpPr>
              <a:spLocks noChangeArrowheads="1"/>
            </p:cNvSpPr>
            <p:nvPr/>
          </p:nvSpPr>
          <p:spPr bwMode="auto">
            <a:xfrm>
              <a:off x="3872" y="2457"/>
              <a:ext cx="5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grpSp>
        <p:nvGrpSpPr>
          <p:cNvPr id="88093" name="Group 29"/>
          <p:cNvGrpSpPr>
            <a:grpSpLocks/>
          </p:cNvGrpSpPr>
          <p:nvPr/>
        </p:nvGrpSpPr>
        <p:grpSpPr bwMode="auto">
          <a:xfrm>
            <a:off x="1985964" y="3438526"/>
            <a:ext cx="1404937" cy="1217613"/>
            <a:chOff x="291" y="2166"/>
            <a:chExt cx="885" cy="767"/>
          </a:xfrm>
        </p:grpSpPr>
        <p:sp>
          <p:nvSpPr>
            <p:cNvPr id="88094" name="Line 30"/>
            <p:cNvSpPr>
              <a:spLocks noChangeShapeType="1"/>
            </p:cNvSpPr>
            <p:nvPr/>
          </p:nvSpPr>
          <p:spPr bwMode="auto">
            <a:xfrm flipV="1">
              <a:off x="726" y="2166"/>
              <a:ext cx="360" cy="27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8095" name="Group 31"/>
            <p:cNvGrpSpPr>
              <a:grpSpLocks/>
            </p:cNvGrpSpPr>
            <p:nvPr/>
          </p:nvGrpSpPr>
          <p:grpSpPr bwMode="auto">
            <a:xfrm>
              <a:off x="291" y="2413"/>
              <a:ext cx="885" cy="520"/>
              <a:chOff x="291" y="2413"/>
              <a:chExt cx="885" cy="520"/>
            </a:xfrm>
          </p:grpSpPr>
          <p:sp>
            <p:nvSpPr>
              <p:cNvPr id="88096" name="Rectangle 32"/>
              <p:cNvSpPr>
                <a:spLocks noChangeArrowheads="1"/>
              </p:cNvSpPr>
              <p:nvPr/>
            </p:nvSpPr>
            <p:spPr bwMode="auto">
              <a:xfrm>
                <a:off x="291" y="2413"/>
                <a:ext cx="885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097" name="Rectangle 33"/>
              <p:cNvSpPr>
                <a:spLocks noChangeArrowheads="1"/>
              </p:cNvSpPr>
              <p:nvPr/>
            </p:nvSpPr>
            <p:spPr bwMode="auto">
              <a:xfrm>
                <a:off x="353" y="2429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88098" name="Rectangle 34"/>
              <p:cNvSpPr>
                <a:spLocks noChangeArrowheads="1"/>
              </p:cNvSpPr>
              <p:nvPr/>
            </p:nvSpPr>
            <p:spPr bwMode="auto">
              <a:xfrm>
                <a:off x="353" y="259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8099" name="Rectangle 35"/>
              <p:cNvSpPr>
                <a:spLocks noChangeArrowheads="1"/>
              </p:cNvSpPr>
              <p:nvPr/>
            </p:nvSpPr>
            <p:spPr bwMode="auto">
              <a:xfrm>
                <a:off x="353" y="2758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sp>
        <p:nvSpPr>
          <p:cNvPr id="88100" name="Rectangle 36"/>
          <p:cNvSpPr>
            <a:spLocks noChangeArrowheads="1"/>
          </p:cNvSpPr>
          <p:nvPr/>
        </p:nvSpPr>
        <p:spPr bwMode="auto">
          <a:xfrm>
            <a:off x="2855914" y="2073275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88101" name="Group 37"/>
          <p:cNvGrpSpPr>
            <a:grpSpLocks/>
          </p:cNvGrpSpPr>
          <p:nvPr/>
        </p:nvGrpSpPr>
        <p:grpSpPr bwMode="auto">
          <a:xfrm>
            <a:off x="3248025" y="5657851"/>
            <a:ext cx="5418138" cy="530225"/>
            <a:chOff x="1086" y="3564"/>
            <a:chExt cx="3413" cy="334"/>
          </a:xfrm>
        </p:grpSpPr>
        <p:sp>
          <p:nvSpPr>
            <p:cNvPr id="88102" name="Line 38"/>
            <p:cNvSpPr>
              <a:spLocks noChangeShapeType="1"/>
            </p:cNvSpPr>
            <p:nvPr/>
          </p:nvSpPr>
          <p:spPr bwMode="auto">
            <a:xfrm flipH="1">
              <a:off x="3158" y="3564"/>
              <a:ext cx="135" cy="16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8103" name="Group 39"/>
            <p:cNvGrpSpPr>
              <a:grpSpLocks/>
            </p:cNvGrpSpPr>
            <p:nvPr/>
          </p:nvGrpSpPr>
          <p:grpSpPr bwMode="auto">
            <a:xfrm>
              <a:off x="1086" y="3700"/>
              <a:ext cx="3413" cy="198"/>
              <a:chOff x="1086" y="3700"/>
              <a:chExt cx="3413" cy="198"/>
            </a:xfrm>
          </p:grpSpPr>
          <p:sp>
            <p:nvSpPr>
              <p:cNvPr id="88104" name="Rectangle 40"/>
              <p:cNvSpPr>
                <a:spLocks noChangeArrowheads="1"/>
              </p:cNvSpPr>
              <p:nvPr/>
            </p:nvSpPr>
            <p:spPr bwMode="auto">
              <a:xfrm>
                <a:off x="1086" y="3700"/>
                <a:ext cx="3413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105" name="Rectangle 41"/>
              <p:cNvSpPr>
                <a:spLocks noChangeArrowheads="1"/>
              </p:cNvSpPr>
              <p:nvPr/>
            </p:nvSpPr>
            <p:spPr bwMode="auto">
              <a:xfrm>
                <a:off x="1132" y="3715"/>
                <a:ext cx="336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an 11% decrease in quantity demanded.</a:t>
                </a:r>
                <a:endParaRPr lang="en-US" altLang="en-US"/>
              </a:p>
            </p:txBody>
          </p:sp>
        </p:grpSp>
      </p:grpSp>
      <p:grpSp>
        <p:nvGrpSpPr>
          <p:cNvPr id="88106" name="Group 42"/>
          <p:cNvGrpSpPr>
            <a:grpSpLocks/>
          </p:cNvGrpSpPr>
          <p:nvPr/>
        </p:nvGrpSpPr>
        <p:grpSpPr bwMode="auto">
          <a:xfrm>
            <a:off x="3265489" y="3508376"/>
            <a:ext cx="3906837" cy="2219325"/>
            <a:chOff x="1097" y="2210"/>
            <a:chExt cx="2461" cy="1398"/>
          </a:xfrm>
        </p:grpSpPr>
        <p:sp>
          <p:nvSpPr>
            <p:cNvPr id="88107" name="Freeform 43"/>
            <p:cNvSpPr>
              <a:spLocks/>
            </p:cNvSpPr>
            <p:nvPr/>
          </p:nvSpPr>
          <p:spPr bwMode="auto">
            <a:xfrm>
              <a:off x="1266" y="2265"/>
              <a:ext cx="2102" cy="1126"/>
            </a:xfrm>
            <a:custGeom>
              <a:avLst/>
              <a:gdLst>
                <a:gd name="T0" fmla="*/ 2102 w 2102"/>
                <a:gd name="T1" fmla="*/ 1126 h 1126"/>
                <a:gd name="T2" fmla="*/ 2102 w 2102"/>
                <a:gd name="T3" fmla="*/ 0 h 1126"/>
                <a:gd name="T4" fmla="*/ 0 w 2102"/>
                <a:gd name="T5" fmla="*/ 0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2" h="1126">
                  <a:moveTo>
                    <a:pt x="2102" y="1126"/>
                  </a:moveTo>
                  <a:lnTo>
                    <a:pt x="210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108" name="Rectangle 44"/>
            <p:cNvSpPr>
              <a:spLocks noChangeArrowheads="1"/>
            </p:cNvSpPr>
            <p:nvPr/>
          </p:nvSpPr>
          <p:spPr bwMode="auto">
            <a:xfrm>
              <a:off x="1097" y="2210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88109" name="Rectangle 45"/>
            <p:cNvSpPr>
              <a:spLocks noChangeArrowheads="1"/>
            </p:cNvSpPr>
            <p:nvPr/>
          </p:nvSpPr>
          <p:spPr bwMode="auto">
            <a:xfrm>
              <a:off x="3328" y="3443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334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5" name="Rectangle 15"/>
          <p:cNvSpPr>
            <a:spLocks noChangeArrowheads="1"/>
          </p:cNvSpPr>
          <p:nvPr/>
        </p:nvSpPr>
        <p:spPr bwMode="auto">
          <a:xfrm>
            <a:off x="3846513" y="2119313"/>
            <a:ext cx="5861050" cy="3300412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3727450" y="2020888"/>
            <a:ext cx="5861050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7" name="Freeform 17"/>
          <p:cNvSpPr>
            <a:spLocks/>
          </p:cNvSpPr>
          <p:nvPr/>
        </p:nvSpPr>
        <p:spPr bwMode="auto">
          <a:xfrm>
            <a:off x="3727450" y="2020888"/>
            <a:ext cx="5861050" cy="3300412"/>
          </a:xfrm>
          <a:custGeom>
            <a:avLst/>
            <a:gdLst>
              <a:gd name="T0" fmla="*/ 0 w 3692"/>
              <a:gd name="T1" fmla="*/ 0 h 2079"/>
              <a:gd name="T2" fmla="*/ 0 w 3692"/>
              <a:gd name="T3" fmla="*/ 2079 h 2079"/>
              <a:gd name="T4" fmla="*/ 3692 w 3692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2" h="2079">
                <a:moveTo>
                  <a:pt x="0" y="0"/>
                </a:moveTo>
                <a:lnTo>
                  <a:pt x="0" y="2079"/>
                </a:lnTo>
                <a:lnTo>
                  <a:pt x="3692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8" name="Line 18"/>
          <p:cNvSpPr>
            <a:spLocks noChangeShapeType="1"/>
          </p:cNvSpPr>
          <p:nvPr/>
        </p:nvSpPr>
        <p:spPr bwMode="auto">
          <a:xfrm>
            <a:off x="3536950" y="3217864"/>
            <a:ext cx="1588" cy="23653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059" name="Line 19"/>
          <p:cNvSpPr>
            <a:spLocks noChangeShapeType="1"/>
          </p:cNvSpPr>
          <p:nvPr/>
        </p:nvSpPr>
        <p:spPr bwMode="auto">
          <a:xfrm>
            <a:off x="6527801" y="5518150"/>
            <a:ext cx="282575" cy="1588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7060" name="Group 20"/>
          <p:cNvGrpSpPr>
            <a:grpSpLocks/>
          </p:cNvGrpSpPr>
          <p:nvPr/>
        </p:nvGrpSpPr>
        <p:grpSpPr bwMode="auto">
          <a:xfrm>
            <a:off x="3536950" y="5557838"/>
            <a:ext cx="5329238" cy="569912"/>
            <a:chOff x="1268" y="3501"/>
            <a:chExt cx="3357" cy="359"/>
          </a:xfrm>
        </p:grpSpPr>
        <p:sp>
          <p:nvSpPr>
            <p:cNvPr id="87061" name="Line 21"/>
            <p:cNvSpPr>
              <a:spLocks noChangeShapeType="1"/>
            </p:cNvSpPr>
            <p:nvPr/>
          </p:nvSpPr>
          <p:spPr bwMode="auto">
            <a:xfrm flipH="1">
              <a:off x="3144" y="3501"/>
              <a:ext cx="180" cy="18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7062" name="Group 22"/>
            <p:cNvGrpSpPr>
              <a:grpSpLocks/>
            </p:cNvGrpSpPr>
            <p:nvPr/>
          </p:nvGrpSpPr>
          <p:grpSpPr bwMode="auto">
            <a:xfrm>
              <a:off x="1268" y="3662"/>
              <a:ext cx="3357" cy="198"/>
              <a:chOff x="1268" y="3662"/>
              <a:chExt cx="3357" cy="198"/>
            </a:xfrm>
          </p:grpSpPr>
          <p:sp>
            <p:nvSpPr>
              <p:cNvPr id="87063" name="Rectangle 23"/>
              <p:cNvSpPr>
                <a:spLocks noChangeArrowheads="1"/>
              </p:cNvSpPr>
              <p:nvPr/>
            </p:nvSpPr>
            <p:spPr bwMode="auto">
              <a:xfrm>
                <a:off x="1268" y="3662"/>
                <a:ext cx="3357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064" name="Rectangle 24"/>
              <p:cNvSpPr>
                <a:spLocks noChangeArrowheads="1"/>
              </p:cNvSpPr>
              <p:nvPr/>
            </p:nvSpPr>
            <p:spPr bwMode="auto">
              <a:xfrm>
                <a:off x="1285" y="3686"/>
                <a:ext cx="329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 22% decrease in quantity demanded.</a:t>
                </a:r>
                <a:endParaRPr lang="en-US" altLang="en-US"/>
              </a:p>
            </p:txBody>
          </p:sp>
        </p:grpSp>
      </p:grpSp>
      <p:sp>
        <p:nvSpPr>
          <p:cNvPr id="87065" name="Rectangle 25"/>
          <p:cNvSpPr>
            <a:spLocks noChangeArrowheads="1"/>
          </p:cNvSpPr>
          <p:nvPr/>
        </p:nvSpPr>
        <p:spPr bwMode="auto">
          <a:xfrm>
            <a:off x="4038600" y="1597025"/>
            <a:ext cx="449161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(c) Unit Elastic Demand: Elasticity Equals 1</a:t>
            </a:r>
            <a:endParaRPr lang="en-US" altLang="en-US"/>
          </a:p>
        </p:txBody>
      </p:sp>
      <p:sp>
        <p:nvSpPr>
          <p:cNvPr id="87066" name="Rectangle 26"/>
          <p:cNvSpPr>
            <a:spLocks noChangeArrowheads="1"/>
          </p:cNvSpPr>
          <p:nvPr/>
        </p:nvSpPr>
        <p:spPr bwMode="auto">
          <a:xfrm>
            <a:off x="8694738" y="5381625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grpSp>
        <p:nvGrpSpPr>
          <p:cNvPr id="87067" name="Group 27"/>
          <p:cNvGrpSpPr>
            <a:grpSpLocks/>
          </p:cNvGrpSpPr>
          <p:nvPr/>
        </p:nvGrpSpPr>
        <p:grpSpPr bwMode="auto">
          <a:xfrm>
            <a:off x="3468688" y="3436939"/>
            <a:ext cx="3765550" cy="2212975"/>
            <a:chOff x="1225" y="2165"/>
            <a:chExt cx="2372" cy="1394"/>
          </a:xfrm>
        </p:grpSpPr>
        <p:sp>
          <p:nvSpPr>
            <p:cNvPr id="87068" name="Freeform 28"/>
            <p:cNvSpPr>
              <a:spLocks/>
            </p:cNvSpPr>
            <p:nvPr/>
          </p:nvSpPr>
          <p:spPr bwMode="auto">
            <a:xfrm>
              <a:off x="1388" y="2226"/>
              <a:ext cx="2101" cy="1126"/>
            </a:xfrm>
            <a:custGeom>
              <a:avLst/>
              <a:gdLst>
                <a:gd name="T0" fmla="*/ 2101 w 2101"/>
                <a:gd name="T1" fmla="*/ 1126 h 1126"/>
                <a:gd name="T2" fmla="*/ 2101 w 2101"/>
                <a:gd name="T3" fmla="*/ 0 h 1126"/>
                <a:gd name="T4" fmla="*/ 0 w 2101"/>
                <a:gd name="T5" fmla="*/ 0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1" h="1126">
                  <a:moveTo>
                    <a:pt x="2101" y="1126"/>
                  </a:moveTo>
                  <a:lnTo>
                    <a:pt x="210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069" name="Rectangle 29"/>
            <p:cNvSpPr>
              <a:spLocks noChangeArrowheads="1"/>
            </p:cNvSpPr>
            <p:nvPr/>
          </p:nvSpPr>
          <p:spPr bwMode="auto">
            <a:xfrm>
              <a:off x="1225" y="2165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87070" name="Rectangle 30"/>
            <p:cNvSpPr>
              <a:spLocks noChangeArrowheads="1"/>
            </p:cNvSpPr>
            <p:nvPr/>
          </p:nvSpPr>
          <p:spPr bwMode="auto">
            <a:xfrm>
              <a:off x="3367" y="3394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  <p:sp>
        <p:nvSpPr>
          <p:cNvPr id="87071" name="Rectangle 31"/>
          <p:cNvSpPr>
            <a:spLocks noChangeArrowheads="1"/>
          </p:cNvSpPr>
          <p:nvPr/>
        </p:nvSpPr>
        <p:spPr bwMode="auto">
          <a:xfrm>
            <a:off x="3662363" y="538797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87072" name="Rectangle 32"/>
          <p:cNvSpPr>
            <a:spLocks noChangeArrowheads="1"/>
          </p:cNvSpPr>
          <p:nvPr/>
        </p:nvSpPr>
        <p:spPr bwMode="auto">
          <a:xfrm>
            <a:off x="3059114" y="196850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87073" name="Group 33"/>
          <p:cNvGrpSpPr>
            <a:grpSpLocks/>
          </p:cNvGrpSpPr>
          <p:nvPr/>
        </p:nvGrpSpPr>
        <p:grpSpPr bwMode="auto">
          <a:xfrm>
            <a:off x="3348038" y="2973389"/>
            <a:ext cx="3144838" cy="2676525"/>
            <a:chOff x="1149" y="1873"/>
            <a:chExt cx="1981" cy="1686"/>
          </a:xfrm>
        </p:grpSpPr>
        <p:sp>
          <p:nvSpPr>
            <p:cNvPr id="87074" name="Freeform 34"/>
            <p:cNvSpPr>
              <a:spLocks/>
            </p:cNvSpPr>
            <p:nvPr/>
          </p:nvSpPr>
          <p:spPr bwMode="auto">
            <a:xfrm>
              <a:off x="1388" y="1941"/>
              <a:ext cx="1681" cy="1411"/>
            </a:xfrm>
            <a:custGeom>
              <a:avLst/>
              <a:gdLst>
                <a:gd name="T0" fmla="*/ 1681 w 1681"/>
                <a:gd name="T1" fmla="*/ 1411 h 1411"/>
                <a:gd name="T2" fmla="*/ 1681 w 1681"/>
                <a:gd name="T3" fmla="*/ 0 h 1411"/>
                <a:gd name="T4" fmla="*/ 0 w 1681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1" h="1411">
                  <a:moveTo>
                    <a:pt x="1681" y="1411"/>
                  </a:moveTo>
                  <a:lnTo>
                    <a:pt x="168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075" name="Rectangle 35"/>
            <p:cNvSpPr>
              <a:spLocks noChangeArrowheads="1"/>
            </p:cNvSpPr>
            <p:nvPr/>
          </p:nvSpPr>
          <p:spPr bwMode="auto">
            <a:xfrm>
              <a:off x="1149" y="1873"/>
              <a:ext cx="1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  <p:sp>
          <p:nvSpPr>
            <p:cNvPr id="87076" name="Rectangle 36"/>
            <p:cNvSpPr>
              <a:spLocks noChangeArrowheads="1"/>
            </p:cNvSpPr>
            <p:nvPr/>
          </p:nvSpPr>
          <p:spPr bwMode="auto">
            <a:xfrm>
              <a:off x="2977" y="3394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80</a:t>
              </a:r>
              <a:endParaRPr lang="en-US" altLang="en-US"/>
            </a:p>
          </p:txBody>
        </p:sp>
      </p:grpSp>
      <p:grpSp>
        <p:nvGrpSpPr>
          <p:cNvPr id="87077" name="Group 37"/>
          <p:cNvGrpSpPr>
            <a:grpSpLocks/>
          </p:cNvGrpSpPr>
          <p:nvPr/>
        </p:nvGrpSpPr>
        <p:grpSpPr bwMode="auto">
          <a:xfrm>
            <a:off x="2249488" y="3376613"/>
            <a:ext cx="1382712" cy="1217612"/>
            <a:chOff x="457" y="2127"/>
            <a:chExt cx="871" cy="767"/>
          </a:xfrm>
        </p:grpSpPr>
        <p:sp>
          <p:nvSpPr>
            <p:cNvPr id="87078" name="Line 38"/>
            <p:cNvSpPr>
              <a:spLocks noChangeShapeType="1"/>
            </p:cNvSpPr>
            <p:nvPr/>
          </p:nvSpPr>
          <p:spPr bwMode="auto">
            <a:xfrm flipV="1">
              <a:off x="862" y="2127"/>
              <a:ext cx="361" cy="28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7079" name="Group 39"/>
            <p:cNvGrpSpPr>
              <a:grpSpLocks/>
            </p:cNvGrpSpPr>
            <p:nvPr/>
          </p:nvGrpSpPr>
          <p:grpSpPr bwMode="auto">
            <a:xfrm>
              <a:off x="457" y="2375"/>
              <a:ext cx="871" cy="519"/>
              <a:chOff x="457" y="2375"/>
              <a:chExt cx="871" cy="519"/>
            </a:xfrm>
          </p:grpSpPr>
          <p:sp>
            <p:nvSpPr>
              <p:cNvPr id="87080" name="Rectangle 40"/>
              <p:cNvSpPr>
                <a:spLocks noChangeArrowheads="1"/>
              </p:cNvSpPr>
              <p:nvPr/>
            </p:nvSpPr>
            <p:spPr bwMode="auto">
              <a:xfrm>
                <a:off x="457" y="2375"/>
                <a:ext cx="871" cy="519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081" name="Rectangle 41"/>
              <p:cNvSpPr>
                <a:spLocks noChangeArrowheads="1"/>
              </p:cNvSpPr>
              <p:nvPr/>
            </p:nvSpPr>
            <p:spPr bwMode="auto">
              <a:xfrm>
                <a:off x="506" y="2384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87082" name="Rectangle 42"/>
              <p:cNvSpPr>
                <a:spLocks noChangeArrowheads="1"/>
              </p:cNvSpPr>
              <p:nvPr/>
            </p:nvSpPr>
            <p:spPr bwMode="auto">
              <a:xfrm>
                <a:off x="506" y="2548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7083" name="Rectangle 43"/>
              <p:cNvSpPr>
                <a:spLocks noChangeArrowheads="1"/>
              </p:cNvSpPr>
              <p:nvPr/>
            </p:nvSpPr>
            <p:spPr bwMode="auto">
              <a:xfrm>
                <a:off x="506" y="2712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87084" name="Group 44"/>
          <p:cNvGrpSpPr>
            <a:grpSpLocks/>
          </p:cNvGrpSpPr>
          <p:nvPr/>
        </p:nvGrpSpPr>
        <p:grpSpPr bwMode="auto">
          <a:xfrm>
            <a:off x="5919789" y="2393950"/>
            <a:ext cx="3278188" cy="1651000"/>
            <a:chOff x="2769" y="1508"/>
            <a:chExt cx="2065" cy="1040"/>
          </a:xfrm>
        </p:grpSpPr>
        <p:sp>
          <p:nvSpPr>
            <p:cNvPr id="87085" name="Freeform 45"/>
            <p:cNvSpPr>
              <a:spLocks/>
            </p:cNvSpPr>
            <p:nvPr/>
          </p:nvSpPr>
          <p:spPr bwMode="auto">
            <a:xfrm>
              <a:off x="2769" y="1508"/>
              <a:ext cx="1501" cy="966"/>
            </a:xfrm>
            <a:custGeom>
              <a:avLst/>
              <a:gdLst>
                <a:gd name="T0" fmla="*/ 0 w 100"/>
                <a:gd name="T1" fmla="*/ 0 h 78"/>
                <a:gd name="T2" fmla="*/ 100 w 100"/>
                <a:gd name="T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0" h="78">
                  <a:moveTo>
                    <a:pt x="0" y="0"/>
                  </a:moveTo>
                  <a:cubicBezTo>
                    <a:pt x="17" y="52"/>
                    <a:pt x="67" y="70"/>
                    <a:pt x="100" y="78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086" name="Rectangle 46"/>
            <p:cNvSpPr>
              <a:spLocks noChangeArrowheads="1"/>
            </p:cNvSpPr>
            <p:nvPr/>
          </p:nvSpPr>
          <p:spPr bwMode="auto">
            <a:xfrm>
              <a:off x="4314" y="2383"/>
              <a:ext cx="5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0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7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7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6" name="Rectangle 10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30" name="Rectangle 14"/>
          <p:cNvSpPr>
            <a:spLocks noChangeArrowheads="1"/>
          </p:cNvSpPr>
          <p:nvPr/>
        </p:nvSpPr>
        <p:spPr bwMode="auto">
          <a:xfrm>
            <a:off x="3652839" y="2019301"/>
            <a:ext cx="5862637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3224214" y="3198814"/>
            <a:ext cx="1587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2" name="Rectangle 16"/>
          <p:cNvSpPr>
            <a:spLocks noChangeArrowheads="1"/>
          </p:cNvSpPr>
          <p:nvPr/>
        </p:nvSpPr>
        <p:spPr bwMode="auto">
          <a:xfrm>
            <a:off x="3533775" y="1922463"/>
            <a:ext cx="5862638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3" name="Freeform 17"/>
          <p:cNvSpPr>
            <a:spLocks/>
          </p:cNvSpPr>
          <p:nvPr/>
        </p:nvSpPr>
        <p:spPr bwMode="auto">
          <a:xfrm>
            <a:off x="3533775" y="1922463"/>
            <a:ext cx="5862638" cy="3300412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4" name="Line 18"/>
          <p:cNvSpPr>
            <a:spLocks noChangeShapeType="1"/>
          </p:cNvSpPr>
          <p:nvPr/>
        </p:nvSpPr>
        <p:spPr bwMode="auto">
          <a:xfrm>
            <a:off x="3367089" y="3089275"/>
            <a:ext cx="3175" cy="217488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5" name="Line 19"/>
          <p:cNvSpPr>
            <a:spLocks noChangeShapeType="1"/>
          </p:cNvSpPr>
          <p:nvPr/>
        </p:nvSpPr>
        <p:spPr bwMode="auto">
          <a:xfrm>
            <a:off x="5583238" y="5418139"/>
            <a:ext cx="1001712" cy="158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3616326" y="1481138"/>
            <a:ext cx="490518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(d) Elastic Demand: Elasticity Is Greater Than 1</a:t>
            </a:r>
            <a:endParaRPr lang="en-US" altLang="en-US"/>
          </a:p>
        </p:txBody>
      </p:sp>
      <p:grpSp>
        <p:nvGrpSpPr>
          <p:cNvPr id="86037" name="Group 21"/>
          <p:cNvGrpSpPr>
            <a:grpSpLocks/>
          </p:cNvGrpSpPr>
          <p:nvPr/>
        </p:nvGrpSpPr>
        <p:grpSpPr bwMode="auto">
          <a:xfrm>
            <a:off x="4106864" y="2255839"/>
            <a:ext cx="4875213" cy="1379537"/>
            <a:chOff x="1627" y="1421"/>
            <a:chExt cx="3071" cy="869"/>
          </a:xfrm>
        </p:grpSpPr>
        <p:sp>
          <p:nvSpPr>
            <p:cNvPr id="86038" name="Freeform 22"/>
            <p:cNvSpPr>
              <a:spLocks/>
            </p:cNvSpPr>
            <p:nvPr/>
          </p:nvSpPr>
          <p:spPr bwMode="auto">
            <a:xfrm>
              <a:off x="1627" y="1421"/>
              <a:ext cx="2461" cy="804"/>
            </a:xfrm>
            <a:custGeom>
              <a:avLst/>
              <a:gdLst>
                <a:gd name="T0" fmla="*/ 0 w 164"/>
                <a:gd name="T1" fmla="*/ 0 h 65"/>
                <a:gd name="T2" fmla="*/ 164 w 164"/>
                <a:gd name="T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65">
                  <a:moveTo>
                    <a:pt x="0" y="0"/>
                  </a:moveTo>
                  <a:cubicBezTo>
                    <a:pt x="33" y="46"/>
                    <a:pt x="111" y="64"/>
                    <a:pt x="164" y="65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39" name="Rectangle 23"/>
            <p:cNvSpPr>
              <a:spLocks noChangeArrowheads="1"/>
            </p:cNvSpPr>
            <p:nvPr/>
          </p:nvSpPr>
          <p:spPr bwMode="auto">
            <a:xfrm>
              <a:off x="4178" y="2125"/>
              <a:ext cx="5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sp>
        <p:nvSpPr>
          <p:cNvPr id="86040" name="Rectangle 24"/>
          <p:cNvSpPr>
            <a:spLocks noChangeArrowheads="1"/>
          </p:cNvSpPr>
          <p:nvPr/>
        </p:nvSpPr>
        <p:spPr bwMode="auto">
          <a:xfrm>
            <a:off x="8370888" y="527208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grpSp>
        <p:nvGrpSpPr>
          <p:cNvPr id="86041" name="Group 25"/>
          <p:cNvGrpSpPr>
            <a:grpSpLocks/>
          </p:cNvGrpSpPr>
          <p:nvPr/>
        </p:nvGrpSpPr>
        <p:grpSpPr bwMode="auto">
          <a:xfrm>
            <a:off x="3292476" y="3294063"/>
            <a:ext cx="3732213" cy="2246312"/>
            <a:chOff x="1114" y="2075"/>
            <a:chExt cx="2351" cy="1415"/>
          </a:xfrm>
        </p:grpSpPr>
        <p:sp>
          <p:nvSpPr>
            <p:cNvPr id="86042" name="Freeform 26"/>
            <p:cNvSpPr>
              <a:spLocks/>
            </p:cNvSpPr>
            <p:nvPr/>
          </p:nvSpPr>
          <p:spPr bwMode="auto">
            <a:xfrm>
              <a:off x="1266" y="2163"/>
              <a:ext cx="2102" cy="1127"/>
            </a:xfrm>
            <a:custGeom>
              <a:avLst/>
              <a:gdLst>
                <a:gd name="T0" fmla="*/ 2102 w 2102"/>
                <a:gd name="T1" fmla="*/ 1127 h 1127"/>
                <a:gd name="T2" fmla="*/ 2102 w 2102"/>
                <a:gd name="T3" fmla="*/ 0 h 1127"/>
                <a:gd name="T4" fmla="*/ 0 w 2102"/>
                <a:gd name="T5" fmla="*/ 0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2" h="1127">
                  <a:moveTo>
                    <a:pt x="2102" y="1127"/>
                  </a:moveTo>
                  <a:lnTo>
                    <a:pt x="210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43" name="Rectangle 27"/>
            <p:cNvSpPr>
              <a:spLocks noChangeArrowheads="1"/>
            </p:cNvSpPr>
            <p:nvPr/>
          </p:nvSpPr>
          <p:spPr bwMode="auto">
            <a:xfrm>
              <a:off x="1114" y="2075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86044" name="Rectangle 28"/>
            <p:cNvSpPr>
              <a:spLocks noChangeArrowheads="1"/>
            </p:cNvSpPr>
            <p:nvPr/>
          </p:nvSpPr>
          <p:spPr bwMode="auto">
            <a:xfrm>
              <a:off x="3235" y="3325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  <p:sp>
        <p:nvSpPr>
          <p:cNvPr id="86045" name="Rectangle 29"/>
          <p:cNvSpPr>
            <a:spLocks noChangeArrowheads="1"/>
          </p:cNvSpPr>
          <p:nvPr/>
        </p:nvSpPr>
        <p:spPr bwMode="auto">
          <a:xfrm>
            <a:off x="3300413" y="527843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86046" name="Rectangle 30"/>
          <p:cNvSpPr>
            <a:spLocks noChangeArrowheads="1"/>
          </p:cNvSpPr>
          <p:nvPr/>
        </p:nvSpPr>
        <p:spPr bwMode="auto">
          <a:xfrm>
            <a:off x="2808289" y="18589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86047" name="Group 31"/>
          <p:cNvGrpSpPr>
            <a:grpSpLocks/>
          </p:cNvGrpSpPr>
          <p:nvPr/>
        </p:nvGrpSpPr>
        <p:grpSpPr bwMode="auto">
          <a:xfrm>
            <a:off x="3149600" y="2857501"/>
            <a:ext cx="2160588" cy="2682875"/>
            <a:chOff x="1024" y="1800"/>
            <a:chExt cx="1361" cy="1690"/>
          </a:xfrm>
        </p:grpSpPr>
        <p:sp>
          <p:nvSpPr>
            <p:cNvPr id="86048" name="Freeform 32"/>
            <p:cNvSpPr>
              <a:spLocks/>
            </p:cNvSpPr>
            <p:nvPr/>
          </p:nvSpPr>
          <p:spPr bwMode="auto">
            <a:xfrm>
              <a:off x="1266" y="1879"/>
              <a:ext cx="1051" cy="1411"/>
            </a:xfrm>
            <a:custGeom>
              <a:avLst/>
              <a:gdLst>
                <a:gd name="T0" fmla="*/ 1051 w 1051"/>
                <a:gd name="T1" fmla="*/ 1411 h 1411"/>
                <a:gd name="T2" fmla="*/ 1051 w 1051"/>
                <a:gd name="T3" fmla="*/ 0 h 1411"/>
                <a:gd name="T4" fmla="*/ 0 w 1051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1" h="1411">
                  <a:moveTo>
                    <a:pt x="1051" y="1411"/>
                  </a:moveTo>
                  <a:lnTo>
                    <a:pt x="105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49" name="Rectangle 33"/>
            <p:cNvSpPr>
              <a:spLocks noChangeArrowheads="1"/>
            </p:cNvSpPr>
            <p:nvPr/>
          </p:nvSpPr>
          <p:spPr bwMode="auto">
            <a:xfrm>
              <a:off x="1024" y="1800"/>
              <a:ext cx="1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  <p:sp>
          <p:nvSpPr>
            <p:cNvPr id="86050" name="Rectangle 34"/>
            <p:cNvSpPr>
              <a:spLocks noChangeArrowheads="1"/>
            </p:cNvSpPr>
            <p:nvPr/>
          </p:nvSpPr>
          <p:spPr bwMode="auto">
            <a:xfrm>
              <a:off x="2232" y="3325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50</a:t>
              </a:r>
              <a:endParaRPr lang="en-US" altLang="en-US"/>
            </a:p>
          </p:txBody>
        </p:sp>
      </p:grpSp>
      <p:grpSp>
        <p:nvGrpSpPr>
          <p:cNvPr id="86051" name="Group 35"/>
          <p:cNvGrpSpPr>
            <a:grpSpLocks/>
          </p:cNvGrpSpPr>
          <p:nvPr/>
        </p:nvGrpSpPr>
        <p:grpSpPr bwMode="auto">
          <a:xfrm>
            <a:off x="2033588" y="3257550"/>
            <a:ext cx="1333500" cy="1238250"/>
            <a:chOff x="321" y="2052"/>
            <a:chExt cx="840" cy="780"/>
          </a:xfrm>
        </p:grpSpPr>
        <p:sp>
          <p:nvSpPr>
            <p:cNvPr id="86052" name="Line 36"/>
            <p:cNvSpPr>
              <a:spLocks noChangeShapeType="1"/>
            </p:cNvSpPr>
            <p:nvPr/>
          </p:nvSpPr>
          <p:spPr bwMode="auto">
            <a:xfrm flipV="1">
              <a:off x="741" y="2052"/>
              <a:ext cx="360" cy="29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6053" name="Group 37"/>
            <p:cNvGrpSpPr>
              <a:grpSpLocks/>
            </p:cNvGrpSpPr>
            <p:nvPr/>
          </p:nvGrpSpPr>
          <p:grpSpPr bwMode="auto">
            <a:xfrm>
              <a:off x="321" y="2310"/>
              <a:ext cx="840" cy="522"/>
              <a:chOff x="321" y="2310"/>
              <a:chExt cx="840" cy="522"/>
            </a:xfrm>
          </p:grpSpPr>
          <p:sp>
            <p:nvSpPr>
              <p:cNvPr id="86054" name="Rectangle 38"/>
              <p:cNvSpPr>
                <a:spLocks noChangeArrowheads="1"/>
              </p:cNvSpPr>
              <p:nvPr/>
            </p:nvSpPr>
            <p:spPr bwMode="auto">
              <a:xfrm>
                <a:off x="321" y="2312"/>
                <a:ext cx="840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055" name="Rectangle 39"/>
              <p:cNvSpPr>
                <a:spLocks noChangeArrowheads="1"/>
              </p:cNvSpPr>
              <p:nvPr/>
            </p:nvSpPr>
            <p:spPr bwMode="auto">
              <a:xfrm>
                <a:off x="360" y="2310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86056" name="Rectangle 40"/>
              <p:cNvSpPr>
                <a:spLocks noChangeArrowheads="1"/>
              </p:cNvSpPr>
              <p:nvPr/>
            </p:nvSpPr>
            <p:spPr bwMode="auto">
              <a:xfrm>
                <a:off x="360" y="2475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6057" name="Rectangle 41"/>
              <p:cNvSpPr>
                <a:spLocks noChangeArrowheads="1"/>
              </p:cNvSpPr>
              <p:nvPr/>
            </p:nvSpPr>
            <p:spPr bwMode="auto">
              <a:xfrm>
                <a:off x="360" y="2639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86058" name="Group 42"/>
          <p:cNvGrpSpPr>
            <a:grpSpLocks/>
          </p:cNvGrpSpPr>
          <p:nvPr/>
        </p:nvGrpSpPr>
        <p:grpSpPr bwMode="auto">
          <a:xfrm>
            <a:off x="3343275" y="5457826"/>
            <a:ext cx="5348288" cy="569913"/>
            <a:chOff x="1146" y="3438"/>
            <a:chExt cx="3369" cy="359"/>
          </a:xfrm>
        </p:grpSpPr>
        <p:sp>
          <p:nvSpPr>
            <p:cNvPr id="86059" name="Line 43"/>
            <p:cNvSpPr>
              <a:spLocks noChangeShapeType="1"/>
            </p:cNvSpPr>
            <p:nvPr/>
          </p:nvSpPr>
          <p:spPr bwMode="auto">
            <a:xfrm>
              <a:off x="2872" y="3438"/>
              <a:ext cx="165" cy="17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0" name="Rectangle 44"/>
            <p:cNvSpPr>
              <a:spLocks noChangeArrowheads="1"/>
            </p:cNvSpPr>
            <p:nvPr/>
          </p:nvSpPr>
          <p:spPr bwMode="auto">
            <a:xfrm>
              <a:off x="1146" y="3599"/>
              <a:ext cx="3369" cy="198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061" name="Rectangle 45"/>
            <p:cNvSpPr>
              <a:spLocks noChangeArrowheads="1"/>
            </p:cNvSpPr>
            <p:nvPr/>
          </p:nvSpPr>
          <p:spPr bwMode="auto">
            <a:xfrm>
              <a:off x="1174" y="3621"/>
              <a:ext cx="329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2. . . . leads to a 67% decrease in quantity demanded.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070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6" name="Rectangle 14"/>
          <p:cNvSpPr>
            <a:spLocks noChangeArrowheads="1"/>
          </p:cNvSpPr>
          <p:nvPr/>
        </p:nvSpPr>
        <p:spPr bwMode="auto">
          <a:xfrm>
            <a:off x="3552825" y="2114551"/>
            <a:ext cx="5862638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7" name="Rectangle 15"/>
          <p:cNvSpPr>
            <a:spLocks noChangeArrowheads="1"/>
          </p:cNvSpPr>
          <p:nvPr/>
        </p:nvSpPr>
        <p:spPr bwMode="auto">
          <a:xfrm>
            <a:off x="3457575" y="2017713"/>
            <a:ext cx="5862638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008" name="Freeform 16"/>
          <p:cNvSpPr>
            <a:spLocks/>
          </p:cNvSpPr>
          <p:nvPr/>
        </p:nvSpPr>
        <p:spPr bwMode="auto">
          <a:xfrm>
            <a:off x="3438525" y="2017713"/>
            <a:ext cx="5862638" cy="3300412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009" name="Rectangle 17"/>
          <p:cNvSpPr>
            <a:spLocks noChangeArrowheads="1"/>
          </p:cNvSpPr>
          <p:nvPr/>
        </p:nvSpPr>
        <p:spPr bwMode="auto">
          <a:xfrm>
            <a:off x="3500438" y="1576388"/>
            <a:ext cx="558486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(e) Perfectly Elastic Demand: Elasticity Equals Infinity</a:t>
            </a:r>
            <a:endParaRPr lang="en-US" altLang="en-US"/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8432800" y="536733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85011" name="Rectangle 19"/>
          <p:cNvSpPr>
            <a:spLocks noChangeArrowheads="1"/>
          </p:cNvSpPr>
          <p:nvPr/>
        </p:nvSpPr>
        <p:spPr bwMode="auto">
          <a:xfrm>
            <a:off x="3228975" y="53736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85012" name="Rectangle 20"/>
          <p:cNvSpPr>
            <a:spLocks noChangeArrowheads="1"/>
          </p:cNvSpPr>
          <p:nvPr/>
        </p:nvSpPr>
        <p:spPr bwMode="auto">
          <a:xfrm>
            <a:off x="2827339" y="19732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85013" name="Group 21"/>
          <p:cNvGrpSpPr>
            <a:grpSpLocks/>
          </p:cNvGrpSpPr>
          <p:nvPr/>
        </p:nvGrpSpPr>
        <p:grpSpPr bwMode="auto">
          <a:xfrm>
            <a:off x="3116263" y="3389314"/>
            <a:ext cx="5559424" cy="274637"/>
            <a:chOff x="1003" y="2135"/>
            <a:chExt cx="3502" cy="173"/>
          </a:xfrm>
        </p:grpSpPr>
        <p:sp>
          <p:nvSpPr>
            <p:cNvPr id="85014" name="Rectangle 22"/>
            <p:cNvSpPr>
              <a:spLocks noChangeArrowheads="1"/>
            </p:cNvSpPr>
            <p:nvPr/>
          </p:nvSpPr>
          <p:spPr bwMode="auto">
            <a:xfrm>
              <a:off x="1003" y="2135"/>
              <a:ext cx="1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4</a:t>
              </a:r>
            </a:p>
          </p:txBody>
        </p:sp>
        <p:grpSp>
          <p:nvGrpSpPr>
            <p:cNvPr id="85015" name="Group 23"/>
            <p:cNvGrpSpPr>
              <a:grpSpLocks/>
            </p:cNvGrpSpPr>
            <p:nvPr/>
          </p:nvGrpSpPr>
          <p:grpSpPr bwMode="auto">
            <a:xfrm>
              <a:off x="1214" y="2143"/>
              <a:ext cx="3291" cy="165"/>
              <a:chOff x="1218" y="2143"/>
              <a:chExt cx="3291" cy="165"/>
            </a:xfrm>
          </p:grpSpPr>
          <p:sp>
            <p:nvSpPr>
              <p:cNvPr id="85016" name="Line 24"/>
              <p:cNvSpPr>
                <a:spLocks noChangeShapeType="1"/>
              </p:cNvSpPr>
              <p:nvPr/>
            </p:nvSpPr>
            <p:spPr bwMode="auto">
              <a:xfrm flipH="1">
                <a:off x="1218" y="2223"/>
                <a:ext cx="2717" cy="1"/>
              </a:xfrm>
              <a:prstGeom prst="line">
                <a:avLst/>
              </a:prstGeom>
              <a:noFill/>
              <a:ln w="7143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017" name="Rectangle 25"/>
              <p:cNvSpPr>
                <a:spLocks noChangeArrowheads="1"/>
              </p:cNvSpPr>
              <p:nvPr/>
            </p:nvSpPr>
            <p:spPr bwMode="auto">
              <a:xfrm>
                <a:off x="3989" y="214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Demand</a:t>
                </a:r>
                <a:endParaRPr lang="en-US" altLang="en-US"/>
              </a:p>
            </p:txBody>
          </p:sp>
        </p:grpSp>
      </p:grpSp>
      <p:grpSp>
        <p:nvGrpSpPr>
          <p:cNvPr id="85018" name="Group 26"/>
          <p:cNvGrpSpPr>
            <a:grpSpLocks/>
          </p:cNvGrpSpPr>
          <p:nvPr/>
        </p:nvGrpSpPr>
        <p:grpSpPr bwMode="auto">
          <a:xfrm>
            <a:off x="5578475" y="3608389"/>
            <a:ext cx="2025650" cy="1139825"/>
            <a:chOff x="2554" y="2273"/>
            <a:chExt cx="1276" cy="718"/>
          </a:xfrm>
        </p:grpSpPr>
        <p:sp>
          <p:nvSpPr>
            <p:cNvPr id="85019" name="Line 27"/>
            <p:cNvSpPr>
              <a:spLocks noChangeShapeType="1"/>
            </p:cNvSpPr>
            <p:nvPr/>
          </p:nvSpPr>
          <p:spPr bwMode="auto">
            <a:xfrm>
              <a:off x="3020" y="2273"/>
              <a:ext cx="180" cy="24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20" name="Rectangle 28"/>
            <p:cNvSpPr>
              <a:spLocks noChangeArrowheads="1"/>
            </p:cNvSpPr>
            <p:nvPr/>
          </p:nvSpPr>
          <p:spPr bwMode="auto">
            <a:xfrm>
              <a:off x="2554" y="2471"/>
              <a:ext cx="1276" cy="52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21" name="Rectangle 29"/>
            <p:cNvSpPr>
              <a:spLocks noChangeArrowheads="1"/>
            </p:cNvSpPr>
            <p:nvPr/>
          </p:nvSpPr>
          <p:spPr bwMode="auto">
            <a:xfrm>
              <a:off x="2591" y="2489"/>
              <a:ext cx="97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2. At exactly </a:t>
              </a: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4,</a:t>
              </a:r>
            </a:p>
          </p:txBody>
        </p:sp>
        <p:sp>
          <p:nvSpPr>
            <p:cNvPr id="85022" name="Rectangle 30"/>
            <p:cNvSpPr>
              <a:spLocks noChangeArrowheads="1"/>
            </p:cNvSpPr>
            <p:nvPr/>
          </p:nvSpPr>
          <p:spPr bwMode="auto">
            <a:xfrm>
              <a:off x="2591" y="2653"/>
              <a:ext cx="90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consumers will</a:t>
              </a:r>
              <a:endParaRPr lang="en-US" altLang="en-US"/>
            </a:p>
          </p:txBody>
        </p:sp>
        <p:sp>
          <p:nvSpPr>
            <p:cNvPr id="85023" name="Rectangle 31"/>
            <p:cNvSpPr>
              <a:spLocks noChangeArrowheads="1"/>
            </p:cNvSpPr>
            <p:nvPr/>
          </p:nvSpPr>
          <p:spPr bwMode="auto">
            <a:xfrm>
              <a:off x="2591" y="2818"/>
              <a:ext cx="103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buy any quantity.</a:t>
              </a:r>
              <a:endParaRPr lang="en-US" altLang="en-US"/>
            </a:p>
          </p:txBody>
        </p:sp>
      </p:grpSp>
      <p:grpSp>
        <p:nvGrpSpPr>
          <p:cNvPr id="85024" name="Group 32"/>
          <p:cNvGrpSpPr>
            <a:grpSpLocks/>
          </p:cNvGrpSpPr>
          <p:nvPr/>
        </p:nvGrpSpPr>
        <p:grpSpPr bwMode="auto">
          <a:xfrm>
            <a:off x="3529014" y="2428875"/>
            <a:ext cx="2644775" cy="825500"/>
            <a:chOff x="1263" y="1530"/>
            <a:chExt cx="1666" cy="520"/>
          </a:xfrm>
        </p:grpSpPr>
        <p:sp>
          <p:nvSpPr>
            <p:cNvPr id="85025" name="Line 33"/>
            <p:cNvSpPr>
              <a:spLocks noChangeShapeType="1"/>
            </p:cNvSpPr>
            <p:nvPr/>
          </p:nvSpPr>
          <p:spPr bwMode="auto">
            <a:xfrm flipV="1">
              <a:off x="1263" y="1679"/>
              <a:ext cx="286" cy="6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26" name="Rectangle 34"/>
            <p:cNvSpPr>
              <a:spLocks noChangeArrowheads="1"/>
            </p:cNvSpPr>
            <p:nvPr/>
          </p:nvSpPr>
          <p:spPr bwMode="auto">
            <a:xfrm>
              <a:off x="1519" y="1530"/>
              <a:ext cx="1410" cy="52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27" name="Rectangle 35"/>
            <p:cNvSpPr>
              <a:spLocks noChangeArrowheads="1"/>
            </p:cNvSpPr>
            <p:nvPr/>
          </p:nvSpPr>
          <p:spPr bwMode="auto">
            <a:xfrm>
              <a:off x="1568" y="1556"/>
              <a:ext cx="87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1. At any price</a:t>
              </a:r>
              <a:endParaRPr lang="en-US" altLang="en-US"/>
            </a:p>
          </p:txBody>
        </p:sp>
        <p:sp>
          <p:nvSpPr>
            <p:cNvPr id="85028" name="Rectangle 36"/>
            <p:cNvSpPr>
              <a:spLocks noChangeArrowheads="1"/>
            </p:cNvSpPr>
            <p:nvPr/>
          </p:nvSpPr>
          <p:spPr bwMode="auto">
            <a:xfrm>
              <a:off x="1568" y="1720"/>
              <a:ext cx="112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above </a:t>
              </a: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4, quantity</a:t>
              </a:r>
            </a:p>
          </p:txBody>
        </p:sp>
        <p:sp>
          <p:nvSpPr>
            <p:cNvPr id="85029" name="Rectangle 37"/>
            <p:cNvSpPr>
              <a:spLocks noChangeArrowheads="1"/>
            </p:cNvSpPr>
            <p:nvPr/>
          </p:nvSpPr>
          <p:spPr bwMode="auto">
            <a:xfrm>
              <a:off x="1568" y="1884"/>
              <a:ext cx="113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demanded is zero.</a:t>
              </a:r>
              <a:endParaRPr lang="en-US" altLang="en-US"/>
            </a:p>
          </p:txBody>
        </p:sp>
      </p:grpSp>
      <p:grpSp>
        <p:nvGrpSpPr>
          <p:cNvPr id="85030" name="Group 38"/>
          <p:cNvGrpSpPr>
            <a:grpSpLocks/>
          </p:cNvGrpSpPr>
          <p:nvPr/>
        </p:nvGrpSpPr>
        <p:grpSpPr bwMode="auto">
          <a:xfrm>
            <a:off x="2005013" y="4276725"/>
            <a:ext cx="3478212" cy="1924050"/>
            <a:chOff x="303" y="2694"/>
            <a:chExt cx="2191" cy="1212"/>
          </a:xfrm>
        </p:grpSpPr>
        <p:sp>
          <p:nvSpPr>
            <p:cNvPr id="85031" name="Line 39"/>
            <p:cNvSpPr>
              <a:spLocks noChangeShapeType="1"/>
            </p:cNvSpPr>
            <p:nvPr/>
          </p:nvSpPr>
          <p:spPr bwMode="auto">
            <a:xfrm flipV="1">
              <a:off x="468" y="2694"/>
              <a:ext cx="690" cy="87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32" name="Rectangle 40"/>
            <p:cNvSpPr>
              <a:spLocks noChangeArrowheads="1"/>
            </p:cNvSpPr>
            <p:nvPr/>
          </p:nvSpPr>
          <p:spPr bwMode="auto">
            <a:xfrm>
              <a:off x="303" y="3548"/>
              <a:ext cx="2191" cy="358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033" name="Rectangle 41"/>
            <p:cNvSpPr>
              <a:spLocks noChangeArrowheads="1"/>
            </p:cNvSpPr>
            <p:nvPr/>
          </p:nvSpPr>
          <p:spPr bwMode="auto">
            <a:xfrm>
              <a:off x="360" y="3570"/>
              <a:ext cx="135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3. At a price below </a:t>
              </a: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4,</a:t>
              </a:r>
            </a:p>
          </p:txBody>
        </p:sp>
        <p:sp>
          <p:nvSpPr>
            <p:cNvPr id="85034" name="Rectangle 42"/>
            <p:cNvSpPr>
              <a:spLocks noChangeArrowheads="1"/>
            </p:cNvSpPr>
            <p:nvPr/>
          </p:nvSpPr>
          <p:spPr bwMode="auto">
            <a:xfrm>
              <a:off x="360" y="3734"/>
              <a:ext cx="178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quantity demanded is infinite.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742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pic>
        <p:nvPicPr>
          <p:cNvPr id="94212" name="Picture 4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2133600" y="50800"/>
            <a:ext cx="822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lnSpc>
                <a:spcPct val="90000"/>
              </a:lnSpc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FFFFCC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2 Total Revenue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F3F6F9"/>
          </a:solidFill>
          <a:ln w="21907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F2F4F8"/>
          </a:solidFill>
          <a:ln w="198438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17" name="Rectangle 9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F1F4F7"/>
          </a:solidFill>
          <a:ln w="17938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F0F2F5"/>
          </a:solidFill>
          <a:ln w="15875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EF1F4"/>
          </a:solidFill>
          <a:ln w="139700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0" name="Rectangle 12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DEFF3"/>
          </a:solidFill>
          <a:ln w="11906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1" name="Rectangle 13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BEEF2"/>
          </a:solidFill>
          <a:ln w="10001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AECF1"/>
          </a:solidFill>
          <a:ln w="79375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9EBF0"/>
          </a:solidFill>
          <a:ln w="6032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7EAEF"/>
          </a:solidFill>
          <a:ln w="39688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5" name="Rectangle 17"/>
          <p:cNvSpPr>
            <a:spLocks noChangeArrowheads="1"/>
          </p:cNvSpPr>
          <p:nvPr/>
        </p:nvSpPr>
        <p:spPr bwMode="auto">
          <a:xfrm>
            <a:off x="2606675" y="1193801"/>
            <a:ext cx="7429500" cy="4803775"/>
          </a:xfrm>
          <a:prstGeom prst="rect">
            <a:avLst/>
          </a:prstGeom>
          <a:solidFill>
            <a:srgbClr val="E6E9EF"/>
          </a:solidFill>
          <a:ln w="2063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4226" name="Rectangle 18"/>
          <p:cNvSpPr>
            <a:spLocks noChangeArrowheads="1"/>
          </p:cNvSpPr>
          <p:nvPr/>
        </p:nvSpPr>
        <p:spPr bwMode="auto">
          <a:xfrm>
            <a:off x="2506663" y="1111250"/>
            <a:ext cx="7429500" cy="47831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4227" name="Freeform 19"/>
          <p:cNvSpPr>
            <a:spLocks/>
          </p:cNvSpPr>
          <p:nvPr/>
        </p:nvSpPr>
        <p:spPr bwMode="auto">
          <a:xfrm>
            <a:off x="2506663" y="1111250"/>
            <a:ext cx="7429500" cy="4783138"/>
          </a:xfrm>
          <a:custGeom>
            <a:avLst/>
            <a:gdLst>
              <a:gd name="T0" fmla="*/ 0 w 4680"/>
              <a:gd name="T1" fmla="*/ 0 h 3013"/>
              <a:gd name="T2" fmla="*/ 0 w 4680"/>
              <a:gd name="T3" fmla="*/ 3013 h 3013"/>
              <a:gd name="T4" fmla="*/ 4680 w 4680"/>
              <a:gd name="T5" fmla="*/ 3013 h 3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80" h="3013">
                <a:moveTo>
                  <a:pt x="0" y="0"/>
                </a:moveTo>
                <a:lnTo>
                  <a:pt x="0" y="3013"/>
                </a:lnTo>
                <a:lnTo>
                  <a:pt x="4680" y="3013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94228" name="Group 20"/>
          <p:cNvGrpSpPr>
            <a:grpSpLocks/>
          </p:cNvGrpSpPr>
          <p:nvPr/>
        </p:nvGrpSpPr>
        <p:grpSpPr bwMode="auto">
          <a:xfrm>
            <a:off x="4498976" y="2492376"/>
            <a:ext cx="4367213" cy="2473325"/>
            <a:chOff x="1874" y="1570"/>
            <a:chExt cx="2751" cy="1558"/>
          </a:xfrm>
        </p:grpSpPr>
        <p:sp>
          <p:nvSpPr>
            <p:cNvPr id="94229" name="Line 21"/>
            <p:cNvSpPr>
              <a:spLocks noChangeShapeType="1"/>
            </p:cNvSpPr>
            <p:nvPr/>
          </p:nvSpPr>
          <p:spPr bwMode="auto">
            <a:xfrm>
              <a:off x="1874" y="1570"/>
              <a:ext cx="2195" cy="1468"/>
            </a:xfrm>
            <a:prstGeom prst="line">
              <a:avLst/>
            </a:prstGeom>
            <a:noFill/>
            <a:ln w="60325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230" name="Rectangle 22"/>
            <p:cNvSpPr>
              <a:spLocks noChangeArrowheads="1"/>
            </p:cNvSpPr>
            <p:nvPr/>
          </p:nvSpPr>
          <p:spPr bwMode="auto">
            <a:xfrm>
              <a:off x="4105" y="2963"/>
              <a:ext cx="5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sp>
        <p:nvSpPr>
          <p:cNvPr id="94231" name="Rectangle 23"/>
          <p:cNvSpPr>
            <a:spLocks noChangeArrowheads="1"/>
          </p:cNvSpPr>
          <p:nvPr/>
        </p:nvSpPr>
        <p:spPr bwMode="auto">
          <a:xfrm>
            <a:off x="9040813" y="593566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grpSp>
        <p:nvGrpSpPr>
          <p:cNvPr id="94232" name="Group 24"/>
          <p:cNvGrpSpPr>
            <a:grpSpLocks/>
          </p:cNvGrpSpPr>
          <p:nvPr/>
        </p:nvGrpSpPr>
        <p:grpSpPr bwMode="auto">
          <a:xfrm>
            <a:off x="2547939" y="6265863"/>
            <a:ext cx="3444875" cy="400050"/>
            <a:chOff x="645" y="3947"/>
            <a:chExt cx="2170" cy="252"/>
          </a:xfrm>
        </p:grpSpPr>
        <p:sp>
          <p:nvSpPr>
            <p:cNvPr id="94233" name="Freeform 25"/>
            <p:cNvSpPr>
              <a:spLocks/>
            </p:cNvSpPr>
            <p:nvPr/>
          </p:nvSpPr>
          <p:spPr bwMode="auto">
            <a:xfrm>
              <a:off x="645" y="3947"/>
              <a:ext cx="2170" cy="104"/>
            </a:xfrm>
            <a:custGeom>
              <a:avLst/>
              <a:gdLst>
                <a:gd name="T0" fmla="*/ 0 w 173"/>
                <a:gd name="T1" fmla="*/ 0 h 8"/>
                <a:gd name="T2" fmla="*/ 6 w 173"/>
                <a:gd name="T3" fmla="*/ 4 h 8"/>
                <a:gd name="T4" fmla="*/ 83 w 173"/>
                <a:gd name="T5" fmla="*/ 4 h 8"/>
                <a:gd name="T6" fmla="*/ 87 w 173"/>
                <a:gd name="T7" fmla="*/ 8 h 8"/>
                <a:gd name="T8" fmla="*/ 91 w 173"/>
                <a:gd name="T9" fmla="*/ 4 h 8"/>
                <a:gd name="T10" fmla="*/ 167 w 173"/>
                <a:gd name="T11" fmla="*/ 4 h 8"/>
                <a:gd name="T12" fmla="*/ 173 w 17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" h="8">
                  <a:moveTo>
                    <a:pt x="0" y="0"/>
                  </a:moveTo>
                  <a:cubicBezTo>
                    <a:pt x="0" y="2"/>
                    <a:pt x="3" y="4"/>
                    <a:pt x="6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5" y="4"/>
                    <a:pt x="87" y="5"/>
                    <a:pt x="87" y="8"/>
                  </a:cubicBezTo>
                  <a:cubicBezTo>
                    <a:pt x="87" y="5"/>
                    <a:pt x="88" y="4"/>
                    <a:pt x="91" y="4"/>
                  </a:cubicBezTo>
                  <a:cubicBezTo>
                    <a:pt x="167" y="4"/>
                    <a:pt x="167" y="4"/>
                    <a:pt x="167" y="4"/>
                  </a:cubicBezTo>
                  <a:cubicBezTo>
                    <a:pt x="170" y="4"/>
                    <a:pt x="173" y="2"/>
                    <a:pt x="173" y="0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234" name="Rectangle 26"/>
            <p:cNvSpPr>
              <a:spLocks noChangeArrowheads="1"/>
            </p:cNvSpPr>
            <p:nvPr/>
          </p:nvSpPr>
          <p:spPr bwMode="auto">
            <a:xfrm>
              <a:off x="1676" y="4034"/>
              <a:ext cx="10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 i="1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n-US" altLang="en-US"/>
            </a:p>
          </p:txBody>
        </p:sp>
      </p:grpSp>
      <p:grpSp>
        <p:nvGrpSpPr>
          <p:cNvPr id="94235" name="Group 27"/>
          <p:cNvGrpSpPr>
            <a:grpSpLocks/>
          </p:cNvGrpSpPr>
          <p:nvPr/>
        </p:nvGrpSpPr>
        <p:grpSpPr bwMode="auto">
          <a:xfrm>
            <a:off x="2111375" y="3524250"/>
            <a:ext cx="336550" cy="2370138"/>
            <a:chOff x="370" y="2220"/>
            <a:chExt cx="212" cy="1493"/>
          </a:xfrm>
        </p:grpSpPr>
        <p:sp>
          <p:nvSpPr>
            <p:cNvPr id="94236" name="Freeform 28"/>
            <p:cNvSpPr>
              <a:spLocks/>
            </p:cNvSpPr>
            <p:nvPr/>
          </p:nvSpPr>
          <p:spPr bwMode="auto">
            <a:xfrm>
              <a:off x="481" y="2220"/>
              <a:ext cx="101" cy="1493"/>
            </a:xfrm>
            <a:custGeom>
              <a:avLst/>
              <a:gdLst>
                <a:gd name="T0" fmla="*/ 8 w 8"/>
                <a:gd name="T1" fmla="*/ 0 h 115"/>
                <a:gd name="T2" fmla="*/ 4 w 8"/>
                <a:gd name="T3" fmla="*/ 5 h 115"/>
                <a:gd name="T4" fmla="*/ 4 w 8"/>
                <a:gd name="T5" fmla="*/ 53 h 115"/>
                <a:gd name="T6" fmla="*/ 0 w 8"/>
                <a:gd name="T7" fmla="*/ 57 h 115"/>
                <a:gd name="T8" fmla="*/ 4 w 8"/>
                <a:gd name="T9" fmla="*/ 61 h 115"/>
                <a:gd name="T10" fmla="*/ 4 w 8"/>
                <a:gd name="T11" fmla="*/ 109 h 115"/>
                <a:gd name="T12" fmla="*/ 8 w 8"/>
                <a:gd name="T1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15">
                  <a:moveTo>
                    <a:pt x="8" y="0"/>
                  </a:moveTo>
                  <a:cubicBezTo>
                    <a:pt x="6" y="0"/>
                    <a:pt x="4" y="3"/>
                    <a:pt x="4" y="5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6"/>
                    <a:pt x="3" y="57"/>
                    <a:pt x="0" y="57"/>
                  </a:cubicBezTo>
                  <a:cubicBezTo>
                    <a:pt x="3" y="57"/>
                    <a:pt x="4" y="59"/>
                    <a:pt x="4" y="61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4" y="112"/>
                    <a:pt x="6" y="115"/>
                    <a:pt x="8" y="115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237" name="Rectangle 29"/>
            <p:cNvSpPr>
              <a:spLocks noChangeArrowheads="1"/>
            </p:cNvSpPr>
            <p:nvPr/>
          </p:nvSpPr>
          <p:spPr bwMode="auto">
            <a:xfrm>
              <a:off x="370" y="2869"/>
              <a:ext cx="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 i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endParaRPr lang="en-US" altLang="en-US"/>
            </a:p>
          </p:txBody>
        </p:sp>
      </p:grpSp>
      <p:sp>
        <p:nvSpPr>
          <p:cNvPr id="94238" name="Rectangle 30"/>
          <p:cNvSpPr>
            <a:spLocks noChangeArrowheads="1"/>
          </p:cNvSpPr>
          <p:nvPr/>
        </p:nvSpPr>
        <p:spPr bwMode="auto">
          <a:xfrm>
            <a:off x="2316163" y="59420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94239" name="Rectangle 31"/>
          <p:cNvSpPr>
            <a:spLocks noChangeArrowheads="1"/>
          </p:cNvSpPr>
          <p:nvPr/>
        </p:nvSpPr>
        <p:spPr bwMode="auto">
          <a:xfrm>
            <a:off x="1920876" y="1087438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94240" name="Group 32"/>
          <p:cNvGrpSpPr>
            <a:grpSpLocks/>
          </p:cNvGrpSpPr>
          <p:nvPr/>
        </p:nvGrpSpPr>
        <p:grpSpPr bwMode="auto">
          <a:xfrm>
            <a:off x="2506664" y="3524250"/>
            <a:ext cx="3525837" cy="2370138"/>
            <a:chOff x="619" y="2220"/>
            <a:chExt cx="2221" cy="1493"/>
          </a:xfrm>
        </p:grpSpPr>
        <p:sp>
          <p:nvSpPr>
            <p:cNvPr id="94241" name="Rectangle 33"/>
            <p:cNvSpPr>
              <a:spLocks noChangeArrowheads="1"/>
            </p:cNvSpPr>
            <p:nvPr/>
          </p:nvSpPr>
          <p:spPr bwMode="auto">
            <a:xfrm>
              <a:off x="619" y="2220"/>
              <a:ext cx="2221" cy="1493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242" name="Rectangle 34"/>
            <p:cNvSpPr>
              <a:spLocks noChangeArrowheads="1"/>
            </p:cNvSpPr>
            <p:nvPr/>
          </p:nvSpPr>
          <p:spPr bwMode="auto">
            <a:xfrm>
              <a:off x="1323" y="2775"/>
              <a:ext cx="8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700" i="1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× </a:t>
              </a:r>
              <a:r>
                <a:rPr lang="en-US" altLang="en-US" sz="1700" i="1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94243" name="Rectangle 35"/>
            <p:cNvSpPr>
              <a:spLocks noChangeArrowheads="1"/>
            </p:cNvSpPr>
            <p:nvPr/>
          </p:nvSpPr>
          <p:spPr bwMode="auto">
            <a:xfrm>
              <a:off x="1456" y="2946"/>
              <a:ext cx="58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(revenue)</a:t>
              </a:r>
              <a:endParaRPr lang="en-US" altLang="en-US"/>
            </a:p>
          </p:txBody>
        </p:sp>
      </p:grpSp>
      <p:grpSp>
        <p:nvGrpSpPr>
          <p:cNvPr id="94244" name="Group 36"/>
          <p:cNvGrpSpPr>
            <a:grpSpLocks/>
          </p:cNvGrpSpPr>
          <p:nvPr/>
        </p:nvGrpSpPr>
        <p:grpSpPr bwMode="auto">
          <a:xfrm>
            <a:off x="2144713" y="3392488"/>
            <a:ext cx="4064000" cy="2811462"/>
            <a:chOff x="391" y="2137"/>
            <a:chExt cx="2560" cy="1771"/>
          </a:xfrm>
        </p:grpSpPr>
        <p:sp>
          <p:nvSpPr>
            <p:cNvPr id="94245" name="Rectangle 37"/>
            <p:cNvSpPr>
              <a:spLocks noChangeArrowheads="1"/>
            </p:cNvSpPr>
            <p:nvPr/>
          </p:nvSpPr>
          <p:spPr bwMode="auto">
            <a:xfrm>
              <a:off x="391" y="2137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94246" name="Rectangle 38"/>
            <p:cNvSpPr>
              <a:spLocks noChangeArrowheads="1"/>
            </p:cNvSpPr>
            <p:nvPr/>
          </p:nvSpPr>
          <p:spPr bwMode="auto">
            <a:xfrm>
              <a:off x="2721" y="3743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  <p:grpSp>
          <p:nvGrpSpPr>
            <p:cNvPr id="94247" name="Group 39"/>
            <p:cNvGrpSpPr>
              <a:grpSpLocks/>
            </p:cNvGrpSpPr>
            <p:nvPr/>
          </p:nvGrpSpPr>
          <p:grpSpPr bwMode="auto">
            <a:xfrm>
              <a:off x="619" y="2181"/>
              <a:ext cx="2271" cy="1532"/>
              <a:chOff x="619" y="2181"/>
              <a:chExt cx="2271" cy="1532"/>
            </a:xfrm>
          </p:grpSpPr>
          <p:sp>
            <p:nvSpPr>
              <p:cNvPr id="94248" name="Freeform 40"/>
              <p:cNvSpPr>
                <a:spLocks/>
              </p:cNvSpPr>
              <p:nvPr/>
            </p:nvSpPr>
            <p:spPr bwMode="auto">
              <a:xfrm>
                <a:off x="619" y="2220"/>
                <a:ext cx="2221" cy="1493"/>
              </a:xfrm>
              <a:custGeom>
                <a:avLst/>
                <a:gdLst>
                  <a:gd name="T0" fmla="*/ 2221 w 2221"/>
                  <a:gd name="T1" fmla="*/ 1493 h 1493"/>
                  <a:gd name="T2" fmla="*/ 2221 w 2221"/>
                  <a:gd name="T3" fmla="*/ 0 h 1493"/>
                  <a:gd name="T4" fmla="*/ 0 w 2221"/>
                  <a:gd name="T5" fmla="*/ 0 h 1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1" h="1493">
                    <a:moveTo>
                      <a:pt x="2221" y="1493"/>
                    </a:moveTo>
                    <a:lnTo>
                      <a:pt x="2221" y="0"/>
                    </a:lnTo>
                    <a:lnTo>
                      <a:pt x="0" y="0"/>
                    </a:lnTo>
                  </a:path>
                </a:pathLst>
              </a:custGeom>
              <a:noFill/>
              <a:ln w="20638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249" name="Oval 41"/>
              <p:cNvSpPr>
                <a:spLocks noChangeArrowheads="1"/>
              </p:cNvSpPr>
              <p:nvPr/>
            </p:nvSpPr>
            <p:spPr bwMode="auto">
              <a:xfrm>
                <a:off x="2802" y="2181"/>
                <a:ext cx="88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95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Elasticity and Total Revenue Along a Linear Demand Curve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Total revenue = Price × Quantity </a:t>
            </a:r>
          </a:p>
          <a:p>
            <a:r>
              <a:rPr lang="en-IN" dirty="0" smtClean="0"/>
              <a:t>When Demand is Inelastic (Price elasticity less than 1) Price and Total Revenue moves in same Direction </a:t>
            </a:r>
            <a:r>
              <a:rPr lang="en-IN" dirty="0" err="1" smtClean="0"/>
              <a:t>i.e</a:t>
            </a:r>
            <a:r>
              <a:rPr lang="en-IN" dirty="0" smtClean="0"/>
              <a:t> Price increases, TR also increases. </a:t>
            </a:r>
          </a:p>
          <a:p>
            <a:r>
              <a:rPr lang="en-IN" dirty="0" smtClean="0"/>
              <a:t>When Demand is elastic (Price elasticity greater than 1) Price and Total Revenue moves in opposite direction. Price increases and TR decreases. </a:t>
            </a:r>
          </a:p>
          <a:p>
            <a:r>
              <a:rPr lang="en-IN" dirty="0" smtClean="0"/>
              <a:t>When Demand is unit elastic (Price elasticity equal to 1) Total Revenue remains constant when price changes.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660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981</Words>
  <Application>Microsoft Office PowerPoint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Georgia</vt:lpstr>
      <vt:lpstr>Times New Roman</vt:lpstr>
      <vt:lpstr>Office Theme</vt:lpstr>
      <vt:lpstr>Elasticity and its application</vt:lpstr>
      <vt:lpstr>Elasticity of Demand</vt:lpstr>
      <vt:lpstr>Taxes on Cigarettes (Sin Tax)</vt:lpstr>
      <vt:lpstr>Elasticity </vt:lpstr>
      <vt:lpstr>Price Elasticity of Demand</vt:lpstr>
      <vt:lpstr>Determinants of Price Elasticity of Demand </vt:lpstr>
      <vt:lpstr>Determinants of Price elasticity of Demand </vt:lpstr>
      <vt:lpstr>Computing the Price Elasticity of Demand </vt:lpstr>
      <vt:lpstr>Practice Problem on Mid point Method </vt:lpstr>
      <vt:lpstr>Point Elasticity </vt:lpstr>
      <vt:lpstr>Elasticity of a Linear Demand Curve</vt:lpstr>
      <vt:lpstr>Difference between Arc elasticity and point elasticity </vt:lpstr>
      <vt:lpstr>Practice Problem on Point Elasticity </vt:lpstr>
      <vt:lpstr>Figure 1 The Price Elasticity of Demand</vt:lpstr>
      <vt:lpstr>Figure 1 The Price Elasticity of Demand</vt:lpstr>
      <vt:lpstr>Figure 1 The Price Elasticity of Demand</vt:lpstr>
      <vt:lpstr>Figure 1 The Price Elasticity of Demand</vt:lpstr>
      <vt:lpstr>Figure 1 The Price Elasticity of Demand</vt:lpstr>
      <vt:lpstr>PowerPoint Presentation</vt:lpstr>
      <vt:lpstr>Elasticity and Total Revenue Along a Linear Demand Curve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Elasticity and its application</dc:title>
  <dc:creator>vaith</dc:creator>
  <cp:lastModifiedBy>vaith</cp:lastModifiedBy>
  <cp:revision>28</cp:revision>
  <dcterms:created xsi:type="dcterms:W3CDTF">2020-08-26T05:35:04Z</dcterms:created>
  <dcterms:modified xsi:type="dcterms:W3CDTF">2023-08-22T05:00:19Z</dcterms:modified>
</cp:coreProperties>
</file>