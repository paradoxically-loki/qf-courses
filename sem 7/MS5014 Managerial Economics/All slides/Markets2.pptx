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3" r:id="rId3"/>
  </p:sldMasterIdLst>
  <p:notesMasterIdLst>
    <p:notesMasterId r:id="rId17"/>
  </p:notesMasterIdLst>
  <p:sldIdLst>
    <p:sldId id="256" r:id="rId4"/>
    <p:sldId id="258" r:id="rId5"/>
    <p:sldId id="269" r:id="rId6"/>
    <p:sldId id="270" r:id="rId7"/>
    <p:sldId id="271" r:id="rId8"/>
    <p:sldId id="272" r:id="rId9"/>
    <p:sldId id="260" r:id="rId10"/>
    <p:sldId id="261" r:id="rId11"/>
    <p:sldId id="264" r:id="rId12"/>
    <p:sldId id="265" r:id="rId13"/>
    <p:sldId id="266"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8E6F3C-E986-4D10-9020-1F354C7842C5}" type="datetimeFigureOut">
              <a:rPr lang="en-IN" smtClean="0"/>
              <a:t>12-08-2021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219E4E-1490-4366-8BB3-9B6D4E6E6219}" type="slidenum">
              <a:rPr lang="en-IN" smtClean="0"/>
              <a:t>‹#›</a:t>
            </a:fld>
            <a:endParaRPr lang="en-IN"/>
          </a:p>
        </p:txBody>
      </p:sp>
    </p:spTree>
    <p:extLst>
      <p:ext uri="{BB962C8B-B14F-4D97-AF65-F5344CB8AC3E}">
        <p14:creationId xmlns:p14="http://schemas.microsoft.com/office/powerpoint/2010/main" val="4149436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Step 1 requires knowing all of the things that can shift D and S</a:t>
            </a:r>
            <a:r>
              <a:rPr lang="en-US" sz="1200" dirty="0" smtClean="0"/>
              <a:t>—</a:t>
            </a:r>
            <a:r>
              <a:rPr lang="en-US" dirty="0" smtClean="0"/>
              <a:t>the non-price determinants of demand and of supply.   </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57131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Remind your class often the</a:t>
            </a:r>
            <a:r>
              <a:rPr lang="en-US" baseline="0" dirty="0" smtClean="0"/>
              <a:t> difference between movements along a curve (change in quantity caused by a change in price) and shifts (caused by changes in the non-price determinants).</a:t>
            </a:r>
          </a:p>
          <a:p>
            <a:pPr eaLnBrk="1" hangingPunct="1"/>
            <a:endParaRPr lang="en-US" dirty="0" smtClean="0"/>
          </a:p>
          <a:p>
            <a:pPr eaLnBrk="1" hangingPunct="1"/>
            <a:r>
              <a:rPr lang="en-US" dirty="0" smtClean="0"/>
              <a:t>“Supply” refers to the position of the supply curve, while “quantity supplied” refers to the specific amount that producers are willing and able to sell at a specific price. </a:t>
            </a:r>
          </a:p>
          <a:p>
            <a:pPr eaLnBrk="1" hangingPunct="1"/>
            <a:endParaRPr lang="en-US" dirty="0" smtClean="0"/>
          </a:p>
          <a:p>
            <a:pPr eaLnBrk="1" hangingPunct="1"/>
            <a:r>
              <a:rPr lang="en-US" dirty="0" smtClean="0"/>
              <a:t>If you’d like to be a rebel, delete this slide and the next and all references to the jargon it contains, and just use the terms “movement along a curve” and “shift in a curve.”  Note, however, that this is not the official recommendation of Cengage Learning or Dr. Mankiw.  </a:t>
            </a:r>
          </a:p>
          <a:p>
            <a:pPr eaLnBrk="1" hangingPunct="1"/>
            <a:endParaRPr lang="en-US" dirty="0" smtClean="0"/>
          </a:p>
          <a:p>
            <a:pPr eaLnBrk="1" hangingPunct="1"/>
            <a:r>
              <a:rPr lang="en-US" dirty="0" smtClean="0"/>
              <a:t>If you’d like to cover this slide but make it move more quickly, for this slide and the next, delete the text starting with “occurs when” and give the information to your students verbally or rely on them to read it in the textbook.  </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73944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Similarly, “demand” refers to the position of the demand curve, while “quantity demanded” refers to the specific amount that consumers are willing and able to buy at</a:t>
            </a:r>
            <a:r>
              <a:rPr lang="en-US" baseline="0" dirty="0" smtClean="0"/>
              <a:t> a specific price</a:t>
            </a:r>
            <a:r>
              <a:rPr lang="en-US" dirty="0" smtClean="0"/>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10430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9416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5000"/>
              </a:lnSpc>
              <a:spcBef>
                <a:spcPct val="15000"/>
              </a:spcBef>
              <a:buClr>
                <a:srgbClr val="00B85C"/>
              </a:buClr>
              <a:buSzPct val="120000"/>
              <a:buFont typeface="Wingdings" pitchFamily="2" charset="2"/>
              <a:buNone/>
            </a:pPr>
            <a:r>
              <a:rPr lang="en-US" sz="1200" dirty="0" smtClean="0">
                <a:cs typeface="Arial"/>
              </a:rPr>
              <a:t>Notice:  When </a:t>
            </a:r>
            <a:r>
              <a:rPr lang="en-US" sz="1200" b="1" i="1" dirty="0" smtClean="0">
                <a:cs typeface="Arial"/>
              </a:rPr>
              <a:t>P</a:t>
            </a:r>
            <a:r>
              <a:rPr lang="en-US" sz="1200" dirty="0" smtClean="0">
                <a:cs typeface="Arial"/>
              </a:rPr>
              <a:t> rises, producers supply a larger quantity of hybrids, even though the </a:t>
            </a:r>
            <a:r>
              <a:rPr lang="en-US" sz="1200" b="1" i="1" dirty="0" smtClean="0">
                <a:cs typeface="Arial"/>
              </a:rPr>
              <a:t>S</a:t>
            </a:r>
            <a:r>
              <a:rPr lang="en-US" sz="1200" dirty="0" smtClean="0">
                <a:cs typeface="Arial"/>
              </a:rPr>
              <a:t> curve has not shifted. </a:t>
            </a:r>
          </a:p>
          <a:p>
            <a:pPr>
              <a:lnSpc>
                <a:spcPct val="105000"/>
              </a:lnSpc>
              <a:spcBef>
                <a:spcPct val="15000"/>
              </a:spcBef>
              <a:buClr>
                <a:srgbClr val="00B85C"/>
              </a:buClr>
              <a:buSzPct val="120000"/>
              <a:buFont typeface="Wingdings" pitchFamily="2" charset="2"/>
              <a:buNone/>
            </a:pPr>
            <a:endParaRPr lang="en-US" sz="1200" dirty="0" smtClean="0">
              <a:cs typeface="Arial"/>
            </a:endParaRPr>
          </a:p>
          <a:p>
            <a:pPr>
              <a:lnSpc>
                <a:spcPct val="105000"/>
              </a:lnSpc>
              <a:spcBef>
                <a:spcPct val="15000"/>
              </a:spcBef>
              <a:buClr>
                <a:srgbClr val="00B85C"/>
              </a:buClr>
              <a:buSzPct val="120000"/>
            </a:pPr>
            <a:r>
              <a:rPr lang="en-US" sz="1200" i="1" dirty="0" smtClean="0">
                <a:cs typeface="Arial"/>
              </a:rPr>
              <a:t>Always be careful to distinguish b/w a shift in a curve and a movement along the curve. </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5101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19229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16405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12918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B3D76E6-CDA8-480D-A3E1-A5E0037515A5}" type="datetimeFigureOut">
              <a:rPr lang="en-IN" smtClean="0"/>
              <a:t>12-08-2021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CA869C-8945-423B-A65F-BE3A10CD954F}" type="slidenum">
              <a:rPr lang="en-IN" smtClean="0"/>
              <a:t>‹#›</a:t>
            </a:fld>
            <a:endParaRPr lang="en-IN"/>
          </a:p>
        </p:txBody>
      </p:sp>
    </p:spTree>
    <p:extLst>
      <p:ext uri="{BB962C8B-B14F-4D97-AF65-F5344CB8AC3E}">
        <p14:creationId xmlns:p14="http://schemas.microsoft.com/office/powerpoint/2010/main" val="1860812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B3D76E6-CDA8-480D-A3E1-A5E0037515A5}" type="datetimeFigureOut">
              <a:rPr lang="en-IN" smtClean="0"/>
              <a:t>12-08-2021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CA869C-8945-423B-A65F-BE3A10CD954F}" type="slidenum">
              <a:rPr lang="en-IN" smtClean="0"/>
              <a:t>‹#›</a:t>
            </a:fld>
            <a:endParaRPr lang="en-IN"/>
          </a:p>
        </p:txBody>
      </p:sp>
    </p:spTree>
    <p:extLst>
      <p:ext uri="{BB962C8B-B14F-4D97-AF65-F5344CB8AC3E}">
        <p14:creationId xmlns:p14="http://schemas.microsoft.com/office/powerpoint/2010/main" val="3461336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B3D76E6-CDA8-480D-A3E1-A5E0037515A5}" type="datetimeFigureOut">
              <a:rPr lang="en-IN" smtClean="0"/>
              <a:t>12-08-2021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CA869C-8945-423B-A65F-BE3A10CD954F}" type="slidenum">
              <a:rPr lang="en-IN" smtClean="0"/>
              <a:t>‹#›</a:t>
            </a:fld>
            <a:endParaRPr lang="en-IN"/>
          </a:p>
        </p:txBody>
      </p:sp>
    </p:spTree>
    <p:extLst>
      <p:ext uri="{BB962C8B-B14F-4D97-AF65-F5344CB8AC3E}">
        <p14:creationId xmlns:p14="http://schemas.microsoft.com/office/powerpoint/2010/main" val="97513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B3D76E6-CDA8-480D-A3E1-A5E0037515A5}" type="datetimeFigureOut">
              <a:rPr lang="en-IN" smtClean="0"/>
              <a:t>12-08-2021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CA869C-8945-423B-A65F-BE3A10CD954F}" type="slidenum">
              <a:rPr lang="en-IN" smtClean="0"/>
              <a:t>‹#›</a:t>
            </a:fld>
            <a:endParaRPr lang="en-IN"/>
          </a:p>
        </p:txBody>
      </p:sp>
    </p:spTree>
    <p:extLst>
      <p:ext uri="{BB962C8B-B14F-4D97-AF65-F5344CB8AC3E}">
        <p14:creationId xmlns:p14="http://schemas.microsoft.com/office/powerpoint/2010/main" val="2314149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B3D76E6-CDA8-480D-A3E1-A5E0037515A5}" type="datetimeFigureOut">
              <a:rPr lang="en-IN" smtClean="0"/>
              <a:t>12-08-2021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FCA869C-8945-423B-A65F-BE3A10CD954F}" type="slidenum">
              <a:rPr lang="en-IN" smtClean="0"/>
              <a:t>‹#›</a:t>
            </a:fld>
            <a:endParaRPr lang="en-IN"/>
          </a:p>
        </p:txBody>
      </p:sp>
    </p:spTree>
    <p:extLst>
      <p:ext uri="{BB962C8B-B14F-4D97-AF65-F5344CB8AC3E}">
        <p14:creationId xmlns:p14="http://schemas.microsoft.com/office/powerpoint/2010/main" val="2990345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B3D76E6-CDA8-480D-A3E1-A5E0037515A5}" type="datetimeFigureOut">
              <a:rPr lang="en-IN" smtClean="0"/>
              <a:t>12-08-2021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FCA869C-8945-423B-A65F-BE3A10CD954F}" type="slidenum">
              <a:rPr lang="en-IN" smtClean="0"/>
              <a:t>‹#›</a:t>
            </a:fld>
            <a:endParaRPr lang="en-IN"/>
          </a:p>
        </p:txBody>
      </p:sp>
    </p:spTree>
    <p:extLst>
      <p:ext uri="{BB962C8B-B14F-4D97-AF65-F5344CB8AC3E}">
        <p14:creationId xmlns:p14="http://schemas.microsoft.com/office/powerpoint/2010/main" val="3664087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3D76E6-CDA8-480D-A3E1-A5E0037515A5}" type="datetimeFigureOut">
              <a:rPr lang="en-IN" smtClean="0"/>
              <a:t>12-08-2021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FCA869C-8945-423B-A65F-BE3A10CD954F}" type="slidenum">
              <a:rPr lang="en-IN" smtClean="0"/>
              <a:t>‹#›</a:t>
            </a:fld>
            <a:endParaRPr lang="en-IN"/>
          </a:p>
        </p:txBody>
      </p:sp>
    </p:spTree>
    <p:extLst>
      <p:ext uri="{BB962C8B-B14F-4D97-AF65-F5344CB8AC3E}">
        <p14:creationId xmlns:p14="http://schemas.microsoft.com/office/powerpoint/2010/main" val="2319211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B3D76E6-CDA8-480D-A3E1-A5E0037515A5}" type="datetimeFigureOut">
              <a:rPr lang="en-IN" smtClean="0"/>
              <a:t>12-08-2021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CA869C-8945-423B-A65F-BE3A10CD954F}" type="slidenum">
              <a:rPr lang="en-IN" smtClean="0"/>
              <a:t>‹#›</a:t>
            </a:fld>
            <a:endParaRPr lang="en-IN"/>
          </a:p>
        </p:txBody>
      </p:sp>
    </p:spTree>
    <p:extLst>
      <p:ext uri="{BB962C8B-B14F-4D97-AF65-F5344CB8AC3E}">
        <p14:creationId xmlns:p14="http://schemas.microsoft.com/office/powerpoint/2010/main" val="1309628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B3D76E6-CDA8-480D-A3E1-A5E0037515A5}" type="datetimeFigureOut">
              <a:rPr lang="en-IN" smtClean="0"/>
              <a:t>12-08-2021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CA869C-8945-423B-A65F-BE3A10CD954F}" type="slidenum">
              <a:rPr lang="en-IN" smtClean="0"/>
              <a:t>‹#›</a:t>
            </a:fld>
            <a:endParaRPr lang="en-IN"/>
          </a:p>
        </p:txBody>
      </p:sp>
    </p:spTree>
    <p:extLst>
      <p:ext uri="{BB962C8B-B14F-4D97-AF65-F5344CB8AC3E}">
        <p14:creationId xmlns:p14="http://schemas.microsoft.com/office/powerpoint/2010/main" val="2957887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B3D76E6-CDA8-480D-A3E1-A5E0037515A5}" type="datetimeFigureOut">
              <a:rPr lang="en-IN" smtClean="0"/>
              <a:t>12-08-2021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CA869C-8945-423B-A65F-BE3A10CD954F}" type="slidenum">
              <a:rPr lang="en-IN" smtClean="0"/>
              <a:t>‹#›</a:t>
            </a:fld>
            <a:endParaRPr lang="en-IN"/>
          </a:p>
        </p:txBody>
      </p:sp>
    </p:spTree>
    <p:extLst>
      <p:ext uri="{BB962C8B-B14F-4D97-AF65-F5344CB8AC3E}">
        <p14:creationId xmlns:p14="http://schemas.microsoft.com/office/powerpoint/2010/main" val="4135952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B3D76E6-CDA8-480D-A3E1-A5E0037515A5}" type="datetimeFigureOut">
              <a:rPr lang="en-IN" smtClean="0"/>
              <a:t>12-08-2021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CA869C-8945-423B-A65F-BE3A10CD954F}" type="slidenum">
              <a:rPr lang="en-IN" smtClean="0"/>
              <a:t>‹#›</a:t>
            </a:fld>
            <a:endParaRPr lang="en-IN"/>
          </a:p>
        </p:txBody>
      </p:sp>
    </p:spTree>
    <p:extLst>
      <p:ext uri="{BB962C8B-B14F-4D97-AF65-F5344CB8AC3E}">
        <p14:creationId xmlns:p14="http://schemas.microsoft.com/office/powerpoint/2010/main" val="986434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86758" y="100940"/>
            <a:ext cx="10405241" cy="860961"/>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solidFill>
                  <a:srgbClr val="005EA4"/>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653482190"/>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86758" y="100940"/>
            <a:ext cx="10405241" cy="860961"/>
          </a:xfr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370418" y="1025525"/>
            <a:ext cx="8875183" cy="5422900"/>
          </a:xfrm>
        </p:spPr>
        <p:txBody>
          <a:bodyPr/>
          <a:lstStyle>
            <a:lvl1pPr>
              <a:defRPr>
                <a:solidFill>
                  <a:srgbClr val="005EA4"/>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 name="Text Placeholder 6"/>
          <p:cNvSpPr>
            <a:spLocks noGrp="1"/>
          </p:cNvSpPr>
          <p:nvPr>
            <p:ph type="body" sz="quarter" idx="12"/>
          </p:nvPr>
        </p:nvSpPr>
        <p:spPr>
          <a:xfrm>
            <a:off x="9347200" y="4191000"/>
            <a:ext cx="2844800" cy="1295400"/>
          </a:xfrm>
        </p:spPr>
        <p:txBody>
          <a:bodyPr/>
          <a:lstStyle>
            <a:lvl1pPr marL="0" indent="0">
              <a:buNone/>
              <a:defRPr sz="2000" i="1">
                <a:solidFill>
                  <a:schemeClr val="accent6">
                    <a:lumMod val="50000"/>
                  </a:schemeClr>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smtClean="0"/>
              <a:t>Click to edit Master text styles</a:t>
            </a:r>
          </a:p>
          <a:p>
            <a:pPr lvl="0"/>
            <a:r>
              <a:rPr lang="en-US" dirty="0" smtClean="0"/>
              <a:t>Picture comment </a:t>
            </a:r>
            <a:endParaRPr lang="en-US" dirty="0"/>
          </a:p>
        </p:txBody>
      </p:sp>
    </p:spTree>
    <p:extLst>
      <p:ext uri="{BB962C8B-B14F-4D97-AF65-F5344CB8AC3E}">
        <p14:creationId xmlns:p14="http://schemas.microsoft.com/office/powerpoint/2010/main" val="2200046505"/>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smtClean="0"/>
              <a:t>Click to edit Master title style</a:t>
            </a:r>
            <a:endParaRPr lang="en-US" dirty="0"/>
          </a:p>
        </p:txBody>
      </p:sp>
      <p:sp>
        <p:nvSpPr>
          <p:cNvPr id="6" name="Text Placeholder 5"/>
          <p:cNvSpPr>
            <a:spLocks noGrp="1"/>
          </p:cNvSpPr>
          <p:nvPr>
            <p:ph type="body" sz="quarter" idx="12"/>
          </p:nvPr>
        </p:nvSpPr>
        <p:spPr>
          <a:xfrm>
            <a:off x="7247467" y="901700"/>
            <a:ext cx="4487333" cy="4826000"/>
          </a:xfrm>
        </p:spPr>
        <p:txBody>
          <a:bodyPr/>
          <a:lstStyle>
            <a:lvl1pPr marL="0" indent="0" algn="l">
              <a:spcBef>
                <a:spcPts val="0"/>
              </a:spcBef>
              <a:defRPr sz="1600"/>
            </a:lvl1pPr>
          </a:lstStyle>
          <a:p>
            <a:pPr lvl="0"/>
            <a:r>
              <a:rPr lang="en-US" dirty="0" smtClean="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65501225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3D76E6-CDA8-480D-A3E1-A5E0037515A5}" type="datetimeFigureOut">
              <a:rPr lang="en-IN" smtClean="0"/>
              <a:t>12-08-2021</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CA869C-8945-423B-A65F-BE3A10CD954F}" type="slidenum">
              <a:rPr lang="en-IN" smtClean="0"/>
              <a:t>‹#›</a:t>
            </a:fld>
            <a:endParaRPr lang="en-IN"/>
          </a:p>
        </p:txBody>
      </p:sp>
    </p:spTree>
    <p:extLst>
      <p:ext uri="{BB962C8B-B14F-4D97-AF65-F5344CB8AC3E}">
        <p14:creationId xmlns:p14="http://schemas.microsoft.com/office/powerpoint/2010/main" val="1711525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0" y="1"/>
            <a:ext cx="1833979" cy="1055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10"/>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209551" y="941388"/>
            <a:ext cx="117729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05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6248400"/>
            <a:ext cx="117729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1765738" y="77788"/>
            <a:ext cx="10426263"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smtClean="0"/>
              <a:t>Name fgchmvb </a:t>
            </a:r>
          </a:p>
        </p:txBody>
      </p:sp>
      <p:sp>
        <p:nvSpPr>
          <p:cNvPr id="3078" name="Rectangle 8"/>
          <p:cNvSpPr>
            <a:spLocks noGrp="1" noChangeArrowheads="1"/>
          </p:cNvSpPr>
          <p:nvPr>
            <p:ph type="body" idx="1"/>
          </p:nvPr>
        </p:nvSpPr>
        <p:spPr bwMode="auto">
          <a:xfrm>
            <a:off x="370418" y="1025525"/>
            <a:ext cx="11451167"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text </a:t>
            </a:r>
            <a:r>
              <a:rPr lang="en-US" altLang="en-US" dirty="0" err="1" smtClean="0"/>
              <a:t>stClick</a:t>
            </a:r>
            <a:r>
              <a:rPr lang="en-US" altLang="en-US" dirty="0" smtClean="0"/>
              <a:t> to edit Master </a:t>
            </a:r>
            <a:r>
              <a:rPr lang="en-US" altLang="en-US" dirty="0" err="1" smtClean="0"/>
              <a:t>yles</a:t>
            </a:r>
            <a:endParaRPr lang="en-US" altLang="en-US" dirty="0" smtClean="0"/>
          </a:p>
          <a:p>
            <a:pPr lvl="1"/>
            <a:r>
              <a:rPr lang="en-US" altLang="en-US" dirty="0" smtClean="0"/>
              <a:t>Second level</a:t>
            </a:r>
          </a:p>
          <a:p>
            <a:pPr lvl="2"/>
            <a:r>
              <a:rPr lang="en-US" altLang="en-US" dirty="0" err="1" smtClean="0"/>
              <a:t>Thirdlevel</a:t>
            </a:r>
            <a:endParaRPr lang="en-US" altLang="en-US" dirty="0" smtClean="0"/>
          </a:p>
          <a:p>
            <a:pPr lvl="2"/>
            <a:r>
              <a:rPr lang="en-US" altLang="en-US" dirty="0" smtClean="0"/>
              <a:t> Fourth level</a:t>
            </a:r>
          </a:p>
          <a:p>
            <a:pPr lvl="4"/>
            <a:r>
              <a:rPr lang="en-US" altLang="en-US" dirty="0" smtClean="0"/>
              <a:t>Fifth level</a:t>
            </a:r>
          </a:p>
        </p:txBody>
      </p:sp>
      <p:sp>
        <p:nvSpPr>
          <p:cNvPr id="37898" name="Rectangle 10"/>
          <p:cNvSpPr>
            <a:spLocks noGrp="1" noChangeArrowheads="1"/>
          </p:cNvSpPr>
          <p:nvPr>
            <p:ph type="sldNum" sz="quarter" idx="4"/>
          </p:nvPr>
        </p:nvSpPr>
        <p:spPr bwMode="auto">
          <a:xfrm>
            <a:off x="11491384" y="6423026"/>
            <a:ext cx="694267"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359858"/>
            <a:ext cx="11474451" cy="498143"/>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233558103"/>
      </p:ext>
    </p:extLst>
  </p:cSld>
  <p:clrMap bg1="lt1" tx1="dk1" bg2="lt2" tx2="dk2" accent1="accent1" accent2="accent2" accent3="accent3" accent4="accent4" accent5="accent5" accent6="accent6" hlink="hlink" folHlink="folHlink"/>
  <p:sldLayoutIdLst>
    <p:sldLayoutId id="2147483661" r:id="rId1"/>
    <p:sldLayoutId id="2147483662"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
            <a:ext cx="12192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79400" y="0"/>
            <a:ext cx="11694584"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Figure 1</a:t>
            </a:r>
          </a:p>
        </p:txBody>
      </p:sp>
      <p:sp>
        <p:nvSpPr>
          <p:cNvPr id="3077" name="Rectangle 3"/>
          <p:cNvSpPr>
            <a:spLocks noGrp="1" noChangeArrowheads="1"/>
          </p:cNvSpPr>
          <p:nvPr>
            <p:ph type="body" idx="1"/>
          </p:nvPr>
        </p:nvSpPr>
        <p:spPr bwMode="auto">
          <a:xfrm>
            <a:off x="552451" y="1600200"/>
            <a:ext cx="48768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Text</a:t>
            </a:r>
          </a:p>
        </p:txBody>
      </p:sp>
      <p:sp>
        <p:nvSpPr>
          <p:cNvPr id="185357" name="Rectangle 13"/>
          <p:cNvSpPr>
            <a:spLocks noGrp="1" noChangeArrowheads="1"/>
          </p:cNvSpPr>
          <p:nvPr>
            <p:ph type="sldNum" sz="quarter" idx="4"/>
          </p:nvPr>
        </p:nvSpPr>
        <p:spPr bwMode="auto">
          <a:xfrm>
            <a:off x="11491384" y="6473826"/>
            <a:ext cx="694267"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5E12E99D-42F8-4B90-BC1F-2FD222301686}"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1" y="6400800"/>
            <a:ext cx="11487151" cy="516114"/>
          </a:xfrm>
          <a:prstGeom prst="rect">
            <a:avLst/>
          </a:prstGeom>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11" name="Group 10"/>
          <p:cNvGrpSpPr/>
          <p:nvPr userDrawn="1"/>
        </p:nvGrpSpPr>
        <p:grpSpPr>
          <a:xfrm>
            <a:off x="120719" y="77774"/>
            <a:ext cx="11906157"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1480779528"/>
      </p:ext>
    </p:extLst>
  </p:cSld>
  <p:clrMap bg1="lt1" tx1="dk1" bg2="lt2" tx2="dk2" accent1="accent1" accent2="accent2" accent3="accent3" accent4="accent4" accent5="accent5" accent6="accent6" hlink="hlink" folHlink="folHlink"/>
  <p:sldLayoutIdLst>
    <p:sldLayoutId id="2147483664" r:id="rId1"/>
  </p:sldLayoutIdLst>
  <p:timing>
    <p:tnLst>
      <p:par>
        <p:cTn id="1" dur="indefinite" restart="never" nodeType="tmRoot"/>
      </p:par>
    </p:tnLst>
  </p:timing>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The </a:t>
            </a:r>
            <a:r>
              <a:rPr lang="en-IN" dirty="0" smtClean="0"/>
              <a:t>market forces of Demand and Supply</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935305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wrap="square" anchor="t"/>
          <a:lstStyle/>
          <a:p>
            <a:r>
              <a:rPr lang="en-US" altLang="en-US" smtClean="0"/>
              <a:t>Supply and Demand Together</a:t>
            </a:r>
          </a:p>
        </p:txBody>
      </p:sp>
      <p:sp>
        <p:nvSpPr>
          <p:cNvPr id="53251" name="Content Placeholder 2"/>
          <p:cNvSpPr>
            <a:spLocks noGrp="1"/>
          </p:cNvSpPr>
          <p:nvPr>
            <p:ph idx="1"/>
          </p:nvPr>
        </p:nvSpPr>
        <p:spPr>
          <a:xfrm>
            <a:off x="1801814" y="1025525"/>
            <a:ext cx="8713787" cy="5422900"/>
          </a:xfrm>
        </p:spPr>
        <p:txBody>
          <a:bodyPr/>
          <a:lstStyle/>
          <a:p>
            <a:pPr marL="0" indent="0">
              <a:buNone/>
            </a:pPr>
            <a:r>
              <a:rPr lang="en-US" altLang="en-US" sz="3100" dirty="0"/>
              <a:t>Three steps to analyzing changes in equilibrium</a:t>
            </a:r>
          </a:p>
          <a:p>
            <a:pPr marL="971550" lvl="1" indent="-514350">
              <a:buFont typeface="Arial" charset="0"/>
              <a:buAutoNum type="arabicPeriod"/>
            </a:pPr>
            <a:r>
              <a:rPr lang="en-US" altLang="en-US" dirty="0" smtClean="0"/>
              <a:t>Decide whether the event shifts the supply curve, the demand curve, or, in some cases, both curves</a:t>
            </a:r>
          </a:p>
          <a:p>
            <a:pPr marL="971550" lvl="1" indent="-514350">
              <a:buFont typeface="Arial" charset="0"/>
              <a:buAutoNum type="arabicPeriod"/>
            </a:pPr>
            <a:r>
              <a:rPr lang="en-US" altLang="en-US" dirty="0" smtClean="0"/>
              <a:t>Decide whether the curve shifts to the right or to the left</a:t>
            </a:r>
          </a:p>
          <a:p>
            <a:pPr marL="971550" lvl="1" indent="-514350">
              <a:buFont typeface="Arial" charset="0"/>
              <a:buAutoNum type="arabicPeriod"/>
            </a:pPr>
            <a:r>
              <a:rPr lang="en-US" altLang="en-US" dirty="0" smtClean="0"/>
              <a:t>Use the supply-and-demand diagram</a:t>
            </a:r>
          </a:p>
          <a:p>
            <a:pPr marL="1371600" lvl="2" indent="-514350"/>
            <a:r>
              <a:rPr lang="en-US" altLang="en-US" dirty="0" smtClean="0"/>
              <a:t>Compare the initial and the new equilibrium</a:t>
            </a:r>
          </a:p>
          <a:p>
            <a:pPr marL="1371600" lvl="2" indent="-514350"/>
            <a:r>
              <a:rPr lang="en-US" altLang="en-US" dirty="0" smtClean="0"/>
              <a:t>Effects on equilibrium price and quantity</a:t>
            </a:r>
          </a:p>
        </p:txBody>
      </p:sp>
      <p:sp>
        <p:nvSpPr>
          <p:cNvPr id="5325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142E029F-7937-47B9-B7A2-1162ED5EC1FD}" type="slidenum">
              <a:rPr lang="en-US" altLang="en-US" sz="1200">
                <a:solidFill>
                  <a:srgbClr val="002060"/>
                </a:solidFill>
              </a:rPr>
              <a:pPr algn="ctr" eaLnBrk="1" hangingPunct="1"/>
              <a:t>2</a:t>
            </a:fld>
            <a:endParaRPr lang="en-US" altLang="en-US" sz="1200">
              <a:solidFill>
                <a:srgbClr val="002060"/>
              </a:solidFill>
            </a:endParaRPr>
          </a:p>
        </p:txBody>
      </p:sp>
      <p:sp>
        <p:nvSpPr>
          <p:cNvPr id="53252"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1000" dirty="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491821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53673" y="0"/>
            <a:ext cx="6414077" cy="6858000"/>
          </a:xfrm>
          <a:prstGeom prst="rect">
            <a:avLst/>
          </a:prstGeom>
        </p:spPr>
      </p:pic>
    </p:spTree>
    <p:extLst>
      <p:ext uri="{BB962C8B-B14F-4D97-AF65-F5344CB8AC3E}">
        <p14:creationId xmlns:p14="http://schemas.microsoft.com/office/powerpoint/2010/main" val="3053429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24250" y="0"/>
            <a:ext cx="5143500" cy="6858000"/>
          </a:xfrm>
          <a:prstGeom prst="rect">
            <a:avLst/>
          </a:prstGeom>
        </p:spPr>
      </p:pic>
    </p:spTree>
    <p:extLst>
      <p:ext uri="{BB962C8B-B14F-4D97-AF65-F5344CB8AC3E}">
        <p14:creationId xmlns:p14="http://schemas.microsoft.com/office/powerpoint/2010/main" val="1017981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Shift vs. Movement Along Curve</a:t>
            </a:r>
          </a:p>
        </p:txBody>
      </p:sp>
      <p:sp>
        <p:nvSpPr>
          <p:cNvPr id="3" name="Content Placeholder 2"/>
          <p:cNvSpPr>
            <a:spLocks noGrp="1"/>
          </p:cNvSpPr>
          <p:nvPr>
            <p:ph idx="1"/>
          </p:nvPr>
        </p:nvSpPr>
        <p:spPr/>
        <p:txBody>
          <a:bodyPr/>
          <a:lstStyle/>
          <a:p>
            <a:r>
              <a:rPr lang="en-US" dirty="0"/>
              <a:t>Change in supply:  </a:t>
            </a:r>
            <a:endParaRPr lang="en-US" dirty="0" smtClean="0"/>
          </a:p>
          <a:p>
            <a:pPr lvl="1"/>
            <a:r>
              <a:rPr lang="en-US" dirty="0" smtClean="0"/>
              <a:t>A </a:t>
            </a:r>
            <a:r>
              <a:rPr lang="en-US" dirty="0"/>
              <a:t>shift in the S </a:t>
            </a:r>
            <a:r>
              <a:rPr lang="en-US" dirty="0" smtClean="0"/>
              <a:t>curve</a:t>
            </a:r>
          </a:p>
          <a:p>
            <a:pPr lvl="1"/>
            <a:r>
              <a:rPr lang="en-US" dirty="0" smtClean="0"/>
              <a:t>Occurs </a:t>
            </a:r>
            <a:r>
              <a:rPr lang="en-US" dirty="0"/>
              <a:t>when a non-price determinant of supply changes (like technology or costs)</a:t>
            </a:r>
          </a:p>
          <a:p>
            <a:r>
              <a:rPr lang="en-US" dirty="0"/>
              <a:t>Change in the quantity supplied: </a:t>
            </a:r>
            <a:endParaRPr lang="en-US" dirty="0" smtClean="0"/>
          </a:p>
          <a:p>
            <a:pPr lvl="1"/>
            <a:r>
              <a:rPr lang="en-US" dirty="0" smtClean="0"/>
              <a:t>A </a:t>
            </a:r>
            <a:r>
              <a:rPr lang="en-US" dirty="0"/>
              <a:t>movement along a fixed S curve </a:t>
            </a:r>
            <a:endParaRPr lang="en-US" dirty="0" smtClean="0"/>
          </a:p>
          <a:p>
            <a:pPr lvl="1"/>
            <a:r>
              <a:rPr lang="en-US" dirty="0" smtClean="0"/>
              <a:t>Occurs </a:t>
            </a:r>
            <a:r>
              <a:rPr lang="en-US" dirty="0"/>
              <a:t>when P changes  </a:t>
            </a:r>
          </a:p>
        </p:txBody>
      </p:sp>
      <p:sp>
        <p:nvSpPr>
          <p:cNvPr id="4" name="Slide Number Placeholder 3"/>
          <p:cNvSpPr>
            <a:spLocks noGrp="1"/>
          </p:cNvSpPr>
          <p:nvPr>
            <p:ph type="sldNum" sz="quarter" idx="10"/>
          </p:nvPr>
        </p:nvSpPr>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fld id="{073C29DC-2178-4274-9150-45F8EBD31C2D}" type="slidenum">
              <a:rPr kumimoji="0" lang="en-US" sz="1200" b="0" i="0" u="none" strike="noStrike" kern="1200" cap="none" spc="0" normalizeH="0" baseline="0" noProof="0">
                <a:ln>
                  <a:noFill/>
                </a:ln>
                <a:solidFill>
                  <a:srgbClr val="002060"/>
                </a:solidFill>
                <a:effectLst/>
                <a:uLnTx/>
                <a:uFillTx/>
                <a:latin typeface="Arial"/>
                <a:ea typeface="+mn-ea"/>
                <a:cs typeface="+mn-cs"/>
              </a:rPr>
              <a:pPr marL="0" marR="0" lvl="0" indent="0" algn="ctr" defTabSz="914400" rtl="0" eaLnBrk="1" fontAlgn="auto" latinLnBrk="0" hangingPunct="1">
                <a:lnSpc>
                  <a:spcPct val="100000"/>
                </a:lnSpc>
                <a:spcBef>
                  <a:spcPct val="0"/>
                </a:spcBef>
                <a:spcAft>
                  <a:spcPts val="0"/>
                </a:spcAft>
                <a:buClrTx/>
                <a:buSzTx/>
                <a:buFontTx/>
                <a:buNone/>
                <a:tabLst/>
                <a:defRPr/>
              </a:pPr>
              <a:t>5</a:t>
            </a:fld>
            <a:endParaRPr kumimoji="0" lang="en-US" sz="1200" b="0" i="0" u="none" strike="noStrike" kern="1200" cap="none" spc="0" normalizeH="0" baseline="0" noProof="0">
              <a:ln>
                <a:noFill/>
              </a:ln>
              <a:solidFill>
                <a:srgbClr val="002060"/>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itchFamily="34"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kumimoji="0" lang="en-US" sz="1000" b="0" i="0" u="none" strike="noStrike" kern="1200" cap="none" spc="0" normalizeH="0" baseline="0" noProof="0" dirty="0">
              <a:ln>
                <a:noFill/>
              </a:ln>
              <a:solidFill>
                <a:srgbClr val="000000"/>
              </a:solidFill>
              <a:effectLst/>
              <a:uLnTx/>
              <a:uFillTx/>
              <a:latin typeface="Arial"/>
              <a:ea typeface="+mn-ea"/>
              <a:cs typeface="Arial" pitchFamily="34" charset="0"/>
            </a:endParaRPr>
          </a:p>
        </p:txBody>
      </p:sp>
    </p:spTree>
    <p:extLst>
      <p:ext uri="{BB962C8B-B14F-4D97-AF65-F5344CB8AC3E}">
        <p14:creationId xmlns:p14="http://schemas.microsoft.com/office/powerpoint/2010/main" val="1394696638"/>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Shift vs. Movement Along Curve</a:t>
            </a:r>
          </a:p>
        </p:txBody>
      </p:sp>
      <p:sp>
        <p:nvSpPr>
          <p:cNvPr id="3" name="Content Placeholder 2"/>
          <p:cNvSpPr>
            <a:spLocks noGrp="1"/>
          </p:cNvSpPr>
          <p:nvPr>
            <p:ph idx="1"/>
          </p:nvPr>
        </p:nvSpPr>
        <p:spPr/>
        <p:txBody>
          <a:bodyPr/>
          <a:lstStyle/>
          <a:p>
            <a:r>
              <a:rPr lang="en-US" dirty="0" smtClean="0"/>
              <a:t>Change </a:t>
            </a:r>
            <a:r>
              <a:rPr lang="en-US" dirty="0"/>
              <a:t>in demand:  </a:t>
            </a:r>
            <a:endParaRPr lang="en-US" dirty="0" smtClean="0"/>
          </a:p>
          <a:p>
            <a:pPr lvl="1"/>
            <a:r>
              <a:rPr lang="en-US" dirty="0" smtClean="0"/>
              <a:t>A </a:t>
            </a:r>
            <a:r>
              <a:rPr lang="en-US" dirty="0"/>
              <a:t>shift in the D </a:t>
            </a:r>
            <a:r>
              <a:rPr lang="en-US" dirty="0" smtClean="0"/>
              <a:t>curve</a:t>
            </a:r>
          </a:p>
          <a:p>
            <a:pPr lvl="1"/>
            <a:r>
              <a:rPr lang="en-US" dirty="0" smtClean="0"/>
              <a:t>Occurs </a:t>
            </a:r>
            <a:r>
              <a:rPr lang="en-US" dirty="0"/>
              <a:t>when a non-price determinant of demand changes (like income or # of buyers)</a:t>
            </a:r>
          </a:p>
          <a:p>
            <a:r>
              <a:rPr lang="en-US" dirty="0"/>
              <a:t>Change in the quantity demanded</a:t>
            </a:r>
            <a:r>
              <a:rPr lang="en-US" dirty="0" smtClean="0"/>
              <a:t>:</a:t>
            </a:r>
          </a:p>
          <a:p>
            <a:pPr lvl="1"/>
            <a:r>
              <a:rPr lang="en-US" dirty="0" smtClean="0"/>
              <a:t>A </a:t>
            </a:r>
            <a:r>
              <a:rPr lang="en-US" dirty="0"/>
              <a:t>movement along a fixed D </a:t>
            </a:r>
            <a:r>
              <a:rPr lang="en-US" dirty="0" smtClean="0"/>
              <a:t>curve</a:t>
            </a:r>
          </a:p>
          <a:p>
            <a:pPr lvl="1"/>
            <a:r>
              <a:rPr lang="en-US" dirty="0" smtClean="0"/>
              <a:t>Occurs </a:t>
            </a:r>
            <a:r>
              <a:rPr lang="en-US" dirty="0"/>
              <a:t>when P changes </a:t>
            </a:r>
          </a:p>
        </p:txBody>
      </p:sp>
      <p:sp>
        <p:nvSpPr>
          <p:cNvPr id="4" name="Slide Number Placeholder 3"/>
          <p:cNvSpPr>
            <a:spLocks noGrp="1"/>
          </p:cNvSpPr>
          <p:nvPr>
            <p:ph type="sldNum" sz="quarter" idx="10"/>
          </p:nvPr>
        </p:nvSpPr>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fld id="{073C29DC-2178-4274-9150-45F8EBD31C2D}" type="slidenum">
              <a:rPr kumimoji="0" lang="en-US" sz="1200" b="0" i="0" u="none" strike="noStrike" kern="1200" cap="none" spc="0" normalizeH="0" baseline="0" noProof="0">
                <a:ln>
                  <a:noFill/>
                </a:ln>
                <a:solidFill>
                  <a:srgbClr val="002060"/>
                </a:solidFill>
                <a:effectLst/>
                <a:uLnTx/>
                <a:uFillTx/>
                <a:latin typeface="Arial"/>
                <a:ea typeface="+mn-ea"/>
                <a:cs typeface="+mn-cs"/>
              </a:rPr>
              <a:pPr marL="0" marR="0" lvl="0" indent="0" algn="ctr" defTabSz="914400" rtl="0" eaLnBrk="1" fontAlgn="auto" latinLnBrk="0" hangingPunct="1">
                <a:lnSpc>
                  <a:spcPct val="100000"/>
                </a:lnSpc>
                <a:spcBef>
                  <a:spcPct val="0"/>
                </a:spcBef>
                <a:spcAft>
                  <a:spcPts val="0"/>
                </a:spcAft>
                <a:buClrTx/>
                <a:buSzTx/>
                <a:buFontTx/>
                <a:buNone/>
                <a:tabLst/>
                <a:defRPr/>
              </a:pPr>
              <a:t>6</a:t>
            </a:fld>
            <a:endParaRPr kumimoji="0" lang="en-US" sz="1200" b="0" i="0" u="none" strike="noStrike" kern="1200" cap="none" spc="0" normalizeH="0" baseline="0" noProof="0">
              <a:ln>
                <a:noFill/>
              </a:ln>
              <a:solidFill>
                <a:srgbClr val="002060"/>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itchFamily="34"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kumimoji="0" lang="en-US" sz="1000" b="0" i="0" u="none" strike="noStrike" kern="1200" cap="none" spc="0" normalizeH="0" baseline="0" noProof="0" dirty="0">
              <a:ln>
                <a:noFill/>
              </a:ln>
              <a:solidFill>
                <a:srgbClr val="000000"/>
              </a:solidFill>
              <a:effectLst/>
              <a:uLnTx/>
              <a:uFillTx/>
              <a:latin typeface="Arial"/>
              <a:ea typeface="+mn-ea"/>
              <a:cs typeface="Arial" pitchFamily="34" charset="0"/>
            </a:endParaRPr>
          </a:p>
        </p:txBody>
      </p:sp>
    </p:spTree>
    <p:extLst>
      <p:ext uri="{BB962C8B-B14F-4D97-AF65-F5344CB8AC3E}">
        <p14:creationId xmlns:p14="http://schemas.microsoft.com/office/powerpoint/2010/main" val="188441966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The Market for Hybrid </a:t>
            </a:r>
            <a:r>
              <a:rPr lang="en-US" dirty="0" smtClean="0"/>
              <a:t>Cars</a:t>
            </a:r>
            <a:endParaRPr lang="en-US"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a:latin typeface="Arial"/>
              </a:rPr>
              <a:pPr>
                <a:defRPr/>
              </a:pPr>
              <a:t>7</a:t>
            </a:fld>
            <a:endParaRPr lang="en-US" dirty="0">
              <a:latin typeface="Arial"/>
            </a:endParaRPr>
          </a:p>
        </p:txBody>
      </p:sp>
      <p:sp>
        <p:nvSpPr>
          <p:cNvPr id="5" name="Footer Placeholder 4"/>
          <p:cNvSpPr>
            <a:spLocks noGrp="1"/>
          </p:cNvSpPr>
          <p:nvPr>
            <p:ph type="ftr" sz="quarter" idx="14"/>
          </p:nvPr>
        </p:nvSpPr>
        <p:spPr/>
        <p:txBody>
          <a:bodyPr/>
          <a:lstStyle/>
          <a:p>
            <a:pPr>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grpSp>
        <p:nvGrpSpPr>
          <p:cNvPr id="6" name="Group 4"/>
          <p:cNvGrpSpPr>
            <a:grpSpLocks/>
          </p:cNvGrpSpPr>
          <p:nvPr/>
        </p:nvGrpSpPr>
        <p:grpSpPr bwMode="auto">
          <a:xfrm>
            <a:off x="4351339" y="838201"/>
            <a:ext cx="4422775" cy="4111953"/>
            <a:chOff x="2579" y="785"/>
            <a:chExt cx="2786" cy="2423"/>
          </a:xfrm>
        </p:grpSpPr>
        <p:grpSp>
          <p:nvGrpSpPr>
            <p:cNvPr id="7" name="Group 5"/>
            <p:cNvGrpSpPr>
              <a:grpSpLocks/>
            </p:cNvGrpSpPr>
            <p:nvPr/>
          </p:nvGrpSpPr>
          <p:grpSpPr bwMode="auto">
            <a:xfrm>
              <a:off x="2697" y="1037"/>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solidFill>
                    <a:srgbClr val="000000"/>
                  </a:solidFill>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solidFill>
                    <a:srgbClr val="000000"/>
                  </a:solidFill>
                  <a:latin typeface="Arial"/>
                  <a:cs typeface="Arial"/>
                </a:endParaRPr>
              </a:p>
            </p:txBody>
          </p:sp>
        </p:grpSp>
        <p:sp>
          <p:nvSpPr>
            <p:cNvPr id="8" name="Text Box 8"/>
            <p:cNvSpPr txBox="1">
              <a:spLocks noChangeArrowheads="1"/>
            </p:cNvSpPr>
            <p:nvPr/>
          </p:nvSpPr>
          <p:spPr bwMode="auto">
            <a:xfrm>
              <a:off x="2579" y="785"/>
              <a:ext cx="267" cy="272"/>
            </a:xfrm>
            <a:prstGeom prst="rect">
              <a:avLst/>
            </a:prstGeom>
            <a:noFill/>
            <a:ln w="9525">
              <a:noFill/>
              <a:miter lim="800000"/>
              <a:headEnd/>
              <a:tailEnd/>
            </a:ln>
          </p:spPr>
          <p:txBody>
            <a:bodyPr>
              <a:spAutoFit/>
            </a:bodyPr>
            <a:lstStyle/>
            <a:p>
              <a:pPr algn="ctr">
                <a:spcBef>
                  <a:spcPct val="50000"/>
                </a:spcBef>
              </a:pPr>
              <a:r>
                <a:rPr lang="en-US" sz="2400" b="1" i="1">
                  <a:solidFill>
                    <a:srgbClr val="000000"/>
                  </a:solidFill>
                  <a:latin typeface="Arial"/>
                  <a:cs typeface="Arial"/>
                </a:rPr>
                <a:t>P</a:t>
              </a:r>
            </a:p>
          </p:txBody>
        </p:sp>
        <p:sp>
          <p:nvSpPr>
            <p:cNvPr id="9" name="Text Box 9"/>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solidFill>
                    <a:srgbClr val="000000"/>
                  </a:solidFill>
                  <a:latin typeface="Arial"/>
                  <a:cs typeface="Arial"/>
                </a:rPr>
                <a:t>Q</a:t>
              </a:r>
            </a:p>
          </p:txBody>
        </p:sp>
      </p:grpSp>
      <p:grpSp>
        <p:nvGrpSpPr>
          <p:cNvPr id="12" name="Group 38"/>
          <p:cNvGrpSpPr>
            <a:grpSpLocks/>
          </p:cNvGrpSpPr>
          <p:nvPr/>
        </p:nvGrpSpPr>
        <p:grpSpPr bwMode="auto">
          <a:xfrm>
            <a:off x="4781551" y="1616075"/>
            <a:ext cx="2486025" cy="2901950"/>
            <a:chOff x="2850" y="1233"/>
            <a:chExt cx="1566" cy="1828"/>
          </a:xfrm>
        </p:grpSpPr>
        <p:sp>
          <p:nvSpPr>
            <p:cNvPr id="13" name="Line 11"/>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solidFill>
                  <a:srgbClr val="000000"/>
                </a:solidFill>
                <a:latin typeface="Arial"/>
                <a:cs typeface="Arial"/>
              </a:endParaRPr>
            </a:p>
          </p:txBody>
        </p:sp>
        <p:sp>
          <p:nvSpPr>
            <p:cNvPr id="14" name="Text Box 12"/>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D</a:t>
              </a:r>
              <a:r>
                <a:rPr lang="en-US" sz="2400" baseline="-25000">
                  <a:solidFill>
                    <a:srgbClr val="000000"/>
                  </a:solidFill>
                  <a:latin typeface="Arial"/>
                  <a:cs typeface="Arial"/>
                </a:rPr>
                <a:t>1</a:t>
              </a:r>
            </a:p>
          </p:txBody>
        </p:sp>
      </p:grpSp>
      <p:grpSp>
        <p:nvGrpSpPr>
          <p:cNvPr id="15" name="Group 39"/>
          <p:cNvGrpSpPr>
            <a:grpSpLocks/>
          </p:cNvGrpSpPr>
          <p:nvPr/>
        </p:nvGrpSpPr>
        <p:grpSpPr bwMode="auto">
          <a:xfrm>
            <a:off x="5126039" y="1284287"/>
            <a:ext cx="1933575" cy="2901950"/>
            <a:chOff x="3067" y="1024"/>
            <a:chExt cx="1218" cy="1828"/>
          </a:xfrm>
        </p:grpSpPr>
        <p:sp>
          <p:nvSpPr>
            <p:cNvPr id="16" name="Line 14"/>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solidFill>
                  <a:srgbClr val="000000"/>
                </a:solidFill>
                <a:latin typeface="Arial"/>
                <a:cs typeface="Arial"/>
              </a:endParaRPr>
            </a:p>
          </p:txBody>
        </p:sp>
        <p:sp>
          <p:nvSpPr>
            <p:cNvPr id="17" name="Text Box 15"/>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S</a:t>
              </a:r>
              <a:r>
                <a:rPr lang="en-US" sz="2400" baseline="-25000">
                  <a:solidFill>
                    <a:srgbClr val="000000"/>
                  </a:solidFill>
                  <a:latin typeface="Arial"/>
                  <a:cs typeface="Arial"/>
                </a:rPr>
                <a:t>1</a:t>
              </a:r>
            </a:p>
          </p:txBody>
        </p:sp>
      </p:grpSp>
      <p:grpSp>
        <p:nvGrpSpPr>
          <p:cNvPr id="18" name="Group 42"/>
          <p:cNvGrpSpPr>
            <a:grpSpLocks/>
          </p:cNvGrpSpPr>
          <p:nvPr/>
        </p:nvGrpSpPr>
        <p:grpSpPr bwMode="auto">
          <a:xfrm>
            <a:off x="4040189" y="2795588"/>
            <a:ext cx="2060575" cy="2332038"/>
            <a:chOff x="2383" y="1976"/>
            <a:chExt cx="1298" cy="1469"/>
          </a:xfrm>
        </p:grpSpPr>
        <p:sp>
          <p:nvSpPr>
            <p:cNvPr id="19" name="Text Box 17"/>
            <p:cNvSpPr txBox="1">
              <a:spLocks noChangeArrowheads="1"/>
            </p:cNvSpPr>
            <p:nvPr/>
          </p:nvSpPr>
          <p:spPr bwMode="auto">
            <a:xfrm>
              <a:off x="2383" y="1976"/>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P</a:t>
              </a:r>
              <a:r>
                <a:rPr lang="en-US" sz="2400" b="1" baseline="-25000">
                  <a:solidFill>
                    <a:srgbClr val="000000"/>
                  </a:solidFill>
                  <a:latin typeface="Arial"/>
                  <a:cs typeface="Arial"/>
                </a:rPr>
                <a:t>1</a:t>
              </a:r>
            </a:p>
          </p:txBody>
        </p:sp>
        <p:sp>
          <p:nvSpPr>
            <p:cNvPr id="20" name="Oval 18"/>
            <p:cNvSpPr>
              <a:spLocks noChangeArrowheads="1"/>
            </p:cNvSpPr>
            <p:nvPr/>
          </p:nvSpPr>
          <p:spPr bwMode="auto">
            <a:xfrm>
              <a:off x="3481" y="2043"/>
              <a:ext cx="88" cy="87"/>
            </a:xfrm>
            <a:prstGeom prst="ellipse">
              <a:avLst/>
            </a:prstGeom>
            <a:solidFill>
              <a:srgbClr val="000000"/>
            </a:solidFill>
            <a:ln w="9525">
              <a:noFill/>
              <a:prstDash val="dash"/>
              <a:round/>
              <a:headEnd/>
              <a:tailEnd/>
            </a:ln>
          </p:spPr>
          <p:txBody>
            <a:bodyPr wrap="none" anchor="ctr"/>
            <a:lstStyle/>
            <a:p>
              <a:endParaRPr lang="en-US">
                <a:solidFill>
                  <a:srgbClr val="000000"/>
                </a:solidFill>
                <a:latin typeface="Arial"/>
                <a:cs typeface="Arial"/>
              </a:endParaRPr>
            </a:p>
          </p:txBody>
        </p:sp>
        <p:sp>
          <p:nvSpPr>
            <p:cNvPr id="21" name="Line 19"/>
            <p:cNvSpPr>
              <a:spLocks noChangeShapeType="1"/>
            </p:cNvSpPr>
            <p:nvPr/>
          </p:nvSpPr>
          <p:spPr bwMode="auto">
            <a:xfrm>
              <a:off x="2701" y="2090"/>
              <a:ext cx="823" cy="0"/>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22" name="Line 21"/>
            <p:cNvSpPr>
              <a:spLocks noChangeShapeType="1"/>
            </p:cNvSpPr>
            <p:nvPr/>
          </p:nvSpPr>
          <p:spPr bwMode="auto">
            <a:xfrm>
              <a:off x="3527" y="2088"/>
              <a:ext cx="0" cy="1117"/>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23" name="Text Box 22"/>
            <p:cNvSpPr txBox="1">
              <a:spLocks noChangeArrowheads="1"/>
            </p:cNvSpPr>
            <p:nvPr/>
          </p:nvSpPr>
          <p:spPr bwMode="auto">
            <a:xfrm>
              <a:off x="3373" y="32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Q</a:t>
              </a:r>
              <a:r>
                <a:rPr lang="en-US" sz="2400" b="1" baseline="-25000">
                  <a:solidFill>
                    <a:srgbClr val="000000"/>
                  </a:solidFill>
                  <a:latin typeface="Arial"/>
                  <a:cs typeface="Arial"/>
                </a:rPr>
                <a:t>1</a:t>
              </a:r>
            </a:p>
          </p:txBody>
        </p:sp>
      </p:grpSp>
      <p:grpSp>
        <p:nvGrpSpPr>
          <p:cNvPr id="24" name="Group 23"/>
          <p:cNvGrpSpPr>
            <a:grpSpLocks/>
          </p:cNvGrpSpPr>
          <p:nvPr/>
        </p:nvGrpSpPr>
        <p:grpSpPr bwMode="auto">
          <a:xfrm>
            <a:off x="2133601" y="1071562"/>
            <a:ext cx="2259013" cy="831850"/>
            <a:chOff x="1330" y="890"/>
            <a:chExt cx="1275" cy="524"/>
          </a:xfrm>
        </p:grpSpPr>
        <p:sp>
          <p:nvSpPr>
            <p:cNvPr id="25" name="Line 24"/>
            <p:cNvSpPr>
              <a:spLocks noChangeShapeType="1"/>
            </p:cNvSpPr>
            <p:nvPr/>
          </p:nvSpPr>
          <p:spPr bwMode="auto">
            <a:xfrm flipV="1">
              <a:off x="2271" y="907"/>
              <a:ext cx="334" cy="240"/>
            </a:xfrm>
            <a:prstGeom prst="line">
              <a:avLst/>
            </a:prstGeom>
            <a:noFill/>
            <a:ln w="44450">
              <a:solidFill>
                <a:schemeClr val="tx1"/>
              </a:solidFill>
              <a:round/>
              <a:headEnd/>
              <a:tailEnd type="triangle" w="lg" len="med"/>
            </a:ln>
          </p:spPr>
          <p:txBody>
            <a:bodyPr/>
            <a:lstStyle/>
            <a:p>
              <a:endParaRPr lang="en-US">
                <a:solidFill>
                  <a:srgbClr val="000000"/>
                </a:solidFill>
                <a:latin typeface="Arial"/>
                <a:cs typeface="Arial"/>
              </a:endParaRPr>
            </a:p>
          </p:txBody>
        </p:sp>
        <p:sp>
          <p:nvSpPr>
            <p:cNvPr id="26" name="Text Box 25"/>
            <p:cNvSpPr txBox="1">
              <a:spLocks noChangeArrowheads="1"/>
            </p:cNvSpPr>
            <p:nvPr/>
          </p:nvSpPr>
          <p:spPr bwMode="auto">
            <a:xfrm>
              <a:off x="1330" y="890"/>
              <a:ext cx="986" cy="524"/>
            </a:xfrm>
            <a:prstGeom prst="rect">
              <a:avLst/>
            </a:prstGeom>
            <a:solidFill>
              <a:srgbClr val="FFCCCC"/>
            </a:solidFill>
            <a:ln w="9525">
              <a:solidFill>
                <a:schemeClr val="tx1"/>
              </a:solidFill>
              <a:miter lim="800000"/>
              <a:headEnd/>
              <a:tailEnd/>
            </a:ln>
          </p:spPr>
          <p:txBody>
            <a:bodyPr>
              <a:spAutoFit/>
            </a:bodyPr>
            <a:lstStyle/>
            <a:p>
              <a:pPr algn="ctr">
                <a:spcBef>
                  <a:spcPct val="50000"/>
                </a:spcBef>
              </a:pPr>
              <a:r>
                <a:rPr lang="en-US" sz="2400" dirty="0">
                  <a:solidFill>
                    <a:srgbClr val="000000"/>
                  </a:solidFill>
                  <a:latin typeface="Arial"/>
                  <a:cs typeface="Arial"/>
                </a:rPr>
                <a:t>price of hybrid cars</a:t>
              </a:r>
            </a:p>
          </p:txBody>
        </p:sp>
      </p:grpSp>
      <p:grpSp>
        <p:nvGrpSpPr>
          <p:cNvPr id="27" name="Group 26"/>
          <p:cNvGrpSpPr>
            <a:grpSpLocks/>
          </p:cNvGrpSpPr>
          <p:nvPr/>
        </p:nvGrpSpPr>
        <p:grpSpPr bwMode="auto">
          <a:xfrm>
            <a:off x="6838951" y="4911726"/>
            <a:ext cx="1909763" cy="1214437"/>
            <a:chOff x="3703" y="3309"/>
            <a:chExt cx="1695" cy="765"/>
          </a:xfrm>
        </p:grpSpPr>
        <p:sp>
          <p:nvSpPr>
            <p:cNvPr id="28" name="Line 27"/>
            <p:cNvSpPr>
              <a:spLocks noChangeShapeType="1"/>
            </p:cNvSpPr>
            <p:nvPr/>
          </p:nvSpPr>
          <p:spPr bwMode="auto">
            <a:xfrm flipV="1">
              <a:off x="5050" y="3309"/>
              <a:ext cx="127" cy="281"/>
            </a:xfrm>
            <a:prstGeom prst="line">
              <a:avLst/>
            </a:prstGeom>
            <a:noFill/>
            <a:ln w="44450">
              <a:solidFill>
                <a:schemeClr val="tx1"/>
              </a:solidFill>
              <a:round/>
              <a:headEnd/>
              <a:tailEnd type="triangle" w="lg" len="med"/>
            </a:ln>
          </p:spPr>
          <p:txBody>
            <a:bodyPr/>
            <a:lstStyle/>
            <a:p>
              <a:endParaRPr lang="en-US">
                <a:solidFill>
                  <a:srgbClr val="000000"/>
                </a:solidFill>
                <a:latin typeface="Arial"/>
                <a:cs typeface="Arial"/>
              </a:endParaRPr>
            </a:p>
          </p:txBody>
        </p:sp>
        <p:sp>
          <p:nvSpPr>
            <p:cNvPr id="29" name="Text Box 28"/>
            <p:cNvSpPr txBox="1">
              <a:spLocks noChangeArrowheads="1"/>
            </p:cNvSpPr>
            <p:nvPr/>
          </p:nvSpPr>
          <p:spPr bwMode="auto">
            <a:xfrm>
              <a:off x="3703" y="3550"/>
              <a:ext cx="1695" cy="524"/>
            </a:xfrm>
            <a:prstGeom prst="rect">
              <a:avLst/>
            </a:prstGeom>
            <a:solidFill>
              <a:srgbClr val="FFCCCC"/>
            </a:solidFill>
            <a:ln w="9525">
              <a:solidFill>
                <a:schemeClr val="tx1"/>
              </a:solidFill>
              <a:miter lim="800000"/>
              <a:headEnd/>
              <a:tailEnd/>
            </a:ln>
          </p:spPr>
          <p:txBody>
            <a:bodyPr>
              <a:spAutoFit/>
            </a:bodyPr>
            <a:lstStyle/>
            <a:p>
              <a:pPr algn="ctr">
                <a:spcBef>
                  <a:spcPct val="50000"/>
                </a:spcBef>
              </a:pPr>
              <a:r>
                <a:rPr lang="en-US" sz="2400" dirty="0">
                  <a:solidFill>
                    <a:srgbClr val="000000"/>
                  </a:solidFill>
                  <a:latin typeface="Arial"/>
                  <a:cs typeface="Arial"/>
                </a:rPr>
                <a:t>quantity of </a:t>
              </a:r>
              <a:br>
                <a:rPr lang="en-US" sz="2400" dirty="0">
                  <a:solidFill>
                    <a:srgbClr val="000000"/>
                  </a:solidFill>
                  <a:latin typeface="Arial"/>
                  <a:cs typeface="Arial"/>
                </a:rPr>
              </a:br>
              <a:r>
                <a:rPr lang="en-US" sz="2400" dirty="0">
                  <a:solidFill>
                    <a:srgbClr val="000000"/>
                  </a:solidFill>
                  <a:latin typeface="Arial"/>
                  <a:cs typeface="Arial"/>
                </a:rPr>
                <a:t>hybrid cars</a:t>
              </a:r>
            </a:p>
          </p:txBody>
        </p:sp>
      </p:grpSp>
    </p:spTree>
    <p:extLst>
      <p:ext uri="{BB962C8B-B14F-4D97-AF65-F5344CB8AC3E}">
        <p14:creationId xmlns:p14="http://schemas.microsoft.com/office/powerpoint/2010/main" val="299052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24"/>
                                        </p:tgtEl>
                                      </p:cBhvr>
                                    </p:animEffect>
                                    <p:set>
                                      <p:cBhvr>
                                        <p:cTn id="22" dur="1" fill="hold">
                                          <p:stCondLst>
                                            <p:cond delay="499"/>
                                          </p:stCondLst>
                                        </p:cTn>
                                        <p:tgtEl>
                                          <p:spTgt spid="24"/>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27"/>
                                        </p:tgtEl>
                                      </p:cBhvr>
                                    </p:animEffect>
                                    <p:set>
                                      <p:cBhvr>
                                        <p:cTn id="25" dur="1" fill="hold">
                                          <p:stCondLst>
                                            <p:cond delay="499"/>
                                          </p:stCondLst>
                                        </p:cTn>
                                        <p:tgtEl>
                                          <p:spTgt spid="27"/>
                                        </p:tgtEl>
                                        <p:attrNameLst>
                                          <p:attrName>style.visibility</p:attrName>
                                        </p:attrNameLst>
                                      </p:cBhvr>
                                      <p:to>
                                        <p:strVal val="hidden"/>
                                      </p:to>
                                    </p:set>
                                  </p:childTnLst>
                                </p:cTn>
                              </p:par>
                            </p:childTnLst>
                          </p:cTn>
                        </p:par>
                        <p:par>
                          <p:cTn id="26" fill="hold">
                            <p:stCondLst>
                              <p:cond delay="500"/>
                            </p:stCondLst>
                            <p:childTnLst>
                              <p:par>
                                <p:cTn id="27" presetID="18" presetClass="entr" presetSubtype="6" fill="hold"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strips(downRight)">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8" presetClass="entr" presetSubtype="3" fill="hold"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trips(upRight)">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ntr" presetSubtype="6"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strips(downRight)">
                                      <p:cBhvr>
                                        <p:cTn id="3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A Shift in </a:t>
            </a:r>
            <a:r>
              <a:rPr lang="en-US" dirty="0" smtClean="0"/>
              <a:t>Demand</a:t>
            </a:r>
            <a:endParaRPr lang="en-US" dirty="0"/>
          </a:p>
        </p:txBody>
      </p:sp>
      <p:sp>
        <p:nvSpPr>
          <p:cNvPr id="3" name="Text Placeholder 2"/>
          <p:cNvSpPr>
            <a:spLocks noGrp="1"/>
          </p:cNvSpPr>
          <p:nvPr>
            <p:ph type="body" sz="quarter" idx="12"/>
          </p:nvPr>
        </p:nvSpPr>
        <p:spPr>
          <a:xfrm>
            <a:off x="1676400" y="649289"/>
            <a:ext cx="4340772" cy="5715000"/>
          </a:xfrm>
        </p:spPr>
        <p:txBody>
          <a:bodyPr/>
          <a:lstStyle/>
          <a:p>
            <a:r>
              <a:rPr lang="en-US" sz="2200" b="1" dirty="0"/>
              <a:t>EVENT TO BE ANALYZED:  </a:t>
            </a:r>
            <a:br>
              <a:rPr lang="en-US" sz="2200" b="1" dirty="0"/>
            </a:br>
            <a:r>
              <a:rPr lang="en-US" sz="2200" dirty="0"/>
              <a:t>Increase in the price of gas.</a:t>
            </a:r>
          </a:p>
          <a:p>
            <a:pPr>
              <a:lnSpc>
                <a:spcPct val="105000"/>
              </a:lnSpc>
              <a:spcBef>
                <a:spcPct val="15000"/>
              </a:spcBef>
              <a:buClr>
                <a:srgbClr val="00B85C"/>
              </a:buClr>
              <a:buSzPct val="120000"/>
              <a:buFont typeface="Wingdings" pitchFamily="2" charset="2"/>
              <a:buNone/>
            </a:pPr>
            <a:r>
              <a:rPr lang="en-US" sz="2200" b="1" dirty="0">
                <a:cs typeface="Arial"/>
              </a:rPr>
              <a:t>STEP 1:  </a:t>
            </a:r>
            <a:r>
              <a:rPr lang="en-US" sz="2200" b="1" i="1" dirty="0">
                <a:cs typeface="Arial"/>
              </a:rPr>
              <a:t>D</a:t>
            </a:r>
            <a:r>
              <a:rPr lang="en-US" sz="2200" dirty="0">
                <a:cs typeface="Arial"/>
              </a:rPr>
              <a:t> curve shifts</a:t>
            </a:r>
          </a:p>
          <a:p>
            <a:pPr>
              <a:lnSpc>
                <a:spcPct val="105000"/>
              </a:lnSpc>
              <a:spcBef>
                <a:spcPct val="15000"/>
              </a:spcBef>
              <a:buClr>
                <a:srgbClr val="00B85C"/>
              </a:buClr>
              <a:buSzPct val="120000"/>
              <a:buFont typeface="Wingdings" pitchFamily="2" charset="2"/>
              <a:buNone/>
            </a:pPr>
            <a:r>
              <a:rPr lang="en-US" sz="2200" dirty="0">
                <a:cs typeface="Arial"/>
              </a:rPr>
              <a:t>because price of gas affects demand for hybrids. (</a:t>
            </a:r>
            <a:r>
              <a:rPr lang="en-US" sz="2200" b="1" i="1" dirty="0">
                <a:cs typeface="Arial"/>
              </a:rPr>
              <a:t>S</a:t>
            </a:r>
            <a:r>
              <a:rPr lang="en-US" sz="2200" dirty="0">
                <a:cs typeface="Arial"/>
              </a:rPr>
              <a:t> curve does not shift, because price of gas does not affect cost of producing hybrids) </a:t>
            </a:r>
          </a:p>
          <a:p>
            <a:pPr>
              <a:lnSpc>
                <a:spcPct val="105000"/>
              </a:lnSpc>
              <a:spcBef>
                <a:spcPct val="15000"/>
              </a:spcBef>
              <a:buClr>
                <a:srgbClr val="00B85C"/>
              </a:buClr>
              <a:buSzPct val="120000"/>
              <a:buFont typeface="Wingdings" pitchFamily="2" charset="2"/>
              <a:buNone/>
            </a:pPr>
            <a:r>
              <a:rPr lang="en-US" sz="2200" dirty="0">
                <a:cs typeface="Arial"/>
              </a:rPr>
              <a:t> </a:t>
            </a:r>
            <a:r>
              <a:rPr lang="en-US" sz="2200" b="1" dirty="0">
                <a:cs typeface="Arial"/>
              </a:rPr>
              <a:t>STEP 2:  </a:t>
            </a:r>
            <a:r>
              <a:rPr lang="en-US" sz="2200" b="1" i="1" dirty="0">
                <a:cs typeface="Arial"/>
              </a:rPr>
              <a:t>D</a:t>
            </a:r>
            <a:r>
              <a:rPr lang="en-US" sz="2200" dirty="0">
                <a:cs typeface="Arial"/>
              </a:rPr>
              <a:t> shifts </a:t>
            </a:r>
            <a:r>
              <a:rPr lang="en-US" sz="2200" u="sng" dirty="0">
                <a:cs typeface="Arial"/>
              </a:rPr>
              <a:t>right</a:t>
            </a:r>
          </a:p>
          <a:p>
            <a:pPr>
              <a:lnSpc>
                <a:spcPct val="105000"/>
              </a:lnSpc>
              <a:spcBef>
                <a:spcPct val="15000"/>
              </a:spcBef>
              <a:buClr>
                <a:srgbClr val="00B85C"/>
              </a:buClr>
              <a:buSzPct val="120000"/>
            </a:pPr>
            <a:r>
              <a:rPr lang="en-US" sz="2200" dirty="0">
                <a:cs typeface="Arial"/>
              </a:rPr>
              <a:t>because high gas price makes hybrids more attractive relative to other cars.</a:t>
            </a:r>
            <a:r>
              <a:rPr lang="en-US" sz="2200" b="1" i="1" dirty="0">
                <a:cs typeface="Arial"/>
              </a:rPr>
              <a:t> </a:t>
            </a:r>
            <a:endParaRPr lang="en-US" sz="2200" dirty="0">
              <a:cs typeface="Arial"/>
            </a:endParaRPr>
          </a:p>
          <a:p>
            <a:pPr>
              <a:lnSpc>
                <a:spcPct val="105000"/>
              </a:lnSpc>
              <a:spcBef>
                <a:spcPct val="20000"/>
              </a:spcBef>
              <a:buClr>
                <a:srgbClr val="00B85C"/>
              </a:buClr>
              <a:buSzPct val="120000"/>
              <a:buFont typeface="Wingdings" pitchFamily="2" charset="2"/>
              <a:buNone/>
            </a:pPr>
            <a:r>
              <a:rPr lang="en-US" sz="2200" b="1" dirty="0">
                <a:cs typeface="Arial"/>
              </a:rPr>
              <a:t>STEP 3: </a:t>
            </a:r>
            <a:r>
              <a:rPr lang="en-US" sz="2200" dirty="0">
                <a:cs typeface="Arial"/>
              </a:rPr>
              <a:t>The shift causes an increase in price and quantity of hybrid cars.</a:t>
            </a:r>
          </a:p>
          <a:p>
            <a:endParaRPr lang="en-US" sz="22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a:latin typeface="Arial"/>
              </a:rPr>
              <a:pPr>
                <a:defRPr/>
              </a:pPr>
              <a:t>8</a:t>
            </a:fld>
            <a:endParaRPr lang="en-US" dirty="0">
              <a:latin typeface="Arial"/>
            </a:endParaRPr>
          </a:p>
        </p:txBody>
      </p:sp>
      <p:sp>
        <p:nvSpPr>
          <p:cNvPr id="5" name="Footer Placeholder 4"/>
          <p:cNvSpPr>
            <a:spLocks noGrp="1"/>
          </p:cNvSpPr>
          <p:nvPr>
            <p:ph type="ftr" sz="quarter" idx="14"/>
          </p:nvPr>
        </p:nvSpPr>
        <p:spPr/>
        <p:txBody>
          <a:bodyPr/>
          <a:lstStyle/>
          <a:p>
            <a:pPr>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grpSp>
        <p:nvGrpSpPr>
          <p:cNvPr id="30" name="Group 4"/>
          <p:cNvGrpSpPr>
            <a:grpSpLocks/>
          </p:cNvGrpSpPr>
          <p:nvPr/>
        </p:nvGrpSpPr>
        <p:grpSpPr bwMode="auto">
          <a:xfrm>
            <a:off x="5940426" y="1179514"/>
            <a:ext cx="4422775" cy="4111953"/>
            <a:chOff x="2579" y="785"/>
            <a:chExt cx="2786" cy="2423"/>
          </a:xfrm>
        </p:grpSpPr>
        <p:grpSp>
          <p:nvGrpSpPr>
            <p:cNvPr id="31" name="Group 5"/>
            <p:cNvGrpSpPr>
              <a:grpSpLocks/>
            </p:cNvGrpSpPr>
            <p:nvPr/>
          </p:nvGrpSpPr>
          <p:grpSpPr bwMode="auto">
            <a:xfrm>
              <a:off x="2697" y="1037"/>
              <a:ext cx="2409" cy="2049"/>
              <a:chOff x="1098" y="1361"/>
              <a:chExt cx="2116" cy="2027"/>
            </a:xfrm>
          </p:grpSpPr>
          <p:sp>
            <p:nvSpPr>
              <p:cNvPr id="34"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solidFill>
                    <a:srgbClr val="000000"/>
                  </a:solidFill>
                  <a:latin typeface="Arial"/>
                  <a:cs typeface="Arial"/>
                </a:endParaRPr>
              </a:p>
            </p:txBody>
          </p:sp>
          <p:sp>
            <p:nvSpPr>
              <p:cNvPr id="35"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solidFill>
                    <a:srgbClr val="000000"/>
                  </a:solidFill>
                  <a:latin typeface="Arial"/>
                  <a:cs typeface="Arial"/>
                </a:endParaRPr>
              </a:p>
            </p:txBody>
          </p:sp>
        </p:grpSp>
        <p:sp>
          <p:nvSpPr>
            <p:cNvPr id="32" name="Text Box 8"/>
            <p:cNvSpPr txBox="1">
              <a:spLocks noChangeArrowheads="1"/>
            </p:cNvSpPr>
            <p:nvPr/>
          </p:nvSpPr>
          <p:spPr bwMode="auto">
            <a:xfrm>
              <a:off x="2579" y="785"/>
              <a:ext cx="267" cy="272"/>
            </a:xfrm>
            <a:prstGeom prst="rect">
              <a:avLst/>
            </a:prstGeom>
            <a:noFill/>
            <a:ln w="9525">
              <a:noFill/>
              <a:miter lim="800000"/>
              <a:headEnd/>
              <a:tailEnd/>
            </a:ln>
          </p:spPr>
          <p:txBody>
            <a:bodyPr>
              <a:spAutoFit/>
            </a:bodyPr>
            <a:lstStyle/>
            <a:p>
              <a:pPr algn="ctr">
                <a:spcBef>
                  <a:spcPct val="50000"/>
                </a:spcBef>
              </a:pPr>
              <a:r>
                <a:rPr lang="en-US" sz="2400" b="1" i="1">
                  <a:solidFill>
                    <a:srgbClr val="000000"/>
                  </a:solidFill>
                  <a:latin typeface="Arial"/>
                  <a:cs typeface="Arial"/>
                </a:rPr>
                <a:t>P</a:t>
              </a:r>
            </a:p>
          </p:txBody>
        </p:sp>
        <p:sp>
          <p:nvSpPr>
            <p:cNvPr id="33" name="Text Box 9"/>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solidFill>
                    <a:srgbClr val="000000"/>
                  </a:solidFill>
                  <a:latin typeface="Arial"/>
                  <a:cs typeface="Arial"/>
                </a:rPr>
                <a:t>Q</a:t>
              </a:r>
            </a:p>
          </p:txBody>
        </p:sp>
      </p:grpSp>
      <p:grpSp>
        <p:nvGrpSpPr>
          <p:cNvPr id="36" name="Group 10"/>
          <p:cNvGrpSpPr>
            <a:grpSpLocks/>
          </p:cNvGrpSpPr>
          <p:nvPr/>
        </p:nvGrpSpPr>
        <p:grpSpPr bwMode="auto">
          <a:xfrm>
            <a:off x="6370638" y="1957388"/>
            <a:ext cx="2486025" cy="2901950"/>
            <a:chOff x="2850" y="1233"/>
            <a:chExt cx="1566" cy="1828"/>
          </a:xfrm>
        </p:grpSpPr>
        <p:sp>
          <p:nvSpPr>
            <p:cNvPr id="37" name="Line 11"/>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solidFill>
                  <a:srgbClr val="000000"/>
                </a:solidFill>
                <a:latin typeface="Arial"/>
                <a:cs typeface="Arial"/>
              </a:endParaRPr>
            </a:p>
          </p:txBody>
        </p:sp>
        <p:sp>
          <p:nvSpPr>
            <p:cNvPr id="38" name="Text Box 12"/>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D</a:t>
              </a:r>
              <a:r>
                <a:rPr lang="en-US" sz="2400" baseline="-25000">
                  <a:solidFill>
                    <a:srgbClr val="000000"/>
                  </a:solidFill>
                  <a:latin typeface="Arial"/>
                  <a:cs typeface="Arial"/>
                </a:rPr>
                <a:t>1</a:t>
              </a:r>
            </a:p>
          </p:txBody>
        </p:sp>
      </p:grpSp>
      <p:grpSp>
        <p:nvGrpSpPr>
          <p:cNvPr id="39" name="Group 13"/>
          <p:cNvGrpSpPr>
            <a:grpSpLocks/>
          </p:cNvGrpSpPr>
          <p:nvPr/>
        </p:nvGrpSpPr>
        <p:grpSpPr bwMode="auto">
          <a:xfrm>
            <a:off x="6715126" y="1625600"/>
            <a:ext cx="1933575" cy="2901950"/>
            <a:chOff x="3067" y="1024"/>
            <a:chExt cx="1218" cy="1828"/>
          </a:xfrm>
        </p:grpSpPr>
        <p:sp>
          <p:nvSpPr>
            <p:cNvPr id="40" name="Line 14"/>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solidFill>
                  <a:srgbClr val="000000"/>
                </a:solidFill>
                <a:latin typeface="Arial"/>
                <a:cs typeface="Arial"/>
              </a:endParaRPr>
            </a:p>
          </p:txBody>
        </p:sp>
        <p:sp>
          <p:nvSpPr>
            <p:cNvPr id="41" name="Text Box 15"/>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S</a:t>
              </a:r>
              <a:r>
                <a:rPr lang="en-US" sz="2400" baseline="-25000">
                  <a:solidFill>
                    <a:srgbClr val="000000"/>
                  </a:solidFill>
                  <a:latin typeface="Arial"/>
                  <a:cs typeface="Arial"/>
                </a:rPr>
                <a:t>1</a:t>
              </a:r>
            </a:p>
          </p:txBody>
        </p:sp>
      </p:grpSp>
      <p:grpSp>
        <p:nvGrpSpPr>
          <p:cNvPr id="42" name="Group 16"/>
          <p:cNvGrpSpPr>
            <a:grpSpLocks/>
          </p:cNvGrpSpPr>
          <p:nvPr/>
        </p:nvGrpSpPr>
        <p:grpSpPr bwMode="auto">
          <a:xfrm>
            <a:off x="5629276" y="3136901"/>
            <a:ext cx="2060575" cy="2332038"/>
            <a:chOff x="2383" y="1976"/>
            <a:chExt cx="1298" cy="1469"/>
          </a:xfrm>
        </p:grpSpPr>
        <p:sp>
          <p:nvSpPr>
            <p:cNvPr id="43" name="Text Box 17"/>
            <p:cNvSpPr txBox="1">
              <a:spLocks noChangeArrowheads="1"/>
            </p:cNvSpPr>
            <p:nvPr/>
          </p:nvSpPr>
          <p:spPr bwMode="auto">
            <a:xfrm>
              <a:off x="2383" y="1976"/>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P</a:t>
              </a:r>
              <a:r>
                <a:rPr lang="en-US" sz="2400" b="1" baseline="-25000">
                  <a:solidFill>
                    <a:srgbClr val="000000"/>
                  </a:solidFill>
                  <a:latin typeface="Arial"/>
                  <a:cs typeface="Arial"/>
                </a:rPr>
                <a:t>1</a:t>
              </a:r>
            </a:p>
          </p:txBody>
        </p:sp>
        <p:sp>
          <p:nvSpPr>
            <p:cNvPr id="44" name="Oval 18"/>
            <p:cNvSpPr>
              <a:spLocks noChangeArrowheads="1"/>
            </p:cNvSpPr>
            <p:nvPr/>
          </p:nvSpPr>
          <p:spPr bwMode="auto">
            <a:xfrm>
              <a:off x="3481" y="2043"/>
              <a:ext cx="88" cy="87"/>
            </a:xfrm>
            <a:prstGeom prst="ellipse">
              <a:avLst/>
            </a:prstGeom>
            <a:solidFill>
              <a:srgbClr val="000000"/>
            </a:solidFill>
            <a:ln w="9525">
              <a:noFill/>
              <a:prstDash val="dash"/>
              <a:round/>
              <a:headEnd/>
              <a:tailEnd/>
            </a:ln>
          </p:spPr>
          <p:txBody>
            <a:bodyPr wrap="none" anchor="ctr"/>
            <a:lstStyle/>
            <a:p>
              <a:endParaRPr lang="en-US">
                <a:solidFill>
                  <a:srgbClr val="000000"/>
                </a:solidFill>
                <a:latin typeface="Arial"/>
                <a:cs typeface="Arial"/>
              </a:endParaRPr>
            </a:p>
          </p:txBody>
        </p:sp>
        <p:sp>
          <p:nvSpPr>
            <p:cNvPr id="45" name="Line 19"/>
            <p:cNvSpPr>
              <a:spLocks noChangeShapeType="1"/>
            </p:cNvSpPr>
            <p:nvPr/>
          </p:nvSpPr>
          <p:spPr bwMode="auto">
            <a:xfrm>
              <a:off x="2701" y="2090"/>
              <a:ext cx="823" cy="0"/>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46" name="Line 20"/>
            <p:cNvSpPr>
              <a:spLocks noChangeShapeType="1"/>
            </p:cNvSpPr>
            <p:nvPr/>
          </p:nvSpPr>
          <p:spPr bwMode="auto">
            <a:xfrm>
              <a:off x="3527" y="2088"/>
              <a:ext cx="0" cy="1117"/>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47" name="Text Box 21"/>
            <p:cNvSpPr txBox="1">
              <a:spLocks noChangeArrowheads="1"/>
            </p:cNvSpPr>
            <p:nvPr/>
          </p:nvSpPr>
          <p:spPr bwMode="auto">
            <a:xfrm>
              <a:off x="3373" y="32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Q</a:t>
              </a:r>
              <a:r>
                <a:rPr lang="en-US" sz="2400" b="1" baseline="-25000">
                  <a:solidFill>
                    <a:srgbClr val="000000"/>
                  </a:solidFill>
                  <a:latin typeface="Arial"/>
                  <a:cs typeface="Arial"/>
                </a:rPr>
                <a:t>1</a:t>
              </a:r>
            </a:p>
          </p:txBody>
        </p:sp>
      </p:grpSp>
      <p:grpSp>
        <p:nvGrpSpPr>
          <p:cNvPr id="48" name="Group 22"/>
          <p:cNvGrpSpPr>
            <a:grpSpLocks/>
          </p:cNvGrpSpPr>
          <p:nvPr/>
        </p:nvGrpSpPr>
        <p:grpSpPr bwMode="auto">
          <a:xfrm>
            <a:off x="7512051" y="1854200"/>
            <a:ext cx="2486025" cy="2901950"/>
            <a:chOff x="3569" y="1168"/>
            <a:chExt cx="1566" cy="1828"/>
          </a:xfrm>
        </p:grpSpPr>
        <p:sp>
          <p:nvSpPr>
            <p:cNvPr id="49" name="Line 23"/>
            <p:cNvSpPr>
              <a:spLocks noChangeShapeType="1"/>
            </p:cNvSpPr>
            <p:nvPr/>
          </p:nvSpPr>
          <p:spPr bwMode="auto">
            <a:xfrm>
              <a:off x="3569" y="1168"/>
              <a:ext cx="1263" cy="1587"/>
            </a:xfrm>
            <a:prstGeom prst="line">
              <a:avLst/>
            </a:prstGeom>
            <a:noFill/>
            <a:ln w="38100">
              <a:solidFill>
                <a:srgbClr val="FF0000"/>
              </a:solidFill>
              <a:round/>
              <a:headEnd/>
              <a:tailEnd/>
            </a:ln>
          </p:spPr>
          <p:txBody>
            <a:bodyPr/>
            <a:lstStyle/>
            <a:p>
              <a:endParaRPr lang="en-US">
                <a:solidFill>
                  <a:srgbClr val="000000"/>
                </a:solidFill>
                <a:latin typeface="Arial"/>
                <a:cs typeface="Arial"/>
              </a:endParaRPr>
            </a:p>
          </p:txBody>
        </p:sp>
        <p:sp>
          <p:nvSpPr>
            <p:cNvPr id="50" name="Text Box 24"/>
            <p:cNvSpPr txBox="1">
              <a:spLocks noChangeArrowheads="1"/>
            </p:cNvSpPr>
            <p:nvPr/>
          </p:nvSpPr>
          <p:spPr bwMode="auto">
            <a:xfrm>
              <a:off x="4791" y="2708"/>
              <a:ext cx="344"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D</a:t>
              </a:r>
              <a:r>
                <a:rPr lang="en-US" sz="2400" baseline="-25000">
                  <a:solidFill>
                    <a:srgbClr val="000000"/>
                  </a:solidFill>
                  <a:latin typeface="Arial"/>
                  <a:cs typeface="Arial"/>
                </a:rPr>
                <a:t>2</a:t>
              </a:r>
            </a:p>
          </p:txBody>
        </p:sp>
      </p:grpSp>
      <p:sp>
        <p:nvSpPr>
          <p:cNvPr id="51" name="Line 25"/>
          <p:cNvSpPr>
            <a:spLocks noChangeShapeType="1"/>
          </p:cNvSpPr>
          <p:nvPr/>
        </p:nvSpPr>
        <p:spPr bwMode="auto">
          <a:xfrm>
            <a:off x="6634162" y="2192338"/>
            <a:ext cx="1068388" cy="0"/>
          </a:xfrm>
          <a:prstGeom prst="line">
            <a:avLst/>
          </a:prstGeom>
          <a:noFill/>
          <a:ln w="57150">
            <a:solidFill>
              <a:srgbClr val="A50021"/>
            </a:solidFill>
            <a:round/>
            <a:headEnd/>
            <a:tailEnd type="triangle" w="lg" len="med"/>
          </a:ln>
        </p:spPr>
        <p:txBody>
          <a:bodyPr/>
          <a:lstStyle/>
          <a:p>
            <a:endParaRPr lang="en-US">
              <a:solidFill>
                <a:srgbClr val="000000"/>
              </a:solidFill>
              <a:latin typeface="Arial"/>
              <a:cs typeface="Arial"/>
            </a:endParaRPr>
          </a:p>
        </p:txBody>
      </p:sp>
      <p:grpSp>
        <p:nvGrpSpPr>
          <p:cNvPr id="52" name="Group 36"/>
          <p:cNvGrpSpPr>
            <a:grpSpLocks/>
          </p:cNvGrpSpPr>
          <p:nvPr/>
        </p:nvGrpSpPr>
        <p:grpSpPr bwMode="auto">
          <a:xfrm>
            <a:off x="5621337" y="2252664"/>
            <a:ext cx="2598738" cy="3224213"/>
            <a:chOff x="2378" y="1419"/>
            <a:chExt cx="1637" cy="2031"/>
          </a:xfrm>
        </p:grpSpPr>
        <p:sp>
          <p:nvSpPr>
            <p:cNvPr id="53" name="Text Box 26"/>
            <p:cNvSpPr txBox="1">
              <a:spLocks noChangeArrowheads="1"/>
            </p:cNvSpPr>
            <p:nvPr/>
          </p:nvSpPr>
          <p:spPr bwMode="auto">
            <a:xfrm>
              <a:off x="2378" y="1419"/>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P</a:t>
              </a:r>
              <a:r>
                <a:rPr lang="en-US" sz="2400" b="1" baseline="-25000">
                  <a:solidFill>
                    <a:srgbClr val="000000"/>
                  </a:solidFill>
                  <a:latin typeface="Arial"/>
                  <a:cs typeface="Arial"/>
                </a:rPr>
                <a:t>2</a:t>
              </a:r>
            </a:p>
          </p:txBody>
        </p:sp>
        <p:sp>
          <p:nvSpPr>
            <p:cNvPr id="54" name="Oval 27"/>
            <p:cNvSpPr>
              <a:spLocks noChangeArrowheads="1"/>
            </p:cNvSpPr>
            <p:nvPr/>
          </p:nvSpPr>
          <p:spPr bwMode="auto">
            <a:xfrm>
              <a:off x="3818" y="1487"/>
              <a:ext cx="88" cy="87"/>
            </a:xfrm>
            <a:prstGeom prst="ellipse">
              <a:avLst/>
            </a:prstGeom>
            <a:solidFill>
              <a:srgbClr val="000000"/>
            </a:solidFill>
            <a:ln w="9525">
              <a:noFill/>
              <a:prstDash val="dash"/>
              <a:round/>
              <a:headEnd/>
              <a:tailEnd/>
            </a:ln>
          </p:spPr>
          <p:txBody>
            <a:bodyPr wrap="none" anchor="ctr"/>
            <a:lstStyle/>
            <a:p>
              <a:endParaRPr lang="en-US">
                <a:solidFill>
                  <a:srgbClr val="000000"/>
                </a:solidFill>
                <a:latin typeface="Arial"/>
                <a:cs typeface="Arial"/>
              </a:endParaRPr>
            </a:p>
          </p:txBody>
        </p:sp>
        <p:sp>
          <p:nvSpPr>
            <p:cNvPr id="55" name="Text Box 28"/>
            <p:cNvSpPr txBox="1">
              <a:spLocks noChangeArrowheads="1"/>
            </p:cNvSpPr>
            <p:nvPr/>
          </p:nvSpPr>
          <p:spPr bwMode="auto">
            <a:xfrm>
              <a:off x="3707" y="3217"/>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Q</a:t>
              </a:r>
              <a:r>
                <a:rPr lang="en-US" sz="2400" b="1" baseline="-25000">
                  <a:solidFill>
                    <a:srgbClr val="000000"/>
                  </a:solidFill>
                  <a:latin typeface="Arial"/>
                  <a:cs typeface="Arial"/>
                </a:rPr>
                <a:t>2</a:t>
              </a:r>
            </a:p>
          </p:txBody>
        </p:sp>
        <p:sp>
          <p:nvSpPr>
            <p:cNvPr id="56" name="Line 29"/>
            <p:cNvSpPr>
              <a:spLocks noChangeShapeType="1"/>
            </p:cNvSpPr>
            <p:nvPr/>
          </p:nvSpPr>
          <p:spPr bwMode="auto">
            <a:xfrm flipH="1">
              <a:off x="2700" y="1535"/>
              <a:ext cx="1165" cy="0"/>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57" name="Line 30"/>
            <p:cNvSpPr>
              <a:spLocks noChangeShapeType="1"/>
            </p:cNvSpPr>
            <p:nvPr/>
          </p:nvSpPr>
          <p:spPr bwMode="auto">
            <a:xfrm>
              <a:off x="3862" y="1535"/>
              <a:ext cx="0" cy="1665"/>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grpSp>
    </p:spTree>
    <p:extLst>
      <p:ext uri="{BB962C8B-B14F-4D97-AF65-F5344CB8AC3E}">
        <p14:creationId xmlns:p14="http://schemas.microsoft.com/office/powerpoint/2010/main" val="2667017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left)">
                                      <p:cBhvr>
                                        <p:cTn id="21" dur="500"/>
                                        <p:tgtEl>
                                          <p:spTgt spid="3">
                                            <p:txEl>
                                              <p:pRg st="3" end="3"/>
                                            </p:txEl>
                                          </p:spTgt>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500"/>
                                        <p:tgtEl>
                                          <p:spTgt spid="3">
                                            <p:txEl>
                                              <p:pRg st="4" end="4"/>
                                            </p:txEl>
                                          </p:spTgt>
                                        </p:tgtEl>
                                      </p:cBhvr>
                                    </p:animEffect>
                                  </p:childTnLst>
                                </p:cTn>
                              </p:par>
                            </p:childTnLst>
                          </p:cTn>
                        </p:par>
                        <p:par>
                          <p:cTn id="26" fill="hold">
                            <p:stCondLst>
                              <p:cond delay="1000"/>
                            </p:stCondLst>
                            <p:childTnLst>
                              <p:par>
                                <p:cTn id="27" presetID="17" presetClass="entr" presetSubtype="8" fill="hold" grpId="0" nodeType="afterEffect">
                                  <p:stCondLst>
                                    <p:cond delay="0"/>
                                  </p:stCondLst>
                                  <p:childTnLst>
                                    <p:set>
                                      <p:cBhvr>
                                        <p:cTn id="28" dur="1" fill="hold">
                                          <p:stCondLst>
                                            <p:cond delay="0"/>
                                          </p:stCondLst>
                                        </p:cTn>
                                        <p:tgtEl>
                                          <p:spTgt spid="51"/>
                                        </p:tgtEl>
                                        <p:attrNameLst>
                                          <p:attrName>style.visibility</p:attrName>
                                        </p:attrNameLst>
                                      </p:cBhvr>
                                      <p:to>
                                        <p:strVal val="visible"/>
                                      </p:to>
                                    </p:set>
                                    <p:anim calcmode="lin" valueType="num">
                                      <p:cBhvr>
                                        <p:cTn id="29" dur="500" fill="hold"/>
                                        <p:tgtEl>
                                          <p:spTgt spid="51"/>
                                        </p:tgtEl>
                                        <p:attrNameLst>
                                          <p:attrName>ppt_x</p:attrName>
                                        </p:attrNameLst>
                                      </p:cBhvr>
                                      <p:tavLst>
                                        <p:tav tm="0">
                                          <p:val>
                                            <p:strVal val="#ppt_x-#ppt_w/2"/>
                                          </p:val>
                                        </p:tav>
                                        <p:tav tm="100000">
                                          <p:val>
                                            <p:strVal val="#ppt_x"/>
                                          </p:val>
                                        </p:tav>
                                      </p:tavLst>
                                    </p:anim>
                                    <p:anim calcmode="lin" valueType="num">
                                      <p:cBhvr>
                                        <p:cTn id="30" dur="500" fill="hold"/>
                                        <p:tgtEl>
                                          <p:spTgt spid="51"/>
                                        </p:tgtEl>
                                        <p:attrNameLst>
                                          <p:attrName>ppt_y</p:attrName>
                                        </p:attrNameLst>
                                      </p:cBhvr>
                                      <p:tavLst>
                                        <p:tav tm="0">
                                          <p:val>
                                            <p:strVal val="#ppt_y"/>
                                          </p:val>
                                        </p:tav>
                                        <p:tav tm="100000">
                                          <p:val>
                                            <p:strVal val="#ppt_y"/>
                                          </p:val>
                                        </p:tav>
                                      </p:tavLst>
                                    </p:anim>
                                    <p:anim calcmode="lin" valueType="num">
                                      <p:cBhvr>
                                        <p:cTn id="31" dur="500" fill="hold"/>
                                        <p:tgtEl>
                                          <p:spTgt spid="51"/>
                                        </p:tgtEl>
                                        <p:attrNameLst>
                                          <p:attrName>ppt_w</p:attrName>
                                        </p:attrNameLst>
                                      </p:cBhvr>
                                      <p:tavLst>
                                        <p:tav tm="0">
                                          <p:val>
                                            <p:fltVal val="0"/>
                                          </p:val>
                                        </p:tav>
                                        <p:tav tm="100000">
                                          <p:val>
                                            <p:strVal val="#ppt_w"/>
                                          </p:val>
                                        </p:tav>
                                      </p:tavLst>
                                    </p:anim>
                                    <p:anim calcmode="lin" valueType="num">
                                      <p:cBhvr>
                                        <p:cTn id="32" dur="500" fill="hold"/>
                                        <p:tgtEl>
                                          <p:spTgt spid="51"/>
                                        </p:tgtEl>
                                        <p:attrNameLst>
                                          <p:attrName>ppt_h</p:attrName>
                                        </p:attrNameLst>
                                      </p:cBhvr>
                                      <p:tavLst>
                                        <p:tav tm="0">
                                          <p:val>
                                            <p:strVal val="#ppt_h"/>
                                          </p:val>
                                        </p:tav>
                                        <p:tav tm="100000">
                                          <p:val>
                                            <p:strVal val="#ppt_h"/>
                                          </p:val>
                                        </p:tav>
                                      </p:tavLst>
                                    </p:anim>
                                  </p:childTnLst>
                                </p:cTn>
                              </p:par>
                            </p:childTnLst>
                          </p:cTn>
                        </p:par>
                        <p:par>
                          <p:cTn id="33" fill="hold">
                            <p:stCondLst>
                              <p:cond delay="1500"/>
                            </p:stCondLst>
                            <p:childTnLst>
                              <p:par>
                                <p:cTn id="34" presetID="18" presetClass="entr" presetSubtype="6" fill="hold" nodeType="after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strips(downRight)">
                                      <p:cBhvr>
                                        <p:cTn id="36" dur="500"/>
                                        <p:tgtEl>
                                          <p:spTgt spid="48"/>
                                        </p:tgtEl>
                                      </p:cBhvr>
                                    </p:animEffect>
                                  </p:childTnLst>
                                </p:cTn>
                              </p:par>
                              <p:par>
                                <p:cTn id="37" presetID="10" presetClass="exit" presetSubtype="0" fill="hold" grpId="1" nodeType="withEffect">
                                  <p:stCondLst>
                                    <p:cond delay="0"/>
                                  </p:stCondLst>
                                  <p:childTnLst>
                                    <p:animEffect transition="out" filter="fade">
                                      <p:cBhvr>
                                        <p:cTn id="38" dur="500"/>
                                        <p:tgtEl>
                                          <p:spTgt spid="51"/>
                                        </p:tgtEl>
                                      </p:cBhvr>
                                    </p:animEffect>
                                    <p:set>
                                      <p:cBhvr>
                                        <p:cTn id="39" dur="1" fill="hold">
                                          <p:stCondLst>
                                            <p:cond delay="499"/>
                                          </p:stCondLst>
                                        </p:cTn>
                                        <p:tgtEl>
                                          <p:spTgt spid="51"/>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wipe(left)">
                                      <p:cBhvr>
                                        <p:cTn id="44" dur="500"/>
                                        <p:tgtEl>
                                          <p:spTgt spid="3">
                                            <p:txEl>
                                              <p:pRg st="5" end="5"/>
                                            </p:txEl>
                                          </p:spTgt>
                                        </p:tgtEl>
                                      </p:cBhvr>
                                    </p:animEffect>
                                  </p:childTnLst>
                                </p:cTn>
                              </p:par>
                            </p:childTnLst>
                          </p:cTn>
                        </p:par>
                        <p:par>
                          <p:cTn id="45" fill="hold">
                            <p:stCondLst>
                              <p:cond delay="500"/>
                            </p:stCondLst>
                            <p:childTnLst>
                              <p:par>
                                <p:cTn id="46" presetID="18" presetClass="entr" presetSubtype="12" fill="hold" nodeType="afterEffect">
                                  <p:stCondLst>
                                    <p:cond delay="0"/>
                                  </p:stCondLst>
                                  <p:childTnLst>
                                    <p:set>
                                      <p:cBhvr>
                                        <p:cTn id="47" dur="1" fill="hold">
                                          <p:stCondLst>
                                            <p:cond delay="0"/>
                                          </p:stCondLst>
                                        </p:cTn>
                                        <p:tgtEl>
                                          <p:spTgt spid="52"/>
                                        </p:tgtEl>
                                        <p:attrNameLst>
                                          <p:attrName>style.visibility</p:attrName>
                                        </p:attrNameLst>
                                      </p:cBhvr>
                                      <p:to>
                                        <p:strVal val="visible"/>
                                      </p:to>
                                    </p:set>
                                    <p:animEffect transition="in" filter="strips(downLeft)">
                                      <p:cBhvr>
                                        <p:cTn id="48"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1" grpId="0" animBg="1"/>
      <p:bldP spid="51"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A Shift in Supply</a:t>
            </a:r>
          </a:p>
        </p:txBody>
      </p:sp>
      <p:sp>
        <p:nvSpPr>
          <p:cNvPr id="3" name="Text Placeholder 2"/>
          <p:cNvSpPr>
            <a:spLocks noGrp="1"/>
          </p:cNvSpPr>
          <p:nvPr>
            <p:ph type="body" sz="quarter" idx="12"/>
          </p:nvPr>
        </p:nvSpPr>
        <p:spPr>
          <a:xfrm>
            <a:off x="1600200" y="609600"/>
            <a:ext cx="4495800" cy="5715000"/>
          </a:xfrm>
        </p:spPr>
        <p:txBody>
          <a:bodyPr/>
          <a:lstStyle/>
          <a:p>
            <a:r>
              <a:rPr lang="en-US" sz="2300" b="1" dirty="0"/>
              <a:t>EVENT:</a:t>
            </a:r>
            <a:r>
              <a:rPr lang="en-US" sz="2300" dirty="0"/>
              <a:t>  New technology reduces cost of producing hybrid cars.</a:t>
            </a:r>
          </a:p>
          <a:p>
            <a:pPr>
              <a:lnSpc>
                <a:spcPct val="105000"/>
              </a:lnSpc>
              <a:spcBef>
                <a:spcPct val="15000"/>
              </a:spcBef>
              <a:buClr>
                <a:srgbClr val="00B85C"/>
              </a:buClr>
              <a:buSzPct val="120000"/>
              <a:buFont typeface="Wingdings" pitchFamily="2" charset="2"/>
              <a:buNone/>
            </a:pPr>
            <a:r>
              <a:rPr lang="en-US" sz="2300" b="1" dirty="0">
                <a:cs typeface="Arial"/>
              </a:rPr>
              <a:t>STEP 1:  </a:t>
            </a:r>
            <a:r>
              <a:rPr lang="en-US" sz="2300" b="1" i="1" dirty="0">
                <a:cs typeface="Arial"/>
              </a:rPr>
              <a:t>S</a:t>
            </a:r>
            <a:r>
              <a:rPr lang="en-US" sz="2300" dirty="0">
                <a:cs typeface="Arial"/>
              </a:rPr>
              <a:t> curve shifts </a:t>
            </a:r>
            <a:br>
              <a:rPr lang="en-US" sz="2300" dirty="0">
                <a:cs typeface="Arial"/>
              </a:rPr>
            </a:br>
            <a:r>
              <a:rPr lang="en-US" sz="2300" dirty="0">
                <a:cs typeface="Arial"/>
              </a:rPr>
              <a:t>because event affects cost of production.  (</a:t>
            </a:r>
            <a:r>
              <a:rPr lang="en-US" sz="2300" b="1" i="1" dirty="0">
                <a:cs typeface="Arial"/>
              </a:rPr>
              <a:t>D</a:t>
            </a:r>
            <a:r>
              <a:rPr lang="en-US" sz="2300" dirty="0">
                <a:cs typeface="Arial"/>
              </a:rPr>
              <a:t> curve does not shift, because production technology is not one of the factors that affect demand)</a:t>
            </a:r>
          </a:p>
          <a:p>
            <a:pPr>
              <a:lnSpc>
                <a:spcPct val="105000"/>
              </a:lnSpc>
              <a:spcBef>
                <a:spcPct val="15000"/>
              </a:spcBef>
              <a:buClr>
                <a:srgbClr val="00B85C"/>
              </a:buClr>
              <a:buSzPct val="120000"/>
              <a:buFont typeface="Wingdings" pitchFamily="2" charset="2"/>
              <a:buNone/>
            </a:pPr>
            <a:r>
              <a:rPr lang="en-US" sz="2300" b="1" dirty="0">
                <a:cs typeface="Arial"/>
              </a:rPr>
              <a:t>STEP 2: </a:t>
            </a:r>
            <a:r>
              <a:rPr lang="en-US" sz="2300" b="1" i="1" dirty="0">
                <a:cs typeface="Arial"/>
              </a:rPr>
              <a:t>S</a:t>
            </a:r>
            <a:r>
              <a:rPr lang="en-US" sz="2300" dirty="0">
                <a:cs typeface="Arial"/>
              </a:rPr>
              <a:t> shifts </a:t>
            </a:r>
            <a:r>
              <a:rPr lang="en-US" sz="2300" u="sng" dirty="0">
                <a:cs typeface="Arial"/>
              </a:rPr>
              <a:t>right</a:t>
            </a:r>
            <a:r>
              <a:rPr lang="en-US" sz="2300" dirty="0">
                <a:cs typeface="Arial"/>
              </a:rPr>
              <a:t/>
            </a:r>
            <a:br>
              <a:rPr lang="en-US" sz="2300" dirty="0">
                <a:cs typeface="Arial"/>
              </a:rPr>
            </a:br>
            <a:r>
              <a:rPr lang="en-US" sz="2300" dirty="0">
                <a:cs typeface="Arial"/>
              </a:rPr>
              <a:t>because event reduces cost, makes production more profitable at any given price. </a:t>
            </a:r>
          </a:p>
          <a:p>
            <a:pPr>
              <a:lnSpc>
                <a:spcPct val="105000"/>
              </a:lnSpc>
              <a:spcBef>
                <a:spcPct val="20000"/>
              </a:spcBef>
              <a:buClr>
                <a:srgbClr val="00B85C"/>
              </a:buClr>
              <a:buSzPct val="120000"/>
              <a:buFont typeface="Wingdings" pitchFamily="2" charset="2"/>
              <a:buNone/>
            </a:pPr>
            <a:r>
              <a:rPr lang="en-US" sz="2300" b="1" dirty="0">
                <a:cs typeface="Arial"/>
              </a:rPr>
              <a:t>STEP 3:  </a:t>
            </a:r>
            <a:r>
              <a:rPr lang="en-US" sz="2300" dirty="0">
                <a:cs typeface="Arial"/>
              </a:rPr>
              <a:t>The shift causes price to fall and quantity to rise.</a:t>
            </a:r>
            <a:endParaRPr lang="en-US" sz="23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a:latin typeface="Arial"/>
              </a:rPr>
              <a:pPr>
                <a:defRPr/>
              </a:pPr>
              <a:t>9</a:t>
            </a:fld>
            <a:endParaRPr lang="en-US" dirty="0">
              <a:latin typeface="Arial"/>
            </a:endParaRPr>
          </a:p>
        </p:txBody>
      </p:sp>
      <p:sp>
        <p:nvSpPr>
          <p:cNvPr id="5" name="Footer Placeholder 4"/>
          <p:cNvSpPr>
            <a:spLocks noGrp="1"/>
          </p:cNvSpPr>
          <p:nvPr>
            <p:ph type="ftr" sz="quarter" idx="14"/>
          </p:nvPr>
        </p:nvSpPr>
        <p:spPr/>
        <p:txBody>
          <a:bodyPr/>
          <a:lstStyle/>
          <a:p>
            <a:pPr>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grpSp>
        <p:nvGrpSpPr>
          <p:cNvPr id="6" name="Group 4"/>
          <p:cNvGrpSpPr>
            <a:grpSpLocks/>
          </p:cNvGrpSpPr>
          <p:nvPr/>
        </p:nvGrpSpPr>
        <p:grpSpPr bwMode="auto">
          <a:xfrm>
            <a:off x="6169026" y="1066801"/>
            <a:ext cx="4422775" cy="4111953"/>
            <a:chOff x="2579" y="785"/>
            <a:chExt cx="2786" cy="2423"/>
          </a:xfrm>
        </p:grpSpPr>
        <p:grpSp>
          <p:nvGrpSpPr>
            <p:cNvPr id="7" name="Group 5"/>
            <p:cNvGrpSpPr>
              <a:grpSpLocks/>
            </p:cNvGrpSpPr>
            <p:nvPr/>
          </p:nvGrpSpPr>
          <p:grpSpPr bwMode="auto">
            <a:xfrm>
              <a:off x="2697" y="1037"/>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solidFill>
                    <a:srgbClr val="000000"/>
                  </a:solidFill>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solidFill>
                    <a:srgbClr val="000000"/>
                  </a:solidFill>
                  <a:latin typeface="Arial"/>
                  <a:cs typeface="Arial"/>
                </a:endParaRPr>
              </a:p>
            </p:txBody>
          </p:sp>
        </p:grpSp>
        <p:sp>
          <p:nvSpPr>
            <p:cNvPr id="8" name="Text Box 8"/>
            <p:cNvSpPr txBox="1">
              <a:spLocks noChangeArrowheads="1"/>
            </p:cNvSpPr>
            <p:nvPr/>
          </p:nvSpPr>
          <p:spPr bwMode="auto">
            <a:xfrm>
              <a:off x="2579" y="785"/>
              <a:ext cx="267" cy="272"/>
            </a:xfrm>
            <a:prstGeom prst="rect">
              <a:avLst/>
            </a:prstGeom>
            <a:noFill/>
            <a:ln w="9525">
              <a:noFill/>
              <a:miter lim="800000"/>
              <a:headEnd/>
              <a:tailEnd/>
            </a:ln>
          </p:spPr>
          <p:txBody>
            <a:bodyPr>
              <a:spAutoFit/>
            </a:bodyPr>
            <a:lstStyle/>
            <a:p>
              <a:pPr algn="ctr">
                <a:spcBef>
                  <a:spcPct val="50000"/>
                </a:spcBef>
              </a:pPr>
              <a:r>
                <a:rPr lang="en-US" sz="2400" b="1" i="1">
                  <a:solidFill>
                    <a:srgbClr val="000000"/>
                  </a:solidFill>
                  <a:latin typeface="Arial"/>
                  <a:cs typeface="Arial"/>
                </a:rPr>
                <a:t>P</a:t>
              </a:r>
            </a:p>
          </p:txBody>
        </p:sp>
        <p:sp>
          <p:nvSpPr>
            <p:cNvPr id="9" name="Text Box 9"/>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solidFill>
                    <a:srgbClr val="000000"/>
                  </a:solidFill>
                  <a:latin typeface="Arial"/>
                  <a:cs typeface="Arial"/>
                </a:rPr>
                <a:t>Q</a:t>
              </a:r>
            </a:p>
          </p:txBody>
        </p:sp>
      </p:grpSp>
      <p:grpSp>
        <p:nvGrpSpPr>
          <p:cNvPr id="12" name="Group 10"/>
          <p:cNvGrpSpPr>
            <a:grpSpLocks/>
          </p:cNvGrpSpPr>
          <p:nvPr/>
        </p:nvGrpSpPr>
        <p:grpSpPr bwMode="auto">
          <a:xfrm>
            <a:off x="6599238" y="1844675"/>
            <a:ext cx="2486025" cy="2901950"/>
            <a:chOff x="2850" y="1233"/>
            <a:chExt cx="1566" cy="1828"/>
          </a:xfrm>
        </p:grpSpPr>
        <p:sp>
          <p:nvSpPr>
            <p:cNvPr id="13" name="Line 11"/>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solidFill>
                  <a:srgbClr val="000000"/>
                </a:solidFill>
                <a:latin typeface="Arial"/>
                <a:cs typeface="Arial"/>
              </a:endParaRPr>
            </a:p>
          </p:txBody>
        </p:sp>
        <p:sp>
          <p:nvSpPr>
            <p:cNvPr id="14" name="Text Box 12"/>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D</a:t>
              </a:r>
              <a:r>
                <a:rPr lang="en-US" sz="2400" baseline="-25000">
                  <a:solidFill>
                    <a:srgbClr val="000000"/>
                  </a:solidFill>
                  <a:latin typeface="Arial"/>
                  <a:cs typeface="Arial"/>
                </a:rPr>
                <a:t>1</a:t>
              </a:r>
            </a:p>
          </p:txBody>
        </p:sp>
      </p:grpSp>
      <p:grpSp>
        <p:nvGrpSpPr>
          <p:cNvPr id="15" name="Group 13"/>
          <p:cNvGrpSpPr>
            <a:grpSpLocks/>
          </p:cNvGrpSpPr>
          <p:nvPr/>
        </p:nvGrpSpPr>
        <p:grpSpPr bwMode="auto">
          <a:xfrm>
            <a:off x="6943726" y="1512887"/>
            <a:ext cx="1933575" cy="2901950"/>
            <a:chOff x="3067" y="1024"/>
            <a:chExt cx="1218" cy="1828"/>
          </a:xfrm>
        </p:grpSpPr>
        <p:sp>
          <p:nvSpPr>
            <p:cNvPr id="16" name="Line 14"/>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solidFill>
                  <a:srgbClr val="000000"/>
                </a:solidFill>
                <a:latin typeface="Arial"/>
                <a:cs typeface="Arial"/>
              </a:endParaRPr>
            </a:p>
          </p:txBody>
        </p:sp>
        <p:sp>
          <p:nvSpPr>
            <p:cNvPr id="17" name="Text Box 15"/>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S</a:t>
              </a:r>
              <a:r>
                <a:rPr lang="en-US" sz="2400" baseline="-25000">
                  <a:solidFill>
                    <a:srgbClr val="000000"/>
                  </a:solidFill>
                  <a:latin typeface="Arial"/>
                  <a:cs typeface="Arial"/>
                </a:rPr>
                <a:t>1</a:t>
              </a:r>
            </a:p>
          </p:txBody>
        </p:sp>
      </p:grpSp>
      <p:grpSp>
        <p:nvGrpSpPr>
          <p:cNvPr id="18" name="Group 16"/>
          <p:cNvGrpSpPr>
            <a:grpSpLocks/>
          </p:cNvGrpSpPr>
          <p:nvPr/>
        </p:nvGrpSpPr>
        <p:grpSpPr bwMode="auto">
          <a:xfrm>
            <a:off x="5857876" y="3024188"/>
            <a:ext cx="2060575" cy="2332038"/>
            <a:chOff x="2383" y="1976"/>
            <a:chExt cx="1298" cy="1469"/>
          </a:xfrm>
        </p:grpSpPr>
        <p:sp>
          <p:nvSpPr>
            <p:cNvPr id="19" name="Text Box 17"/>
            <p:cNvSpPr txBox="1">
              <a:spLocks noChangeArrowheads="1"/>
            </p:cNvSpPr>
            <p:nvPr/>
          </p:nvSpPr>
          <p:spPr bwMode="auto">
            <a:xfrm>
              <a:off x="2383" y="1976"/>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P</a:t>
              </a:r>
              <a:r>
                <a:rPr lang="en-US" sz="2400" b="1" baseline="-25000">
                  <a:solidFill>
                    <a:srgbClr val="000000"/>
                  </a:solidFill>
                  <a:latin typeface="Arial"/>
                  <a:cs typeface="Arial"/>
                </a:rPr>
                <a:t>1</a:t>
              </a:r>
            </a:p>
          </p:txBody>
        </p:sp>
        <p:sp>
          <p:nvSpPr>
            <p:cNvPr id="20" name="Oval 18"/>
            <p:cNvSpPr>
              <a:spLocks noChangeArrowheads="1"/>
            </p:cNvSpPr>
            <p:nvPr/>
          </p:nvSpPr>
          <p:spPr bwMode="auto">
            <a:xfrm>
              <a:off x="3481" y="2043"/>
              <a:ext cx="88" cy="87"/>
            </a:xfrm>
            <a:prstGeom prst="ellipse">
              <a:avLst/>
            </a:prstGeom>
            <a:solidFill>
              <a:srgbClr val="000000"/>
            </a:solidFill>
            <a:ln w="9525">
              <a:noFill/>
              <a:prstDash val="dash"/>
              <a:round/>
              <a:headEnd/>
              <a:tailEnd/>
            </a:ln>
          </p:spPr>
          <p:txBody>
            <a:bodyPr wrap="none" anchor="ctr"/>
            <a:lstStyle/>
            <a:p>
              <a:endParaRPr lang="en-US">
                <a:solidFill>
                  <a:srgbClr val="000000"/>
                </a:solidFill>
                <a:latin typeface="Arial"/>
                <a:cs typeface="Arial"/>
              </a:endParaRPr>
            </a:p>
          </p:txBody>
        </p:sp>
        <p:sp>
          <p:nvSpPr>
            <p:cNvPr id="21" name="Line 19"/>
            <p:cNvSpPr>
              <a:spLocks noChangeShapeType="1"/>
            </p:cNvSpPr>
            <p:nvPr/>
          </p:nvSpPr>
          <p:spPr bwMode="auto">
            <a:xfrm>
              <a:off x="2701" y="2090"/>
              <a:ext cx="823" cy="0"/>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22" name="Line 20"/>
            <p:cNvSpPr>
              <a:spLocks noChangeShapeType="1"/>
            </p:cNvSpPr>
            <p:nvPr/>
          </p:nvSpPr>
          <p:spPr bwMode="auto">
            <a:xfrm>
              <a:off x="3527" y="2088"/>
              <a:ext cx="0" cy="1117"/>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23" name="Text Box 21"/>
            <p:cNvSpPr txBox="1">
              <a:spLocks noChangeArrowheads="1"/>
            </p:cNvSpPr>
            <p:nvPr/>
          </p:nvSpPr>
          <p:spPr bwMode="auto">
            <a:xfrm>
              <a:off x="3373" y="32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Q</a:t>
              </a:r>
              <a:r>
                <a:rPr lang="en-US" sz="2400" b="1" baseline="-25000">
                  <a:solidFill>
                    <a:srgbClr val="000000"/>
                  </a:solidFill>
                  <a:latin typeface="Arial"/>
                  <a:cs typeface="Arial"/>
                </a:rPr>
                <a:t>1</a:t>
              </a:r>
            </a:p>
          </p:txBody>
        </p:sp>
      </p:grpSp>
      <p:grpSp>
        <p:nvGrpSpPr>
          <p:cNvPr id="24" name="Group 28"/>
          <p:cNvGrpSpPr>
            <a:grpSpLocks/>
          </p:cNvGrpSpPr>
          <p:nvPr/>
        </p:nvGrpSpPr>
        <p:grpSpPr bwMode="auto">
          <a:xfrm>
            <a:off x="7662863" y="1520825"/>
            <a:ext cx="1933575" cy="2901950"/>
            <a:chOff x="3520" y="1029"/>
            <a:chExt cx="1218" cy="1828"/>
          </a:xfrm>
        </p:grpSpPr>
        <p:sp>
          <p:nvSpPr>
            <p:cNvPr id="25" name="Line 29"/>
            <p:cNvSpPr>
              <a:spLocks noChangeShapeType="1"/>
            </p:cNvSpPr>
            <p:nvPr/>
          </p:nvSpPr>
          <p:spPr bwMode="auto">
            <a:xfrm flipV="1">
              <a:off x="3520" y="1283"/>
              <a:ext cx="949" cy="1574"/>
            </a:xfrm>
            <a:prstGeom prst="line">
              <a:avLst/>
            </a:prstGeom>
            <a:noFill/>
            <a:ln w="38100">
              <a:solidFill>
                <a:srgbClr val="FF0000"/>
              </a:solidFill>
              <a:round/>
              <a:headEnd/>
              <a:tailEnd/>
            </a:ln>
          </p:spPr>
          <p:txBody>
            <a:bodyPr/>
            <a:lstStyle/>
            <a:p>
              <a:endParaRPr lang="en-US">
                <a:solidFill>
                  <a:srgbClr val="000000"/>
                </a:solidFill>
                <a:latin typeface="Arial"/>
                <a:cs typeface="Arial"/>
              </a:endParaRPr>
            </a:p>
          </p:txBody>
        </p:sp>
        <p:sp>
          <p:nvSpPr>
            <p:cNvPr id="26" name="Text Box 30"/>
            <p:cNvSpPr txBox="1">
              <a:spLocks noChangeArrowheads="1"/>
            </p:cNvSpPr>
            <p:nvPr/>
          </p:nvSpPr>
          <p:spPr bwMode="auto">
            <a:xfrm>
              <a:off x="4373" y="1029"/>
              <a:ext cx="365"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S</a:t>
              </a:r>
              <a:r>
                <a:rPr lang="en-US" sz="2400" baseline="-25000">
                  <a:solidFill>
                    <a:srgbClr val="000000"/>
                  </a:solidFill>
                  <a:latin typeface="Arial"/>
                  <a:cs typeface="Arial"/>
                </a:rPr>
                <a:t>2</a:t>
              </a:r>
            </a:p>
          </p:txBody>
        </p:sp>
      </p:grpSp>
      <p:sp>
        <p:nvSpPr>
          <p:cNvPr id="27" name="Line 35"/>
          <p:cNvSpPr>
            <a:spLocks noChangeShapeType="1"/>
          </p:cNvSpPr>
          <p:nvPr/>
        </p:nvSpPr>
        <p:spPr bwMode="auto">
          <a:xfrm>
            <a:off x="8401050" y="2078037"/>
            <a:ext cx="646112" cy="0"/>
          </a:xfrm>
          <a:prstGeom prst="line">
            <a:avLst/>
          </a:prstGeom>
          <a:noFill/>
          <a:ln w="57150">
            <a:solidFill>
              <a:srgbClr val="A50021"/>
            </a:solidFill>
            <a:round/>
            <a:headEnd/>
            <a:tailEnd type="triangle" w="lg" len="med"/>
          </a:ln>
        </p:spPr>
        <p:txBody>
          <a:bodyPr/>
          <a:lstStyle/>
          <a:p>
            <a:endParaRPr lang="en-US">
              <a:solidFill>
                <a:srgbClr val="000000"/>
              </a:solidFill>
              <a:latin typeface="Arial"/>
              <a:cs typeface="Arial"/>
            </a:endParaRPr>
          </a:p>
        </p:txBody>
      </p:sp>
      <p:grpSp>
        <p:nvGrpSpPr>
          <p:cNvPr id="28" name="Group 49"/>
          <p:cNvGrpSpPr>
            <a:grpSpLocks/>
          </p:cNvGrpSpPr>
          <p:nvPr/>
        </p:nvGrpSpPr>
        <p:grpSpPr bwMode="auto">
          <a:xfrm>
            <a:off x="5849937" y="3535364"/>
            <a:ext cx="2484438" cy="1828801"/>
            <a:chOff x="2378" y="2298"/>
            <a:chExt cx="1565" cy="1152"/>
          </a:xfrm>
        </p:grpSpPr>
        <p:sp>
          <p:nvSpPr>
            <p:cNvPr id="29" name="Line 36"/>
            <p:cNvSpPr>
              <a:spLocks noChangeShapeType="1"/>
            </p:cNvSpPr>
            <p:nvPr/>
          </p:nvSpPr>
          <p:spPr bwMode="auto">
            <a:xfrm flipH="1">
              <a:off x="2697" y="2417"/>
              <a:ext cx="1089" cy="0"/>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30" name="Line 37"/>
            <p:cNvSpPr>
              <a:spLocks noChangeShapeType="1"/>
            </p:cNvSpPr>
            <p:nvPr/>
          </p:nvSpPr>
          <p:spPr bwMode="auto">
            <a:xfrm>
              <a:off x="3789" y="2417"/>
              <a:ext cx="0" cy="786"/>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31" name="Text Box 38"/>
            <p:cNvSpPr txBox="1">
              <a:spLocks noChangeArrowheads="1"/>
            </p:cNvSpPr>
            <p:nvPr/>
          </p:nvSpPr>
          <p:spPr bwMode="auto">
            <a:xfrm>
              <a:off x="2378" y="2298"/>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P</a:t>
              </a:r>
              <a:r>
                <a:rPr lang="en-US" sz="2400" b="1" baseline="-25000">
                  <a:solidFill>
                    <a:srgbClr val="000000"/>
                  </a:solidFill>
                  <a:latin typeface="Arial"/>
                  <a:cs typeface="Arial"/>
                </a:rPr>
                <a:t>2</a:t>
              </a:r>
            </a:p>
          </p:txBody>
        </p:sp>
        <p:sp>
          <p:nvSpPr>
            <p:cNvPr id="32" name="Oval 39"/>
            <p:cNvSpPr>
              <a:spLocks noChangeArrowheads="1"/>
            </p:cNvSpPr>
            <p:nvPr/>
          </p:nvSpPr>
          <p:spPr bwMode="auto">
            <a:xfrm>
              <a:off x="3742" y="2372"/>
              <a:ext cx="88" cy="87"/>
            </a:xfrm>
            <a:prstGeom prst="ellipse">
              <a:avLst/>
            </a:prstGeom>
            <a:solidFill>
              <a:srgbClr val="000000"/>
            </a:solidFill>
            <a:ln w="9525">
              <a:noFill/>
              <a:prstDash val="dash"/>
              <a:round/>
              <a:headEnd/>
              <a:tailEnd/>
            </a:ln>
          </p:spPr>
          <p:txBody>
            <a:bodyPr wrap="none" anchor="ctr"/>
            <a:lstStyle/>
            <a:p>
              <a:endParaRPr lang="en-US">
                <a:solidFill>
                  <a:srgbClr val="000000"/>
                </a:solidFill>
                <a:latin typeface="Arial"/>
                <a:cs typeface="Arial"/>
              </a:endParaRPr>
            </a:p>
          </p:txBody>
        </p:sp>
        <p:sp>
          <p:nvSpPr>
            <p:cNvPr id="33" name="Text Box 40"/>
            <p:cNvSpPr txBox="1">
              <a:spLocks noChangeArrowheads="1"/>
            </p:cNvSpPr>
            <p:nvPr/>
          </p:nvSpPr>
          <p:spPr bwMode="auto">
            <a:xfrm>
              <a:off x="3635" y="3217"/>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Q</a:t>
              </a:r>
              <a:r>
                <a:rPr lang="en-US" sz="2400" b="1" baseline="-25000">
                  <a:solidFill>
                    <a:srgbClr val="000000"/>
                  </a:solidFill>
                  <a:latin typeface="Arial"/>
                  <a:cs typeface="Arial"/>
                </a:rPr>
                <a:t>2</a:t>
              </a:r>
            </a:p>
          </p:txBody>
        </p:sp>
      </p:grpSp>
    </p:spTree>
    <p:extLst>
      <p:ext uri="{BB962C8B-B14F-4D97-AF65-F5344CB8AC3E}">
        <p14:creationId xmlns:p14="http://schemas.microsoft.com/office/powerpoint/2010/main" val="1317954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par>
                          <p:cTn id="18" fill="hold">
                            <p:stCondLst>
                              <p:cond delay="500"/>
                            </p:stCondLst>
                            <p:childTnLst>
                              <p:par>
                                <p:cTn id="19" presetID="17" presetClass="entr" presetSubtype="8"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p:cTn id="21" dur="500" fill="hold"/>
                                        <p:tgtEl>
                                          <p:spTgt spid="27"/>
                                        </p:tgtEl>
                                        <p:attrNameLst>
                                          <p:attrName>ppt_x</p:attrName>
                                        </p:attrNameLst>
                                      </p:cBhvr>
                                      <p:tavLst>
                                        <p:tav tm="0">
                                          <p:val>
                                            <p:strVal val="#ppt_x-#ppt_w/2"/>
                                          </p:val>
                                        </p:tav>
                                        <p:tav tm="100000">
                                          <p:val>
                                            <p:strVal val="#ppt_x"/>
                                          </p:val>
                                        </p:tav>
                                      </p:tavLst>
                                    </p:anim>
                                    <p:anim calcmode="lin" valueType="num">
                                      <p:cBhvr>
                                        <p:cTn id="22" dur="500" fill="hold"/>
                                        <p:tgtEl>
                                          <p:spTgt spid="27"/>
                                        </p:tgtEl>
                                        <p:attrNameLst>
                                          <p:attrName>ppt_y</p:attrName>
                                        </p:attrNameLst>
                                      </p:cBhvr>
                                      <p:tavLst>
                                        <p:tav tm="0">
                                          <p:val>
                                            <p:strVal val="#ppt_y"/>
                                          </p:val>
                                        </p:tav>
                                        <p:tav tm="100000">
                                          <p:val>
                                            <p:strVal val="#ppt_y"/>
                                          </p:val>
                                        </p:tav>
                                      </p:tavLst>
                                    </p:anim>
                                    <p:anim calcmode="lin" valueType="num">
                                      <p:cBhvr>
                                        <p:cTn id="23" dur="500" fill="hold"/>
                                        <p:tgtEl>
                                          <p:spTgt spid="27"/>
                                        </p:tgtEl>
                                        <p:attrNameLst>
                                          <p:attrName>ppt_w</p:attrName>
                                        </p:attrNameLst>
                                      </p:cBhvr>
                                      <p:tavLst>
                                        <p:tav tm="0">
                                          <p:val>
                                            <p:fltVal val="0"/>
                                          </p:val>
                                        </p:tav>
                                        <p:tav tm="100000">
                                          <p:val>
                                            <p:strVal val="#ppt_w"/>
                                          </p:val>
                                        </p:tav>
                                      </p:tavLst>
                                    </p:anim>
                                    <p:anim calcmode="lin" valueType="num">
                                      <p:cBhvr>
                                        <p:cTn id="24" dur="500" fill="hold"/>
                                        <p:tgtEl>
                                          <p:spTgt spid="27"/>
                                        </p:tgtEl>
                                        <p:attrNameLst>
                                          <p:attrName>ppt_h</p:attrName>
                                        </p:attrNameLst>
                                      </p:cBhvr>
                                      <p:tavLst>
                                        <p:tav tm="0">
                                          <p:val>
                                            <p:strVal val="#ppt_h"/>
                                          </p:val>
                                        </p:tav>
                                        <p:tav tm="100000">
                                          <p:val>
                                            <p:strVal val="#ppt_h"/>
                                          </p:val>
                                        </p:tav>
                                      </p:tavLst>
                                    </p:anim>
                                  </p:childTnLst>
                                </p:cTn>
                              </p:par>
                            </p:childTnLst>
                          </p:cTn>
                        </p:par>
                        <p:par>
                          <p:cTn id="25" fill="hold">
                            <p:stCondLst>
                              <p:cond delay="1000"/>
                            </p:stCondLst>
                            <p:childTnLst>
                              <p:par>
                                <p:cTn id="26" presetID="18" presetClass="entr" presetSubtype="12" fill="hold" nodeType="after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strips(downLeft)">
                                      <p:cBhvr>
                                        <p:cTn id="28" dur="500"/>
                                        <p:tgtEl>
                                          <p:spTgt spid="24"/>
                                        </p:tgtEl>
                                      </p:cBhvr>
                                    </p:animEffect>
                                  </p:childTnLst>
                                </p:cTn>
                              </p:par>
                              <p:par>
                                <p:cTn id="29" presetID="10" presetClass="exit" presetSubtype="0" fill="hold" grpId="1" nodeType="withEffect">
                                  <p:stCondLst>
                                    <p:cond delay="0"/>
                                  </p:stCondLst>
                                  <p:childTnLst>
                                    <p:animEffect transition="out" filter="fade">
                                      <p:cBhvr>
                                        <p:cTn id="30" dur="500"/>
                                        <p:tgtEl>
                                          <p:spTgt spid="27"/>
                                        </p:tgtEl>
                                      </p:cBhvr>
                                    </p:animEffect>
                                    <p:set>
                                      <p:cBhvr>
                                        <p:cTn id="31" dur="1" fill="hold">
                                          <p:stCondLst>
                                            <p:cond delay="499"/>
                                          </p:stCondLst>
                                        </p:cTn>
                                        <p:tgtEl>
                                          <p:spTgt spid="2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wipe(left)">
                                      <p:cBhvr>
                                        <p:cTn id="36" dur="500"/>
                                        <p:tgtEl>
                                          <p:spTgt spid="3">
                                            <p:txEl>
                                              <p:pRg st="3" end="3"/>
                                            </p:txEl>
                                          </p:spTgt>
                                        </p:tgtEl>
                                      </p:cBhvr>
                                    </p:animEffect>
                                  </p:childTnLst>
                                </p:cTn>
                              </p:par>
                            </p:childTnLst>
                          </p:cTn>
                        </p:par>
                        <p:par>
                          <p:cTn id="37" fill="hold">
                            <p:stCondLst>
                              <p:cond delay="500"/>
                            </p:stCondLst>
                            <p:childTnLst>
                              <p:par>
                                <p:cTn id="38" presetID="18" presetClass="entr" presetSubtype="12" fill="hold" nodeType="after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strips(downLeft)">
                                      <p:cBhvr>
                                        <p:cTn id="4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7" grpId="0" animBg="1"/>
      <p:bldP spid="27"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t>EXAMPLE 3:  A Shift in Both Supply and Demand</a:t>
            </a:r>
          </a:p>
        </p:txBody>
      </p:sp>
      <p:sp>
        <p:nvSpPr>
          <p:cNvPr id="3" name="Text Placeholder 2"/>
          <p:cNvSpPr>
            <a:spLocks noGrp="1"/>
          </p:cNvSpPr>
          <p:nvPr>
            <p:ph type="body" sz="quarter" idx="12"/>
          </p:nvPr>
        </p:nvSpPr>
        <p:spPr>
          <a:xfrm>
            <a:off x="1676400" y="838200"/>
            <a:ext cx="4191000" cy="5486400"/>
          </a:xfrm>
        </p:spPr>
        <p:txBody>
          <a:bodyPr/>
          <a:lstStyle/>
          <a:p>
            <a:r>
              <a:rPr lang="en-US" sz="2600" b="1" dirty="0"/>
              <a:t>EVENTS:</a:t>
            </a:r>
            <a:r>
              <a:rPr lang="en-US" sz="2600" dirty="0"/>
              <a:t>  Price of gas rises AND new technology reduces production costs</a:t>
            </a:r>
          </a:p>
          <a:p>
            <a:pPr>
              <a:spcBef>
                <a:spcPct val="5000"/>
              </a:spcBef>
              <a:buClr>
                <a:srgbClr val="00B85C"/>
              </a:buClr>
              <a:buSzPct val="120000"/>
              <a:buFont typeface="Wingdings" pitchFamily="2" charset="2"/>
              <a:buNone/>
            </a:pPr>
            <a:endParaRPr lang="en-US" sz="2600" b="1" dirty="0">
              <a:cs typeface="Arial"/>
            </a:endParaRPr>
          </a:p>
          <a:p>
            <a:pPr>
              <a:spcBef>
                <a:spcPct val="5000"/>
              </a:spcBef>
              <a:buClr>
                <a:srgbClr val="00B85C"/>
              </a:buClr>
              <a:buSzPct val="120000"/>
              <a:buFont typeface="Wingdings" pitchFamily="2" charset="2"/>
              <a:buNone/>
            </a:pPr>
            <a:r>
              <a:rPr lang="en-US" sz="2600" b="1" dirty="0">
                <a:cs typeface="Arial"/>
              </a:rPr>
              <a:t>STEP 1:  </a:t>
            </a:r>
            <a:r>
              <a:rPr lang="en-US" sz="2600" dirty="0">
                <a:cs typeface="Arial"/>
              </a:rPr>
              <a:t>Both curves shift.</a:t>
            </a:r>
          </a:p>
          <a:p>
            <a:pPr>
              <a:spcBef>
                <a:spcPct val="5000"/>
              </a:spcBef>
              <a:buClr>
                <a:srgbClr val="00B85C"/>
              </a:buClr>
              <a:buSzPct val="120000"/>
              <a:buFont typeface="Wingdings" pitchFamily="2" charset="2"/>
              <a:buNone/>
            </a:pPr>
            <a:r>
              <a:rPr lang="en-US" sz="2600" b="1" dirty="0">
                <a:cs typeface="Arial"/>
              </a:rPr>
              <a:t>STEP 2:  </a:t>
            </a:r>
            <a:r>
              <a:rPr lang="en-US" sz="2600" dirty="0">
                <a:cs typeface="Arial"/>
              </a:rPr>
              <a:t>Both shift </a:t>
            </a:r>
            <a:r>
              <a:rPr lang="en-US" sz="2600" u="sng" dirty="0">
                <a:cs typeface="Arial"/>
              </a:rPr>
              <a:t>to the right</a:t>
            </a:r>
            <a:r>
              <a:rPr lang="en-US" sz="2600" dirty="0">
                <a:cs typeface="Arial"/>
              </a:rPr>
              <a:t>. </a:t>
            </a:r>
          </a:p>
          <a:p>
            <a:pPr>
              <a:spcBef>
                <a:spcPct val="5000"/>
              </a:spcBef>
              <a:buClr>
                <a:srgbClr val="00B85C"/>
              </a:buClr>
              <a:buSzPct val="120000"/>
              <a:buFont typeface="Wingdings" pitchFamily="2" charset="2"/>
              <a:buNone/>
            </a:pPr>
            <a:endParaRPr lang="en-US" sz="2600" b="1" dirty="0">
              <a:cs typeface="Arial"/>
            </a:endParaRPr>
          </a:p>
          <a:p>
            <a:pPr>
              <a:spcBef>
                <a:spcPct val="5000"/>
              </a:spcBef>
              <a:buClr>
                <a:srgbClr val="00B85C"/>
              </a:buClr>
              <a:buSzPct val="120000"/>
              <a:buFont typeface="Wingdings" pitchFamily="2" charset="2"/>
              <a:buNone/>
            </a:pPr>
            <a:r>
              <a:rPr lang="en-US" sz="2600" b="1" dirty="0">
                <a:cs typeface="Arial"/>
              </a:rPr>
              <a:t>STEP 3:  </a:t>
            </a:r>
            <a:r>
              <a:rPr lang="en-US" sz="2600" b="1" i="1" dirty="0">
                <a:cs typeface="Arial"/>
              </a:rPr>
              <a:t>Q</a:t>
            </a:r>
            <a:r>
              <a:rPr lang="en-US" sz="2600" dirty="0">
                <a:cs typeface="Arial"/>
              </a:rPr>
              <a:t> rises, but the </a:t>
            </a:r>
            <a:r>
              <a:rPr lang="en-US" sz="2600" u="sng" dirty="0">
                <a:cs typeface="Arial"/>
              </a:rPr>
              <a:t>effect on </a:t>
            </a:r>
            <a:r>
              <a:rPr lang="en-US" sz="2600" b="1" i="1" u="sng" dirty="0">
                <a:cs typeface="Arial"/>
              </a:rPr>
              <a:t>P</a:t>
            </a:r>
            <a:r>
              <a:rPr lang="en-US" sz="2600" u="sng" dirty="0">
                <a:cs typeface="Arial"/>
              </a:rPr>
              <a:t> is ambiguous</a:t>
            </a:r>
            <a:r>
              <a:rPr lang="en-US" sz="2600" dirty="0">
                <a:cs typeface="Arial"/>
              </a:rPr>
              <a:t>:</a:t>
            </a:r>
          </a:p>
          <a:p>
            <a:pPr>
              <a:spcBef>
                <a:spcPct val="5000"/>
              </a:spcBef>
              <a:buClr>
                <a:srgbClr val="00B85C"/>
              </a:buClr>
              <a:buSzPct val="120000"/>
              <a:buFont typeface="Wingdings" pitchFamily="2" charset="2"/>
              <a:buNone/>
            </a:pPr>
            <a:r>
              <a:rPr lang="en-US" sz="2600" dirty="0">
                <a:cs typeface="Arial"/>
              </a:rPr>
              <a:t> </a:t>
            </a:r>
          </a:p>
          <a:p>
            <a:pPr>
              <a:spcBef>
                <a:spcPct val="5000"/>
              </a:spcBef>
              <a:buClr>
                <a:srgbClr val="00B85C"/>
              </a:buClr>
              <a:buSzPct val="120000"/>
              <a:buFont typeface="Wingdings" pitchFamily="2" charset="2"/>
              <a:buNone/>
            </a:pPr>
            <a:r>
              <a:rPr lang="en-US" sz="2600" dirty="0">
                <a:cs typeface="Arial"/>
              </a:rPr>
              <a:t>If demand increases more than supply, </a:t>
            </a:r>
            <a:r>
              <a:rPr lang="en-US" sz="2600" b="1" i="1" dirty="0">
                <a:cs typeface="Arial"/>
              </a:rPr>
              <a:t>P</a:t>
            </a:r>
            <a:r>
              <a:rPr lang="en-US" sz="2600" dirty="0">
                <a:cs typeface="Arial"/>
              </a:rPr>
              <a:t> rises.</a:t>
            </a:r>
          </a:p>
          <a:p>
            <a:endParaRPr lang="en-US" sz="26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a:latin typeface="Arial"/>
              </a:rPr>
              <a:pPr>
                <a:defRPr/>
              </a:pPr>
              <a:t>10</a:t>
            </a:fld>
            <a:endParaRPr lang="en-US" dirty="0">
              <a:latin typeface="Arial"/>
            </a:endParaRPr>
          </a:p>
        </p:txBody>
      </p:sp>
      <p:sp>
        <p:nvSpPr>
          <p:cNvPr id="5" name="Footer Placeholder 4"/>
          <p:cNvSpPr>
            <a:spLocks noGrp="1"/>
          </p:cNvSpPr>
          <p:nvPr>
            <p:ph type="ftr" sz="quarter" idx="14"/>
          </p:nvPr>
        </p:nvSpPr>
        <p:spPr/>
        <p:txBody>
          <a:bodyPr/>
          <a:lstStyle/>
          <a:p>
            <a:pPr>
              <a:defRPr/>
            </a:pPr>
            <a:r>
              <a:rPr lang="en-US" dirty="0">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grpSp>
        <p:nvGrpSpPr>
          <p:cNvPr id="6" name="Group 4"/>
          <p:cNvGrpSpPr>
            <a:grpSpLocks/>
          </p:cNvGrpSpPr>
          <p:nvPr/>
        </p:nvGrpSpPr>
        <p:grpSpPr bwMode="auto">
          <a:xfrm>
            <a:off x="6245226" y="1179514"/>
            <a:ext cx="4422775" cy="4111953"/>
            <a:chOff x="2579" y="785"/>
            <a:chExt cx="2786" cy="2423"/>
          </a:xfrm>
        </p:grpSpPr>
        <p:grpSp>
          <p:nvGrpSpPr>
            <p:cNvPr id="7" name="Group 5"/>
            <p:cNvGrpSpPr>
              <a:grpSpLocks/>
            </p:cNvGrpSpPr>
            <p:nvPr/>
          </p:nvGrpSpPr>
          <p:grpSpPr bwMode="auto">
            <a:xfrm>
              <a:off x="2697" y="1037"/>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solidFill>
                    <a:srgbClr val="000000"/>
                  </a:solidFill>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solidFill>
                    <a:srgbClr val="000000"/>
                  </a:solidFill>
                  <a:latin typeface="Arial"/>
                  <a:cs typeface="Arial"/>
                </a:endParaRPr>
              </a:p>
            </p:txBody>
          </p:sp>
        </p:grpSp>
        <p:sp>
          <p:nvSpPr>
            <p:cNvPr id="8" name="Text Box 8"/>
            <p:cNvSpPr txBox="1">
              <a:spLocks noChangeArrowheads="1"/>
            </p:cNvSpPr>
            <p:nvPr/>
          </p:nvSpPr>
          <p:spPr bwMode="auto">
            <a:xfrm>
              <a:off x="2579" y="785"/>
              <a:ext cx="267" cy="272"/>
            </a:xfrm>
            <a:prstGeom prst="rect">
              <a:avLst/>
            </a:prstGeom>
            <a:noFill/>
            <a:ln w="9525">
              <a:noFill/>
              <a:miter lim="800000"/>
              <a:headEnd/>
              <a:tailEnd/>
            </a:ln>
          </p:spPr>
          <p:txBody>
            <a:bodyPr>
              <a:spAutoFit/>
            </a:bodyPr>
            <a:lstStyle/>
            <a:p>
              <a:pPr algn="ctr">
                <a:spcBef>
                  <a:spcPct val="50000"/>
                </a:spcBef>
              </a:pPr>
              <a:r>
                <a:rPr lang="en-US" sz="2400" b="1" i="1">
                  <a:solidFill>
                    <a:srgbClr val="000000"/>
                  </a:solidFill>
                  <a:latin typeface="Arial"/>
                  <a:cs typeface="Arial"/>
                </a:rPr>
                <a:t>P</a:t>
              </a:r>
            </a:p>
          </p:txBody>
        </p:sp>
        <p:sp>
          <p:nvSpPr>
            <p:cNvPr id="9" name="Text Box 9"/>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solidFill>
                    <a:srgbClr val="000000"/>
                  </a:solidFill>
                  <a:latin typeface="Arial"/>
                  <a:cs typeface="Arial"/>
                </a:rPr>
                <a:t>Q</a:t>
              </a:r>
            </a:p>
          </p:txBody>
        </p:sp>
      </p:grpSp>
      <p:grpSp>
        <p:nvGrpSpPr>
          <p:cNvPr id="12" name="Group 10"/>
          <p:cNvGrpSpPr>
            <a:grpSpLocks/>
          </p:cNvGrpSpPr>
          <p:nvPr/>
        </p:nvGrpSpPr>
        <p:grpSpPr bwMode="auto">
          <a:xfrm>
            <a:off x="6675438" y="1957388"/>
            <a:ext cx="2486025" cy="2901950"/>
            <a:chOff x="2850" y="1233"/>
            <a:chExt cx="1566" cy="1828"/>
          </a:xfrm>
        </p:grpSpPr>
        <p:sp>
          <p:nvSpPr>
            <p:cNvPr id="13" name="Line 11"/>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solidFill>
                  <a:srgbClr val="000000"/>
                </a:solidFill>
                <a:latin typeface="Arial"/>
                <a:cs typeface="Arial"/>
              </a:endParaRPr>
            </a:p>
          </p:txBody>
        </p:sp>
        <p:sp>
          <p:nvSpPr>
            <p:cNvPr id="14" name="Text Box 12"/>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D</a:t>
              </a:r>
              <a:r>
                <a:rPr lang="en-US" sz="2400" baseline="-25000">
                  <a:solidFill>
                    <a:srgbClr val="000000"/>
                  </a:solidFill>
                  <a:latin typeface="Arial"/>
                  <a:cs typeface="Arial"/>
                </a:rPr>
                <a:t>1</a:t>
              </a:r>
            </a:p>
          </p:txBody>
        </p:sp>
      </p:grpSp>
      <p:grpSp>
        <p:nvGrpSpPr>
          <p:cNvPr id="15" name="Group 13"/>
          <p:cNvGrpSpPr>
            <a:grpSpLocks/>
          </p:cNvGrpSpPr>
          <p:nvPr/>
        </p:nvGrpSpPr>
        <p:grpSpPr bwMode="auto">
          <a:xfrm>
            <a:off x="7019926" y="1625600"/>
            <a:ext cx="1933575" cy="2901950"/>
            <a:chOff x="3067" y="1024"/>
            <a:chExt cx="1218" cy="1828"/>
          </a:xfrm>
        </p:grpSpPr>
        <p:sp>
          <p:nvSpPr>
            <p:cNvPr id="16" name="Line 14"/>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solidFill>
                  <a:srgbClr val="000000"/>
                </a:solidFill>
                <a:latin typeface="Arial"/>
                <a:cs typeface="Arial"/>
              </a:endParaRPr>
            </a:p>
          </p:txBody>
        </p:sp>
        <p:sp>
          <p:nvSpPr>
            <p:cNvPr id="17" name="Text Box 15"/>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S</a:t>
              </a:r>
              <a:r>
                <a:rPr lang="en-US" sz="2400" baseline="-25000">
                  <a:solidFill>
                    <a:srgbClr val="000000"/>
                  </a:solidFill>
                  <a:latin typeface="Arial"/>
                  <a:cs typeface="Arial"/>
                </a:rPr>
                <a:t>1</a:t>
              </a:r>
            </a:p>
          </p:txBody>
        </p:sp>
      </p:grpSp>
      <p:grpSp>
        <p:nvGrpSpPr>
          <p:cNvPr id="18" name="Group 16"/>
          <p:cNvGrpSpPr>
            <a:grpSpLocks/>
          </p:cNvGrpSpPr>
          <p:nvPr/>
        </p:nvGrpSpPr>
        <p:grpSpPr bwMode="auto">
          <a:xfrm>
            <a:off x="5934076" y="3136901"/>
            <a:ext cx="2060575" cy="2332038"/>
            <a:chOff x="2383" y="1976"/>
            <a:chExt cx="1298" cy="1469"/>
          </a:xfrm>
        </p:grpSpPr>
        <p:sp>
          <p:nvSpPr>
            <p:cNvPr id="19" name="Text Box 17"/>
            <p:cNvSpPr txBox="1">
              <a:spLocks noChangeArrowheads="1"/>
            </p:cNvSpPr>
            <p:nvPr/>
          </p:nvSpPr>
          <p:spPr bwMode="auto">
            <a:xfrm>
              <a:off x="2383" y="1976"/>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P</a:t>
              </a:r>
              <a:r>
                <a:rPr lang="en-US" sz="2400" b="1" baseline="-25000">
                  <a:solidFill>
                    <a:srgbClr val="000000"/>
                  </a:solidFill>
                  <a:latin typeface="Arial"/>
                  <a:cs typeface="Arial"/>
                </a:rPr>
                <a:t>1</a:t>
              </a:r>
            </a:p>
          </p:txBody>
        </p:sp>
        <p:sp>
          <p:nvSpPr>
            <p:cNvPr id="20" name="Oval 18"/>
            <p:cNvSpPr>
              <a:spLocks noChangeArrowheads="1"/>
            </p:cNvSpPr>
            <p:nvPr/>
          </p:nvSpPr>
          <p:spPr bwMode="auto">
            <a:xfrm>
              <a:off x="3481" y="2043"/>
              <a:ext cx="88" cy="87"/>
            </a:xfrm>
            <a:prstGeom prst="ellipse">
              <a:avLst/>
            </a:prstGeom>
            <a:solidFill>
              <a:srgbClr val="000000"/>
            </a:solidFill>
            <a:ln w="9525">
              <a:noFill/>
              <a:prstDash val="dash"/>
              <a:round/>
              <a:headEnd/>
              <a:tailEnd/>
            </a:ln>
          </p:spPr>
          <p:txBody>
            <a:bodyPr wrap="none" anchor="ctr"/>
            <a:lstStyle/>
            <a:p>
              <a:endParaRPr lang="en-US">
                <a:solidFill>
                  <a:srgbClr val="000000"/>
                </a:solidFill>
                <a:latin typeface="Arial"/>
                <a:cs typeface="Arial"/>
              </a:endParaRPr>
            </a:p>
          </p:txBody>
        </p:sp>
        <p:sp>
          <p:nvSpPr>
            <p:cNvPr id="21" name="Line 19"/>
            <p:cNvSpPr>
              <a:spLocks noChangeShapeType="1"/>
            </p:cNvSpPr>
            <p:nvPr/>
          </p:nvSpPr>
          <p:spPr bwMode="auto">
            <a:xfrm>
              <a:off x="2701" y="2090"/>
              <a:ext cx="823" cy="0"/>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22" name="Line 20"/>
            <p:cNvSpPr>
              <a:spLocks noChangeShapeType="1"/>
            </p:cNvSpPr>
            <p:nvPr/>
          </p:nvSpPr>
          <p:spPr bwMode="auto">
            <a:xfrm>
              <a:off x="3527" y="2088"/>
              <a:ext cx="0" cy="1117"/>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23" name="Text Box 21"/>
            <p:cNvSpPr txBox="1">
              <a:spLocks noChangeArrowheads="1"/>
            </p:cNvSpPr>
            <p:nvPr/>
          </p:nvSpPr>
          <p:spPr bwMode="auto">
            <a:xfrm>
              <a:off x="3373" y="32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Q</a:t>
              </a:r>
              <a:r>
                <a:rPr lang="en-US" sz="2400" b="1" baseline="-25000">
                  <a:solidFill>
                    <a:srgbClr val="000000"/>
                  </a:solidFill>
                  <a:latin typeface="Arial"/>
                  <a:cs typeface="Arial"/>
                </a:rPr>
                <a:t>1</a:t>
              </a:r>
            </a:p>
          </p:txBody>
        </p:sp>
      </p:grpSp>
      <p:grpSp>
        <p:nvGrpSpPr>
          <p:cNvPr id="24" name="Group 28"/>
          <p:cNvGrpSpPr>
            <a:grpSpLocks/>
          </p:cNvGrpSpPr>
          <p:nvPr/>
        </p:nvGrpSpPr>
        <p:grpSpPr bwMode="auto">
          <a:xfrm>
            <a:off x="7739063" y="1633538"/>
            <a:ext cx="1933575" cy="2901950"/>
            <a:chOff x="3520" y="1029"/>
            <a:chExt cx="1218" cy="1828"/>
          </a:xfrm>
        </p:grpSpPr>
        <p:sp>
          <p:nvSpPr>
            <p:cNvPr id="25" name="Line 29"/>
            <p:cNvSpPr>
              <a:spLocks noChangeShapeType="1"/>
            </p:cNvSpPr>
            <p:nvPr/>
          </p:nvSpPr>
          <p:spPr bwMode="auto">
            <a:xfrm flipV="1">
              <a:off x="3520" y="1283"/>
              <a:ext cx="949" cy="1574"/>
            </a:xfrm>
            <a:prstGeom prst="line">
              <a:avLst/>
            </a:prstGeom>
            <a:noFill/>
            <a:ln w="38100">
              <a:solidFill>
                <a:srgbClr val="FF0000"/>
              </a:solidFill>
              <a:round/>
              <a:headEnd/>
              <a:tailEnd/>
            </a:ln>
          </p:spPr>
          <p:txBody>
            <a:bodyPr/>
            <a:lstStyle/>
            <a:p>
              <a:endParaRPr lang="en-US">
                <a:solidFill>
                  <a:srgbClr val="000000"/>
                </a:solidFill>
                <a:latin typeface="Arial"/>
                <a:cs typeface="Arial"/>
              </a:endParaRPr>
            </a:p>
          </p:txBody>
        </p:sp>
        <p:sp>
          <p:nvSpPr>
            <p:cNvPr id="26" name="Text Box 30"/>
            <p:cNvSpPr txBox="1">
              <a:spLocks noChangeArrowheads="1"/>
            </p:cNvSpPr>
            <p:nvPr/>
          </p:nvSpPr>
          <p:spPr bwMode="auto">
            <a:xfrm>
              <a:off x="4373" y="1029"/>
              <a:ext cx="365"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S</a:t>
              </a:r>
              <a:r>
                <a:rPr lang="en-US" sz="2400" baseline="-25000">
                  <a:solidFill>
                    <a:srgbClr val="000000"/>
                  </a:solidFill>
                  <a:latin typeface="Arial"/>
                  <a:cs typeface="Arial"/>
                </a:rPr>
                <a:t>2</a:t>
              </a:r>
            </a:p>
          </p:txBody>
        </p:sp>
      </p:grpSp>
      <p:grpSp>
        <p:nvGrpSpPr>
          <p:cNvPr id="27" name="Group 31"/>
          <p:cNvGrpSpPr>
            <a:grpSpLocks/>
          </p:cNvGrpSpPr>
          <p:nvPr/>
        </p:nvGrpSpPr>
        <p:grpSpPr bwMode="auto">
          <a:xfrm>
            <a:off x="7816851" y="1854200"/>
            <a:ext cx="2486025" cy="2901950"/>
            <a:chOff x="3569" y="1168"/>
            <a:chExt cx="1566" cy="1828"/>
          </a:xfrm>
        </p:grpSpPr>
        <p:sp>
          <p:nvSpPr>
            <p:cNvPr id="28" name="Line 32"/>
            <p:cNvSpPr>
              <a:spLocks noChangeShapeType="1"/>
            </p:cNvSpPr>
            <p:nvPr/>
          </p:nvSpPr>
          <p:spPr bwMode="auto">
            <a:xfrm>
              <a:off x="3569" y="1168"/>
              <a:ext cx="1263" cy="1587"/>
            </a:xfrm>
            <a:prstGeom prst="line">
              <a:avLst/>
            </a:prstGeom>
            <a:noFill/>
            <a:ln w="38100">
              <a:solidFill>
                <a:srgbClr val="FF0000"/>
              </a:solidFill>
              <a:round/>
              <a:headEnd/>
              <a:tailEnd/>
            </a:ln>
          </p:spPr>
          <p:txBody>
            <a:bodyPr/>
            <a:lstStyle/>
            <a:p>
              <a:endParaRPr lang="en-US">
                <a:solidFill>
                  <a:srgbClr val="000000"/>
                </a:solidFill>
                <a:latin typeface="Arial"/>
                <a:cs typeface="Arial"/>
              </a:endParaRPr>
            </a:p>
          </p:txBody>
        </p:sp>
        <p:sp>
          <p:nvSpPr>
            <p:cNvPr id="29" name="Text Box 33"/>
            <p:cNvSpPr txBox="1">
              <a:spLocks noChangeArrowheads="1"/>
            </p:cNvSpPr>
            <p:nvPr/>
          </p:nvSpPr>
          <p:spPr bwMode="auto">
            <a:xfrm>
              <a:off x="4791" y="2708"/>
              <a:ext cx="344"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D</a:t>
              </a:r>
              <a:r>
                <a:rPr lang="en-US" sz="2400" baseline="-25000">
                  <a:solidFill>
                    <a:srgbClr val="000000"/>
                  </a:solidFill>
                  <a:latin typeface="Arial"/>
                  <a:cs typeface="Arial"/>
                </a:rPr>
                <a:t>2</a:t>
              </a:r>
            </a:p>
          </p:txBody>
        </p:sp>
      </p:grpSp>
      <p:sp>
        <p:nvSpPr>
          <p:cNvPr id="30" name="Line 34"/>
          <p:cNvSpPr>
            <a:spLocks noChangeShapeType="1"/>
          </p:cNvSpPr>
          <p:nvPr/>
        </p:nvSpPr>
        <p:spPr bwMode="auto">
          <a:xfrm>
            <a:off x="6938962" y="2192338"/>
            <a:ext cx="1068388" cy="0"/>
          </a:xfrm>
          <a:prstGeom prst="line">
            <a:avLst/>
          </a:prstGeom>
          <a:noFill/>
          <a:ln w="57150">
            <a:solidFill>
              <a:srgbClr val="A50021"/>
            </a:solidFill>
            <a:round/>
            <a:headEnd/>
            <a:tailEnd type="triangle" w="lg" len="med"/>
          </a:ln>
        </p:spPr>
        <p:txBody>
          <a:bodyPr/>
          <a:lstStyle/>
          <a:p>
            <a:endParaRPr lang="en-US">
              <a:solidFill>
                <a:srgbClr val="000000"/>
              </a:solidFill>
              <a:latin typeface="Arial"/>
              <a:cs typeface="Arial"/>
            </a:endParaRPr>
          </a:p>
        </p:txBody>
      </p:sp>
      <p:sp>
        <p:nvSpPr>
          <p:cNvPr id="31" name="Line 35"/>
          <p:cNvSpPr>
            <a:spLocks noChangeShapeType="1"/>
          </p:cNvSpPr>
          <p:nvPr/>
        </p:nvSpPr>
        <p:spPr bwMode="auto">
          <a:xfrm>
            <a:off x="8477250" y="2190750"/>
            <a:ext cx="646112" cy="0"/>
          </a:xfrm>
          <a:prstGeom prst="line">
            <a:avLst/>
          </a:prstGeom>
          <a:noFill/>
          <a:ln w="57150">
            <a:solidFill>
              <a:srgbClr val="A50021"/>
            </a:solidFill>
            <a:round/>
            <a:headEnd/>
            <a:tailEnd type="triangle" w="lg" len="med"/>
          </a:ln>
        </p:spPr>
        <p:txBody>
          <a:bodyPr/>
          <a:lstStyle/>
          <a:p>
            <a:endParaRPr lang="en-US">
              <a:solidFill>
                <a:srgbClr val="000000"/>
              </a:solidFill>
              <a:latin typeface="Arial"/>
              <a:cs typeface="Arial"/>
            </a:endParaRPr>
          </a:p>
        </p:txBody>
      </p:sp>
      <p:grpSp>
        <p:nvGrpSpPr>
          <p:cNvPr id="32" name="Group 48"/>
          <p:cNvGrpSpPr>
            <a:grpSpLocks/>
          </p:cNvGrpSpPr>
          <p:nvPr/>
        </p:nvGrpSpPr>
        <p:grpSpPr bwMode="auto">
          <a:xfrm>
            <a:off x="5748338" y="2654300"/>
            <a:ext cx="3190875" cy="2822576"/>
            <a:chOff x="2266" y="1672"/>
            <a:chExt cx="2010" cy="1778"/>
          </a:xfrm>
        </p:grpSpPr>
        <p:sp>
          <p:nvSpPr>
            <p:cNvPr id="33" name="Text Box 36"/>
            <p:cNvSpPr txBox="1">
              <a:spLocks noChangeArrowheads="1"/>
            </p:cNvSpPr>
            <p:nvPr/>
          </p:nvSpPr>
          <p:spPr bwMode="auto">
            <a:xfrm>
              <a:off x="2266" y="167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P</a:t>
              </a:r>
              <a:r>
                <a:rPr lang="en-US" sz="2400" b="1" baseline="-25000">
                  <a:solidFill>
                    <a:srgbClr val="000000"/>
                  </a:solidFill>
                  <a:latin typeface="Arial"/>
                  <a:cs typeface="Arial"/>
                </a:rPr>
                <a:t>2</a:t>
              </a:r>
            </a:p>
          </p:txBody>
        </p:sp>
        <p:sp>
          <p:nvSpPr>
            <p:cNvPr id="34" name="Oval 37"/>
            <p:cNvSpPr>
              <a:spLocks noChangeArrowheads="1"/>
            </p:cNvSpPr>
            <p:nvPr/>
          </p:nvSpPr>
          <p:spPr bwMode="auto">
            <a:xfrm>
              <a:off x="4075" y="1817"/>
              <a:ext cx="88" cy="87"/>
            </a:xfrm>
            <a:prstGeom prst="ellipse">
              <a:avLst/>
            </a:prstGeom>
            <a:solidFill>
              <a:srgbClr val="000000"/>
            </a:solidFill>
            <a:ln w="9525">
              <a:noFill/>
              <a:prstDash val="dash"/>
              <a:round/>
              <a:headEnd/>
              <a:tailEnd/>
            </a:ln>
          </p:spPr>
          <p:txBody>
            <a:bodyPr wrap="none" anchor="ctr"/>
            <a:lstStyle/>
            <a:p>
              <a:endParaRPr lang="en-US">
                <a:solidFill>
                  <a:srgbClr val="000000"/>
                </a:solidFill>
                <a:latin typeface="Arial"/>
                <a:cs typeface="Arial"/>
              </a:endParaRPr>
            </a:p>
          </p:txBody>
        </p:sp>
        <p:sp>
          <p:nvSpPr>
            <p:cNvPr id="35" name="Line 38"/>
            <p:cNvSpPr>
              <a:spLocks noChangeShapeType="1"/>
            </p:cNvSpPr>
            <p:nvPr/>
          </p:nvSpPr>
          <p:spPr bwMode="auto">
            <a:xfrm>
              <a:off x="2699" y="1864"/>
              <a:ext cx="1422" cy="0"/>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36" name="Text Box 40"/>
            <p:cNvSpPr txBox="1">
              <a:spLocks noChangeArrowheads="1"/>
            </p:cNvSpPr>
            <p:nvPr/>
          </p:nvSpPr>
          <p:spPr bwMode="auto">
            <a:xfrm>
              <a:off x="3968" y="3217"/>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Q</a:t>
              </a:r>
              <a:r>
                <a:rPr lang="en-US" sz="2400" b="1" baseline="-25000">
                  <a:solidFill>
                    <a:srgbClr val="000000"/>
                  </a:solidFill>
                  <a:latin typeface="Arial"/>
                  <a:cs typeface="Arial"/>
                </a:rPr>
                <a:t>2</a:t>
              </a:r>
            </a:p>
          </p:txBody>
        </p:sp>
        <p:sp>
          <p:nvSpPr>
            <p:cNvPr id="37" name="Line 41"/>
            <p:cNvSpPr>
              <a:spLocks noChangeShapeType="1"/>
            </p:cNvSpPr>
            <p:nvPr/>
          </p:nvSpPr>
          <p:spPr bwMode="auto">
            <a:xfrm flipH="1" flipV="1">
              <a:off x="2538" y="1818"/>
              <a:ext cx="132" cy="42"/>
            </a:xfrm>
            <a:prstGeom prst="line">
              <a:avLst/>
            </a:prstGeom>
            <a:noFill/>
            <a:ln w="9525">
              <a:solidFill>
                <a:schemeClr val="tx1"/>
              </a:solidFill>
              <a:round/>
              <a:headEnd/>
              <a:tailEnd/>
            </a:ln>
          </p:spPr>
          <p:txBody>
            <a:bodyPr/>
            <a:lstStyle/>
            <a:p>
              <a:endParaRPr lang="en-US">
                <a:solidFill>
                  <a:srgbClr val="000000"/>
                </a:solidFill>
                <a:latin typeface="Arial"/>
                <a:cs typeface="Arial"/>
              </a:endParaRPr>
            </a:p>
          </p:txBody>
        </p:sp>
        <p:sp>
          <p:nvSpPr>
            <p:cNvPr id="38" name="Line 42"/>
            <p:cNvSpPr>
              <a:spLocks noChangeShapeType="1"/>
            </p:cNvSpPr>
            <p:nvPr/>
          </p:nvSpPr>
          <p:spPr bwMode="auto">
            <a:xfrm>
              <a:off x="4122" y="1867"/>
              <a:ext cx="0" cy="1335"/>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grpSp>
    </p:spTree>
    <p:extLst>
      <p:ext uri="{BB962C8B-B14F-4D97-AF65-F5344CB8AC3E}">
        <p14:creationId xmlns:p14="http://schemas.microsoft.com/office/powerpoint/2010/main" val="2206526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par>
                          <p:cTn id="18" fill="hold">
                            <p:stCondLst>
                              <p:cond delay="500"/>
                            </p:stCondLst>
                            <p:childTnLst>
                              <p:par>
                                <p:cTn id="19" presetID="17" presetClass="entr" presetSubtype="8"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 calcmode="lin" valueType="num">
                                      <p:cBhvr>
                                        <p:cTn id="21" dur="500" fill="hold"/>
                                        <p:tgtEl>
                                          <p:spTgt spid="30"/>
                                        </p:tgtEl>
                                        <p:attrNameLst>
                                          <p:attrName>ppt_x</p:attrName>
                                        </p:attrNameLst>
                                      </p:cBhvr>
                                      <p:tavLst>
                                        <p:tav tm="0">
                                          <p:val>
                                            <p:strVal val="#ppt_x-#ppt_w/2"/>
                                          </p:val>
                                        </p:tav>
                                        <p:tav tm="100000">
                                          <p:val>
                                            <p:strVal val="#ppt_x"/>
                                          </p:val>
                                        </p:tav>
                                      </p:tavLst>
                                    </p:anim>
                                    <p:anim calcmode="lin" valueType="num">
                                      <p:cBhvr>
                                        <p:cTn id="22" dur="500" fill="hold"/>
                                        <p:tgtEl>
                                          <p:spTgt spid="30"/>
                                        </p:tgtEl>
                                        <p:attrNameLst>
                                          <p:attrName>ppt_y</p:attrName>
                                        </p:attrNameLst>
                                      </p:cBhvr>
                                      <p:tavLst>
                                        <p:tav tm="0">
                                          <p:val>
                                            <p:strVal val="#ppt_y"/>
                                          </p:val>
                                        </p:tav>
                                        <p:tav tm="100000">
                                          <p:val>
                                            <p:strVal val="#ppt_y"/>
                                          </p:val>
                                        </p:tav>
                                      </p:tavLst>
                                    </p:anim>
                                    <p:anim calcmode="lin" valueType="num">
                                      <p:cBhvr>
                                        <p:cTn id="23" dur="500" fill="hold"/>
                                        <p:tgtEl>
                                          <p:spTgt spid="30"/>
                                        </p:tgtEl>
                                        <p:attrNameLst>
                                          <p:attrName>ppt_w</p:attrName>
                                        </p:attrNameLst>
                                      </p:cBhvr>
                                      <p:tavLst>
                                        <p:tav tm="0">
                                          <p:val>
                                            <p:fltVal val="0"/>
                                          </p:val>
                                        </p:tav>
                                        <p:tav tm="100000">
                                          <p:val>
                                            <p:strVal val="#ppt_w"/>
                                          </p:val>
                                        </p:tav>
                                      </p:tavLst>
                                    </p:anim>
                                    <p:anim calcmode="lin" valueType="num">
                                      <p:cBhvr>
                                        <p:cTn id="24" dur="500" fill="hold"/>
                                        <p:tgtEl>
                                          <p:spTgt spid="30"/>
                                        </p:tgtEl>
                                        <p:attrNameLst>
                                          <p:attrName>ppt_h</p:attrName>
                                        </p:attrNameLst>
                                      </p:cBhvr>
                                      <p:tavLst>
                                        <p:tav tm="0">
                                          <p:val>
                                            <p:strVal val="#ppt_h"/>
                                          </p:val>
                                        </p:tav>
                                        <p:tav tm="100000">
                                          <p:val>
                                            <p:strVal val="#ppt_h"/>
                                          </p:val>
                                        </p:tav>
                                      </p:tavLst>
                                    </p:anim>
                                  </p:childTnLst>
                                </p:cTn>
                              </p:par>
                            </p:childTnLst>
                          </p:cTn>
                        </p:par>
                        <p:par>
                          <p:cTn id="25" fill="hold">
                            <p:stCondLst>
                              <p:cond delay="1000"/>
                            </p:stCondLst>
                            <p:childTnLst>
                              <p:par>
                                <p:cTn id="26" presetID="18" presetClass="entr" presetSubtype="6" fill="hold" nodeType="after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strips(downRight)">
                                      <p:cBhvr>
                                        <p:cTn id="28" dur="500"/>
                                        <p:tgtEl>
                                          <p:spTgt spid="27"/>
                                        </p:tgtEl>
                                      </p:cBhvr>
                                    </p:animEffect>
                                  </p:childTnLst>
                                </p:cTn>
                              </p:par>
                            </p:childTnLst>
                          </p:cTn>
                        </p:par>
                        <p:par>
                          <p:cTn id="29" fill="hold">
                            <p:stCondLst>
                              <p:cond delay="1500"/>
                            </p:stCondLst>
                            <p:childTnLst>
                              <p:par>
                                <p:cTn id="30" presetID="17" presetClass="entr" presetSubtype="8" fill="hold" grpId="0" nodeType="after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p:cTn id="32" dur="500" fill="hold"/>
                                        <p:tgtEl>
                                          <p:spTgt spid="31"/>
                                        </p:tgtEl>
                                        <p:attrNameLst>
                                          <p:attrName>ppt_x</p:attrName>
                                        </p:attrNameLst>
                                      </p:cBhvr>
                                      <p:tavLst>
                                        <p:tav tm="0">
                                          <p:val>
                                            <p:strVal val="#ppt_x-#ppt_w/2"/>
                                          </p:val>
                                        </p:tav>
                                        <p:tav tm="100000">
                                          <p:val>
                                            <p:strVal val="#ppt_x"/>
                                          </p:val>
                                        </p:tav>
                                      </p:tavLst>
                                    </p:anim>
                                    <p:anim calcmode="lin" valueType="num">
                                      <p:cBhvr>
                                        <p:cTn id="33" dur="500" fill="hold"/>
                                        <p:tgtEl>
                                          <p:spTgt spid="31"/>
                                        </p:tgtEl>
                                        <p:attrNameLst>
                                          <p:attrName>ppt_y</p:attrName>
                                        </p:attrNameLst>
                                      </p:cBhvr>
                                      <p:tavLst>
                                        <p:tav tm="0">
                                          <p:val>
                                            <p:strVal val="#ppt_y"/>
                                          </p:val>
                                        </p:tav>
                                        <p:tav tm="100000">
                                          <p:val>
                                            <p:strVal val="#ppt_y"/>
                                          </p:val>
                                        </p:tav>
                                      </p:tavLst>
                                    </p:anim>
                                    <p:anim calcmode="lin" valueType="num">
                                      <p:cBhvr>
                                        <p:cTn id="34" dur="500" fill="hold"/>
                                        <p:tgtEl>
                                          <p:spTgt spid="31"/>
                                        </p:tgtEl>
                                        <p:attrNameLst>
                                          <p:attrName>ppt_w</p:attrName>
                                        </p:attrNameLst>
                                      </p:cBhvr>
                                      <p:tavLst>
                                        <p:tav tm="0">
                                          <p:val>
                                            <p:fltVal val="0"/>
                                          </p:val>
                                        </p:tav>
                                        <p:tav tm="100000">
                                          <p:val>
                                            <p:strVal val="#ppt_w"/>
                                          </p:val>
                                        </p:tav>
                                      </p:tavLst>
                                    </p:anim>
                                    <p:anim calcmode="lin" valueType="num">
                                      <p:cBhvr>
                                        <p:cTn id="35" dur="500" fill="hold"/>
                                        <p:tgtEl>
                                          <p:spTgt spid="31"/>
                                        </p:tgtEl>
                                        <p:attrNameLst>
                                          <p:attrName>ppt_h</p:attrName>
                                        </p:attrNameLst>
                                      </p:cBhvr>
                                      <p:tavLst>
                                        <p:tav tm="0">
                                          <p:val>
                                            <p:strVal val="#ppt_h"/>
                                          </p:val>
                                        </p:tav>
                                        <p:tav tm="100000">
                                          <p:val>
                                            <p:strVal val="#ppt_h"/>
                                          </p:val>
                                        </p:tav>
                                      </p:tavLst>
                                    </p:anim>
                                  </p:childTnLst>
                                </p:cTn>
                              </p:par>
                            </p:childTnLst>
                          </p:cTn>
                        </p:par>
                        <p:par>
                          <p:cTn id="36" fill="hold">
                            <p:stCondLst>
                              <p:cond delay="2000"/>
                            </p:stCondLst>
                            <p:childTnLst>
                              <p:par>
                                <p:cTn id="37" presetID="18" presetClass="entr" presetSubtype="12"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strips(downLeft)">
                                      <p:cBhvr>
                                        <p:cTn id="39" dur="500"/>
                                        <p:tgtEl>
                                          <p:spTgt spid="2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wipe(left)">
                                      <p:cBhvr>
                                        <p:cTn id="44" dur="500"/>
                                        <p:tgtEl>
                                          <p:spTgt spid="3">
                                            <p:txEl>
                                              <p:pRg st="5" end="5"/>
                                            </p:txEl>
                                          </p:spTgt>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Effect transition="in" filter="wipe(left)">
                                      <p:cBhvr>
                                        <p:cTn id="48" dur="500"/>
                                        <p:tgtEl>
                                          <p:spTgt spid="3">
                                            <p:txEl>
                                              <p:pRg st="6" end="6"/>
                                            </p:txEl>
                                          </p:spTgt>
                                        </p:tgtEl>
                                      </p:cBhvr>
                                    </p:animEffect>
                                  </p:childTnLst>
                                </p:cTn>
                              </p:par>
                            </p:childTnLst>
                          </p:cTn>
                        </p:par>
                        <p:par>
                          <p:cTn id="49" fill="hold">
                            <p:stCondLst>
                              <p:cond delay="1000"/>
                            </p:stCondLst>
                            <p:childTnLst>
                              <p:par>
                                <p:cTn id="50" presetID="22" presetClass="entr" presetSubtype="8" fill="hold" grpId="0" nodeType="after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wipe(left)">
                                      <p:cBhvr>
                                        <p:cTn id="52" dur="500"/>
                                        <p:tgtEl>
                                          <p:spTgt spid="3">
                                            <p:txEl>
                                              <p:pRg st="7" end="7"/>
                                            </p:txEl>
                                          </p:spTgt>
                                        </p:tgtEl>
                                      </p:cBhvr>
                                    </p:animEffect>
                                  </p:childTnLst>
                                </p:cTn>
                              </p:par>
                            </p:childTnLst>
                          </p:cTn>
                        </p:par>
                        <p:par>
                          <p:cTn id="53" fill="hold">
                            <p:stCondLst>
                              <p:cond delay="1500"/>
                            </p:stCondLst>
                            <p:childTnLst>
                              <p:par>
                                <p:cTn id="54" presetID="18" presetClass="entr" presetSubtype="12" fill="hold" nodeType="after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strips(downLeft)">
                                      <p:cBhvr>
                                        <p:cTn id="5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0" grpId="0" animBg="1"/>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t>EXAMPLE 3:  A Shift in Both Supply and Demand</a:t>
            </a:r>
          </a:p>
        </p:txBody>
      </p:sp>
      <p:sp>
        <p:nvSpPr>
          <p:cNvPr id="3" name="Text Placeholder 2"/>
          <p:cNvSpPr>
            <a:spLocks noGrp="1"/>
          </p:cNvSpPr>
          <p:nvPr>
            <p:ph type="body" sz="quarter" idx="12"/>
          </p:nvPr>
        </p:nvSpPr>
        <p:spPr>
          <a:xfrm>
            <a:off x="1676400" y="838200"/>
            <a:ext cx="4191000" cy="5486400"/>
          </a:xfrm>
        </p:spPr>
        <p:txBody>
          <a:bodyPr/>
          <a:lstStyle/>
          <a:p>
            <a:r>
              <a:rPr lang="en-US" sz="2600" b="1" dirty="0"/>
              <a:t>EVENTS:</a:t>
            </a:r>
            <a:r>
              <a:rPr lang="en-US" sz="2600" dirty="0"/>
              <a:t>  Price of gas rises AND new technology reduces production costs</a:t>
            </a:r>
          </a:p>
          <a:p>
            <a:pPr>
              <a:spcBef>
                <a:spcPct val="5000"/>
              </a:spcBef>
              <a:buClr>
                <a:srgbClr val="00B85C"/>
              </a:buClr>
              <a:buSzPct val="120000"/>
              <a:buFont typeface="Wingdings" pitchFamily="2" charset="2"/>
              <a:buNone/>
            </a:pPr>
            <a:endParaRPr lang="en-US" sz="2600" b="1" dirty="0">
              <a:cs typeface="Arial"/>
            </a:endParaRPr>
          </a:p>
          <a:p>
            <a:pPr>
              <a:spcBef>
                <a:spcPct val="5000"/>
              </a:spcBef>
              <a:buClr>
                <a:srgbClr val="00B85C"/>
              </a:buClr>
              <a:buSzPct val="120000"/>
              <a:buFont typeface="Wingdings" pitchFamily="2" charset="2"/>
              <a:buNone/>
            </a:pPr>
            <a:endParaRPr lang="en-US" sz="2600" b="1" dirty="0">
              <a:cs typeface="Arial"/>
            </a:endParaRPr>
          </a:p>
          <a:p>
            <a:pPr>
              <a:spcBef>
                <a:spcPct val="5000"/>
              </a:spcBef>
              <a:buClr>
                <a:srgbClr val="00B85C"/>
              </a:buClr>
              <a:buSzPct val="120000"/>
              <a:buFont typeface="Wingdings" pitchFamily="2" charset="2"/>
              <a:buNone/>
            </a:pPr>
            <a:endParaRPr lang="en-US" sz="2600" b="1" dirty="0">
              <a:cs typeface="Arial"/>
            </a:endParaRPr>
          </a:p>
          <a:p>
            <a:pPr>
              <a:spcBef>
                <a:spcPct val="5000"/>
              </a:spcBef>
              <a:buClr>
                <a:srgbClr val="00B85C"/>
              </a:buClr>
              <a:buSzPct val="120000"/>
              <a:buFont typeface="Wingdings" pitchFamily="2" charset="2"/>
              <a:buNone/>
            </a:pPr>
            <a:endParaRPr lang="en-US" sz="2600" b="1" dirty="0">
              <a:cs typeface="Arial"/>
            </a:endParaRPr>
          </a:p>
          <a:p>
            <a:pPr>
              <a:spcBef>
                <a:spcPct val="5000"/>
              </a:spcBef>
              <a:buClr>
                <a:srgbClr val="00B85C"/>
              </a:buClr>
              <a:buSzPct val="120000"/>
              <a:buFont typeface="Wingdings" pitchFamily="2" charset="2"/>
              <a:buNone/>
            </a:pPr>
            <a:endParaRPr lang="en-US" sz="2600" b="1" dirty="0">
              <a:cs typeface="Arial"/>
            </a:endParaRPr>
          </a:p>
          <a:p>
            <a:pPr>
              <a:spcBef>
                <a:spcPct val="5000"/>
              </a:spcBef>
              <a:buClr>
                <a:srgbClr val="00B85C"/>
              </a:buClr>
              <a:buSzPct val="120000"/>
              <a:buFont typeface="Wingdings" pitchFamily="2" charset="2"/>
              <a:buNone/>
            </a:pPr>
            <a:r>
              <a:rPr lang="en-US" sz="2600" b="1" dirty="0">
                <a:cs typeface="Arial"/>
              </a:rPr>
              <a:t>STEP 3:  </a:t>
            </a:r>
            <a:r>
              <a:rPr lang="en-US" sz="2600" b="1" i="1" dirty="0">
                <a:cs typeface="Arial"/>
              </a:rPr>
              <a:t>Q</a:t>
            </a:r>
            <a:r>
              <a:rPr lang="en-US" sz="2600" dirty="0">
                <a:cs typeface="Arial"/>
              </a:rPr>
              <a:t> rises, but the </a:t>
            </a:r>
            <a:r>
              <a:rPr lang="en-US" sz="2600" u="sng" dirty="0">
                <a:cs typeface="Arial"/>
              </a:rPr>
              <a:t>effect on </a:t>
            </a:r>
            <a:r>
              <a:rPr lang="en-US" sz="2600" b="1" i="1" u="sng" dirty="0">
                <a:cs typeface="Arial"/>
              </a:rPr>
              <a:t>P</a:t>
            </a:r>
            <a:r>
              <a:rPr lang="en-US" sz="2600" u="sng" dirty="0">
                <a:cs typeface="Arial"/>
              </a:rPr>
              <a:t> is ambiguous</a:t>
            </a:r>
            <a:r>
              <a:rPr lang="en-US" sz="2600" dirty="0">
                <a:cs typeface="Arial"/>
              </a:rPr>
              <a:t>:</a:t>
            </a:r>
          </a:p>
          <a:p>
            <a:pPr>
              <a:spcBef>
                <a:spcPct val="5000"/>
              </a:spcBef>
              <a:buClr>
                <a:srgbClr val="00B85C"/>
              </a:buClr>
              <a:buSzPct val="120000"/>
              <a:buFont typeface="Wingdings" pitchFamily="2" charset="2"/>
              <a:buNone/>
            </a:pPr>
            <a:r>
              <a:rPr lang="en-US" sz="2600" dirty="0">
                <a:cs typeface="Arial"/>
              </a:rPr>
              <a:t> </a:t>
            </a:r>
          </a:p>
          <a:p>
            <a:pPr>
              <a:spcBef>
                <a:spcPct val="5000"/>
              </a:spcBef>
              <a:buClr>
                <a:srgbClr val="00B85C"/>
              </a:buClr>
              <a:buSzPct val="120000"/>
            </a:pPr>
            <a:r>
              <a:rPr lang="en-US" sz="2600" dirty="0">
                <a:cs typeface="Arial"/>
              </a:rPr>
              <a:t>But if supply increases more than demand, </a:t>
            </a:r>
            <a:r>
              <a:rPr lang="en-US" sz="2600" b="1" i="1" dirty="0">
                <a:cs typeface="Arial"/>
              </a:rPr>
              <a:t>P</a:t>
            </a:r>
            <a:r>
              <a:rPr lang="en-US" sz="2600" dirty="0">
                <a:cs typeface="Arial"/>
              </a:rPr>
              <a:t> falls.</a:t>
            </a:r>
          </a:p>
          <a:p>
            <a:endParaRPr lang="en-US" sz="2600" dirty="0"/>
          </a:p>
        </p:txBody>
      </p:sp>
      <p:sp>
        <p:nvSpPr>
          <p:cNvPr id="4" name="Slide Number Placeholder 3"/>
          <p:cNvSpPr>
            <a:spLocks noGrp="1"/>
          </p:cNvSpPr>
          <p:nvPr>
            <p:ph type="sldNum" sz="quarter" idx="13"/>
          </p:nvPr>
        </p:nvSpPr>
        <p:spPr/>
        <p:txBody>
          <a:bodyPr/>
          <a:lstStyle/>
          <a:p>
            <a:pPr>
              <a:defRPr/>
            </a:pPr>
            <a:fld id="{2F37425F-5E17-4209-B948-B5CE2119E408}" type="slidenum">
              <a:rPr lang="en-US">
                <a:latin typeface="Arial"/>
              </a:rPr>
              <a:pPr>
                <a:defRPr/>
              </a:pPr>
              <a:t>11</a:t>
            </a:fld>
            <a:endParaRPr lang="en-US" dirty="0">
              <a:latin typeface="Arial"/>
            </a:endParaRPr>
          </a:p>
        </p:txBody>
      </p:sp>
      <p:sp>
        <p:nvSpPr>
          <p:cNvPr id="5" name="Footer Placeholder 4"/>
          <p:cNvSpPr>
            <a:spLocks noGrp="1"/>
          </p:cNvSpPr>
          <p:nvPr>
            <p:ph type="ftr" sz="quarter" idx="14"/>
          </p:nvPr>
        </p:nvSpPr>
        <p:spPr/>
        <p:txBody>
          <a:bodyPr/>
          <a:lstStyle/>
          <a:p>
            <a:pPr>
              <a:defRPr/>
            </a:pPr>
            <a:r>
              <a:rPr lang="en-US">
                <a:solidFill>
                  <a:srgbClr val="000000"/>
                </a:solidFill>
                <a:latin typeface="Aria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latin typeface="Arial"/>
            </a:endParaRPr>
          </a:p>
        </p:txBody>
      </p:sp>
      <p:grpSp>
        <p:nvGrpSpPr>
          <p:cNvPr id="6" name="Group 4"/>
          <p:cNvGrpSpPr>
            <a:grpSpLocks/>
          </p:cNvGrpSpPr>
          <p:nvPr/>
        </p:nvGrpSpPr>
        <p:grpSpPr bwMode="auto">
          <a:xfrm>
            <a:off x="6016626" y="1179514"/>
            <a:ext cx="4422775" cy="4111953"/>
            <a:chOff x="2579" y="785"/>
            <a:chExt cx="2786" cy="2423"/>
          </a:xfrm>
        </p:grpSpPr>
        <p:grpSp>
          <p:nvGrpSpPr>
            <p:cNvPr id="7" name="Group 5"/>
            <p:cNvGrpSpPr>
              <a:grpSpLocks/>
            </p:cNvGrpSpPr>
            <p:nvPr/>
          </p:nvGrpSpPr>
          <p:grpSpPr bwMode="auto">
            <a:xfrm>
              <a:off x="2697" y="1037"/>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solidFill>
                    <a:srgbClr val="000000"/>
                  </a:solidFill>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solidFill>
                    <a:srgbClr val="000000"/>
                  </a:solidFill>
                  <a:latin typeface="Arial"/>
                  <a:cs typeface="Arial"/>
                </a:endParaRPr>
              </a:p>
            </p:txBody>
          </p:sp>
        </p:grpSp>
        <p:sp>
          <p:nvSpPr>
            <p:cNvPr id="8" name="Text Box 8"/>
            <p:cNvSpPr txBox="1">
              <a:spLocks noChangeArrowheads="1"/>
            </p:cNvSpPr>
            <p:nvPr/>
          </p:nvSpPr>
          <p:spPr bwMode="auto">
            <a:xfrm>
              <a:off x="2579" y="785"/>
              <a:ext cx="267" cy="272"/>
            </a:xfrm>
            <a:prstGeom prst="rect">
              <a:avLst/>
            </a:prstGeom>
            <a:noFill/>
            <a:ln w="9525">
              <a:noFill/>
              <a:miter lim="800000"/>
              <a:headEnd/>
              <a:tailEnd/>
            </a:ln>
          </p:spPr>
          <p:txBody>
            <a:bodyPr>
              <a:spAutoFit/>
            </a:bodyPr>
            <a:lstStyle/>
            <a:p>
              <a:pPr algn="ctr">
                <a:spcBef>
                  <a:spcPct val="50000"/>
                </a:spcBef>
              </a:pPr>
              <a:r>
                <a:rPr lang="en-US" sz="2400" b="1" i="1">
                  <a:solidFill>
                    <a:srgbClr val="000000"/>
                  </a:solidFill>
                  <a:latin typeface="Arial"/>
                  <a:cs typeface="Arial"/>
                </a:rPr>
                <a:t>P</a:t>
              </a:r>
            </a:p>
          </p:txBody>
        </p:sp>
        <p:sp>
          <p:nvSpPr>
            <p:cNvPr id="9" name="Text Box 9"/>
            <p:cNvSpPr txBox="1">
              <a:spLocks noChangeArrowheads="1"/>
            </p:cNvSpPr>
            <p:nvPr/>
          </p:nvSpPr>
          <p:spPr bwMode="auto">
            <a:xfrm>
              <a:off x="5075" y="2936"/>
              <a:ext cx="290" cy="272"/>
            </a:xfrm>
            <a:prstGeom prst="rect">
              <a:avLst/>
            </a:prstGeom>
            <a:noFill/>
            <a:ln w="9525">
              <a:noFill/>
              <a:miter lim="800000"/>
              <a:headEnd/>
              <a:tailEnd/>
            </a:ln>
          </p:spPr>
          <p:txBody>
            <a:bodyPr>
              <a:spAutoFit/>
            </a:bodyPr>
            <a:lstStyle/>
            <a:p>
              <a:pPr algn="ctr">
                <a:spcBef>
                  <a:spcPct val="50000"/>
                </a:spcBef>
              </a:pPr>
              <a:r>
                <a:rPr lang="en-US" sz="2400" b="1" i="1">
                  <a:solidFill>
                    <a:srgbClr val="000000"/>
                  </a:solidFill>
                  <a:latin typeface="Arial"/>
                  <a:cs typeface="Arial"/>
                </a:rPr>
                <a:t>Q</a:t>
              </a:r>
            </a:p>
          </p:txBody>
        </p:sp>
      </p:grpSp>
      <p:grpSp>
        <p:nvGrpSpPr>
          <p:cNvPr id="12" name="Group 10"/>
          <p:cNvGrpSpPr>
            <a:grpSpLocks/>
          </p:cNvGrpSpPr>
          <p:nvPr/>
        </p:nvGrpSpPr>
        <p:grpSpPr bwMode="auto">
          <a:xfrm>
            <a:off x="6446838" y="1957388"/>
            <a:ext cx="2486025" cy="2901950"/>
            <a:chOff x="2850" y="1233"/>
            <a:chExt cx="1566" cy="1828"/>
          </a:xfrm>
        </p:grpSpPr>
        <p:sp>
          <p:nvSpPr>
            <p:cNvPr id="13" name="Line 11"/>
            <p:cNvSpPr>
              <a:spLocks noChangeShapeType="1"/>
            </p:cNvSpPr>
            <p:nvPr/>
          </p:nvSpPr>
          <p:spPr bwMode="auto">
            <a:xfrm>
              <a:off x="2850" y="1233"/>
              <a:ext cx="1263" cy="1587"/>
            </a:xfrm>
            <a:prstGeom prst="line">
              <a:avLst/>
            </a:prstGeom>
            <a:noFill/>
            <a:ln w="38100">
              <a:solidFill>
                <a:srgbClr val="003399"/>
              </a:solidFill>
              <a:round/>
              <a:headEnd/>
              <a:tailEnd/>
            </a:ln>
          </p:spPr>
          <p:txBody>
            <a:bodyPr/>
            <a:lstStyle/>
            <a:p>
              <a:endParaRPr lang="en-US">
                <a:solidFill>
                  <a:srgbClr val="000000"/>
                </a:solidFill>
                <a:latin typeface="Arial"/>
                <a:cs typeface="Arial"/>
              </a:endParaRPr>
            </a:p>
          </p:txBody>
        </p:sp>
        <p:sp>
          <p:nvSpPr>
            <p:cNvPr id="14" name="Text Box 12"/>
            <p:cNvSpPr txBox="1">
              <a:spLocks noChangeArrowheads="1"/>
            </p:cNvSpPr>
            <p:nvPr/>
          </p:nvSpPr>
          <p:spPr bwMode="auto">
            <a:xfrm>
              <a:off x="4072" y="2773"/>
              <a:ext cx="344"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D</a:t>
              </a:r>
              <a:r>
                <a:rPr lang="en-US" sz="2400" baseline="-25000">
                  <a:solidFill>
                    <a:srgbClr val="000000"/>
                  </a:solidFill>
                  <a:latin typeface="Arial"/>
                  <a:cs typeface="Arial"/>
                </a:rPr>
                <a:t>1</a:t>
              </a:r>
            </a:p>
          </p:txBody>
        </p:sp>
      </p:grpSp>
      <p:grpSp>
        <p:nvGrpSpPr>
          <p:cNvPr id="15" name="Group 13"/>
          <p:cNvGrpSpPr>
            <a:grpSpLocks/>
          </p:cNvGrpSpPr>
          <p:nvPr/>
        </p:nvGrpSpPr>
        <p:grpSpPr bwMode="auto">
          <a:xfrm>
            <a:off x="6791326" y="1625600"/>
            <a:ext cx="1933575" cy="2901950"/>
            <a:chOff x="3067" y="1024"/>
            <a:chExt cx="1218" cy="1828"/>
          </a:xfrm>
        </p:grpSpPr>
        <p:sp>
          <p:nvSpPr>
            <p:cNvPr id="16" name="Line 14"/>
            <p:cNvSpPr>
              <a:spLocks noChangeShapeType="1"/>
            </p:cNvSpPr>
            <p:nvPr/>
          </p:nvSpPr>
          <p:spPr bwMode="auto">
            <a:xfrm flipV="1">
              <a:off x="3067" y="1278"/>
              <a:ext cx="949" cy="1574"/>
            </a:xfrm>
            <a:prstGeom prst="line">
              <a:avLst/>
            </a:prstGeom>
            <a:noFill/>
            <a:ln w="38100">
              <a:solidFill>
                <a:srgbClr val="003399"/>
              </a:solidFill>
              <a:round/>
              <a:headEnd/>
              <a:tailEnd/>
            </a:ln>
          </p:spPr>
          <p:txBody>
            <a:bodyPr/>
            <a:lstStyle/>
            <a:p>
              <a:endParaRPr lang="en-US">
                <a:solidFill>
                  <a:srgbClr val="000000"/>
                </a:solidFill>
                <a:latin typeface="Arial"/>
                <a:cs typeface="Arial"/>
              </a:endParaRPr>
            </a:p>
          </p:txBody>
        </p:sp>
        <p:sp>
          <p:nvSpPr>
            <p:cNvPr id="17" name="Text Box 15"/>
            <p:cNvSpPr txBox="1">
              <a:spLocks noChangeArrowheads="1"/>
            </p:cNvSpPr>
            <p:nvPr/>
          </p:nvSpPr>
          <p:spPr bwMode="auto">
            <a:xfrm>
              <a:off x="3920" y="1024"/>
              <a:ext cx="365"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S</a:t>
              </a:r>
              <a:r>
                <a:rPr lang="en-US" sz="2400" baseline="-25000">
                  <a:solidFill>
                    <a:srgbClr val="000000"/>
                  </a:solidFill>
                  <a:latin typeface="Arial"/>
                  <a:cs typeface="Arial"/>
                </a:rPr>
                <a:t>1</a:t>
              </a:r>
            </a:p>
          </p:txBody>
        </p:sp>
      </p:grpSp>
      <p:grpSp>
        <p:nvGrpSpPr>
          <p:cNvPr id="18" name="Group 16"/>
          <p:cNvGrpSpPr>
            <a:grpSpLocks/>
          </p:cNvGrpSpPr>
          <p:nvPr/>
        </p:nvGrpSpPr>
        <p:grpSpPr bwMode="auto">
          <a:xfrm>
            <a:off x="5705476" y="3136901"/>
            <a:ext cx="2060575" cy="2332038"/>
            <a:chOff x="2383" y="1976"/>
            <a:chExt cx="1298" cy="1469"/>
          </a:xfrm>
        </p:grpSpPr>
        <p:sp>
          <p:nvSpPr>
            <p:cNvPr id="19" name="Text Box 17"/>
            <p:cNvSpPr txBox="1">
              <a:spLocks noChangeArrowheads="1"/>
            </p:cNvSpPr>
            <p:nvPr/>
          </p:nvSpPr>
          <p:spPr bwMode="auto">
            <a:xfrm>
              <a:off x="2383" y="1976"/>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P</a:t>
              </a:r>
              <a:r>
                <a:rPr lang="en-US" sz="2400" b="1" baseline="-25000">
                  <a:solidFill>
                    <a:srgbClr val="000000"/>
                  </a:solidFill>
                  <a:latin typeface="Arial"/>
                  <a:cs typeface="Arial"/>
                </a:rPr>
                <a:t>1</a:t>
              </a:r>
            </a:p>
          </p:txBody>
        </p:sp>
        <p:sp>
          <p:nvSpPr>
            <p:cNvPr id="20" name="Oval 18"/>
            <p:cNvSpPr>
              <a:spLocks noChangeArrowheads="1"/>
            </p:cNvSpPr>
            <p:nvPr/>
          </p:nvSpPr>
          <p:spPr bwMode="auto">
            <a:xfrm>
              <a:off x="3481" y="2043"/>
              <a:ext cx="88" cy="87"/>
            </a:xfrm>
            <a:prstGeom prst="ellipse">
              <a:avLst/>
            </a:prstGeom>
            <a:solidFill>
              <a:srgbClr val="000000"/>
            </a:solidFill>
            <a:ln w="9525">
              <a:noFill/>
              <a:prstDash val="dash"/>
              <a:round/>
              <a:headEnd/>
              <a:tailEnd/>
            </a:ln>
          </p:spPr>
          <p:txBody>
            <a:bodyPr wrap="none" anchor="ctr"/>
            <a:lstStyle/>
            <a:p>
              <a:endParaRPr lang="en-US">
                <a:solidFill>
                  <a:srgbClr val="000000"/>
                </a:solidFill>
                <a:latin typeface="Arial"/>
                <a:cs typeface="Arial"/>
              </a:endParaRPr>
            </a:p>
          </p:txBody>
        </p:sp>
        <p:sp>
          <p:nvSpPr>
            <p:cNvPr id="21" name="Line 19"/>
            <p:cNvSpPr>
              <a:spLocks noChangeShapeType="1"/>
            </p:cNvSpPr>
            <p:nvPr/>
          </p:nvSpPr>
          <p:spPr bwMode="auto">
            <a:xfrm>
              <a:off x="2701" y="2090"/>
              <a:ext cx="823" cy="0"/>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22" name="Line 20"/>
            <p:cNvSpPr>
              <a:spLocks noChangeShapeType="1"/>
            </p:cNvSpPr>
            <p:nvPr/>
          </p:nvSpPr>
          <p:spPr bwMode="auto">
            <a:xfrm>
              <a:off x="3527" y="2088"/>
              <a:ext cx="0" cy="1117"/>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23" name="Text Box 21"/>
            <p:cNvSpPr txBox="1">
              <a:spLocks noChangeArrowheads="1"/>
            </p:cNvSpPr>
            <p:nvPr/>
          </p:nvSpPr>
          <p:spPr bwMode="auto">
            <a:xfrm>
              <a:off x="3373" y="3212"/>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Q</a:t>
              </a:r>
              <a:r>
                <a:rPr lang="en-US" sz="2400" b="1" baseline="-25000">
                  <a:solidFill>
                    <a:srgbClr val="000000"/>
                  </a:solidFill>
                  <a:latin typeface="Arial"/>
                  <a:cs typeface="Arial"/>
                </a:rPr>
                <a:t>1</a:t>
              </a:r>
            </a:p>
          </p:txBody>
        </p:sp>
      </p:grpSp>
      <p:grpSp>
        <p:nvGrpSpPr>
          <p:cNvPr id="24" name="Group 22"/>
          <p:cNvGrpSpPr>
            <a:grpSpLocks/>
          </p:cNvGrpSpPr>
          <p:nvPr/>
        </p:nvGrpSpPr>
        <p:grpSpPr bwMode="auto">
          <a:xfrm>
            <a:off x="7966076" y="1633538"/>
            <a:ext cx="1933575" cy="2901950"/>
            <a:chOff x="3520" y="1029"/>
            <a:chExt cx="1218" cy="1828"/>
          </a:xfrm>
        </p:grpSpPr>
        <p:sp>
          <p:nvSpPr>
            <p:cNvPr id="25" name="Line 23"/>
            <p:cNvSpPr>
              <a:spLocks noChangeShapeType="1"/>
            </p:cNvSpPr>
            <p:nvPr/>
          </p:nvSpPr>
          <p:spPr bwMode="auto">
            <a:xfrm flipV="1">
              <a:off x="3520" y="1283"/>
              <a:ext cx="949" cy="1574"/>
            </a:xfrm>
            <a:prstGeom prst="line">
              <a:avLst/>
            </a:prstGeom>
            <a:noFill/>
            <a:ln w="38100">
              <a:solidFill>
                <a:srgbClr val="FF0000"/>
              </a:solidFill>
              <a:round/>
              <a:headEnd/>
              <a:tailEnd/>
            </a:ln>
          </p:spPr>
          <p:txBody>
            <a:bodyPr/>
            <a:lstStyle/>
            <a:p>
              <a:endParaRPr lang="en-US">
                <a:solidFill>
                  <a:srgbClr val="000000"/>
                </a:solidFill>
                <a:latin typeface="Arial"/>
                <a:cs typeface="Arial"/>
              </a:endParaRPr>
            </a:p>
          </p:txBody>
        </p:sp>
        <p:sp>
          <p:nvSpPr>
            <p:cNvPr id="26" name="Text Box 24"/>
            <p:cNvSpPr txBox="1">
              <a:spLocks noChangeArrowheads="1"/>
            </p:cNvSpPr>
            <p:nvPr/>
          </p:nvSpPr>
          <p:spPr bwMode="auto">
            <a:xfrm>
              <a:off x="4373" y="1029"/>
              <a:ext cx="365"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S</a:t>
              </a:r>
              <a:r>
                <a:rPr lang="en-US" sz="2400" baseline="-25000">
                  <a:solidFill>
                    <a:srgbClr val="000000"/>
                  </a:solidFill>
                  <a:latin typeface="Arial"/>
                  <a:cs typeface="Arial"/>
                </a:rPr>
                <a:t>2</a:t>
              </a:r>
            </a:p>
          </p:txBody>
        </p:sp>
      </p:grpSp>
      <p:grpSp>
        <p:nvGrpSpPr>
          <p:cNvPr id="27" name="Group 25"/>
          <p:cNvGrpSpPr>
            <a:grpSpLocks/>
          </p:cNvGrpSpPr>
          <p:nvPr/>
        </p:nvGrpSpPr>
        <p:grpSpPr bwMode="auto">
          <a:xfrm>
            <a:off x="7132638" y="1854200"/>
            <a:ext cx="2486025" cy="2901950"/>
            <a:chOff x="3569" y="1168"/>
            <a:chExt cx="1566" cy="1828"/>
          </a:xfrm>
        </p:grpSpPr>
        <p:sp>
          <p:nvSpPr>
            <p:cNvPr id="28" name="Line 26"/>
            <p:cNvSpPr>
              <a:spLocks noChangeShapeType="1"/>
            </p:cNvSpPr>
            <p:nvPr/>
          </p:nvSpPr>
          <p:spPr bwMode="auto">
            <a:xfrm>
              <a:off x="3569" y="1168"/>
              <a:ext cx="1263" cy="1587"/>
            </a:xfrm>
            <a:prstGeom prst="line">
              <a:avLst/>
            </a:prstGeom>
            <a:noFill/>
            <a:ln w="38100">
              <a:solidFill>
                <a:srgbClr val="FF0000"/>
              </a:solidFill>
              <a:round/>
              <a:headEnd/>
              <a:tailEnd/>
            </a:ln>
          </p:spPr>
          <p:txBody>
            <a:bodyPr/>
            <a:lstStyle/>
            <a:p>
              <a:endParaRPr lang="en-US">
                <a:solidFill>
                  <a:srgbClr val="000000"/>
                </a:solidFill>
                <a:latin typeface="Arial"/>
                <a:cs typeface="Arial"/>
              </a:endParaRPr>
            </a:p>
          </p:txBody>
        </p:sp>
        <p:sp>
          <p:nvSpPr>
            <p:cNvPr id="29" name="Text Box 27"/>
            <p:cNvSpPr txBox="1">
              <a:spLocks noChangeArrowheads="1"/>
            </p:cNvSpPr>
            <p:nvPr/>
          </p:nvSpPr>
          <p:spPr bwMode="auto">
            <a:xfrm>
              <a:off x="4791" y="2708"/>
              <a:ext cx="344" cy="288"/>
            </a:xfrm>
            <a:prstGeom prst="rect">
              <a:avLst/>
            </a:prstGeom>
            <a:noFill/>
            <a:ln w="9525">
              <a:noFill/>
              <a:miter lim="800000"/>
              <a:headEnd/>
              <a:tailEnd/>
            </a:ln>
          </p:spPr>
          <p:txBody>
            <a:bodyPr>
              <a:spAutoFit/>
            </a:bodyPr>
            <a:lstStyle/>
            <a:p>
              <a:pPr algn="ctr">
                <a:spcBef>
                  <a:spcPct val="50000"/>
                </a:spcBef>
              </a:pPr>
              <a:r>
                <a:rPr lang="en-US" sz="2400">
                  <a:solidFill>
                    <a:srgbClr val="000000"/>
                  </a:solidFill>
                  <a:latin typeface="Arial"/>
                  <a:cs typeface="Arial"/>
                </a:rPr>
                <a:t>D</a:t>
              </a:r>
              <a:r>
                <a:rPr lang="en-US" sz="2400" baseline="-25000">
                  <a:solidFill>
                    <a:srgbClr val="000000"/>
                  </a:solidFill>
                  <a:latin typeface="Arial"/>
                  <a:cs typeface="Arial"/>
                </a:rPr>
                <a:t>2</a:t>
              </a:r>
            </a:p>
          </p:txBody>
        </p:sp>
      </p:grpSp>
      <p:sp>
        <p:nvSpPr>
          <p:cNvPr id="30" name="Line 28"/>
          <p:cNvSpPr>
            <a:spLocks noChangeShapeType="1"/>
          </p:cNvSpPr>
          <p:nvPr/>
        </p:nvSpPr>
        <p:spPr bwMode="auto">
          <a:xfrm>
            <a:off x="8255001" y="2192338"/>
            <a:ext cx="1068387" cy="0"/>
          </a:xfrm>
          <a:prstGeom prst="line">
            <a:avLst/>
          </a:prstGeom>
          <a:noFill/>
          <a:ln w="57150">
            <a:solidFill>
              <a:srgbClr val="A50021"/>
            </a:solidFill>
            <a:round/>
            <a:headEnd/>
            <a:tailEnd type="triangle" w="lg" len="med"/>
          </a:ln>
        </p:spPr>
        <p:txBody>
          <a:bodyPr/>
          <a:lstStyle/>
          <a:p>
            <a:endParaRPr lang="en-US">
              <a:solidFill>
                <a:srgbClr val="000000"/>
              </a:solidFill>
              <a:latin typeface="Arial"/>
              <a:cs typeface="Arial"/>
            </a:endParaRPr>
          </a:p>
        </p:txBody>
      </p:sp>
      <p:sp>
        <p:nvSpPr>
          <p:cNvPr id="31" name="Line 29"/>
          <p:cNvSpPr>
            <a:spLocks noChangeShapeType="1"/>
          </p:cNvSpPr>
          <p:nvPr/>
        </p:nvSpPr>
        <p:spPr bwMode="auto">
          <a:xfrm>
            <a:off x="6704013" y="2190750"/>
            <a:ext cx="646113" cy="0"/>
          </a:xfrm>
          <a:prstGeom prst="line">
            <a:avLst/>
          </a:prstGeom>
          <a:noFill/>
          <a:ln w="57150">
            <a:solidFill>
              <a:srgbClr val="A50021"/>
            </a:solidFill>
            <a:round/>
            <a:headEnd/>
            <a:tailEnd type="triangle" w="lg" len="med"/>
          </a:ln>
        </p:spPr>
        <p:txBody>
          <a:bodyPr/>
          <a:lstStyle/>
          <a:p>
            <a:endParaRPr lang="en-US">
              <a:solidFill>
                <a:srgbClr val="000000"/>
              </a:solidFill>
              <a:latin typeface="Arial"/>
              <a:cs typeface="Arial"/>
            </a:endParaRPr>
          </a:p>
        </p:txBody>
      </p:sp>
      <p:grpSp>
        <p:nvGrpSpPr>
          <p:cNvPr id="32" name="Group 38"/>
          <p:cNvGrpSpPr>
            <a:grpSpLocks/>
          </p:cNvGrpSpPr>
          <p:nvPr/>
        </p:nvGrpSpPr>
        <p:grpSpPr bwMode="auto">
          <a:xfrm>
            <a:off x="5576888" y="3532189"/>
            <a:ext cx="3197225" cy="1944688"/>
            <a:chOff x="2302" y="2225"/>
            <a:chExt cx="2014" cy="1225"/>
          </a:xfrm>
        </p:grpSpPr>
        <p:sp>
          <p:nvSpPr>
            <p:cNvPr id="33" name="Text Box 31"/>
            <p:cNvSpPr txBox="1">
              <a:spLocks noChangeArrowheads="1"/>
            </p:cNvSpPr>
            <p:nvPr/>
          </p:nvSpPr>
          <p:spPr bwMode="auto">
            <a:xfrm>
              <a:off x="2302" y="2280"/>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P</a:t>
              </a:r>
              <a:r>
                <a:rPr lang="en-US" sz="2400" b="1" baseline="-25000">
                  <a:solidFill>
                    <a:srgbClr val="000000"/>
                  </a:solidFill>
                  <a:latin typeface="Arial"/>
                  <a:cs typeface="Arial"/>
                </a:rPr>
                <a:t>2</a:t>
              </a:r>
            </a:p>
          </p:txBody>
        </p:sp>
        <p:sp>
          <p:nvSpPr>
            <p:cNvPr id="34" name="Oval 32"/>
            <p:cNvSpPr>
              <a:spLocks noChangeArrowheads="1"/>
            </p:cNvSpPr>
            <p:nvPr/>
          </p:nvSpPr>
          <p:spPr bwMode="auto">
            <a:xfrm>
              <a:off x="4116" y="2225"/>
              <a:ext cx="88" cy="87"/>
            </a:xfrm>
            <a:prstGeom prst="ellipse">
              <a:avLst/>
            </a:prstGeom>
            <a:solidFill>
              <a:srgbClr val="000000"/>
            </a:solidFill>
            <a:ln w="9525">
              <a:noFill/>
              <a:prstDash val="dash"/>
              <a:round/>
              <a:headEnd/>
              <a:tailEnd/>
            </a:ln>
          </p:spPr>
          <p:txBody>
            <a:bodyPr wrap="none" anchor="ctr"/>
            <a:lstStyle/>
            <a:p>
              <a:endParaRPr lang="en-US">
                <a:solidFill>
                  <a:srgbClr val="000000"/>
                </a:solidFill>
                <a:latin typeface="Arial"/>
                <a:cs typeface="Arial"/>
              </a:endParaRPr>
            </a:p>
          </p:txBody>
        </p:sp>
        <p:sp>
          <p:nvSpPr>
            <p:cNvPr id="35" name="Line 33"/>
            <p:cNvSpPr>
              <a:spLocks noChangeShapeType="1"/>
            </p:cNvSpPr>
            <p:nvPr/>
          </p:nvSpPr>
          <p:spPr bwMode="auto">
            <a:xfrm>
              <a:off x="2699" y="2274"/>
              <a:ext cx="1459" cy="0"/>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36" name="Line 34"/>
            <p:cNvSpPr>
              <a:spLocks noChangeShapeType="1"/>
            </p:cNvSpPr>
            <p:nvPr/>
          </p:nvSpPr>
          <p:spPr bwMode="auto">
            <a:xfrm flipH="1">
              <a:off x="4163" y="2274"/>
              <a:ext cx="0" cy="926"/>
            </a:xfrm>
            <a:prstGeom prst="line">
              <a:avLst/>
            </a:prstGeom>
            <a:noFill/>
            <a:ln w="9525">
              <a:solidFill>
                <a:schemeClr val="tx1"/>
              </a:solidFill>
              <a:prstDash val="lgDash"/>
              <a:round/>
              <a:headEnd/>
              <a:tailEnd/>
            </a:ln>
          </p:spPr>
          <p:txBody>
            <a:bodyPr/>
            <a:lstStyle/>
            <a:p>
              <a:endParaRPr lang="en-US">
                <a:solidFill>
                  <a:srgbClr val="000000"/>
                </a:solidFill>
                <a:latin typeface="Arial"/>
                <a:cs typeface="Arial"/>
              </a:endParaRPr>
            </a:p>
          </p:txBody>
        </p:sp>
        <p:sp>
          <p:nvSpPr>
            <p:cNvPr id="37" name="Text Box 35"/>
            <p:cNvSpPr txBox="1">
              <a:spLocks noChangeArrowheads="1"/>
            </p:cNvSpPr>
            <p:nvPr/>
          </p:nvSpPr>
          <p:spPr bwMode="auto">
            <a:xfrm>
              <a:off x="4008" y="3217"/>
              <a:ext cx="308" cy="233"/>
            </a:xfrm>
            <a:prstGeom prst="rect">
              <a:avLst/>
            </a:prstGeom>
            <a:noFill/>
            <a:ln w="9525">
              <a:noFill/>
              <a:miter lim="800000"/>
              <a:headEnd/>
              <a:tailEnd/>
            </a:ln>
          </p:spPr>
          <p:txBody>
            <a:bodyPr lIns="0" tIns="0" rIns="0" bIns="0">
              <a:spAutoFit/>
            </a:bodyPr>
            <a:lstStyle/>
            <a:p>
              <a:pPr algn="ctr">
                <a:spcBef>
                  <a:spcPct val="50000"/>
                </a:spcBef>
              </a:pPr>
              <a:r>
                <a:rPr lang="en-US" sz="2400" b="1" i="1">
                  <a:solidFill>
                    <a:srgbClr val="000000"/>
                  </a:solidFill>
                  <a:latin typeface="Arial"/>
                  <a:cs typeface="Arial"/>
                </a:rPr>
                <a:t>Q</a:t>
              </a:r>
              <a:r>
                <a:rPr lang="en-US" sz="2400" b="1" baseline="-25000">
                  <a:solidFill>
                    <a:srgbClr val="000000"/>
                  </a:solidFill>
                  <a:latin typeface="Arial"/>
                  <a:cs typeface="Arial"/>
                </a:rPr>
                <a:t>2</a:t>
              </a:r>
            </a:p>
          </p:txBody>
        </p:sp>
        <p:sp>
          <p:nvSpPr>
            <p:cNvPr id="38" name="Line 36"/>
            <p:cNvSpPr>
              <a:spLocks noChangeShapeType="1"/>
            </p:cNvSpPr>
            <p:nvPr/>
          </p:nvSpPr>
          <p:spPr bwMode="auto">
            <a:xfrm flipH="1">
              <a:off x="2519" y="2278"/>
              <a:ext cx="155" cy="78"/>
            </a:xfrm>
            <a:prstGeom prst="line">
              <a:avLst/>
            </a:prstGeom>
            <a:noFill/>
            <a:ln w="9525">
              <a:solidFill>
                <a:schemeClr val="tx1"/>
              </a:solidFill>
              <a:round/>
              <a:headEnd/>
              <a:tailEnd/>
            </a:ln>
          </p:spPr>
          <p:txBody>
            <a:bodyPr/>
            <a:lstStyle/>
            <a:p>
              <a:endParaRPr lang="en-US">
                <a:solidFill>
                  <a:srgbClr val="000000"/>
                </a:solidFill>
                <a:latin typeface="Arial"/>
                <a:cs typeface="Arial"/>
              </a:endParaRPr>
            </a:p>
          </p:txBody>
        </p:sp>
      </p:grpSp>
    </p:spTree>
    <p:extLst>
      <p:ext uri="{BB962C8B-B14F-4D97-AF65-F5344CB8AC3E}">
        <p14:creationId xmlns:p14="http://schemas.microsoft.com/office/powerpoint/2010/main" val="243467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p:cTn id="12" dur="500" fill="hold"/>
                                        <p:tgtEl>
                                          <p:spTgt spid="30"/>
                                        </p:tgtEl>
                                        <p:attrNameLst>
                                          <p:attrName>ppt_x</p:attrName>
                                        </p:attrNameLst>
                                      </p:cBhvr>
                                      <p:tavLst>
                                        <p:tav tm="0">
                                          <p:val>
                                            <p:strVal val="#ppt_x-#ppt_w/2"/>
                                          </p:val>
                                        </p:tav>
                                        <p:tav tm="100000">
                                          <p:val>
                                            <p:strVal val="#ppt_x"/>
                                          </p:val>
                                        </p:tav>
                                      </p:tavLst>
                                    </p:anim>
                                    <p:anim calcmode="lin" valueType="num">
                                      <p:cBhvr>
                                        <p:cTn id="13" dur="500" fill="hold"/>
                                        <p:tgtEl>
                                          <p:spTgt spid="30"/>
                                        </p:tgtEl>
                                        <p:attrNameLst>
                                          <p:attrName>ppt_y</p:attrName>
                                        </p:attrNameLst>
                                      </p:cBhvr>
                                      <p:tavLst>
                                        <p:tav tm="0">
                                          <p:val>
                                            <p:strVal val="#ppt_y"/>
                                          </p:val>
                                        </p:tav>
                                        <p:tav tm="100000">
                                          <p:val>
                                            <p:strVal val="#ppt_y"/>
                                          </p:val>
                                        </p:tav>
                                      </p:tavLst>
                                    </p:anim>
                                    <p:anim calcmode="lin" valueType="num">
                                      <p:cBhvr>
                                        <p:cTn id="14" dur="500" fill="hold"/>
                                        <p:tgtEl>
                                          <p:spTgt spid="30"/>
                                        </p:tgtEl>
                                        <p:attrNameLst>
                                          <p:attrName>ppt_w</p:attrName>
                                        </p:attrNameLst>
                                      </p:cBhvr>
                                      <p:tavLst>
                                        <p:tav tm="0">
                                          <p:val>
                                            <p:fltVal val="0"/>
                                          </p:val>
                                        </p:tav>
                                        <p:tav tm="100000">
                                          <p:val>
                                            <p:strVal val="#ppt_w"/>
                                          </p:val>
                                        </p:tav>
                                      </p:tavLst>
                                    </p:anim>
                                    <p:anim calcmode="lin" valueType="num">
                                      <p:cBhvr>
                                        <p:cTn id="15" dur="500" fill="hold"/>
                                        <p:tgtEl>
                                          <p:spTgt spid="30"/>
                                        </p:tgtEl>
                                        <p:attrNameLst>
                                          <p:attrName>ppt_h</p:attrName>
                                        </p:attrNameLst>
                                      </p:cBhvr>
                                      <p:tavLst>
                                        <p:tav tm="0">
                                          <p:val>
                                            <p:strVal val="#ppt_h"/>
                                          </p:val>
                                        </p:tav>
                                        <p:tav tm="100000">
                                          <p:val>
                                            <p:strVal val="#ppt_h"/>
                                          </p:val>
                                        </p:tav>
                                      </p:tavLst>
                                    </p:anim>
                                  </p:childTnLst>
                                </p:cTn>
                              </p:par>
                            </p:childTnLst>
                          </p:cTn>
                        </p:par>
                        <p:par>
                          <p:cTn id="16" fill="hold">
                            <p:stCondLst>
                              <p:cond delay="500"/>
                            </p:stCondLst>
                            <p:childTnLst>
                              <p:par>
                                <p:cTn id="17" presetID="18" presetClass="entr" presetSubtype="12"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strips(downLeft)">
                                      <p:cBhvr>
                                        <p:cTn id="19" dur="500"/>
                                        <p:tgtEl>
                                          <p:spTgt spid="24"/>
                                        </p:tgtEl>
                                      </p:cBhvr>
                                    </p:animEffect>
                                  </p:childTnLst>
                                </p:cTn>
                              </p:par>
                            </p:childTnLst>
                          </p:cTn>
                        </p:par>
                        <p:par>
                          <p:cTn id="20" fill="hold">
                            <p:stCondLst>
                              <p:cond delay="1000"/>
                            </p:stCondLst>
                            <p:childTnLst>
                              <p:par>
                                <p:cTn id="21" presetID="17" presetClass="entr" presetSubtype="8" fill="hold" grpId="0" nodeType="afterEffect">
                                  <p:stCondLst>
                                    <p:cond delay="0"/>
                                  </p:stCondLst>
                                  <p:childTnLst>
                                    <p:set>
                                      <p:cBhvr>
                                        <p:cTn id="22" dur="1" fill="hold">
                                          <p:stCondLst>
                                            <p:cond delay="0"/>
                                          </p:stCondLst>
                                        </p:cTn>
                                        <p:tgtEl>
                                          <p:spTgt spid="31"/>
                                        </p:tgtEl>
                                        <p:attrNameLst>
                                          <p:attrName>style.visibility</p:attrName>
                                        </p:attrNameLst>
                                      </p:cBhvr>
                                      <p:to>
                                        <p:strVal val="visible"/>
                                      </p:to>
                                    </p:set>
                                    <p:anim calcmode="lin" valueType="num">
                                      <p:cBhvr>
                                        <p:cTn id="23" dur="500" fill="hold"/>
                                        <p:tgtEl>
                                          <p:spTgt spid="31"/>
                                        </p:tgtEl>
                                        <p:attrNameLst>
                                          <p:attrName>ppt_x</p:attrName>
                                        </p:attrNameLst>
                                      </p:cBhvr>
                                      <p:tavLst>
                                        <p:tav tm="0">
                                          <p:val>
                                            <p:strVal val="#ppt_x-#ppt_w/2"/>
                                          </p:val>
                                        </p:tav>
                                        <p:tav tm="100000">
                                          <p:val>
                                            <p:strVal val="#ppt_x"/>
                                          </p:val>
                                        </p:tav>
                                      </p:tavLst>
                                    </p:anim>
                                    <p:anim calcmode="lin" valueType="num">
                                      <p:cBhvr>
                                        <p:cTn id="24" dur="500" fill="hold"/>
                                        <p:tgtEl>
                                          <p:spTgt spid="31"/>
                                        </p:tgtEl>
                                        <p:attrNameLst>
                                          <p:attrName>ppt_y</p:attrName>
                                        </p:attrNameLst>
                                      </p:cBhvr>
                                      <p:tavLst>
                                        <p:tav tm="0">
                                          <p:val>
                                            <p:strVal val="#ppt_y"/>
                                          </p:val>
                                        </p:tav>
                                        <p:tav tm="100000">
                                          <p:val>
                                            <p:strVal val="#ppt_y"/>
                                          </p:val>
                                        </p:tav>
                                      </p:tavLst>
                                    </p:anim>
                                    <p:anim calcmode="lin" valueType="num">
                                      <p:cBhvr>
                                        <p:cTn id="25" dur="500" fill="hold"/>
                                        <p:tgtEl>
                                          <p:spTgt spid="31"/>
                                        </p:tgtEl>
                                        <p:attrNameLst>
                                          <p:attrName>ppt_w</p:attrName>
                                        </p:attrNameLst>
                                      </p:cBhvr>
                                      <p:tavLst>
                                        <p:tav tm="0">
                                          <p:val>
                                            <p:fltVal val="0"/>
                                          </p:val>
                                        </p:tav>
                                        <p:tav tm="100000">
                                          <p:val>
                                            <p:strVal val="#ppt_w"/>
                                          </p:val>
                                        </p:tav>
                                      </p:tavLst>
                                    </p:anim>
                                    <p:anim calcmode="lin" valueType="num">
                                      <p:cBhvr>
                                        <p:cTn id="26" dur="500" fill="hold"/>
                                        <p:tgtEl>
                                          <p:spTgt spid="31"/>
                                        </p:tgtEl>
                                        <p:attrNameLst>
                                          <p:attrName>ppt_h</p:attrName>
                                        </p:attrNameLst>
                                      </p:cBhvr>
                                      <p:tavLst>
                                        <p:tav tm="0">
                                          <p:val>
                                            <p:strVal val="#ppt_h"/>
                                          </p:val>
                                        </p:tav>
                                        <p:tav tm="100000">
                                          <p:val>
                                            <p:strVal val="#ppt_h"/>
                                          </p:val>
                                        </p:tav>
                                      </p:tavLst>
                                    </p:anim>
                                  </p:childTnLst>
                                </p:cTn>
                              </p:par>
                            </p:childTnLst>
                          </p:cTn>
                        </p:par>
                        <p:par>
                          <p:cTn id="27" fill="hold">
                            <p:stCondLst>
                              <p:cond delay="1500"/>
                            </p:stCondLst>
                            <p:childTnLst>
                              <p:par>
                                <p:cTn id="28" presetID="18" presetClass="entr" presetSubtype="6" fill="hold" nodeType="after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strips(downRight)">
                                      <p:cBhvr>
                                        <p:cTn id="30" dur="500"/>
                                        <p:tgtEl>
                                          <p:spTgt spid="27"/>
                                        </p:tgtEl>
                                      </p:cBhvr>
                                    </p:animEffect>
                                  </p:childTnLst>
                                </p:cTn>
                              </p:par>
                            </p:childTnLst>
                          </p:cTn>
                        </p:par>
                        <p:par>
                          <p:cTn id="31" fill="hold">
                            <p:stCondLst>
                              <p:cond delay="2000"/>
                            </p:stCondLst>
                            <p:childTnLst>
                              <p:par>
                                <p:cTn id="32" presetID="22" presetClass="entr" presetSubtype="8" fill="hold" grpId="0" nodeType="after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wipe(left)">
                                      <p:cBhvr>
                                        <p:cTn id="34" dur="500"/>
                                        <p:tgtEl>
                                          <p:spTgt spid="3">
                                            <p:txEl>
                                              <p:pRg st="6" end="6"/>
                                            </p:txEl>
                                          </p:spTgt>
                                        </p:tgtEl>
                                      </p:cBhvr>
                                    </p:animEffect>
                                  </p:childTnLst>
                                </p:cTn>
                              </p:par>
                            </p:childTnLst>
                          </p:cTn>
                        </p:par>
                        <p:par>
                          <p:cTn id="35" fill="hold">
                            <p:stCondLst>
                              <p:cond delay="2500"/>
                            </p:stCondLst>
                            <p:childTnLst>
                              <p:par>
                                <p:cTn id="36" presetID="22" presetClass="entr" presetSubtype="8" fill="hold" grpId="0" nodeType="after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left)">
                                      <p:cBhvr>
                                        <p:cTn id="38" dur="500"/>
                                        <p:tgtEl>
                                          <p:spTgt spid="3">
                                            <p:txEl>
                                              <p:pRg st="7" end="7"/>
                                            </p:txEl>
                                          </p:spTgt>
                                        </p:tgtEl>
                                      </p:cBhvr>
                                    </p:animEffect>
                                  </p:childTnLst>
                                </p:cTn>
                              </p:par>
                            </p:childTnLst>
                          </p:cTn>
                        </p:par>
                        <p:par>
                          <p:cTn id="39" fill="hold">
                            <p:stCondLst>
                              <p:cond delay="3000"/>
                            </p:stCondLst>
                            <p:childTnLst>
                              <p:par>
                                <p:cTn id="40" presetID="22" presetClass="entr" presetSubtype="8" fill="hold" grpId="0" nodeType="after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wipe(left)">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strips(downLeft)">
                                      <p:cBhvr>
                                        <p:cTn id="4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0" grpId="0" animBg="1"/>
      <p:bldP spid="3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happens to price and quantity when supply or demand shifts?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17733092"/>
              </p:ext>
            </p:extLst>
          </p:nvPr>
        </p:nvGraphicFramePr>
        <p:xfrm>
          <a:off x="838200" y="1825625"/>
          <a:ext cx="10515600" cy="259588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1355455161"/>
                    </a:ext>
                  </a:extLst>
                </a:gridCol>
                <a:gridCol w="2628900">
                  <a:extLst>
                    <a:ext uri="{9D8B030D-6E8A-4147-A177-3AD203B41FA5}">
                      <a16:colId xmlns:a16="http://schemas.microsoft.com/office/drawing/2014/main" val="857863069"/>
                    </a:ext>
                  </a:extLst>
                </a:gridCol>
                <a:gridCol w="2628900">
                  <a:extLst>
                    <a:ext uri="{9D8B030D-6E8A-4147-A177-3AD203B41FA5}">
                      <a16:colId xmlns:a16="http://schemas.microsoft.com/office/drawing/2014/main" val="3044963853"/>
                    </a:ext>
                  </a:extLst>
                </a:gridCol>
                <a:gridCol w="2628900">
                  <a:extLst>
                    <a:ext uri="{9D8B030D-6E8A-4147-A177-3AD203B41FA5}">
                      <a16:colId xmlns:a16="http://schemas.microsoft.com/office/drawing/2014/main" val="1861472776"/>
                    </a:ext>
                  </a:extLst>
                </a:gridCol>
              </a:tblGrid>
              <a:tr h="370840">
                <a:tc>
                  <a:txBody>
                    <a:bodyPr/>
                    <a:lstStyle/>
                    <a:p>
                      <a:endParaRPr lang="en-IN" dirty="0"/>
                    </a:p>
                  </a:txBody>
                  <a:tcPr/>
                </a:tc>
                <a:tc>
                  <a:txBody>
                    <a:bodyPr/>
                    <a:lstStyle/>
                    <a:p>
                      <a:r>
                        <a:rPr lang="en-IN" dirty="0" smtClean="0"/>
                        <a:t>No change in Supply </a:t>
                      </a:r>
                      <a:endParaRPr lang="en-IN" dirty="0"/>
                    </a:p>
                  </a:txBody>
                  <a:tcPr/>
                </a:tc>
                <a:tc>
                  <a:txBody>
                    <a:bodyPr/>
                    <a:lstStyle/>
                    <a:p>
                      <a:r>
                        <a:rPr lang="en-IN" dirty="0" smtClean="0"/>
                        <a:t>An Increase in supply </a:t>
                      </a:r>
                      <a:endParaRPr lang="en-IN" dirty="0"/>
                    </a:p>
                  </a:txBody>
                  <a:tcPr/>
                </a:tc>
                <a:tc>
                  <a:txBody>
                    <a:bodyPr/>
                    <a:lstStyle/>
                    <a:p>
                      <a:r>
                        <a:rPr lang="en-IN" dirty="0" smtClean="0"/>
                        <a:t>A decrease in supply </a:t>
                      </a:r>
                      <a:endParaRPr lang="en-IN" dirty="0"/>
                    </a:p>
                  </a:txBody>
                  <a:tcPr/>
                </a:tc>
                <a:extLst>
                  <a:ext uri="{0D108BD9-81ED-4DB2-BD59-A6C34878D82A}">
                    <a16:rowId xmlns:a16="http://schemas.microsoft.com/office/drawing/2014/main" val="2837860496"/>
                  </a:ext>
                </a:extLst>
              </a:tr>
              <a:tr h="370840">
                <a:tc rowSpan="2">
                  <a:txBody>
                    <a:bodyPr/>
                    <a:lstStyle/>
                    <a:p>
                      <a:r>
                        <a:rPr lang="en-IN" dirty="0" smtClean="0"/>
                        <a:t>No change in demand </a:t>
                      </a:r>
                      <a:endParaRPr lang="en-IN" dirty="0"/>
                    </a:p>
                  </a:txBody>
                  <a:tcPr/>
                </a:tc>
                <a:tc>
                  <a:txBody>
                    <a:bodyPr/>
                    <a:lstStyle/>
                    <a:p>
                      <a:r>
                        <a:rPr lang="en-IN" dirty="0" smtClean="0"/>
                        <a:t>P Same </a:t>
                      </a:r>
                      <a:endParaRPr lang="en-IN" dirty="0"/>
                    </a:p>
                  </a:txBody>
                  <a:tcPr/>
                </a:tc>
                <a:tc>
                  <a:txBody>
                    <a:bodyPr/>
                    <a:lstStyle/>
                    <a:p>
                      <a:r>
                        <a:rPr lang="en-IN" dirty="0" smtClean="0"/>
                        <a:t>P </a:t>
                      </a:r>
                      <a:endParaRPr lang="en-IN" dirty="0"/>
                    </a:p>
                  </a:txBody>
                  <a:tcPr/>
                </a:tc>
                <a:tc>
                  <a:txBody>
                    <a:bodyPr/>
                    <a:lstStyle/>
                    <a:p>
                      <a:r>
                        <a:rPr lang="en-IN" dirty="0" smtClean="0"/>
                        <a:t>P </a:t>
                      </a:r>
                      <a:endParaRPr lang="en-IN" dirty="0"/>
                    </a:p>
                  </a:txBody>
                  <a:tcPr/>
                </a:tc>
                <a:extLst>
                  <a:ext uri="{0D108BD9-81ED-4DB2-BD59-A6C34878D82A}">
                    <a16:rowId xmlns:a16="http://schemas.microsoft.com/office/drawing/2014/main" val="3394945266"/>
                  </a:ext>
                </a:extLst>
              </a:tr>
              <a:tr h="370840">
                <a:tc vMerge="1">
                  <a:txBody>
                    <a:bodyPr/>
                    <a:lstStyle/>
                    <a:p>
                      <a:endParaRPr lang="en-IN" dirty="0"/>
                    </a:p>
                  </a:txBody>
                  <a:tcPr/>
                </a:tc>
                <a:tc>
                  <a:txBody>
                    <a:bodyPr/>
                    <a:lstStyle/>
                    <a:p>
                      <a:r>
                        <a:rPr lang="en-IN" dirty="0" smtClean="0"/>
                        <a:t>Q Same </a:t>
                      </a:r>
                      <a:endParaRPr lang="en-IN" dirty="0"/>
                    </a:p>
                  </a:txBody>
                  <a:tcPr/>
                </a:tc>
                <a:tc>
                  <a:txBody>
                    <a:bodyPr/>
                    <a:lstStyle/>
                    <a:p>
                      <a:r>
                        <a:rPr lang="en-IN" dirty="0" smtClean="0"/>
                        <a:t>Q</a:t>
                      </a:r>
                      <a:endParaRPr lang="en-IN" dirty="0"/>
                    </a:p>
                  </a:txBody>
                  <a:tcPr/>
                </a:tc>
                <a:tc>
                  <a:txBody>
                    <a:bodyPr/>
                    <a:lstStyle/>
                    <a:p>
                      <a:r>
                        <a:rPr lang="en-IN" dirty="0" smtClean="0"/>
                        <a:t>Q</a:t>
                      </a:r>
                      <a:endParaRPr lang="en-IN" dirty="0"/>
                    </a:p>
                  </a:txBody>
                  <a:tcPr/>
                </a:tc>
                <a:extLst>
                  <a:ext uri="{0D108BD9-81ED-4DB2-BD59-A6C34878D82A}">
                    <a16:rowId xmlns:a16="http://schemas.microsoft.com/office/drawing/2014/main" val="251541055"/>
                  </a:ext>
                </a:extLst>
              </a:tr>
              <a:tr h="370840">
                <a:tc rowSpan="2">
                  <a:txBody>
                    <a:bodyPr/>
                    <a:lstStyle/>
                    <a:p>
                      <a:r>
                        <a:rPr lang="en-IN" dirty="0" smtClean="0"/>
                        <a:t>An increase in demand </a:t>
                      </a:r>
                      <a:endParaRPr lang="en-IN" dirty="0"/>
                    </a:p>
                  </a:txBody>
                  <a:tcPr/>
                </a:tc>
                <a:tc>
                  <a:txBody>
                    <a:bodyPr/>
                    <a:lstStyle/>
                    <a:p>
                      <a:r>
                        <a:rPr lang="en-IN" dirty="0" smtClean="0"/>
                        <a:t>P </a:t>
                      </a:r>
                      <a:endParaRPr lang="en-IN" dirty="0"/>
                    </a:p>
                  </a:txBody>
                  <a:tcPr/>
                </a:tc>
                <a:tc>
                  <a:txBody>
                    <a:bodyPr/>
                    <a:lstStyle/>
                    <a:p>
                      <a:r>
                        <a:rPr lang="en-IN" dirty="0" smtClean="0"/>
                        <a:t>P </a:t>
                      </a:r>
                      <a:endParaRPr lang="en-IN" dirty="0"/>
                    </a:p>
                  </a:txBody>
                  <a:tcPr/>
                </a:tc>
                <a:tc>
                  <a:txBody>
                    <a:bodyPr/>
                    <a:lstStyle/>
                    <a:p>
                      <a:r>
                        <a:rPr lang="en-IN" dirty="0" smtClean="0"/>
                        <a:t>P </a:t>
                      </a:r>
                      <a:endParaRPr lang="en-IN" dirty="0"/>
                    </a:p>
                  </a:txBody>
                  <a:tcPr/>
                </a:tc>
                <a:extLst>
                  <a:ext uri="{0D108BD9-81ED-4DB2-BD59-A6C34878D82A}">
                    <a16:rowId xmlns:a16="http://schemas.microsoft.com/office/drawing/2014/main" val="1505144968"/>
                  </a:ext>
                </a:extLst>
              </a:tr>
              <a:tr h="370840">
                <a:tc vMerge="1">
                  <a:txBody>
                    <a:bodyPr/>
                    <a:lstStyle/>
                    <a:p>
                      <a:endParaRPr lang="en-IN" dirty="0"/>
                    </a:p>
                  </a:txBody>
                  <a:tcPr/>
                </a:tc>
                <a:tc>
                  <a:txBody>
                    <a:bodyPr/>
                    <a:lstStyle/>
                    <a:p>
                      <a:r>
                        <a:rPr lang="en-IN" dirty="0" smtClean="0"/>
                        <a:t>Q</a:t>
                      </a:r>
                      <a:endParaRPr lang="en-IN" dirty="0"/>
                    </a:p>
                  </a:txBody>
                  <a:tcPr/>
                </a:tc>
                <a:tc>
                  <a:txBody>
                    <a:bodyPr/>
                    <a:lstStyle/>
                    <a:p>
                      <a:r>
                        <a:rPr lang="en-IN" dirty="0" smtClean="0"/>
                        <a:t>Q</a:t>
                      </a:r>
                      <a:endParaRPr lang="en-IN" dirty="0"/>
                    </a:p>
                  </a:txBody>
                  <a:tcPr/>
                </a:tc>
                <a:tc>
                  <a:txBody>
                    <a:bodyPr/>
                    <a:lstStyle/>
                    <a:p>
                      <a:r>
                        <a:rPr lang="en-IN" dirty="0" smtClean="0"/>
                        <a:t>Q</a:t>
                      </a:r>
                      <a:endParaRPr lang="en-IN" dirty="0"/>
                    </a:p>
                  </a:txBody>
                  <a:tcPr/>
                </a:tc>
                <a:extLst>
                  <a:ext uri="{0D108BD9-81ED-4DB2-BD59-A6C34878D82A}">
                    <a16:rowId xmlns:a16="http://schemas.microsoft.com/office/drawing/2014/main" val="3539767011"/>
                  </a:ext>
                </a:extLst>
              </a:tr>
              <a:tr h="370840">
                <a:tc rowSpan="2">
                  <a:txBody>
                    <a:bodyPr/>
                    <a:lstStyle/>
                    <a:p>
                      <a:r>
                        <a:rPr lang="en-IN" dirty="0" smtClean="0"/>
                        <a:t>A decrease in demand </a:t>
                      </a:r>
                      <a:endParaRPr lang="en-IN" dirty="0"/>
                    </a:p>
                  </a:txBody>
                  <a:tcPr/>
                </a:tc>
                <a:tc>
                  <a:txBody>
                    <a:bodyPr/>
                    <a:lstStyle/>
                    <a:p>
                      <a:r>
                        <a:rPr lang="en-IN" dirty="0" smtClean="0"/>
                        <a:t>P </a:t>
                      </a:r>
                      <a:endParaRPr lang="en-IN" dirty="0"/>
                    </a:p>
                  </a:txBody>
                  <a:tcPr/>
                </a:tc>
                <a:tc>
                  <a:txBody>
                    <a:bodyPr/>
                    <a:lstStyle/>
                    <a:p>
                      <a:r>
                        <a:rPr lang="en-IN" dirty="0" smtClean="0"/>
                        <a:t>P </a:t>
                      </a:r>
                      <a:endParaRPr lang="en-IN" dirty="0"/>
                    </a:p>
                  </a:txBody>
                  <a:tcPr/>
                </a:tc>
                <a:tc>
                  <a:txBody>
                    <a:bodyPr/>
                    <a:lstStyle/>
                    <a:p>
                      <a:r>
                        <a:rPr lang="en-IN" dirty="0" smtClean="0"/>
                        <a:t>P </a:t>
                      </a:r>
                      <a:endParaRPr lang="en-IN" dirty="0"/>
                    </a:p>
                  </a:txBody>
                  <a:tcPr/>
                </a:tc>
                <a:extLst>
                  <a:ext uri="{0D108BD9-81ED-4DB2-BD59-A6C34878D82A}">
                    <a16:rowId xmlns:a16="http://schemas.microsoft.com/office/drawing/2014/main" val="31480232"/>
                  </a:ext>
                </a:extLst>
              </a:tr>
              <a:tr h="370840">
                <a:tc vMerge="1">
                  <a:txBody>
                    <a:bodyPr/>
                    <a:lstStyle/>
                    <a:p>
                      <a:endParaRPr lang="en-IN" dirty="0"/>
                    </a:p>
                  </a:txBody>
                  <a:tcPr/>
                </a:tc>
                <a:tc>
                  <a:txBody>
                    <a:bodyPr/>
                    <a:lstStyle/>
                    <a:p>
                      <a:r>
                        <a:rPr lang="en-IN" dirty="0" smtClean="0"/>
                        <a:t>Q</a:t>
                      </a:r>
                      <a:endParaRPr lang="en-IN" dirty="0"/>
                    </a:p>
                  </a:txBody>
                  <a:tcPr/>
                </a:tc>
                <a:tc>
                  <a:txBody>
                    <a:bodyPr/>
                    <a:lstStyle/>
                    <a:p>
                      <a:r>
                        <a:rPr lang="en-IN" dirty="0" smtClean="0"/>
                        <a:t>Q</a:t>
                      </a:r>
                      <a:endParaRPr lang="en-IN" dirty="0"/>
                    </a:p>
                  </a:txBody>
                  <a:tcPr/>
                </a:tc>
                <a:tc>
                  <a:txBody>
                    <a:bodyPr/>
                    <a:lstStyle/>
                    <a:p>
                      <a:r>
                        <a:rPr lang="en-IN" dirty="0" smtClean="0"/>
                        <a:t>Q</a:t>
                      </a:r>
                      <a:endParaRPr lang="en-IN" dirty="0"/>
                    </a:p>
                  </a:txBody>
                  <a:tcPr/>
                </a:tc>
                <a:extLst>
                  <a:ext uri="{0D108BD9-81ED-4DB2-BD59-A6C34878D82A}">
                    <a16:rowId xmlns:a16="http://schemas.microsoft.com/office/drawing/2014/main" val="2433024403"/>
                  </a:ext>
                </a:extLst>
              </a:tr>
            </a:tbl>
          </a:graphicData>
        </a:graphic>
      </p:graphicFrame>
    </p:spTree>
    <p:extLst>
      <p:ext uri="{BB962C8B-B14F-4D97-AF65-F5344CB8AC3E}">
        <p14:creationId xmlns:p14="http://schemas.microsoft.com/office/powerpoint/2010/main" val="447863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Analyse the changes in Equilibrium </a:t>
            </a:r>
            <a:endParaRPr lang="en-IN" dirty="0"/>
          </a:p>
        </p:txBody>
      </p:sp>
      <p:sp>
        <p:nvSpPr>
          <p:cNvPr id="3" name="Content Placeholder 2"/>
          <p:cNvSpPr>
            <a:spLocks noGrp="1"/>
          </p:cNvSpPr>
          <p:nvPr>
            <p:ph idx="1"/>
          </p:nvPr>
        </p:nvSpPr>
        <p:spPr/>
        <p:txBody>
          <a:bodyPr/>
          <a:lstStyle/>
          <a:p>
            <a:r>
              <a:rPr lang="en-IN" b="1" dirty="0" smtClean="0"/>
              <a:t>Event A</a:t>
            </a:r>
            <a:r>
              <a:rPr lang="en-IN" dirty="0" smtClean="0"/>
              <a:t> : Hot weather in Summer. What happens to demand curve? What Happens to supply curve? Explain which curve shifts? </a:t>
            </a:r>
          </a:p>
          <a:p>
            <a:r>
              <a:rPr lang="en-IN" dirty="0" smtClean="0"/>
              <a:t>Event B: There was heavy flood which destroys the sugar cane crop and drives up the price of sugars. How does this affect the market for ice creams? </a:t>
            </a:r>
            <a:r>
              <a:rPr lang="en-IN" dirty="0">
                <a:solidFill>
                  <a:prstClr val="black"/>
                </a:solidFill>
              </a:rPr>
              <a:t>What happens to demand curve? What Happens to supply curve? Explain which curve shifts? </a:t>
            </a:r>
            <a:endParaRPr lang="en-IN" dirty="0" smtClean="0">
              <a:solidFill>
                <a:prstClr val="black"/>
              </a:solidFill>
            </a:endParaRPr>
          </a:p>
          <a:p>
            <a:r>
              <a:rPr lang="en-IN" dirty="0" smtClean="0">
                <a:solidFill>
                  <a:prstClr val="black"/>
                </a:solidFill>
              </a:rPr>
              <a:t>When both events happens together in a year. How does this affect market for ice creams? </a:t>
            </a:r>
            <a:endParaRPr lang="en-IN" dirty="0"/>
          </a:p>
        </p:txBody>
      </p:sp>
    </p:spTree>
    <p:extLst>
      <p:ext uri="{BB962C8B-B14F-4D97-AF65-F5344CB8AC3E}">
        <p14:creationId xmlns:p14="http://schemas.microsoft.com/office/powerpoint/2010/main" val="20975155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1277</Words>
  <Application>Microsoft Office PowerPoint</Application>
  <PresentationFormat>Widescreen</PresentationFormat>
  <Paragraphs>165</Paragraphs>
  <Slides>13</Slides>
  <Notes>8</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13</vt:i4>
      </vt:variant>
    </vt:vector>
  </HeadingPairs>
  <TitlesOfParts>
    <vt:vector size="21" baseType="lpstr">
      <vt:lpstr>Arial</vt:lpstr>
      <vt:lpstr>Calibri</vt:lpstr>
      <vt:lpstr>Calibri Light</vt:lpstr>
      <vt:lpstr>Cambria</vt:lpstr>
      <vt:lpstr>Wingdings</vt:lpstr>
      <vt:lpstr>Office Theme</vt:lpstr>
      <vt:lpstr>Chapter content</vt:lpstr>
      <vt:lpstr>Figure</vt:lpstr>
      <vt:lpstr>The market forces of Demand and Supply</vt:lpstr>
      <vt:lpstr>Supply and Demand Together</vt:lpstr>
      <vt:lpstr>PowerPoint Presentation</vt:lpstr>
      <vt:lpstr>PowerPoint Presentation</vt:lpstr>
      <vt:lpstr>Shift vs. Movement Along Curve</vt:lpstr>
      <vt:lpstr>Shift vs. Movement Along Curve</vt:lpstr>
      <vt:lpstr>EXAMPLE:  The Market for Hybrid Cars</vt:lpstr>
      <vt:lpstr>EXAMPLE 1:  A Shift in Demand</vt:lpstr>
      <vt:lpstr>EXAMPLE 2:  A Shift in Supply</vt:lpstr>
      <vt:lpstr>EXAMPLE 3:  A Shift in Both Supply and Demand</vt:lpstr>
      <vt:lpstr>EXAMPLE 3:  A Shift in Both Supply and Demand</vt:lpstr>
      <vt:lpstr>What happens to price and quantity when supply or demand shifts?</vt:lpstr>
      <vt:lpstr>Analyse the changes in Equilibrium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The market forces of Demand and Supply</dc:title>
  <dc:creator>vaith</dc:creator>
  <cp:lastModifiedBy>vaith</cp:lastModifiedBy>
  <cp:revision>9</cp:revision>
  <dcterms:created xsi:type="dcterms:W3CDTF">2020-08-21T07:02:27Z</dcterms:created>
  <dcterms:modified xsi:type="dcterms:W3CDTF">2021-08-12T04:58:48Z</dcterms:modified>
</cp:coreProperties>
</file>