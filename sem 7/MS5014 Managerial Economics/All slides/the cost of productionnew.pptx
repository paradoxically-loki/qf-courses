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pswK0hPZciEgkx252H2SG9HCA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3" name="Shape 23"/>
        <p:cNvGrpSpPr/>
        <p:nvPr/>
      </p:nvGrpSpPr>
      <p:grpSpPr>
        <a:xfrm>
          <a:off x="0" y="0"/>
          <a:ext cx="0" cy="0"/>
          <a:chOff x="0" y="0"/>
          <a:chExt cx="0" cy="0"/>
        </a:xfrm>
      </p:grpSpPr>
      <p:sp>
        <p:nvSpPr>
          <p:cNvPr id="24" name="Google Shape;24;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 name="Google Shape;26;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8" name="Google Shape;28;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3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8"/>
          <p:cNvSpPr/>
          <p:nvPr>
            <p:ph idx="2" type="pic"/>
          </p:nvPr>
        </p:nvSpPr>
        <p:spPr>
          <a:xfrm>
            <a:off x="5183188" y="987425"/>
            <a:ext cx="6172200" cy="4873625"/>
          </a:xfrm>
          <a:prstGeom prst="rect">
            <a:avLst/>
          </a:prstGeom>
          <a:noFill/>
          <a:ln>
            <a:noFill/>
          </a:ln>
        </p:spPr>
      </p:sp>
      <p:sp>
        <p:nvSpPr>
          <p:cNvPr id="64" name="Google Shape;64;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Production and Cost</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Wilson Football Factory</a:t>
            </a:r>
            <a:endParaRPr/>
          </a:p>
        </p:txBody>
      </p:sp>
      <p:pic>
        <p:nvPicPr>
          <p:cNvPr id="91" name="Google Shape;91;p2"/>
          <p:cNvPicPr preferRelativeResize="0"/>
          <p:nvPr>
            <p:ph idx="1" type="body"/>
          </p:nvPr>
        </p:nvPicPr>
        <p:blipFill rotWithShape="1">
          <a:blip r:embed="rId3">
            <a:alphaModFix/>
          </a:blip>
          <a:srcRect b="0" l="0" r="0" t="0"/>
          <a:stretch/>
        </p:blipFill>
        <p:spPr>
          <a:xfrm>
            <a:off x="2820988" y="2601913"/>
            <a:ext cx="6149975" cy="345916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Total Revenue, Total Cost and Profit </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Total Revenue </a:t>
            </a:r>
            <a:r>
              <a:rPr lang="en-US"/>
              <a:t>is the amount a firm receives for the sale of its output which is nothing but TR = P × Q  </a:t>
            </a:r>
            <a:endParaRPr/>
          </a:p>
          <a:p>
            <a:pPr indent="-228600" lvl="0" marL="228600" rtl="0" algn="l">
              <a:lnSpc>
                <a:spcPct val="90000"/>
              </a:lnSpc>
              <a:spcBef>
                <a:spcPts val="1000"/>
              </a:spcBef>
              <a:spcAft>
                <a:spcPts val="0"/>
              </a:spcAft>
              <a:buClr>
                <a:schemeClr val="dk1"/>
              </a:buClr>
              <a:buSzPts val="2800"/>
              <a:buChar char="•"/>
            </a:pPr>
            <a:r>
              <a:rPr b="1" lang="en-US"/>
              <a:t>Total Cost </a:t>
            </a:r>
            <a:r>
              <a:rPr lang="en-US"/>
              <a:t>is the amount a firm pays to buy the inputs into production.  </a:t>
            </a:r>
            <a:endParaRPr/>
          </a:p>
          <a:p>
            <a:pPr indent="-228600" lvl="0" marL="228600" rtl="0" algn="l">
              <a:lnSpc>
                <a:spcPct val="90000"/>
              </a:lnSpc>
              <a:spcBef>
                <a:spcPts val="1000"/>
              </a:spcBef>
              <a:spcAft>
                <a:spcPts val="0"/>
              </a:spcAft>
              <a:buClr>
                <a:schemeClr val="dk1"/>
              </a:buClr>
              <a:buSzPts val="2800"/>
              <a:buChar char="•"/>
            </a:pPr>
            <a:r>
              <a:rPr lang="en-US"/>
              <a:t>Profit is Total Revenue minus Total Cost. (Π=TR-TC)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Cost as opportunity cost</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Total Cost = Explicit cost + Implicit cost </a:t>
            </a:r>
            <a:endParaRPr/>
          </a:p>
          <a:p>
            <a:pPr indent="-228600" lvl="0" marL="228600" rtl="0" algn="l">
              <a:lnSpc>
                <a:spcPct val="90000"/>
              </a:lnSpc>
              <a:spcBef>
                <a:spcPts val="1000"/>
              </a:spcBef>
              <a:spcAft>
                <a:spcPts val="0"/>
              </a:spcAft>
              <a:buClr>
                <a:schemeClr val="dk1"/>
              </a:buClr>
              <a:buSzPts val="2800"/>
              <a:buChar char="•"/>
            </a:pPr>
            <a:r>
              <a:rPr lang="en-US"/>
              <a:t>Explicit Cost for inputs that require an outlay of money by the firm.  </a:t>
            </a:r>
            <a:endParaRPr/>
          </a:p>
          <a:p>
            <a:pPr indent="-228600" lvl="0" marL="228600" rtl="0" algn="l">
              <a:lnSpc>
                <a:spcPct val="90000"/>
              </a:lnSpc>
              <a:spcBef>
                <a:spcPts val="1000"/>
              </a:spcBef>
              <a:spcAft>
                <a:spcPts val="0"/>
              </a:spcAft>
              <a:buClr>
                <a:schemeClr val="dk1"/>
              </a:buClr>
              <a:buSzPts val="2800"/>
              <a:buChar char="•"/>
            </a:pPr>
            <a:r>
              <a:rPr lang="en-US"/>
              <a:t>An implicit cost is for inputs costs that do not require an outlay of money by the firm. </a:t>
            </a:r>
            <a:endParaRPr/>
          </a:p>
          <a:p>
            <a:pPr indent="-228600" lvl="0" marL="228600" rtl="0" algn="l">
              <a:lnSpc>
                <a:spcPct val="90000"/>
              </a:lnSpc>
              <a:spcBef>
                <a:spcPts val="1000"/>
              </a:spcBef>
              <a:spcAft>
                <a:spcPts val="0"/>
              </a:spcAft>
              <a:buClr>
                <a:schemeClr val="dk1"/>
              </a:buClr>
              <a:buSzPts val="2800"/>
              <a:buChar char="•"/>
            </a:pPr>
            <a:r>
              <a:rPr lang="en-US"/>
              <a:t>Accountants only consider explicit costs, which require an outlay of money by the firm. </a:t>
            </a:r>
            <a:endParaRPr/>
          </a:p>
          <a:p>
            <a:pPr indent="-228600" lvl="0" marL="228600" rtl="0" algn="l">
              <a:lnSpc>
                <a:spcPct val="90000"/>
              </a:lnSpc>
              <a:spcBef>
                <a:spcPts val="1000"/>
              </a:spcBef>
              <a:spcAft>
                <a:spcPts val="0"/>
              </a:spcAft>
              <a:buClr>
                <a:schemeClr val="dk1"/>
              </a:buClr>
              <a:buSzPts val="2800"/>
              <a:buChar char="•"/>
            </a:pPr>
            <a:r>
              <a:rPr lang="en-US"/>
              <a:t>Economists consider both explicit and implicit costs, which do not require an outlay of money by the firm. </a:t>
            </a:r>
            <a:endParaRPr/>
          </a:p>
          <a:p>
            <a:pPr indent="-228600" lvl="0" marL="228600" rtl="0" algn="l">
              <a:lnSpc>
                <a:spcPct val="90000"/>
              </a:lnSpc>
              <a:spcBef>
                <a:spcPts val="1000"/>
              </a:spcBef>
              <a:spcAft>
                <a:spcPts val="0"/>
              </a:spcAft>
              <a:buClr>
                <a:schemeClr val="dk1"/>
              </a:buClr>
              <a:buSzPts val="2800"/>
              <a:buChar char="•"/>
            </a:pPr>
            <a:r>
              <a:rPr lang="en-US"/>
              <a:t>Sacrificed income of an entrepreneur is an opportunity cost of their being in business.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cost of capital as an opportunity cost</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have company with the asset value of 1 billion and it earns a annual profit of 10 million which is nothing but 1 % of 1 billion. </a:t>
            </a:r>
            <a:endParaRPr/>
          </a:p>
          <a:p>
            <a:pPr indent="-228600" lvl="0" marL="228600" rtl="0" algn="l">
              <a:lnSpc>
                <a:spcPct val="90000"/>
              </a:lnSpc>
              <a:spcBef>
                <a:spcPts val="1000"/>
              </a:spcBef>
              <a:spcAft>
                <a:spcPts val="0"/>
              </a:spcAft>
              <a:buClr>
                <a:schemeClr val="dk1"/>
              </a:buClr>
              <a:buSzPts val="2800"/>
              <a:buChar char="•"/>
            </a:pPr>
            <a:r>
              <a:rPr lang="en-US"/>
              <a:t>If 1 billion is just kept in the bank (min 2% interest rate) it would have earned 20 million as interest rate. </a:t>
            </a:r>
            <a:endParaRPr/>
          </a:p>
          <a:p>
            <a:pPr indent="-228600" lvl="0" marL="228600" rtl="0" algn="l">
              <a:lnSpc>
                <a:spcPct val="90000"/>
              </a:lnSpc>
              <a:spcBef>
                <a:spcPts val="1000"/>
              </a:spcBef>
              <a:spcAft>
                <a:spcPts val="0"/>
              </a:spcAft>
              <a:buClr>
                <a:schemeClr val="dk1"/>
              </a:buClr>
              <a:buSzPts val="2800"/>
              <a:buChar char="•"/>
            </a:pPr>
            <a:r>
              <a:rPr lang="en-US"/>
              <a:t>Profit = 10 million -20 million =-10 million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Accounting Profit Vs Economic Profit</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Accounting Profit = Total Revenue –Explicit cost</a:t>
            </a:r>
            <a:endParaRPr/>
          </a:p>
          <a:p>
            <a:pPr indent="-228600" lvl="0" marL="228600" rtl="0" algn="l">
              <a:lnSpc>
                <a:spcPct val="90000"/>
              </a:lnSpc>
              <a:spcBef>
                <a:spcPts val="1000"/>
              </a:spcBef>
              <a:spcAft>
                <a:spcPts val="0"/>
              </a:spcAft>
              <a:buClr>
                <a:schemeClr val="dk1"/>
              </a:buClr>
              <a:buSzPts val="2800"/>
              <a:buChar char="•"/>
            </a:pPr>
            <a:r>
              <a:rPr lang="en-US"/>
              <a:t>Economic Profit = Total Revenue – (Explicit cost+ Implicit cost)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Cost –Fixed and Variable Costs</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Total Cost = Fixed Cost( FC) +Variable costs(VC)</a:t>
            </a:r>
            <a:endParaRPr/>
          </a:p>
          <a:p>
            <a:pPr indent="-228600" lvl="0" marL="228600" rtl="0" algn="l">
              <a:lnSpc>
                <a:spcPct val="90000"/>
              </a:lnSpc>
              <a:spcBef>
                <a:spcPts val="1000"/>
              </a:spcBef>
              <a:spcAft>
                <a:spcPts val="0"/>
              </a:spcAft>
              <a:buClr>
                <a:schemeClr val="dk1"/>
              </a:buClr>
              <a:buSzPts val="2800"/>
              <a:buChar char="•"/>
            </a:pPr>
            <a:r>
              <a:rPr lang="en-US"/>
              <a:t>Fixed costs are those that do not vary with output. It includes rents, insurance, depreciation, property tax, wages for skilled labourers.</a:t>
            </a:r>
            <a:endParaRPr/>
          </a:p>
          <a:p>
            <a:pPr indent="-228600" lvl="0" marL="228600" rtl="0" algn="l">
              <a:lnSpc>
                <a:spcPct val="90000"/>
              </a:lnSpc>
              <a:spcBef>
                <a:spcPts val="1000"/>
              </a:spcBef>
              <a:spcAft>
                <a:spcPts val="0"/>
              </a:spcAft>
              <a:buClr>
                <a:schemeClr val="dk1"/>
              </a:buClr>
              <a:buSzPts val="2800"/>
              <a:buChar char="•"/>
            </a:pPr>
            <a:r>
              <a:rPr lang="en-US"/>
              <a:t>Variable costs are costs that do vary with output, and they are also called </a:t>
            </a:r>
            <a:r>
              <a:rPr i="1" lang="en-US"/>
              <a:t>direct costs</a:t>
            </a:r>
            <a:r>
              <a:rPr lang="en-US"/>
              <a:t>. Examples of typical variable costs include fuel, raw materials, and some labour costs.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1295402" y="748938"/>
            <a:ext cx="9601196" cy="81860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Production Function </a:t>
            </a:r>
            <a:endParaRPr/>
          </a:p>
        </p:txBody>
      </p:sp>
      <p:sp>
        <p:nvSpPr>
          <p:cNvPr id="127" name="Google Shape;127;p8"/>
          <p:cNvSpPr txBox="1"/>
          <p:nvPr>
            <p:ph idx="1" type="body"/>
          </p:nvPr>
        </p:nvSpPr>
        <p:spPr>
          <a:xfrm>
            <a:off x="1295401" y="1567543"/>
            <a:ext cx="9601196" cy="430832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Production Function – the relationship between quantity of inputs used to make a good and quantity of output of that good. Q = f (land, labour, capital)</a:t>
            </a:r>
            <a:endParaRPr/>
          </a:p>
          <a:p>
            <a:pPr indent="-228600" lvl="0" marL="228600" rtl="0" algn="l">
              <a:lnSpc>
                <a:spcPct val="90000"/>
              </a:lnSpc>
              <a:spcBef>
                <a:spcPts val="1000"/>
              </a:spcBef>
              <a:spcAft>
                <a:spcPts val="0"/>
              </a:spcAft>
              <a:buClr>
                <a:schemeClr val="dk1"/>
              </a:buClr>
              <a:buSzPts val="2800"/>
              <a:buChar char="•"/>
            </a:pPr>
            <a:r>
              <a:rPr lang="en-US"/>
              <a:t>Firm operates in the short run. Difference between short run and long run-in the short run one or more factors are fixed (factory space). In the long run all the factors of production are variable. </a:t>
            </a:r>
            <a:endParaRPr/>
          </a:p>
          <a:p>
            <a:pPr indent="-228600" lvl="0" marL="228600" rtl="0" algn="l">
              <a:lnSpc>
                <a:spcPct val="90000"/>
              </a:lnSpc>
              <a:spcBef>
                <a:spcPts val="1000"/>
              </a:spcBef>
              <a:spcAft>
                <a:spcPts val="0"/>
              </a:spcAft>
              <a:buClr>
                <a:schemeClr val="dk1"/>
              </a:buClr>
              <a:buSzPts val="2800"/>
              <a:buChar char="•"/>
            </a:pPr>
            <a:r>
              <a:rPr lang="en-US"/>
              <a:t>In the short run firm operates with fixed factor-factor which cannot be varied within a given period of time. </a:t>
            </a:r>
            <a:endParaRPr/>
          </a:p>
          <a:p>
            <a:pPr indent="-228600" lvl="0" marL="228600" rtl="0" algn="l">
              <a:lnSpc>
                <a:spcPct val="90000"/>
              </a:lnSpc>
              <a:spcBef>
                <a:spcPts val="1000"/>
              </a:spcBef>
              <a:spcAft>
                <a:spcPts val="0"/>
              </a:spcAft>
              <a:buClr>
                <a:schemeClr val="dk1"/>
              </a:buClr>
              <a:buSzPts val="2800"/>
              <a:buChar char="•"/>
            </a:pPr>
            <a:r>
              <a:rPr lang="en-US"/>
              <a:t>In the long run firm operates with variable factor-factors which can be varied within  given period of time.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Short Run Vs Long Run </a:t>
            </a:r>
            <a:endParaRPr/>
          </a:p>
        </p:txBody>
      </p:sp>
      <p:sp>
        <p:nvSpPr>
          <p:cNvPr id="133" name="Google Shape;133;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Short Run </a:t>
            </a:r>
            <a:endParaRPr/>
          </a:p>
        </p:txBody>
      </p:sp>
      <p:sp>
        <p:nvSpPr>
          <p:cNvPr id="134" name="Google Shape;134;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Short run is the period of time that is long enough to adjust variable inputs such as raw materials and production labour but too short to allow all inputs to be changed. In short run fixed factors such as plant and equipment cannot be fully modified or adjusted. </a:t>
            </a:r>
            <a:endParaRPr/>
          </a:p>
        </p:txBody>
      </p:sp>
      <p:sp>
        <p:nvSpPr>
          <p:cNvPr id="135" name="Google Shape;135;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Long Run </a:t>
            </a:r>
            <a:endParaRPr/>
          </a:p>
        </p:txBody>
      </p:sp>
      <p:sp>
        <p:nvSpPr>
          <p:cNvPr id="136" name="Google Shape;136;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long run all inputs can be adjusted including labour, materials and capital. Hence in the long run all costs are variable and none are fixed.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0"/>
          <p:cNvPicPr preferRelativeResize="0"/>
          <p:nvPr/>
        </p:nvPicPr>
        <p:blipFill rotWithShape="1">
          <a:blip r:embed="rId3">
            <a:alphaModFix/>
          </a:blip>
          <a:srcRect b="0" l="0" r="0" t="0"/>
          <a:stretch/>
        </p:blipFill>
        <p:spPr>
          <a:xfrm>
            <a:off x="2499360" y="1227909"/>
            <a:ext cx="6992983" cy="45197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1"/>
          <p:cNvPicPr preferRelativeResize="0"/>
          <p:nvPr/>
        </p:nvPicPr>
        <p:blipFill rotWithShape="1">
          <a:blip r:embed="rId3">
            <a:alphaModFix/>
          </a:blip>
          <a:srcRect b="0" l="0" r="0" t="0"/>
          <a:stretch/>
        </p:blipFill>
        <p:spPr>
          <a:xfrm>
            <a:off x="1280160" y="1288869"/>
            <a:ext cx="4148274" cy="3875314"/>
          </a:xfrm>
          <a:prstGeom prst="rect">
            <a:avLst/>
          </a:prstGeom>
          <a:noFill/>
          <a:ln>
            <a:noFill/>
          </a:ln>
        </p:spPr>
      </p:pic>
      <p:pic>
        <p:nvPicPr>
          <p:cNvPr id="147" name="Google Shape;147;p11"/>
          <p:cNvPicPr preferRelativeResize="0"/>
          <p:nvPr/>
        </p:nvPicPr>
        <p:blipFill rotWithShape="1">
          <a:blip r:embed="rId4">
            <a:alphaModFix/>
          </a:blip>
          <a:srcRect b="0" l="0" r="0" t="0"/>
          <a:stretch/>
        </p:blipFill>
        <p:spPr>
          <a:xfrm>
            <a:off x="5709829" y="1288869"/>
            <a:ext cx="5158468" cy="381435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Law of Diminishing Marginal Product</a:t>
            </a:r>
            <a:endParaRPr/>
          </a:p>
        </p:txBody>
      </p:sp>
      <p:sp>
        <p:nvSpPr>
          <p:cNvPr id="153" name="Google Shape;15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Law of diminishing marginal product states that as we increase one input and hold other inputs constant, the marginal product of the varying input will, at least after sometime, decline.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Average Total Costs, AVC,AFC and Marginal Costs</a:t>
            </a:r>
            <a:endParaRPr/>
          </a:p>
        </p:txBody>
      </p:sp>
      <p:pic>
        <p:nvPicPr>
          <p:cNvPr id="159" name="Google Shape;159;p13"/>
          <p:cNvPicPr preferRelativeResize="0"/>
          <p:nvPr>
            <p:ph idx="1" type="body"/>
          </p:nvPr>
        </p:nvPicPr>
        <p:blipFill rotWithShape="1">
          <a:blip r:embed="rId3">
            <a:alphaModFix/>
          </a:blip>
          <a:srcRect b="0" l="0" r="0" t="0"/>
          <a:stretch/>
        </p:blipFill>
        <p:spPr>
          <a:xfrm>
            <a:off x="786384" y="2724912"/>
            <a:ext cx="4809744" cy="2935224"/>
          </a:xfrm>
          <a:prstGeom prst="rect">
            <a:avLst/>
          </a:prstGeom>
          <a:noFill/>
          <a:ln>
            <a:noFill/>
          </a:ln>
        </p:spPr>
      </p:pic>
      <p:pic>
        <p:nvPicPr>
          <p:cNvPr id="160" name="Google Shape;160;p13"/>
          <p:cNvPicPr preferRelativeResize="0"/>
          <p:nvPr/>
        </p:nvPicPr>
        <p:blipFill rotWithShape="1">
          <a:blip r:embed="rId4">
            <a:alphaModFix/>
          </a:blip>
          <a:srcRect b="0" l="0" r="0" t="0"/>
          <a:stretch/>
        </p:blipFill>
        <p:spPr>
          <a:xfrm>
            <a:off x="6071616" y="2478024"/>
            <a:ext cx="4937761" cy="33558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various measures of costs</a:t>
            </a:r>
            <a:endParaRPr/>
          </a:p>
        </p:txBody>
      </p:sp>
      <p:pic>
        <p:nvPicPr>
          <p:cNvPr id="166" name="Google Shape;166;p14"/>
          <p:cNvPicPr preferRelativeResize="0"/>
          <p:nvPr>
            <p:ph idx="1" type="body"/>
          </p:nvPr>
        </p:nvPicPr>
        <p:blipFill rotWithShape="1">
          <a:blip r:embed="rId3">
            <a:alphaModFix/>
          </a:blip>
          <a:srcRect b="0" l="0" r="0" t="0"/>
          <a:stretch/>
        </p:blipFill>
        <p:spPr>
          <a:xfrm>
            <a:off x="1956816" y="2285999"/>
            <a:ext cx="7653528" cy="37673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5"/>
          <p:cNvPicPr preferRelativeResize="0"/>
          <p:nvPr/>
        </p:nvPicPr>
        <p:blipFill rotWithShape="1">
          <a:blip r:embed="rId3">
            <a:alphaModFix/>
          </a:blip>
          <a:srcRect b="0" l="0" r="0" t="0"/>
          <a:stretch/>
        </p:blipFill>
        <p:spPr>
          <a:xfrm>
            <a:off x="1362456" y="1088136"/>
            <a:ext cx="4398264" cy="4471416"/>
          </a:xfrm>
          <a:prstGeom prst="rect">
            <a:avLst/>
          </a:prstGeom>
          <a:noFill/>
          <a:ln>
            <a:noFill/>
          </a:ln>
        </p:spPr>
      </p:pic>
      <p:pic>
        <p:nvPicPr>
          <p:cNvPr id="172" name="Google Shape;172;p15"/>
          <p:cNvPicPr preferRelativeResize="0"/>
          <p:nvPr/>
        </p:nvPicPr>
        <p:blipFill rotWithShape="1">
          <a:blip r:embed="rId4">
            <a:alphaModFix/>
          </a:blip>
          <a:srcRect b="0" l="0" r="0" t="0"/>
          <a:stretch/>
        </p:blipFill>
        <p:spPr>
          <a:xfrm>
            <a:off x="5943600" y="1106424"/>
            <a:ext cx="4882896" cy="42976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Points to remember in the shapes of costs curve</a:t>
            </a:r>
            <a:endParaRPr/>
          </a:p>
        </p:txBody>
      </p:sp>
      <p:sp>
        <p:nvSpPr>
          <p:cNvPr id="178" name="Google Shape;178;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Whenever the MC is less than ATC, ATC is falling.</a:t>
            </a:r>
            <a:endParaRPr/>
          </a:p>
          <a:p>
            <a:pPr indent="-228600" lvl="0" marL="228600" rtl="0" algn="l">
              <a:lnSpc>
                <a:spcPct val="90000"/>
              </a:lnSpc>
              <a:spcBef>
                <a:spcPts val="1000"/>
              </a:spcBef>
              <a:spcAft>
                <a:spcPts val="0"/>
              </a:spcAft>
              <a:buClr>
                <a:schemeClr val="dk1"/>
              </a:buClr>
              <a:buSzPts val="2800"/>
              <a:buChar char="•"/>
            </a:pPr>
            <a:r>
              <a:rPr lang="en-US"/>
              <a:t>When MC is greater than ATC, ATC is increasing. </a:t>
            </a:r>
            <a:endParaRPr/>
          </a:p>
          <a:p>
            <a:pPr indent="-228600" lvl="0" marL="228600" rtl="0" algn="l">
              <a:lnSpc>
                <a:spcPct val="90000"/>
              </a:lnSpc>
              <a:spcBef>
                <a:spcPts val="1000"/>
              </a:spcBef>
              <a:spcAft>
                <a:spcPts val="0"/>
              </a:spcAft>
              <a:buClr>
                <a:schemeClr val="dk1"/>
              </a:buClr>
              <a:buSzPts val="2800"/>
              <a:buChar char="•"/>
            </a:pPr>
            <a:r>
              <a:rPr lang="en-US"/>
              <a:t>Marginal Cost eventually rises with the quantity of output</a:t>
            </a:r>
            <a:endParaRPr/>
          </a:p>
          <a:p>
            <a:pPr indent="-228600" lvl="0" marL="228600" rtl="0" algn="l">
              <a:lnSpc>
                <a:spcPct val="90000"/>
              </a:lnSpc>
              <a:spcBef>
                <a:spcPts val="1000"/>
              </a:spcBef>
              <a:spcAft>
                <a:spcPts val="0"/>
              </a:spcAft>
              <a:buClr>
                <a:schemeClr val="dk1"/>
              </a:buClr>
              <a:buSzPts val="2800"/>
              <a:buChar char="•"/>
            </a:pPr>
            <a:r>
              <a:rPr lang="en-US"/>
              <a:t>The ATC is U shaped</a:t>
            </a:r>
            <a:endParaRPr/>
          </a:p>
          <a:p>
            <a:pPr indent="-228600" lvl="0" marL="228600" rtl="0" algn="l">
              <a:lnSpc>
                <a:spcPct val="90000"/>
              </a:lnSpc>
              <a:spcBef>
                <a:spcPts val="1000"/>
              </a:spcBef>
              <a:spcAft>
                <a:spcPts val="0"/>
              </a:spcAft>
              <a:buClr>
                <a:schemeClr val="dk1"/>
              </a:buClr>
              <a:buSzPts val="2800"/>
              <a:buChar char="•"/>
            </a:pPr>
            <a:r>
              <a:rPr lang="en-US"/>
              <a:t>The Marginal Cost curve crosses or intersects the ATC curve at the minimum of ATC.</a:t>
            </a:r>
            <a:endParaRPr/>
          </a:p>
          <a:p>
            <a:pPr indent="-228600" lvl="0" marL="228600" rtl="0" algn="l">
              <a:lnSpc>
                <a:spcPct val="90000"/>
              </a:lnSpc>
              <a:spcBef>
                <a:spcPts val="1000"/>
              </a:spcBef>
              <a:spcAft>
                <a:spcPts val="0"/>
              </a:spcAft>
              <a:buClr>
                <a:schemeClr val="dk1"/>
              </a:buClr>
              <a:buSzPts val="2800"/>
              <a:buChar char="•"/>
            </a:pPr>
            <a:r>
              <a:rPr lang="en-US"/>
              <a:t>Output produced at the minimum of ATC is </a:t>
            </a:r>
            <a:r>
              <a:rPr b="1" lang="en-US" u="sng"/>
              <a:t>efficient scale output</a:t>
            </a:r>
            <a:r>
              <a:rPr lang="en-US"/>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1295402" y="982132"/>
            <a:ext cx="9601196" cy="61575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Returns to Scale</a:t>
            </a:r>
            <a:endParaRPr/>
          </a:p>
        </p:txBody>
      </p:sp>
      <p:sp>
        <p:nvSpPr>
          <p:cNvPr id="184" name="Google Shape;184;p17"/>
          <p:cNvSpPr txBox="1"/>
          <p:nvPr>
            <p:ph idx="1" type="body"/>
          </p:nvPr>
        </p:nvSpPr>
        <p:spPr>
          <a:xfrm>
            <a:off x="1295401" y="2373744"/>
            <a:ext cx="9601196" cy="3502123"/>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Effect of Increasing all the inputs</a:t>
            </a:r>
            <a:endParaRPr/>
          </a:p>
          <a:p>
            <a:pPr indent="-228600" lvl="0" marL="228600" rtl="0" algn="l">
              <a:lnSpc>
                <a:spcPct val="90000"/>
              </a:lnSpc>
              <a:spcBef>
                <a:spcPts val="1000"/>
              </a:spcBef>
              <a:spcAft>
                <a:spcPts val="0"/>
              </a:spcAft>
              <a:buClr>
                <a:schemeClr val="dk1"/>
              </a:buClr>
              <a:buSzPct val="100000"/>
              <a:buChar char="•"/>
            </a:pPr>
            <a:r>
              <a:rPr b="1" lang="en-US"/>
              <a:t>Constant Returns to scale </a:t>
            </a:r>
            <a:endParaRPr/>
          </a:p>
          <a:p>
            <a:pPr indent="-228600" lvl="1" marL="685800" rtl="0" algn="l">
              <a:lnSpc>
                <a:spcPct val="90000"/>
              </a:lnSpc>
              <a:spcBef>
                <a:spcPts val="500"/>
              </a:spcBef>
              <a:spcAft>
                <a:spcPts val="0"/>
              </a:spcAft>
              <a:buClr>
                <a:schemeClr val="dk1"/>
              </a:buClr>
              <a:buSzPct val="100000"/>
              <a:buChar char="•"/>
            </a:pPr>
            <a:r>
              <a:rPr lang="en-US"/>
              <a:t>Denote a case where a change in all inputs leads to a proportional change in output. If land, labour and capital and other inputs are doubled, then under constant returns to scale output would also double. </a:t>
            </a:r>
            <a:endParaRPr/>
          </a:p>
          <a:p>
            <a:pPr indent="-228600" lvl="0" marL="228600" rtl="0" algn="l">
              <a:lnSpc>
                <a:spcPct val="90000"/>
              </a:lnSpc>
              <a:spcBef>
                <a:spcPts val="1000"/>
              </a:spcBef>
              <a:spcAft>
                <a:spcPts val="0"/>
              </a:spcAft>
              <a:buClr>
                <a:schemeClr val="dk1"/>
              </a:buClr>
              <a:buSzPct val="100000"/>
              <a:buChar char="•"/>
            </a:pPr>
            <a:r>
              <a:rPr b="1" lang="en-US"/>
              <a:t>Increasing Returns to scale</a:t>
            </a:r>
            <a:endParaRPr/>
          </a:p>
          <a:p>
            <a:pPr indent="-228600" lvl="1" marL="685800" rtl="0" algn="just">
              <a:lnSpc>
                <a:spcPct val="90000"/>
              </a:lnSpc>
              <a:spcBef>
                <a:spcPts val="500"/>
              </a:spcBef>
              <a:spcAft>
                <a:spcPts val="0"/>
              </a:spcAft>
              <a:buClr>
                <a:schemeClr val="dk1"/>
              </a:buClr>
              <a:buSzPct val="100000"/>
              <a:buChar char="•"/>
            </a:pPr>
            <a:r>
              <a:rPr lang="en-US"/>
              <a:t>Arise</a:t>
            </a:r>
            <a:r>
              <a:rPr b="1" lang="en-US"/>
              <a:t> </a:t>
            </a:r>
            <a:r>
              <a:rPr lang="en-US"/>
              <a:t>when change in all inputs leads to more than proportional increase in level of output. If land, labour and capital and other inputs are doubled, then under increasing returns to scale output would also more than doubles. </a:t>
            </a:r>
            <a:endParaRPr/>
          </a:p>
          <a:p>
            <a:pPr indent="-87630" lvl="1" marL="685800" rtl="0" algn="just">
              <a:lnSpc>
                <a:spcPct val="90000"/>
              </a:lnSpc>
              <a:spcBef>
                <a:spcPts val="500"/>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Returns to Scale</a:t>
            </a:r>
            <a:endParaRPr/>
          </a:p>
        </p:txBody>
      </p:sp>
      <p:sp>
        <p:nvSpPr>
          <p:cNvPr id="190" name="Google Shape;19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a:t>Decreasing Returns to scale </a:t>
            </a:r>
            <a:endParaRPr/>
          </a:p>
          <a:p>
            <a:pPr indent="-228600" lvl="1" marL="685800" rtl="0" algn="just">
              <a:lnSpc>
                <a:spcPct val="90000"/>
              </a:lnSpc>
              <a:spcBef>
                <a:spcPts val="500"/>
              </a:spcBef>
              <a:spcAft>
                <a:spcPts val="0"/>
              </a:spcAft>
              <a:buClr>
                <a:schemeClr val="dk1"/>
              </a:buClr>
              <a:buSzPts val="2400"/>
              <a:buChar char="•"/>
            </a:pPr>
            <a:r>
              <a:rPr lang="en-US"/>
              <a:t>Occur when a balanced increase of all inputs leads to less than proportional increase in total output. </a:t>
            </a:r>
            <a:endParaRPr/>
          </a:p>
          <a:p>
            <a:pPr indent="-76200" lvl="1" marL="685800" rtl="0" algn="just">
              <a:lnSpc>
                <a:spcPct val="90000"/>
              </a:lnSpc>
              <a:spcBef>
                <a:spcPts val="500"/>
              </a:spcBef>
              <a:spcAft>
                <a:spcPts val="0"/>
              </a:spcAft>
              <a:buClr>
                <a:schemeClr val="dk1"/>
              </a:buClr>
              <a:buSzPts val="2400"/>
              <a:buNone/>
            </a:pPr>
            <a:r>
              <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Economies of Scale</a:t>
            </a:r>
            <a:endParaRPr/>
          </a:p>
        </p:txBody>
      </p:sp>
      <p:sp>
        <p:nvSpPr>
          <p:cNvPr id="196" name="Google Shape;196;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Situation in which output can be doubled for less than doubling of cost. </a:t>
            </a:r>
            <a:endParaRPr/>
          </a:p>
          <a:p>
            <a:pPr indent="-228600" lvl="0" marL="228600" rtl="0" algn="l">
              <a:lnSpc>
                <a:spcPct val="90000"/>
              </a:lnSpc>
              <a:spcBef>
                <a:spcPts val="1000"/>
              </a:spcBef>
              <a:spcAft>
                <a:spcPts val="0"/>
              </a:spcAft>
              <a:buClr>
                <a:schemeClr val="dk1"/>
              </a:buClr>
              <a:buSzPts val="2800"/>
              <a:buChar char="•"/>
            </a:pPr>
            <a:r>
              <a:rPr lang="en-US"/>
              <a:t>Reasons: Worker specialisation.</a:t>
            </a:r>
            <a:endParaRPr/>
          </a:p>
          <a:p>
            <a:pPr indent="-228600" lvl="0" marL="228600" rtl="0" algn="l">
              <a:lnSpc>
                <a:spcPct val="90000"/>
              </a:lnSpc>
              <a:spcBef>
                <a:spcPts val="1000"/>
              </a:spcBef>
              <a:spcAft>
                <a:spcPts val="0"/>
              </a:spcAft>
              <a:buClr>
                <a:schemeClr val="dk1"/>
              </a:buClr>
              <a:buSzPts val="2800"/>
              <a:buChar char="•"/>
            </a:pPr>
            <a:r>
              <a:rPr lang="en-US"/>
              <a:t>Scale can provide flexibility. By varying combinations of inputs utilised to produce the firm’s output, managers can organise the production process more effectively. </a:t>
            </a:r>
            <a:endParaRPr/>
          </a:p>
        </p:txBody>
      </p:sp>
      <p:sp>
        <p:nvSpPr>
          <p:cNvPr id="197" name="Google Shape;197;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Firm may be able to acquire some production inputs at lower cost because if it is buying them in large quantities and can therefore negotiate better prices.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Diseconomies of Scale </a:t>
            </a:r>
            <a:endParaRPr/>
          </a:p>
        </p:txBody>
      </p:sp>
      <p:sp>
        <p:nvSpPr>
          <p:cNvPr id="203" name="Google Shape;203;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Situation in which doubling of output requires more than doubling of cost. </a:t>
            </a:r>
            <a:endParaRPr/>
          </a:p>
          <a:p>
            <a:pPr indent="-228600" lvl="0" marL="228600" rtl="0" algn="l">
              <a:lnSpc>
                <a:spcPct val="90000"/>
              </a:lnSpc>
              <a:spcBef>
                <a:spcPts val="1000"/>
              </a:spcBef>
              <a:spcAft>
                <a:spcPts val="0"/>
              </a:spcAft>
              <a:buClr>
                <a:schemeClr val="dk1"/>
              </a:buClr>
              <a:buSzPts val="2800"/>
              <a:buChar char="•"/>
            </a:pPr>
            <a:r>
              <a:rPr lang="en-US"/>
              <a:t>At least in shortrun, </a:t>
            </a:r>
            <a:r>
              <a:rPr b="1" lang="en-US"/>
              <a:t>Factory space and machinery</a:t>
            </a:r>
            <a:r>
              <a:rPr lang="en-US"/>
              <a:t> may make it more difficult to do their job effectively. </a:t>
            </a:r>
            <a:endParaRPr/>
          </a:p>
          <a:p>
            <a:pPr indent="-228600" lvl="0" marL="228600" rtl="0" algn="l">
              <a:lnSpc>
                <a:spcPct val="90000"/>
              </a:lnSpc>
              <a:spcBef>
                <a:spcPts val="1000"/>
              </a:spcBef>
              <a:spcAft>
                <a:spcPts val="0"/>
              </a:spcAft>
              <a:buClr>
                <a:schemeClr val="dk1"/>
              </a:buClr>
              <a:buSzPts val="2800"/>
              <a:buChar char="•"/>
            </a:pPr>
            <a:r>
              <a:rPr b="1" lang="en-US"/>
              <a:t>Managing a larger firm </a:t>
            </a:r>
            <a:r>
              <a:rPr lang="en-US"/>
              <a:t>may become more complex and inefficient as the number of task increases.  </a:t>
            </a:r>
            <a:endParaRPr/>
          </a:p>
        </p:txBody>
      </p:sp>
      <p:sp>
        <p:nvSpPr>
          <p:cNvPr id="204" name="Google Shape;204;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b="1" lang="en-US"/>
              <a:t>The advantages of buying in bulk </a:t>
            </a:r>
            <a:r>
              <a:rPr lang="en-US"/>
              <a:t>may have disappeared once certain quantities are reached. At some point available supplies of key inputs may be limited pushing their costs up.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Diseconomies of Scale</a:t>
            </a:r>
            <a:endParaRPr/>
          </a:p>
        </p:txBody>
      </p:sp>
      <p:pic>
        <p:nvPicPr>
          <p:cNvPr id="210" name="Google Shape;210;p21"/>
          <p:cNvPicPr preferRelativeResize="0"/>
          <p:nvPr>
            <p:ph idx="2" type="body"/>
          </p:nvPr>
        </p:nvPicPr>
        <p:blipFill rotWithShape="1">
          <a:blip r:embed="rId3">
            <a:alphaModFix/>
          </a:blip>
          <a:srcRect b="0" l="0" r="0" t="0"/>
          <a:stretch/>
        </p:blipFill>
        <p:spPr>
          <a:xfrm>
            <a:off x="1216058" y="1555423"/>
            <a:ext cx="4797646" cy="4319915"/>
          </a:xfrm>
          <a:prstGeom prst="rect">
            <a:avLst/>
          </a:prstGeom>
          <a:noFill/>
          <a:ln>
            <a:noFill/>
          </a:ln>
        </p:spPr>
      </p:pic>
      <p:pic>
        <p:nvPicPr>
          <p:cNvPr id="211" name="Google Shape;211;p21"/>
          <p:cNvPicPr preferRelativeResize="0"/>
          <p:nvPr>
            <p:ph idx="4" type="body"/>
          </p:nvPr>
        </p:nvPicPr>
        <p:blipFill rotWithShape="1">
          <a:blip r:embed="rId4">
            <a:alphaModFix/>
          </a:blip>
          <a:srcRect b="0" l="0" r="0" t="0"/>
          <a:stretch/>
        </p:blipFill>
        <p:spPr>
          <a:xfrm>
            <a:off x="6180670" y="1555423"/>
            <a:ext cx="4715927" cy="431991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22"/>
          <p:cNvPicPr preferRelativeResize="0"/>
          <p:nvPr/>
        </p:nvPicPr>
        <p:blipFill rotWithShape="1">
          <a:blip r:embed="rId3">
            <a:alphaModFix/>
          </a:blip>
          <a:srcRect b="0" l="0" r="0" t="0"/>
          <a:stretch/>
        </p:blipFill>
        <p:spPr>
          <a:xfrm>
            <a:off x="2586446" y="1148898"/>
            <a:ext cx="6914605" cy="456020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3"/>
          <p:cNvPicPr preferRelativeResize="0"/>
          <p:nvPr/>
        </p:nvPicPr>
        <p:blipFill rotWithShape="1">
          <a:blip r:embed="rId3">
            <a:alphaModFix/>
          </a:blip>
          <a:srcRect b="0" l="0" r="0" t="0"/>
          <a:stretch/>
        </p:blipFill>
        <p:spPr>
          <a:xfrm>
            <a:off x="1524000" y="714103"/>
            <a:ext cx="9144000" cy="51554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24"/>
          <p:cNvPicPr preferRelativeResize="0"/>
          <p:nvPr/>
        </p:nvPicPr>
        <p:blipFill rotWithShape="1">
          <a:blip r:embed="rId3">
            <a:alphaModFix/>
          </a:blip>
          <a:srcRect b="0" l="0" r="0" t="0"/>
          <a:stretch/>
        </p:blipFill>
        <p:spPr>
          <a:xfrm>
            <a:off x="2804160" y="1147762"/>
            <a:ext cx="6330315" cy="4562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Economies of Scope vs Diseconomies of Scope</a:t>
            </a:r>
            <a:endParaRPr/>
          </a:p>
        </p:txBody>
      </p:sp>
      <p:sp>
        <p:nvSpPr>
          <p:cNvPr id="232" name="Google Shape;23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Economies of Scope</a:t>
            </a:r>
            <a:endParaRPr/>
          </a:p>
        </p:txBody>
      </p:sp>
      <p:sp>
        <p:nvSpPr>
          <p:cNvPr id="233" name="Google Shape;23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If the total cost of production is lower when two products are produced together than when they are produced separately. </a:t>
            </a:r>
            <a:endParaRPr/>
          </a:p>
        </p:txBody>
      </p:sp>
      <p:sp>
        <p:nvSpPr>
          <p:cNvPr id="234" name="Google Shape;23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Diseconomies of Scope </a:t>
            </a:r>
            <a:endParaRPr/>
          </a:p>
        </p:txBody>
      </p:sp>
      <p:sp>
        <p:nvSpPr>
          <p:cNvPr id="235" name="Google Shape;23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total cost of production is higher when they are produced together than when made  separately.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type="title"/>
          </p:nvPr>
        </p:nvSpPr>
        <p:spPr>
          <a:xfrm>
            <a:off x="838200" y="365125"/>
            <a:ext cx="10515600" cy="9376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Economies of Scope</a:t>
            </a:r>
            <a:endParaRPr/>
          </a:p>
        </p:txBody>
      </p:sp>
      <p:sp>
        <p:nvSpPr>
          <p:cNvPr id="241" name="Google Shape;241;p26"/>
          <p:cNvSpPr txBox="1"/>
          <p:nvPr>
            <p:ph idx="1" type="body"/>
          </p:nvPr>
        </p:nvSpPr>
        <p:spPr>
          <a:xfrm>
            <a:off x="838200" y="1302818"/>
            <a:ext cx="10515600" cy="5178902"/>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lang="en-US"/>
              <a:t>In oil refining the inherent chemical properties of crude oil guarantee economies of scope. </a:t>
            </a:r>
            <a:endParaRPr/>
          </a:p>
          <a:p>
            <a:pPr indent="-228600" lvl="0" marL="228600" rtl="0" algn="just">
              <a:lnSpc>
                <a:spcPct val="90000"/>
              </a:lnSpc>
              <a:spcBef>
                <a:spcPts val="1000"/>
              </a:spcBef>
              <a:spcAft>
                <a:spcPts val="0"/>
              </a:spcAft>
              <a:buClr>
                <a:schemeClr val="dk1"/>
              </a:buClr>
              <a:buSzPts val="2800"/>
              <a:buChar char="•"/>
            </a:pPr>
            <a:r>
              <a:rPr lang="en-US"/>
              <a:t>Crude oil is a collection of a number of very different hydrocarbon molecules: refining is the process of separating these molecules into useful products. </a:t>
            </a:r>
            <a:endParaRPr/>
          </a:p>
          <a:p>
            <a:pPr indent="-228600" lvl="0" marL="228600" rtl="0" algn="just">
              <a:lnSpc>
                <a:spcPct val="90000"/>
              </a:lnSpc>
              <a:spcBef>
                <a:spcPts val="1000"/>
              </a:spcBef>
              <a:spcAft>
                <a:spcPts val="0"/>
              </a:spcAft>
              <a:buClr>
                <a:schemeClr val="dk1"/>
              </a:buClr>
              <a:buSzPts val="2800"/>
              <a:buChar char="•"/>
            </a:pPr>
            <a:r>
              <a:rPr lang="en-US"/>
              <a:t>It is physically impossible for refining company to produce only gasoline (or kerosene, diesel, petrol, lubricants or whetever petroleum products might be fetching highest price at time).</a:t>
            </a:r>
            <a:endParaRPr/>
          </a:p>
          <a:p>
            <a:pPr indent="-228600" lvl="0" marL="228600" rtl="0" algn="just">
              <a:lnSpc>
                <a:spcPct val="90000"/>
              </a:lnSpc>
              <a:spcBef>
                <a:spcPts val="1000"/>
              </a:spcBef>
              <a:spcAft>
                <a:spcPts val="0"/>
              </a:spcAft>
              <a:buClr>
                <a:schemeClr val="dk1"/>
              </a:buClr>
              <a:buSzPts val="2800"/>
              <a:buChar char="•"/>
            </a:pPr>
            <a:r>
              <a:rPr lang="en-US"/>
              <a:t>While refineries have some limited ability to change the mix of products they can pull out of each barrel of crude oil, this comes at a loss of scope of economies. </a:t>
            </a:r>
            <a:endParaRPr/>
          </a:p>
          <a:p>
            <a:pPr indent="-228600" lvl="0" marL="228600" rtl="0" algn="just">
              <a:lnSpc>
                <a:spcPct val="90000"/>
              </a:lnSpc>
              <a:spcBef>
                <a:spcPts val="1000"/>
              </a:spcBef>
              <a:spcAft>
                <a:spcPts val="0"/>
              </a:spcAft>
              <a:buClr>
                <a:schemeClr val="dk1"/>
              </a:buClr>
              <a:buSzPts val="2800"/>
              <a:buChar char="•"/>
            </a:pPr>
            <a:r>
              <a:rPr lang="en-US"/>
              <a:t>That’s why refineries always produce a number of petroleum compounds simultaneously. </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Diseconomies of Scope </a:t>
            </a:r>
            <a:endParaRPr/>
          </a:p>
        </p:txBody>
      </p:sp>
      <p:sp>
        <p:nvSpPr>
          <p:cNvPr id="247" name="Google Shape;24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During 1990s and into Early 2000s banks and insurers worldwide rushed to merge. </a:t>
            </a:r>
            <a:endParaRPr/>
          </a:p>
          <a:p>
            <a:pPr indent="-228600" lvl="0" marL="228600" rtl="0" algn="just">
              <a:lnSpc>
                <a:spcPct val="90000"/>
              </a:lnSpc>
              <a:spcBef>
                <a:spcPts val="1000"/>
              </a:spcBef>
              <a:spcAft>
                <a:spcPts val="0"/>
              </a:spcAft>
              <a:buClr>
                <a:schemeClr val="dk1"/>
              </a:buClr>
              <a:buSzPts val="2800"/>
              <a:buChar char="•"/>
            </a:pPr>
            <a:r>
              <a:rPr lang="en-US"/>
              <a:t>In 1998 </a:t>
            </a:r>
            <a:r>
              <a:rPr b="1" lang="en-US"/>
              <a:t>Citibank</a:t>
            </a:r>
            <a:r>
              <a:rPr lang="en-US"/>
              <a:t> combined with the insurer, </a:t>
            </a:r>
            <a:r>
              <a:rPr b="1" lang="en-US"/>
              <a:t>Travelers Group </a:t>
            </a:r>
            <a:r>
              <a:rPr lang="en-US"/>
              <a:t>is one of the world’s largest mergers to form </a:t>
            </a:r>
            <a:r>
              <a:rPr b="1" lang="en-US"/>
              <a:t>Citigroup. </a:t>
            </a:r>
            <a:endParaRPr/>
          </a:p>
          <a:p>
            <a:pPr indent="-228600" lvl="0" marL="228600" rtl="0" algn="just">
              <a:lnSpc>
                <a:spcPct val="90000"/>
              </a:lnSpc>
              <a:spcBef>
                <a:spcPts val="1000"/>
              </a:spcBef>
              <a:spcAft>
                <a:spcPts val="0"/>
              </a:spcAft>
              <a:buClr>
                <a:schemeClr val="dk1"/>
              </a:buClr>
              <a:buSzPts val="2800"/>
              <a:buChar char="•"/>
            </a:pPr>
            <a:r>
              <a:rPr lang="en-US"/>
              <a:t>In</a:t>
            </a:r>
            <a:r>
              <a:rPr b="1" lang="en-US"/>
              <a:t> </a:t>
            </a:r>
            <a:r>
              <a:rPr lang="en-US"/>
              <a:t>2001, the German insurer, Allianz acquired Dresdner Bank. </a:t>
            </a:r>
            <a:endParaRPr/>
          </a:p>
          <a:p>
            <a:pPr indent="-228600" lvl="0" marL="228600" rtl="0" algn="just">
              <a:lnSpc>
                <a:spcPct val="90000"/>
              </a:lnSpc>
              <a:spcBef>
                <a:spcPts val="1000"/>
              </a:spcBef>
              <a:spcAft>
                <a:spcPts val="0"/>
              </a:spcAft>
              <a:buClr>
                <a:schemeClr val="dk1"/>
              </a:buClr>
              <a:buSzPts val="2800"/>
              <a:buChar char="•"/>
            </a:pPr>
            <a:r>
              <a:rPr b="1" lang="en-US"/>
              <a:t>The French bancassurance model promised higher profits through boosting demand and economies of scope in service provision. The underlying theory was that the same institution could provide clients with wide range of services and products including loans, deposits, investments and insurance. </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Diseconomies of Scope </a:t>
            </a:r>
            <a:endParaRPr/>
          </a:p>
        </p:txBody>
      </p:sp>
      <p:sp>
        <p:nvSpPr>
          <p:cNvPr id="253" name="Google Shape;25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lang="en-US"/>
              <a:t>In reality economies of scope were difficult to realise. </a:t>
            </a:r>
            <a:endParaRPr/>
          </a:p>
          <a:p>
            <a:pPr indent="-228600" lvl="0" marL="228600" rtl="0" algn="just">
              <a:lnSpc>
                <a:spcPct val="90000"/>
              </a:lnSpc>
              <a:spcBef>
                <a:spcPts val="1000"/>
              </a:spcBef>
              <a:spcAft>
                <a:spcPts val="0"/>
              </a:spcAft>
              <a:buClr>
                <a:schemeClr val="dk1"/>
              </a:buClr>
              <a:buSzPts val="2800"/>
              <a:buChar char="•"/>
            </a:pPr>
            <a:r>
              <a:rPr lang="en-US"/>
              <a:t>Consumers make deposits and use many other banking services on a routine basis. </a:t>
            </a:r>
            <a:endParaRPr/>
          </a:p>
          <a:p>
            <a:pPr indent="-228600" lvl="0" marL="228600" rtl="0" algn="just">
              <a:lnSpc>
                <a:spcPct val="90000"/>
              </a:lnSpc>
              <a:spcBef>
                <a:spcPts val="1000"/>
              </a:spcBef>
              <a:spcAft>
                <a:spcPts val="0"/>
              </a:spcAft>
              <a:buClr>
                <a:schemeClr val="dk1"/>
              </a:buClr>
              <a:buSzPts val="2800"/>
              <a:buChar char="•"/>
            </a:pPr>
            <a:r>
              <a:rPr lang="en-US"/>
              <a:t>By contrast investments and insurance are relatively big ticket items which consumers buy infrequently. </a:t>
            </a:r>
            <a:endParaRPr/>
          </a:p>
          <a:p>
            <a:pPr indent="-228600" lvl="0" marL="228600" rtl="0" algn="just">
              <a:lnSpc>
                <a:spcPct val="90000"/>
              </a:lnSpc>
              <a:spcBef>
                <a:spcPts val="1000"/>
              </a:spcBef>
              <a:spcAft>
                <a:spcPts val="0"/>
              </a:spcAft>
              <a:buClr>
                <a:schemeClr val="dk1"/>
              </a:buClr>
              <a:buSzPts val="2800"/>
              <a:buChar char="•"/>
            </a:pPr>
            <a:r>
              <a:rPr lang="en-US"/>
              <a:t>So marketing and supporting insurance requires different skills than banking services.  </a:t>
            </a:r>
            <a:endParaRPr/>
          </a:p>
          <a:p>
            <a:pPr indent="-228600" lvl="0" marL="228600" rtl="0" algn="just">
              <a:lnSpc>
                <a:spcPct val="90000"/>
              </a:lnSpc>
              <a:spcBef>
                <a:spcPts val="1000"/>
              </a:spcBef>
              <a:spcAft>
                <a:spcPts val="0"/>
              </a:spcAft>
              <a:buClr>
                <a:schemeClr val="dk1"/>
              </a:buClr>
              <a:buSzPts val="2800"/>
              <a:buChar char="•"/>
            </a:pPr>
            <a:r>
              <a:rPr b="1" lang="en-US"/>
              <a:t>In 2002 just four years after merger, Citigroup spun off Travelers Property and Casualty Insurance to its shareholders. In 2008, Allianz sold Dresdner to Commerzbank for € 5.5 billion. </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2020-03-31T12:30:21Z</dcterms:created>
  <dc:creator>Subash S</dc:creator>
</cp:coreProperties>
</file>