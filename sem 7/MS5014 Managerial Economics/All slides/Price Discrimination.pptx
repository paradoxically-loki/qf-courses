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3" r:id="rId8"/>
    <p:sldId id="268" r:id="rId9"/>
    <p:sldId id="265" r:id="rId10"/>
    <p:sldId id="269" r:id="rId11"/>
    <p:sldId id="272"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56806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183278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3BA792C-8580-4B92-89D5-C143A35BFD0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23706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3BA792C-8580-4B92-89D5-C143A35BFD0A}"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1338935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3BA792C-8580-4B92-89D5-C143A35BFD0A}" type="datetimeFigureOut">
              <a:rPr lang="en-IN" smtClean="0"/>
              <a:t>20-09-2023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2672617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3BA792C-8580-4B92-89D5-C143A35BFD0A}" type="datetimeFigureOut">
              <a:rPr lang="en-IN" smtClean="0"/>
              <a:t>20-09-2023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8034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BA792C-8580-4B92-89D5-C143A35BFD0A}" type="datetimeFigureOut">
              <a:rPr lang="en-IN" smtClean="0"/>
              <a:t>20-09-2023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514289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BA792C-8580-4B92-89D5-C143A35BFD0A}"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3745125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BA792C-8580-4B92-89D5-C143A35BFD0A}"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1945628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795229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BA792C-8580-4B92-89D5-C143A35BFD0A}"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A65D76-2A1F-4C57-AE94-6AC78CB50E8F}" type="slidenum">
              <a:rPr lang="en-IN" smtClean="0"/>
              <a:t>‹#›</a:t>
            </a:fld>
            <a:endParaRPr lang="en-IN"/>
          </a:p>
        </p:txBody>
      </p:sp>
    </p:spTree>
    <p:extLst>
      <p:ext uri="{BB962C8B-B14F-4D97-AF65-F5344CB8AC3E}">
        <p14:creationId xmlns:p14="http://schemas.microsoft.com/office/powerpoint/2010/main" val="1264893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BA792C-8580-4B92-89D5-C143A35BFD0A}" type="datetimeFigureOut">
              <a:rPr lang="en-IN" smtClean="0"/>
              <a:t>20-09-2023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A65D76-2A1F-4C57-AE94-6AC78CB50E8F}" type="slidenum">
              <a:rPr lang="en-IN" smtClean="0"/>
              <a:t>‹#›</a:t>
            </a:fld>
            <a:endParaRPr lang="en-IN"/>
          </a:p>
        </p:txBody>
      </p:sp>
    </p:spTree>
    <p:extLst>
      <p:ext uri="{BB962C8B-B14F-4D97-AF65-F5344CB8AC3E}">
        <p14:creationId xmlns:p14="http://schemas.microsoft.com/office/powerpoint/2010/main" val="4118293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Price Discrimination </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11170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Price Discrimination </a:t>
            </a:r>
            <a:endParaRPr lang="en-IN" dirty="0"/>
          </a:p>
        </p:txBody>
      </p:sp>
      <p:sp>
        <p:nvSpPr>
          <p:cNvPr id="3" name="Content Placeholder 2"/>
          <p:cNvSpPr>
            <a:spLocks noGrp="1"/>
          </p:cNvSpPr>
          <p:nvPr>
            <p:ph idx="1"/>
          </p:nvPr>
        </p:nvSpPr>
        <p:spPr/>
        <p:txBody>
          <a:bodyPr/>
          <a:lstStyle/>
          <a:p>
            <a:r>
              <a:rPr lang="en-US" dirty="0" smtClean="0"/>
              <a:t>What is price discrimination? </a:t>
            </a:r>
          </a:p>
          <a:p>
            <a:r>
              <a:rPr lang="en-US" dirty="0" smtClean="0"/>
              <a:t>Conditions for Price Discrimination</a:t>
            </a:r>
          </a:p>
          <a:p>
            <a:r>
              <a:rPr lang="en-US" dirty="0" smtClean="0"/>
              <a:t>Types of Price Discrimination </a:t>
            </a:r>
          </a:p>
          <a:p>
            <a:r>
              <a:rPr lang="en-US" dirty="0" smtClean="0"/>
              <a:t>Welfare effects of Price Discrimination </a:t>
            </a:r>
          </a:p>
          <a:p>
            <a:r>
              <a:rPr lang="en-US" dirty="0" smtClean="0"/>
              <a:t>How is price discrimination practiced?</a:t>
            </a:r>
          </a:p>
          <a:p>
            <a:endParaRPr lang="en-IN" dirty="0"/>
          </a:p>
        </p:txBody>
      </p:sp>
    </p:spTree>
    <p:extLst>
      <p:ext uri="{BB962C8B-B14F-4D97-AF65-F5344CB8AC3E}">
        <p14:creationId xmlns:p14="http://schemas.microsoft.com/office/powerpoint/2010/main" val="1780984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Price Discrimination </a:t>
            </a:r>
            <a:br>
              <a:rPr lang="en-US" dirty="0" smtClean="0"/>
            </a:br>
            <a:endParaRPr lang="en-IN" dirty="0"/>
          </a:p>
        </p:txBody>
      </p:sp>
      <p:sp>
        <p:nvSpPr>
          <p:cNvPr id="3" name="Content Placeholder 2"/>
          <p:cNvSpPr>
            <a:spLocks noGrp="1"/>
          </p:cNvSpPr>
          <p:nvPr>
            <p:ph idx="1"/>
          </p:nvPr>
        </p:nvSpPr>
        <p:spPr/>
        <p:txBody>
          <a:bodyPr/>
          <a:lstStyle/>
          <a:p>
            <a:r>
              <a:rPr lang="en-US" dirty="0" smtClean="0"/>
              <a:t>Price discrimination occurs when a firm sells the same good at different prices to different group of customers. </a:t>
            </a:r>
          </a:p>
          <a:p>
            <a:r>
              <a:rPr lang="en-US" dirty="0" smtClean="0"/>
              <a:t>To practice price discrimination a firm must be a price maker. It must have some market power before it can charge more than one price. </a:t>
            </a:r>
          </a:p>
          <a:p>
            <a:r>
              <a:rPr lang="en-US" dirty="0" smtClean="0"/>
              <a:t>Both monopolies and non monopoly companies use price discrimination to earn higher profits. </a:t>
            </a:r>
          </a:p>
          <a:p>
            <a:r>
              <a:rPr lang="en-US" dirty="0" smtClean="0"/>
              <a:t>Can Competitive firm practice price discrimination? </a:t>
            </a:r>
          </a:p>
          <a:p>
            <a:r>
              <a:rPr lang="en-US" dirty="0" smtClean="0"/>
              <a:t>Examples: Movie theatre tickets, college tuition, air line reservations, discounts on academic software and coupons</a:t>
            </a:r>
            <a:endParaRPr lang="en-IN" dirty="0"/>
          </a:p>
        </p:txBody>
      </p:sp>
    </p:spTree>
    <p:extLst>
      <p:ext uri="{BB962C8B-B14F-4D97-AF65-F5344CB8AC3E}">
        <p14:creationId xmlns:p14="http://schemas.microsoft.com/office/powerpoint/2010/main" val="1966301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Conditions for Price Discrimination </a:t>
            </a:r>
            <a:endParaRPr lang="en-IN" dirty="0"/>
          </a:p>
        </p:txBody>
      </p:sp>
      <p:sp>
        <p:nvSpPr>
          <p:cNvPr id="3" name="Content Placeholder 2"/>
          <p:cNvSpPr>
            <a:spLocks noGrp="1"/>
          </p:cNvSpPr>
          <p:nvPr>
            <p:ph idx="1"/>
          </p:nvPr>
        </p:nvSpPr>
        <p:spPr/>
        <p:txBody>
          <a:bodyPr/>
          <a:lstStyle/>
          <a:p>
            <a:r>
              <a:rPr lang="en-US" dirty="0" smtClean="0"/>
              <a:t>Distinguishing groups of buyers </a:t>
            </a:r>
          </a:p>
          <a:p>
            <a:pPr lvl="1"/>
            <a:r>
              <a:rPr lang="en-US" dirty="0" smtClean="0"/>
              <a:t>With different elasticity of demand –Consumers with elastic demand and consumers with inelastic demand</a:t>
            </a:r>
          </a:p>
          <a:p>
            <a:pPr lvl="1"/>
            <a:endParaRPr lang="en-US" dirty="0"/>
          </a:p>
          <a:p>
            <a:r>
              <a:rPr lang="en-US" dirty="0" smtClean="0"/>
              <a:t>Preventing resale </a:t>
            </a:r>
          </a:p>
          <a:p>
            <a:pPr lvl="1"/>
            <a:r>
              <a:rPr lang="en-US" dirty="0" smtClean="0"/>
              <a:t>For price discrimination to be viable strategy a firm must be able to prevent resale of the product or service. </a:t>
            </a:r>
            <a:endParaRPr lang="en-IN" dirty="0"/>
          </a:p>
        </p:txBody>
      </p:sp>
    </p:spTree>
    <p:extLst>
      <p:ext uri="{BB962C8B-B14F-4D97-AF65-F5344CB8AC3E}">
        <p14:creationId xmlns:p14="http://schemas.microsoft.com/office/powerpoint/2010/main" val="572913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0" y="365126"/>
            <a:ext cx="3300549" cy="653778"/>
          </a:xfrm>
        </p:spPr>
        <p:txBody>
          <a:bodyPr>
            <a:normAutofit fontScale="90000"/>
          </a:bodyPr>
          <a:lstStyle/>
          <a:p>
            <a:pPr algn="ctr"/>
            <a:r>
              <a:rPr lang="en-US" dirty="0" smtClean="0"/>
              <a:t>Types of Price Discrimination </a:t>
            </a:r>
            <a:endParaRPr lang="en-IN" dirty="0"/>
          </a:p>
        </p:txBody>
      </p:sp>
      <p:sp>
        <p:nvSpPr>
          <p:cNvPr id="3" name="Content Placeholder 2"/>
          <p:cNvSpPr>
            <a:spLocks noGrp="1"/>
          </p:cNvSpPr>
          <p:nvPr>
            <p:ph idx="1"/>
          </p:nvPr>
        </p:nvSpPr>
        <p:spPr>
          <a:xfrm>
            <a:off x="838200" y="1175656"/>
            <a:ext cx="10515600" cy="5381897"/>
          </a:xfrm>
        </p:spPr>
        <p:txBody>
          <a:bodyPr/>
          <a:lstStyle/>
          <a:p>
            <a:r>
              <a:rPr lang="en-US" dirty="0" smtClean="0"/>
              <a:t>First Degree Price Discrimination </a:t>
            </a:r>
          </a:p>
          <a:p>
            <a:pPr lvl="1" algn="just"/>
            <a:r>
              <a:rPr lang="en-US" dirty="0" smtClean="0"/>
              <a:t>Firm would like to charge a different prices to each of its customers. If it could, it would charge each customer the maximum price that the customer is willing to pay for each unit bought. We call this maximum price the customer’s reservation price. The practice of charging each customer his or her reservation price is called perfect price discrimination or First degree price discrimination. </a:t>
            </a:r>
          </a:p>
          <a:p>
            <a:pPr algn="just"/>
            <a:r>
              <a:rPr lang="en-US" dirty="0" smtClean="0"/>
              <a:t>Second Degree Price Discrimination </a:t>
            </a:r>
          </a:p>
          <a:p>
            <a:pPr lvl="1" algn="just"/>
            <a:r>
              <a:rPr lang="en-US" dirty="0" smtClean="0"/>
              <a:t>Practice of charging different prices per unit for different quantities of the same good or service. </a:t>
            </a:r>
            <a:r>
              <a:rPr lang="en-US" dirty="0" err="1" smtClean="0"/>
              <a:t>Eg</a:t>
            </a:r>
            <a:r>
              <a:rPr lang="en-US" dirty="0" smtClean="0"/>
              <a:t>. Electricity tariff rates </a:t>
            </a:r>
          </a:p>
          <a:p>
            <a:pPr algn="just"/>
            <a:r>
              <a:rPr lang="en-US" dirty="0" smtClean="0"/>
              <a:t>Third Degree Price discrimination </a:t>
            </a:r>
          </a:p>
          <a:p>
            <a:pPr lvl="1" algn="just"/>
            <a:r>
              <a:rPr lang="en-US" dirty="0" smtClean="0"/>
              <a:t>Practice of dividing consumers into two or more groups with separate demand curves and charging different prices to each group. </a:t>
            </a:r>
          </a:p>
          <a:p>
            <a:pPr lvl="2" algn="just"/>
            <a:r>
              <a:rPr lang="en-US" dirty="0" err="1" smtClean="0"/>
              <a:t>Eg</a:t>
            </a:r>
            <a:r>
              <a:rPr lang="en-US" dirty="0" smtClean="0"/>
              <a:t>. Discounts to students and senior citizens. </a:t>
            </a:r>
          </a:p>
          <a:p>
            <a:pPr lvl="1" algn="just"/>
            <a:endParaRPr lang="en-IN" dirty="0"/>
          </a:p>
        </p:txBody>
      </p:sp>
    </p:spTree>
    <p:extLst>
      <p:ext uri="{BB962C8B-B14F-4D97-AF65-F5344CB8AC3E}">
        <p14:creationId xmlns:p14="http://schemas.microsoft.com/office/powerpoint/2010/main" val="330568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81258914"/>
              </p:ext>
            </p:extLst>
          </p:nvPr>
        </p:nvGraphicFramePr>
        <p:xfrm>
          <a:off x="2020390" y="2490650"/>
          <a:ext cx="8139612" cy="3657600"/>
        </p:xfrm>
        <a:graphic>
          <a:graphicData uri="http://schemas.openxmlformats.org/drawingml/2006/table">
            <a:tbl>
              <a:tblPr firstRow="1" bandRow="1">
                <a:tableStyleId>{5C22544A-7EE6-4342-B048-85BDC9FD1C3A}</a:tableStyleId>
              </a:tblPr>
              <a:tblGrid>
                <a:gridCol w="1356602">
                  <a:extLst>
                    <a:ext uri="{9D8B030D-6E8A-4147-A177-3AD203B41FA5}">
                      <a16:colId xmlns:a16="http://schemas.microsoft.com/office/drawing/2014/main" val="3433825959"/>
                    </a:ext>
                  </a:extLst>
                </a:gridCol>
                <a:gridCol w="1356602">
                  <a:extLst>
                    <a:ext uri="{9D8B030D-6E8A-4147-A177-3AD203B41FA5}">
                      <a16:colId xmlns:a16="http://schemas.microsoft.com/office/drawing/2014/main" val="1237187681"/>
                    </a:ext>
                  </a:extLst>
                </a:gridCol>
                <a:gridCol w="1356602">
                  <a:extLst>
                    <a:ext uri="{9D8B030D-6E8A-4147-A177-3AD203B41FA5}">
                      <a16:colId xmlns:a16="http://schemas.microsoft.com/office/drawing/2014/main" val="1291473825"/>
                    </a:ext>
                  </a:extLst>
                </a:gridCol>
                <a:gridCol w="1356602">
                  <a:extLst>
                    <a:ext uri="{9D8B030D-6E8A-4147-A177-3AD203B41FA5}">
                      <a16:colId xmlns:a16="http://schemas.microsoft.com/office/drawing/2014/main" val="2896665128"/>
                    </a:ext>
                  </a:extLst>
                </a:gridCol>
                <a:gridCol w="1356602">
                  <a:extLst>
                    <a:ext uri="{9D8B030D-6E8A-4147-A177-3AD203B41FA5}">
                      <a16:colId xmlns:a16="http://schemas.microsoft.com/office/drawing/2014/main" val="1833123800"/>
                    </a:ext>
                  </a:extLst>
                </a:gridCol>
                <a:gridCol w="1356602">
                  <a:extLst>
                    <a:ext uri="{9D8B030D-6E8A-4147-A177-3AD203B41FA5}">
                      <a16:colId xmlns:a16="http://schemas.microsoft.com/office/drawing/2014/main" val="74609918"/>
                    </a:ext>
                  </a:extLst>
                </a:gridCol>
              </a:tblGrid>
              <a:tr h="251460">
                <a:tc>
                  <a:txBody>
                    <a:bodyPr/>
                    <a:lstStyle/>
                    <a:p>
                      <a:pPr algn="ctr"/>
                      <a:r>
                        <a:rPr lang="en-IN" dirty="0">
                          <a:effectLst/>
                        </a:rPr>
                        <a:t>Bi-Monthly Consumption</a:t>
                      </a:r>
                    </a:p>
                  </a:txBody>
                  <a:tcPr marL="0" marR="0" marT="0" marB="0" anchor="ctr"/>
                </a:tc>
                <a:tc>
                  <a:txBody>
                    <a:bodyPr/>
                    <a:lstStyle/>
                    <a:p>
                      <a:pPr algn="ctr"/>
                      <a:r>
                        <a:rPr lang="en-IN">
                          <a:effectLst/>
                        </a:rPr>
                        <a:t>Units Charged For</a:t>
                      </a:r>
                    </a:p>
                  </a:txBody>
                  <a:tcPr marL="0" marR="0" marT="0" marB="0" anchor="ctr"/>
                </a:tc>
                <a:tc>
                  <a:txBody>
                    <a:bodyPr/>
                    <a:lstStyle/>
                    <a:p>
                      <a:pPr algn="ctr"/>
                      <a:r>
                        <a:rPr lang="en-IN">
                          <a:effectLst/>
                        </a:rPr>
                        <a:t>Charge per Unit (Rs)</a:t>
                      </a:r>
                    </a:p>
                  </a:txBody>
                  <a:tcPr marL="0" marR="0" marT="0" marB="0" anchor="ctr"/>
                </a:tc>
                <a:tc>
                  <a:txBody>
                    <a:bodyPr/>
                    <a:lstStyle/>
                    <a:p>
                      <a:pPr algn="ctr"/>
                      <a:r>
                        <a:rPr lang="en-IN">
                          <a:effectLst/>
                        </a:rPr>
                        <a:t>Energy Charges (Rs)</a:t>
                      </a:r>
                    </a:p>
                  </a:txBody>
                  <a:tcPr marL="0" marR="0" marT="0" marB="0" anchor="ctr"/>
                </a:tc>
                <a:tc>
                  <a:txBody>
                    <a:bodyPr/>
                    <a:lstStyle/>
                    <a:p>
                      <a:pPr algn="ctr"/>
                      <a:r>
                        <a:rPr lang="en-IN">
                          <a:effectLst/>
                        </a:rPr>
                        <a:t>Fixed Charges</a:t>
                      </a:r>
                    </a:p>
                    <a:p>
                      <a:pPr algn="ctr"/>
                      <a:r>
                        <a:rPr lang="en-IN">
                          <a:effectLst/>
                        </a:rPr>
                        <a:t>(Rs)</a:t>
                      </a:r>
                    </a:p>
                  </a:txBody>
                  <a:tcPr marL="0" marR="0" marT="0" marB="0" anchor="ctr"/>
                </a:tc>
                <a:tc>
                  <a:txBody>
                    <a:bodyPr/>
                    <a:lstStyle/>
                    <a:p>
                      <a:pPr algn="ctr"/>
                      <a:r>
                        <a:rPr lang="en-IN">
                          <a:effectLst/>
                        </a:rPr>
                        <a:t>Total Charges Payable (Rs)</a:t>
                      </a:r>
                    </a:p>
                  </a:txBody>
                  <a:tcPr marL="0" marR="0" marT="0" marB="0" anchor="ctr"/>
                </a:tc>
                <a:extLst>
                  <a:ext uri="{0D108BD9-81ED-4DB2-BD59-A6C34878D82A}">
                    <a16:rowId xmlns:a16="http://schemas.microsoft.com/office/drawing/2014/main" val="3813418992"/>
                  </a:ext>
                </a:extLst>
              </a:tr>
              <a:tr h="251460">
                <a:tc>
                  <a:txBody>
                    <a:bodyPr/>
                    <a:lstStyle/>
                    <a:p>
                      <a:pPr algn="ctr"/>
                      <a:r>
                        <a:rPr lang="en-IN">
                          <a:effectLst/>
                        </a:rPr>
                        <a:t>120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20*1.5</a:t>
                      </a:r>
                    </a:p>
                  </a:txBody>
                  <a:tcPr marL="0" marR="0" marT="0" marB="0" anchor="ctr"/>
                </a:tc>
                <a:tc>
                  <a:txBody>
                    <a:bodyPr/>
                    <a:lstStyle/>
                    <a:p>
                      <a:pPr algn="ctr"/>
                      <a:r>
                        <a:rPr lang="en-IN">
                          <a:effectLst/>
                        </a:rPr>
                        <a:t>30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50</a:t>
                      </a:r>
                    </a:p>
                  </a:txBody>
                  <a:tcPr marL="0" marR="0" marT="0" marB="0" anchor="ctr"/>
                </a:tc>
                <a:extLst>
                  <a:ext uri="{0D108BD9-81ED-4DB2-BD59-A6C34878D82A}">
                    <a16:rowId xmlns:a16="http://schemas.microsoft.com/office/drawing/2014/main" val="1523904757"/>
                  </a:ext>
                </a:extLst>
              </a:tr>
              <a:tr h="251460">
                <a:tc>
                  <a:txBody>
                    <a:bodyPr/>
                    <a:lstStyle/>
                    <a:p>
                      <a:pPr algn="ctr"/>
                      <a:r>
                        <a:rPr lang="en-IN">
                          <a:effectLst/>
                        </a:rPr>
                        <a:t>160</a:t>
                      </a:r>
                    </a:p>
                  </a:txBody>
                  <a:tcPr marL="0" marR="0" marT="0" marB="0" anchor="ctr"/>
                </a:tc>
                <a:tc>
                  <a:txBody>
                    <a:bodyPr/>
                    <a:lstStyle/>
                    <a:p>
                      <a:pPr algn="ctr"/>
                      <a:r>
                        <a:rPr lang="en-IN">
                          <a:effectLst/>
                        </a:rPr>
                        <a:t>60</a:t>
                      </a:r>
                    </a:p>
                  </a:txBody>
                  <a:tcPr marL="0" marR="0" marT="0" marB="0" anchor="ctr"/>
                </a:tc>
                <a:tc>
                  <a:txBody>
                    <a:bodyPr/>
                    <a:lstStyle/>
                    <a:p>
                      <a:pPr algn="ctr"/>
                      <a:r>
                        <a:rPr lang="en-IN">
                          <a:effectLst/>
                        </a:rPr>
                        <a:t>60*1.5</a:t>
                      </a:r>
                    </a:p>
                  </a:txBody>
                  <a:tcPr marL="0" marR="0" marT="0" marB="0" anchor="ctr"/>
                </a:tc>
                <a:tc>
                  <a:txBody>
                    <a:bodyPr/>
                    <a:lstStyle/>
                    <a:p>
                      <a:pPr algn="ctr"/>
                      <a:r>
                        <a:rPr lang="en-IN">
                          <a:effectLst/>
                        </a:rPr>
                        <a:t>90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110</a:t>
                      </a:r>
                    </a:p>
                  </a:txBody>
                  <a:tcPr marL="0" marR="0" marT="0" marB="0" anchor="ctr"/>
                </a:tc>
                <a:extLst>
                  <a:ext uri="{0D108BD9-81ED-4DB2-BD59-A6C34878D82A}">
                    <a16:rowId xmlns:a16="http://schemas.microsoft.com/office/drawing/2014/main" val="1591824729"/>
                  </a:ext>
                </a:extLst>
              </a:tr>
              <a:tr h="251460">
                <a:tc>
                  <a:txBody>
                    <a:bodyPr/>
                    <a:lstStyle/>
                    <a:p>
                      <a:pPr algn="ctr"/>
                      <a:r>
                        <a:rPr lang="en-IN">
                          <a:effectLst/>
                        </a:rPr>
                        <a:t>200</a:t>
                      </a:r>
                    </a:p>
                  </a:txBody>
                  <a:tcPr marL="0" marR="0" marT="0" marB="0" anchor="ctr"/>
                </a:tc>
                <a:tc>
                  <a:txBody>
                    <a:bodyPr/>
                    <a:lstStyle/>
                    <a:p>
                      <a:pPr algn="ctr"/>
                      <a:r>
                        <a:rPr lang="en-IN">
                          <a:effectLst/>
                        </a:rPr>
                        <a:t>100</a:t>
                      </a:r>
                    </a:p>
                  </a:txBody>
                  <a:tcPr marL="0" marR="0" marT="0" marB="0" anchor="ctr"/>
                </a:tc>
                <a:tc>
                  <a:txBody>
                    <a:bodyPr/>
                    <a:lstStyle/>
                    <a:p>
                      <a:pPr algn="ctr"/>
                      <a:r>
                        <a:rPr lang="en-IN">
                          <a:effectLst/>
                        </a:rPr>
                        <a:t>100*1.5</a:t>
                      </a:r>
                    </a:p>
                  </a:txBody>
                  <a:tcPr marL="0" marR="0" marT="0" marB="0" anchor="ctr"/>
                </a:tc>
                <a:tc>
                  <a:txBody>
                    <a:bodyPr/>
                    <a:lstStyle/>
                    <a:p>
                      <a:pPr algn="ctr"/>
                      <a:r>
                        <a:rPr lang="en-IN">
                          <a:effectLst/>
                        </a:rPr>
                        <a:t>150</a:t>
                      </a:r>
                    </a:p>
                  </a:txBody>
                  <a:tcPr marL="0" marR="0" marT="0" marB="0" anchor="ctr"/>
                </a:tc>
                <a:tc>
                  <a:txBody>
                    <a:bodyPr/>
                    <a:lstStyle/>
                    <a:p>
                      <a:pPr algn="ctr"/>
                      <a:r>
                        <a:rPr lang="en-IN">
                          <a:effectLst/>
                        </a:rPr>
                        <a:t>20</a:t>
                      </a:r>
                    </a:p>
                  </a:txBody>
                  <a:tcPr marL="0" marR="0" marT="0" marB="0" anchor="ctr"/>
                </a:tc>
                <a:tc>
                  <a:txBody>
                    <a:bodyPr/>
                    <a:lstStyle/>
                    <a:p>
                      <a:pPr algn="ctr"/>
                      <a:r>
                        <a:rPr lang="en-IN">
                          <a:effectLst/>
                        </a:rPr>
                        <a:t>170</a:t>
                      </a:r>
                    </a:p>
                  </a:txBody>
                  <a:tcPr marL="0" marR="0" marT="0" marB="0" anchor="ctr"/>
                </a:tc>
                <a:extLst>
                  <a:ext uri="{0D108BD9-81ED-4DB2-BD59-A6C34878D82A}">
                    <a16:rowId xmlns:a16="http://schemas.microsoft.com/office/drawing/2014/main" val="4111199859"/>
                  </a:ext>
                </a:extLst>
              </a:tr>
              <a:tr h="251460">
                <a:tc>
                  <a:txBody>
                    <a:bodyPr/>
                    <a:lstStyle/>
                    <a:p>
                      <a:pPr algn="ctr"/>
                      <a:r>
                        <a:rPr lang="en-IN">
                          <a:effectLst/>
                        </a:rPr>
                        <a:t>300</a:t>
                      </a:r>
                    </a:p>
                  </a:txBody>
                  <a:tcPr marL="0" marR="0" marT="0" marB="0" anchor="ctr"/>
                </a:tc>
                <a:tc>
                  <a:txBody>
                    <a:bodyPr/>
                    <a:lstStyle/>
                    <a:p>
                      <a:pPr algn="ctr"/>
                      <a:r>
                        <a:rPr lang="en-IN">
                          <a:effectLst/>
                        </a:rPr>
                        <a:t>200</a:t>
                      </a:r>
                    </a:p>
                  </a:txBody>
                  <a:tcPr marL="0" marR="0" marT="0" marB="0" anchor="ctr"/>
                </a:tc>
                <a:tc>
                  <a:txBody>
                    <a:bodyPr/>
                    <a:lstStyle/>
                    <a:p>
                      <a:pPr algn="ctr"/>
                      <a:r>
                        <a:rPr lang="en-IN">
                          <a:effectLst/>
                        </a:rPr>
                        <a:t>100* 2</a:t>
                      </a:r>
                    </a:p>
                    <a:p>
                      <a:pPr algn="ctr"/>
                      <a:r>
                        <a:rPr lang="en-IN">
                          <a:effectLst/>
                        </a:rPr>
                        <a:t>100*3</a:t>
                      </a:r>
                    </a:p>
                  </a:txBody>
                  <a:tcPr marL="0" marR="0" marT="0" marB="0" anchor="ctr"/>
                </a:tc>
                <a:tc>
                  <a:txBody>
                    <a:bodyPr/>
                    <a:lstStyle/>
                    <a:p>
                      <a:pPr algn="ctr"/>
                      <a:r>
                        <a:rPr lang="en-IN">
                          <a:effectLst/>
                        </a:rPr>
                        <a:t>500</a:t>
                      </a:r>
                    </a:p>
                  </a:txBody>
                  <a:tcPr marL="0" marR="0" marT="0" marB="0" anchor="ctr"/>
                </a:tc>
                <a:tc>
                  <a:txBody>
                    <a:bodyPr/>
                    <a:lstStyle/>
                    <a:p>
                      <a:pPr algn="ctr"/>
                      <a:r>
                        <a:rPr lang="en-IN">
                          <a:effectLst/>
                        </a:rPr>
                        <a:t>30</a:t>
                      </a:r>
                    </a:p>
                  </a:txBody>
                  <a:tcPr marL="0" marR="0" marT="0" marB="0" anchor="ctr"/>
                </a:tc>
                <a:tc>
                  <a:txBody>
                    <a:bodyPr/>
                    <a:lstStyle/>
                    <a:p>
                      <a:pPr algn="ctr"/>
                      <a:r>
                        <a:rPr lang="en-IN">
                          <a:effectLst/>
                        </a:rPr>
                        <a:t>530</a:t>
                      </a:r>
                    </a:p>
                  </a:txBody>
                  <a:tcPr marL="0" marR="0" marT="0" marB="0" anchor="ctr"/>
                </a:tc>
                <a:extLst>
                  <a:ext uri="{0D108BD9-81ED-4DB2-BD59-A6C34878D82A}">
                    <a16:rowId xmlns:a16="http://schemas.microsoft.com/office/drawing/2014/main" val="1711665297"/>
                  </a:ext>
                </a:extLst>
              </a:tr>
              <a:tr h="251460">
                <a:tc>
                  <a:txBody>
                    <a:bodyPr/>
                    <a:lstStyle/>
                    <a:p>
                      <a:pPr algn="ctr"/>
                      <a:r>
                        <a:rPr lang="en-IN">
                          <a:effectLst/>
                        </a:rPr>
                        <a:t>500</a:t>
                      </a:r>
                    </a:p>
                  </a:txBody>
                  <a:tcPr marL="0" marR="0" marT="0" marB="0" anchor="ctr"/>
                </a:tc>
                <a:tc>
                  <a:txBody>
                    <a:bodyPr/>
                    <a:lstStyle/>
                    <a:p>
                      <a:pPr algn="ctr"/>
                      <a:r>
                        <a:rPr lang="en-IN">
                          <a:effectLst/>
                        </a:rPr>
                        <a:t>400</a:t>
                      </a:r>
                    </a:p>
                  </a:txBody>
                  <a:tcPr marL="0" marR="0" marT="0" marB="0" anchor="ctr"/>
                </a:tc>
                <a:tc>
                  <a:txBody>
                    <a:bodyPr/>
                    <a:lstStyle/>
                    <a:p>
                      <a:pPr algn="ctr"/>
                      <a:r>
                        <a:rPr lang="en-IN">
                          <a:effectLst/>
                        </a:rPr>
                        <a:t>100*2</a:t>
                      </a:r>
                    </a:p>
                    <a:p>
                      <a:pPr algn="ctr"/>
                      <a:r>
                        <a:rPr lang="en-IN">
                          <a:effectLst/>
                        </a:rPr>
                        <a:t>300*3</a:t>
                      </a:r>
                    </a:p>
                  </a:txBody>
                  <a:tcPr marL="0" marR="0" marT="0" marB="0" anchor="ctr"/>
                </a:tc>
                <a:tc>
                  <a:txBody>
                    <a:bodyPr/>
                    <a:lstStyle/>
                    <a:p>
                      <a:pPr algn="ctr"/>
                      <a:r>
                        <a:rPr lang="en-IN">
                          <a:effectLst/>
                        </a:rPr>
                        <a:t>1100</a:t>
                      </a:r>
                    </a:p>
                  </a:txBody>
                  <a:tcPr marL="0" marR="0" marT="0" marB="0" anchor="ctr"/>
                </a:tc>
                <a:tc>
                  <a:txBody>
                    <a:bodyPr/>
                    <a:lstStyle/>
                    <a:p>
                      <a:pPr algn="ctr"/>
                      <a:r>
                        <a:rPr lang="en-IN">
                          <a:effectLst/>
                        </a:rPr>
                        <a:t>30</a:t>
                      </a:r>
                    </a:p>
                  </a:txBody>
                  <a:tcPr marL="0" marR="0" marT="0" marB="0" anchor="ctr"/>
                </a:tc>
                <a:tc>
                  <a:txBody>
                    <a:bodyPr/>
                    <a:lstStyle/>
                    <a:p>
                      <a:pPr algn="ctr"/>
                      <a:r>
                        <a:rPr lang="en-IN">
                          <a:effectLst/>
                        </a:rPr>
                        <a:t>1130</a:t>
                      </a:r>
                    </a:p>
                  </a:txBody>
                  <a:tcPr marL="0" marR="0" marT="0" marB="0" anchor="ctr"/>
                </a:tc>
                <a:extLst>
                  <a:ext uri="{0D108BD9-81ED-4DB2-BD59-A6C34878D82A}">
                    <a16:rowId xmlns:a16="http://schemas.microsoft.com/office/drawing/2014/main" val="186972141"/>
                  </a:ext>
                </a:extLst>
              </a:tr>
              <a:tr h="251460">
                <a:tc>
                  <a:txBody>
                    <a:bodyPr/>
                    <a:lstStyle/>
                    <a:p>
                      <a:pPr algn="ctr"/>
                      <a:r>
                        <a:rPr lang="en-IN">
                          <a:effectLst/>
                        </a:rPr>
                        <a:t>800</a:t>
                      </a:r>
                    </a:p>
                  </a:txBody>
                  <a:tcPr marL="0" marR="0" marT="0" marB="0" anchor="ctr"/>
                </a:tc>
                <a:tc>
                  <a:txBody>
                    <a:bodyPr/>
                    <a:lstStyle/>
                    <a:p>
                      <a:pPr algn="ctr"/>
                      <a:r>
                        <a:rPr lang="en-IN">
                          <a:effectLst/>
                        </a:rPr>
                        <a:t>700</a:t>
                      </a:r>
                    </a:p>
                  </a:txBody>
                  <a:tcPr marL="0" marR="0" marT="0" marB="0" anchor="ctr"/>
                </a:tc>
                <a:tc>
                  <a:txBody>
                    <a:bodyPr/>
                    <a:lstStyle/>
                    <a:p>
                      <a:pPr algn="ctr"/>
                      <a:r>
                        <a:rPr lang="en-IN">
                          <a:effectLst/>
                        </a:rPr>
                        <a:t>100*3.5</a:t>
                      </a:r>
                    </a:p>
                    <a:p>
                      <a:pPr algn="ctr"/>
                      <a:r>
                        <a:rPr lang="en-IN">
                          <a:effectLst/>
                        </a:rPr>
                        <a:t>300*4.6</a:t>
                      </a:r>
                    </a:p>
                    <a:p>
                      <a:pPr algn="ctr"/>
                      <a:r>
                        <a:rPr lang="en-IN">
                          <a:effectLst/>
                        </a:rPr>
                        <a:t>300*6.6</a:t>
                      </a:r>
                    </a:p>
                  </a:txBody>
                  <a:tcPr marL="0" marR="0" marT="0" marB="0" anchor="ctr"/>
                </a:tc>
                <a:tc>
                  <a:txBody>
                    <a:bodyPr/>
                    <a:lstStyle/>
                    <a:p>
                      <a:pPr algn="ctr"/>
                      <a:r>
                        <a:rPr lang="en-IN">
                          <a:effectLst/>
                        </a:rPr>
                        <a:t>3710</a:t>
                      </a:r>
                    </a:p>
                  </a:txBody>
                  <a:tcPr marL="0" marR="0" marT="0" marB="0" anchor="ctr"/>
                </a:tc>
                <a:tc>
                  <a:txBody>
                    <a:bodyPr/>
                    <a:lstStyle/>
                    <a:p>
                      <a:pPr algn="ctr"/>
                      <a:r>
                        <a:rPr lang="en-IN">
                          <a:effectLst/>
                        </a:rPr>
                        <a:t>50</a:t>
                      </a:r>
                    </a:p>
                  </a:txBody>
                  <a:tcPr marL="0" marR="0" marT="0" marB="0" anchor="ctr"/>
                </a:tc>
                <a:tc>
                  <a:txBody>
                    <a:bodyPr/>
                    <a:lstStyle/>
                    <a:p>
                      <a:pPr algn="ctr"/>
                      <a:r>
                        <a:rPr lang="en-IN" dirty="0">
                          <a:effectLst/>
                        </a:rPr>
                        <a:t>3760</a:t>
                      </a:r>
                    </a:p>
                  </a:txBody>
                  <a:tcPr marL="0" marR="0" marT="0" marB="0" anchor="ctr"/>
                </a:tc>
                <a:extLst>
                  <a:ext uri="{0D108BD9-81ED-4DB2-BD59-A6C34878D82A}">
                    <a16:rowId xmlns:a16="http://schemas.microsoft.com/office/drawing/2014/main" val="4001573484"/>
                  </a:ext>
                </a:extLst>
              </a:tr>
              <a:tr h="25146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0020046"/>
                  </a:ext>
                </a:extLst>
              </a:tr>
            </a:tbl>
          </a:graphicData>
        </a:graphic>
      </p:graphicFrame>
      <p:sp>
        <p:nvSpPr>
          <p:cNvPr id="3" name="Rectangle 2"/>
          <p:cNvSpPr/>
          <p:nvPr/>
        </p:nvSpPr>
        <p:spPr>
          <a:xfrm>
            <a:off x="4312347" y="1345866"/>
            <a:ext cx="3555698" cy="369332"/>
          </a:xfrm>
          <a:prstGeom prst="rect">
            <a:avLst/>
          </a:prstGeom>
        </p:spPr>
        <p:txBody>
          <a:bodyPr wrap="square">
            <a:spAutoFit/>
          </a:bodyPr>
          <a:lstStyle/>
          <a:p>
            <a:r>
              <a:rPr lang="en-US" dirty="0">
                <a:solidFill>
                  <a:srgbClr val="000000"/>
                </a:solidFill>
                <a:latin typeface="Barlow Condensed"/>
              </a:rPr>
              <a:t>Tamil Nadu’s </a:t>
            </a:r>
            <a:r>
              <a:rPr lang="en-US" dirty="0" smtClean="0">
                <a:solidFill>
                  <a:srgbClr val="000000"/>
                </a:solidFill>
                <a:latin typeface="Barlow Condensed"/>
              </a:rPr>
              <a:t>New </a:t>
            </a:r>
            <a:r>
              <a:rPr lang="en-US" dirty="0">
                <a:solidFill>
                  <a:srgbClr val="000000"/>
                </a:solidFill>
                <a:latin typeface="Barlow Condensed"/>
              </a:rPr>
              <a:t>electricity tariff</a:t>
            </a:r>
            <a:endParaRPr lang="en-US" b="0" i="0" dirty="0">
              <a:solidFill>
                <a:srgbClr val="000000"/>
              </a:solidFill>
              <a:effectLst/>
              <a:latin typeface="Barlow Condensed"/>
            </a:endParaRPr>
          </a:p>
        </p:txBody>
      </p:sp>
    </p:spTree>
    <p:extLst>
      <p:ext uri="{BB962C8B-B14F-4D97-AF65-F5344CB8AC3E}">
        <p14:creationId xmlns:p14="http://schemas.microsoft.com/office/powerpoint/2010/main" val="2864485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Welfare effects of price discrimination </a:t>
            </a:r>
            <a:endParaRPr lang="en-IN" dirty="0"/>
          </a:p>
        </p:txBody>
      </p:sp>
      <p:sp>
        <p:nvSpPr>
          <p:cNvPr id="3" name="Text Placeholder 2"/>
          <p:cNvSpPr>
            <a:spLocks noGrp="1"/>
          </p:cNvSpPr>
          <p:nvPr>
            <p:ph type="body" idx="1"/>
          </p:nvPr>
        </p:nvSpPr>
        <p:spPr/>
        <p:txBody>
          <a:bodyPr/>
          <a:lstStyle/>
          <a:p>
            <a:r>
              <a:rPr lang="en-US" dirty="0" smtClean="0"/>
              <a:t>Perfect Price Discrimination </a:t>
            </a:r>
            <a:endParaRPr lang="en-IN" dirty="0"/>
          </a:p>
        </p:txBody>
      </p:sp>
      <p:pic>
        <p:nvPicPr>
          <p:cNvPr id="7" name="Content Placeholder 6"/>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962289" y="2505075"/>
            <a:ext cx="4912784" cy="3684588"/>
          </a:xfrm>
        </p:spPr>
      </p:pic>
      <p:sp>
        <p:nvSpPr>
          <p:cNvPr id="5" name="Text Placeholder 4"/>
          <p:cNvSpPr>
            <a:spLocks noGrp="1"/>
          </p:cNvSpPr>
          <p:nvPr>
            <p:ph type="body" sz="quarter" idx="3"/>
          </p:nvPr>
        </p:nvSpPr>
        <p:spPr/>
        <p:txBody>
          <a:bodyPr/>
          <a:lstStyle/>
          <a:p>
            <a:r>
              <a:rPr lang="en-US" dirty="0" smtClean="0"/>
              <a:t>Comparison </a:t>
            </a:r>
            <a:endParaRPr lang="en-IN" dirty="0"/>
          </a:p>
        </p:txBody>
      </p:sp>
      <p:pic>
        <p:nvPicPr>
          <p:cNvPr id="8" name="Content Placeholder 7"/>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307402" y="2505075"/>
            <a:ext cx="4912784" cy="3684588"/>
          </a:xfrm>
        </p:spPr>
      </p:pic>
    </p:spTree>
    <p:extLst>
      <p:ext uri="{BB962C8B-B14F-4D97-AF65-F5344CB8AC3E}">
        <p14:creationId xmlns:p14="http://schemas.microsoft.com/office/powerpoint/2010/main" val="1186033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Imperfect Price Discrimination </a:t>
            </a:r>
            <a:endParaRPr lang="en-IN" dirty="0"/>
          </a:p>
        </p:txBody>
      </p:sp>
      <p:sp>
        <p:nvSpPr>
          <p:cNvPr id="3" name="Content Placeholder 2"/>
          <p:cNvSpPr>
            <a:spLocks noGrp="1"/>
          </p:cNvSpPr>
          <p:nvPr>
            <p:ph idx="1"/>
          </p:nvPr>
        </p:nvSpPr>
        <p:spPr/>
        <p:txBody>
          <a:bodyPr/>
          <a:lstStyle/>
          <a:p>
            <a:r>
              <a:rPr lang="en-IN" dirty="0" smtClean="0"/>
              <a:t>Does not know the reservation price of  each customer. Firms can discriminate imperfectly by charging a few different prices based on estimates of customers ‘ reservation prices. </a:t>
            </a:r>
          </a:p>
          <a:p>
            <a:r>
              <a:rPr lang="en-IN" dirty="0" smtClean="0"/>
              <a:t>Used by professionals like doctors, lawyers, accountants or architects. </a:t>
            </a:r>
            <a:endParaRPr lang="en-IN" dirty="0"/>
          </a:p>
        </p:txBody>
      </p:sp>
    </p:spTree>
    <p:extLst>
      <p:ext uri="{BB962C8B-B14F-4D97-AF65-F5344CB8AC3E}">
        <p14:creationId xmlns:p14="http://schemas.microsoft.com/office/powerpoint/2010/main" val="2354792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Price Discrimination is Practiced? </a:t>
            </a:r>
            <a:endParaRPr lang="en-IN" dirty="0"/>
          </a:p>
        </p:txBody>
      </p:sp>
      <p:sp>
        <p:nvSpPr>
          <p:cNvPr id="3" name="Content Placeholder 2"/>
          <p:cNvSpPr>
            <a:spLocks noGrp="1"/>
          </p:cNvSpPr>
          <p:nvPr>
            <p:ph idx="1"/>
          </p:nvPr>
        </p:nvSpPr>
        <p:spPr/>
        <p:txBody>
          <a:bodyPr/>
          <a:lstStyle/>
          <a:p>
            <a:r>
              <a:rPr lang="en-US" dirty="0" smtClean="0"/>
              <a:t>Movie tickets </a:t>
            </a:r>
          </a:p>
          <a:p>
            <a:r>
              <a:rPr lang="en-US" dirty="0" smtClean="0"/>
              <a:t>Airline prices </a:t>
            </a:r>
          </a:p>
          <a:p>
            <a:r>
              <a:rPr lang="en-US" dirty="0" smtClean="0"/>
              <a:t>Discount coupons </a:t>
            </a:r>
          </a:p>
          <a:p>
            <a:r>
              <a:rPr lang="en-US" dirty="0" smtClean="0"/>
              <a:t>Financial aid</a:t>
            </a:r>
          </a:p>
          <a:p>
            <a:r>
              <a:rPr lang="en-US" smtClean="0"/>
              <a:t>Quantity </a:t>
            </a:r>
            <a:r>
              <a:rPr lang="en-US" dirty="0" smtClean="0"/>
              <a:t>discounts </a:t>
            </a:r>
            <a:endParaRPr lang="en-IN" dirty="0"/>
          </a:p>
        </p:txBody>
      </p:sp>
    </p:spTree>
    <p:extLst>
      <p:ext uri="{BB962C8B-B14F-4D97-AF65-F5344CB8AC3E}">
        <p14:creationId xmlns:p14="http://schemas.microsoft.com/office/powerpoint/2010/main" val="1998181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Peak load Pricing </a:t>
            </a:r>
            <a:endParaRPr lang="en-IN" dirty="0"/>
          </a:p>
        </p:txBody>
      </p:sp>
      <p:sp>
        <p:nvSpPr>
          <p:cNvPr id="3" name="Content Placeholder 2"/>
          <p:cNvSpPr>
            <a:spLocks noGrp="1"/>
          </p:cNvSpPr>
          <p:nvPr>
            <p:ph idx="1"/>
          </p:nvPr>
        </p:nvSpPr>
        <p:spPr/>
        <p:txBody>
          <a:bodyPr/>
          <a:lstStyle/>
          <a:p>
            <a:r>
              <a:rPr lang="en-IN" dirty="0" smtClean="0"/>
              <a:t>Peak Load pricing involves charging different prices at different points in times. </a:t>
            </a:r>
          </a:p>
          <a:p>
            <a:r>
              <a:rPr lang="en-IN" dirty="0" smtClean="0"/>
              <a:t>For Some goods and services demand peaks at particular times. For </a:t>
            </a:r>
            <a:r>
              <a:rPr lang="en-IN" dirty="0" err="1" smtClean="0"/>
              <a:t>eg.roads</a:t>
            </a:r>
            <a:r>
              <a:rPr lang="en-IN" dirty="0" smtClean="0"/>
              <a:t> and tunnels during rush hour, electricity during summer, amusement parks on weekends. </a:t>
            </a:r>
          </a:p>
          <a:p>
            <a:endParaRPr lang="en-IN" dirty="0"/>
          </a:p>
        </p:txBody>
      </p:sp>
    </p:spTree>
    <p:extLst>
      <p:ext uri="{BB962C8B-B14F-4D97-AF65-F5344CB8AC3E}">
        <p14:creationId xmlns:p14="http://schemas.microsoft.com/office/powerpoint/2010/main" val="10728777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2400" y="212436"/>
            <a:ext cx="8839200" cy="6271491"/>
          </a:xfrm>
          <a:prstGeom prst="rect">
            <a:avLst/>
          </a:prstGeom>
        </p:spPr>
      </p:pic>
    </p:spTree>
    <p:extLst>
      <p:ext uri="{BB962C8B-B14F-4D97-AF65-F5344CB8AC3E}">
        <p14:creationId xmlns:p14="http://schemas.microsoft.com/office/powerpoint/2010/main" val="26854384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248727" y="365126"/>
            <a:ext cx="2530764" cy="724766"/>
          </a:xfrm>
        </p:spPr>
        <p:txBody>
          <a:bodyPr/>
          <a:lstStyle/>
          <a:p>
            <a:pPr algn="ctr"/>
            <a:r>
              <a:rPr lang="en-IN" dirty="0" smtClean="0"/>
              <a:t>Bundling </a:t>
            </a:r>
            <a:endParaRPr lang="en-IN" dirty="0"/>
          </a:p>
        </p:txBody>
      </p:sp>
      <p:sp>
        <p:nvSpPr>
          <p:cNvPr id="3" name="Content Placeholder 2"/>
          <p:cNvSpPr>
            <a:spLocks noGrp="1"/>
          </p:cNvSpPr>
          <p:nvPr>
            <p:ph idx="1"/>
          </p:nvPr>
        </p:nvSpPr>
        <p:spPr>
          <a:xfrm>
            <a:off x="810491" y="1089892"/>
            <a:ext cx="10515600" cy="5142489"/>
          </a:xfrm>
        </p:spPr>
        <p:txBody>
          <a:bodyPr>
            <a:normAutofit fontScale="92500" lnSpcReduction="10000"/>
          </a:bodyPr>
          <a:lstStyle/>
          <a:p>
            <a:r>
              <a:rPr lang="en-IN" dirty="0" smtClean="0"/>
              <a:t>Bundling is the practice of selling two or more products together for a single price. </a:t>
            </a:r>
            <a:endParaRPr lang="en-IN" dirty="0"/>
          </a:p>
          <a:p>
            <a:r>
              <a:rPr lang="en-IN" dirty="0" smtClean="0"/>
              <a:t>When the products are available as a package, the pricing strategy is referred to as pure bundling. </a:t>
            </a:r>
          </a:p>
          <a:p>
            <a:r>
              <a:rPr lang="en-IN" dirty="0" smtClean="0"/>
              <a:t>If at least some products can also be purchased separately, then the firm is using mixed bundling. </a:t>
            </a:r>
          </a:p>
          <a:p>
            <a:r>
              <a:rPr lang="en-IN" dirty="0" err="1" smtClean="0"/>
              <a:t>Eg</a:t>
            </a:r>
            <a:r>
              <a:rPr lang="en-IN" dirty="0" smtClean="0"/>
              <a:t>. MacDonald's Value meals</a:t>
            </a:r>
          </a:p>
          <a:p>
            <a:r>
              <a:rPr lang="en-IN" dirty="0" smtClean="0"/>
              <a:t>Automobiles with features like AC, sun roofs and </a:t>
            </a:r>
            <a:r>
              <a:rPr lang="en-IN" smtClean="0"/>
              <a:t>geographical systems.</a:t>
            </a:r>
          </a:p>
          <a:p>
            <a:r>
              <a:rPr lang="en-US"/>
              <a:t>computer package complete with a monitor, mouse, keyboard, and preloaded software for a single </a:t>
            </a:r>
            <a:r>
              <a:rPr lang="en-US" smtClean="0"/>
              <a:t>price.</a:t>
            </a:r>
          </a:p>
          <a:p>
            <a:r>
              <a:rPr lang="en-US" dirty="0" smtClean="0"/>
              <a:t>Industries which use bundling practices include telecommunications </a:t>
            </a:r>
            <a:r>
              <a:rPr lang="en-US" dirty="0"/>
              <a:t>services, software and computer companies, journal publishers, automobiles, vacation packages, and fast food restaurants, to</a:t>
            </a:r>
          </a:p>
          <a:p>
            <a:endParaRPr lang="en-US" dirty="0"/>
          </a:p>
          <a:p>
            <a:endParaRPr lang="en-US" dirty="0"/>
          </a:p>
        </p:txBody>
      </p:sp>
    </p:spTree>
    <p:extLst>
      <p:ext uri="{BB962C8B-B14F-4D97-AF65-F5344CB8AC3E}">
        <p14:creationId xmlns:p14="http://schemas.microsoft.com/office/powerpoint/2010/main" val="25629289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Transfer Pricing </a:t>
            </a:r>
            <a:endParaRPr lang="en-IN" dirty="0"/>
          </a:p>
        </p:txBody>
      </p:sp>
      <p:sp>
        <p:nvSpPr>
          <p:cNvPr id="3" name="Content Placeholder 2"/>
          <p:cNvSpPr>
            <a:spLocks noGrp="1"/>
          </p:cNvSpPr>
          <p:nvPr>
            <p:ph idx="1"/>
          </p:nvPr>
        </p:nvSpPr>
        <p:spPr/>
        <p:txBody>
          <a:bodyPr>
            <a:normAutofit lnSpcReduction="10000"/>
          </a:bodyPr>
          <a:lstStyle/>
          <a:p>
            <a:pPr algn="just"/>
            <a:r>
              <a:rPr lang="en-IN" dirty="0" smtClean="0"/>
              <a:t>Many firms are vertically integrated-they contain several divisions with some divisions producing parts and components that other divisions use to produce finished product. </a:t>
            </a:r>
          </a:p>
          <a:p>
            <a:pPr algn="just"/>
            <a:r>
              <a:rPr lang="en-IN" dirty="0" smtClean="0"/>
              <a:t>For </a:t>
            </a:r>
            <a:r>
              <a:rPr lang="en-IN" dirty="0" err="1" smtClean="0"/>
              <a:t>eg</a:t>
            </a:r>
            <a:r>
              <a:rPr lang="en-IN" dirty="0" smtClean="0"/>
              <a:t>. Automobile companies have upstream divisions that produce engines, brakes, radiators and other components. </a:t>
            </a:r>
          </a:p>
          <a:p>
            <a:pPr algn="just"/>
            <a:r>
              <a:rPr lang="en-IN" dirty="0" smtClean="0"/>
              <a:t>Downstream divisions use to produce the finished cars. </a:t>
            </a:r>
          </a:p>
          <a:p>
            <a:pPr algn="just"/>
            <a:r>
              <a:rPr lang="en-IN" dirty="0" smtClean="0"/>
              <a:t>Transfer pricing are valuation of these parts and components within the firm. </a:t>
            </a:r>
          </a:p>
          <a:p>
            <a:pPr algn="just"/>
            <a:r>
              <a:rPr lang="en-IN" dirty="0" smtClean="0"/>
              <a:t>Transfer prices are internal prices at which parts and components from upstream divisions are sold to down stream divisions. </a:t>
            </a:r>
            <a:endParaRPr lang="en-IN" dirty="0"/>
          </a:p>
        </p:txBody>
      </p:sp>
    </p:spTree>
    <p:extLst>
      <p:ext uri="{BB962C8B-B14F-4D97-AF65-F5344CB8AC3E}">
        <p14:creationId xmlns:p14="http://schemas.microsoft.com/office/powerpoint/2010/main" val="23399764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693</Words>
  <Application>Microsoft Office PowerPoint</Application>
  <PresentationFormat>Widescreen</PresentationFormat>
  <Paragraphs>104</Paragraphs>
  <Slides>13</Slides>
  <Notes>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Barlow Condensed</vt:lpstr>
      <vt:lpstr>Calibri</vt:lpstr>
      <vt:lpstr>Calibri Light</vt:lpstr>
      <vt:lpstr>Office Theme</vt:lpstr>
      <vt:lpstr>Price Discrimination </vt:lpstr>
      <vt:lpstr>Price Discrimination </vt:lpstr>
      <vt:lpstr>Price Discrimination  </vt:lpstr>
      <vt:lpstr>Conditions for Price Discrimination </vt:lpstr>
      <vt:lpstr>Types of Price Discrimination </vt:lpstr>
      <vt:lpstr>PowerPoint Presentation</vt:lpstr>
      <vt:lpstr>Welfare effects of price discrimination </vt:lpstr>
      <vt:lpstr>Imperfect Price Discrimination </vt:lpstr>
      <vt:lpstr>How Price Discrimination is Practiced? </vt:lpstr>
      <vt:lpstr>Peak load Pricing </vt:lpstr>
      <vt:lpstr>PowerPoint Presentation</vt:lpstr>
      <vt:lpstr>Bundling </vt:lpstr>
      <vt:lpstr>Transfer Pricing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Discrimination</dc:title>
  <dc:creator>Subash S</dc:creator>
  <cp:lastModifiedBy>vaith</cp:lastModifiedBy>
  <cp:revision>25</cp:revision>
  <dcterms:created xsi:type="dcterms:W3CDTF">2020-04-16T09:58:18Z</dcterms:created>
  <dcterms:modified xsi:type="dcterms:W3CDTF">2023-09-20T04:31:55Z</dcterms:modified>
</cp:coreProperties>
</file>