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77" r:id="rId7"/>
    <p:sldId id="273" r:id="rId8"/>
    <p:sldId id="274" r:id="rId9"/>
    <p:sldId id="275" r:id="rId10"/>
    <p:sldId id="278" r:id="rId11"/>
    <p:sldId id="279" r:id="rId12"/>
    <p:sldId id="280" r:id="rId13"/>
    <p:sldId id="281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69" autoAdjust="0"/>
    <p:restoredTop sz="94717" autoAdjust="0"/>
  </p:normalViewPr>
  <p:slideViewPr>
    <p:cSldViewPr snapToGrid="0">
      <p:cViewPr varScale="1">
        <p:scale>
          <a:sx n="63" d="100"/>
          <a:sy n="63" d="100"/>
        </p:scale>
        <p:origin x="804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AB286-115A-4632-BA7F-20FB1B98992B}" type="datetimeFigureOut">
              <a:rPr lang="en-IN" smtClean="0"/>
              <a:t>07-08-2025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C6835-809C-4C49-B46D-FAAC24734C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7240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AB286-115A-4632-BA7F-20FB1B98992B}" type="datetimeFigureOut">
              <a:rPr lang="en-IN" smtClean="0"/>
              <a:t>07-08-2025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C6835-809C-4C49-B46D-FAAC24734C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57746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AB286-115A-4632-BA7F-20FB1B98992B}" type="datetimeFigureOut">
              <a:rPr lang="en-IN" smtClean="0"/>
              <a:t>07-08-2025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C6835-809C-4C49-B46D-FAAC24734C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46476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AB286-115A-4632-BA7F-20FB1B98992B}" type="datetimeFigureOut">
              <a:rPr lang="en-IN" smtClean="0"/>
              <a:t>07-08-2025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C6835-809C-4C49-B46D-FAAC24734C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06162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AB286-115A-4632-BA7F-20FB1B98992B}" type="datetimeFigureOut">
              <a:rPr lang="en-IN" smtClean="0"/>
              <a:t>07-08-2025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C6835-809C-4C49-B46D-FAAC24734C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03291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AB286-115A-4632-BA7F-20FB1B98992B}" type="datetimeFigureOut">
              <a:rPr lang="en-IN" smtClean="0"/>
              <a:t>07-08-2025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C6835-809C-4C49-B46D-FAAC24734C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21731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AB286-115A-4632-BA7F-20FB1B98992B}" type="datetimeFigureOut">
              <a:rPr lang="en-IN" smtClean="0"/>
              <a:t>07-08-2025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C6835-809C-4C49-B46D-FAAC24734C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93481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AB286-115A-4632-BA7F-20FB1B98992B}" type="datetimeFigureOut">
              <a:rPr lang="en-IN" smtClean="0"/>
              <a:t>07-08-2025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C6835-809C-4C49-B46D-FAAC24734C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56274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AB286-115A-4632-BA7F-20FB1B98992B}" type="datetimeFigureOut">
              <a:rPr lang="en-IN" smtClean="0"/>
              <a:t>07-08-2025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C6835-809C-4C49-B46D-FAAC24734C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64163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AB286-115A-4632-BA7F-20FB1B98992B}" type="datetimeFigureOut">
              <a:rPr lang="en-IN" smtClean="0"/>
              <a:t>07-08-2025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C6835-809C-4C49-B46D-FAAC24734C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51538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AB286-115A-4632-BA7F-20FB1B98992B}" type="datetimeFigureOut">
              <a:rPr lang="en-IN" smtClean="0"/>
              <a:t>07-08-2025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C6835-809C-4C49-B46D-FAAC24734C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65346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FAB286-115A-4632-BA7F-20FB1B98992B}" type="datetimeFigureOut">
              <a:rPr lang="en-IN" smtClean="0"/>
              <a:t>07-08-2025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DC6835-809C-4C49-B46D-FAAC24734C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98327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mtClean="0"/>
              <a:t>Thinking </a:t>
            </a:r>
            <a:r>
              <a:rPr lang="en-US" dirty="0" smtClean="0"/>
              <a:t>Like Economist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272206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Do Economists study the Economy?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Economics is a social science that uses scientific method. </a:t>
            </a:r>
          </a:p>
          <a:p>
            <a:r>
              <a:rPr lang="en-US" dirty="0" smtClean="0"/>
              <a:t>This is accompanied by the use of </a:t>
            </a:r>
            <a:r>
              <a:rPr lang="en-US" dirty="0" smtClean="0">
                <a:solidFill>
                  <a:srgbClr val="FF0000"/>
                </a:solidFill>
              </a:rPr>
              <a:t>Economic Models </a:t>
            </a:r>
            <a:r>
              <a:rPr lang="en-US" dirty="0" smtClean="0"/>
              <a:t>that focus on specific relationships in the economy. </a:t>
            </a:r>
          </a:p>
          <a:p>
            <a:r>
              <a:rPr lang="en-US" dirty="0" smtClean="0"/>
              <a:t>In order to create these models, Economists make many simplifying </a:t>
            </a:r>
            <a:r>
              <a:rPr lang="en-US" dirty="0" smtClean="0">
                <a:solidFill>
                  <a:srgbClr val="FF0000"/>
                </a:solidFill>
              </a:rPr>
              <a:t>Assumptions. </a:t>
            </a:r>
          </a:p>
          <a:p>
            <a:r>
              <a:rPr lang="en-US" dirty="0" smtClean="0"/>
              <a:t>This approach helps identify the key relationships that drive the economic decisions that we are interested in exploring. </a:t>
            </a:r>
          </a:p>
          <a:p>
            <a:r>
              <a:rPr lang="en-US" dirty="0" smtClean="0">
                <a:solidFill>
                  <a:srgbClr val="00B050"/>
                </a:solidFill>
              </a:rPr>
              <a:t>In this chapter we are trying to understand how economists approach their discipline and tools they use. </a:t>
            </a:r>
            <a:endParaRPr lang="en-IN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25815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Ceteris Paribus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Ceteris Paribus is the concept under which economists examine a change in one variable while holding everything else constant. </a:t>
            </a:r>
          </a:p>
          <a:p>
            <a:endParaRPr lang="en-US" dirty="0"/>
          </a:p>
          <a:p>
            <a:r>
              <a:rPr lang="en-US" dirty="0" smtClean="0"/>
              <a:t>Example: Law of Demand explains ceteris paribus when the Price increases the demand for the commodity decreases. </a:t>
            </a:r>
          </a:p>
          <a:p>
            <a:r>
              <a:rPr lang="en-US" dirty="0" smtClean="0"/>
              <a:t>Quantity demand can be influenced by income, price of related goods, taste and preferences and many other factors.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873151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2148" y="365125"/>
            <a:ext cx="10491651" cy="1325563"/>
          </a:xfrm>
        </p:spPr>
        <p:txBody>
          <a:bodyPr/>
          <a:lstStyle/>
          <a:p>
            <a:pPr algn="ctr"/>
            <a:r>
              <a:rPr lang="en-US" dirty="0" smtClean="0">
                <a:solidFill>
                  <a:prstClr val="black"/>
                </a:solidFill>
              </a:rPr>
              <a:t>The Role of Assumptions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Economists make assumptions. Assumptions can simplify the complex world and make it easier to understand. </a:t>
            </a:r>
          </a:p>
          <a:p>
            <a:r>
              <a:rPr lang="en-US" dirty="0" smtClean="0"/>
              <a:t>Example: Theory of Comparative Advantage</a:t>
            </a:r>
          </a:p>
          <a:p>
            <a:r>
              <a:rPr lang="en-US" dirty="0" smtClean="0"/>
              <a:t>Assumptions Only 2 countries in the world and 2 goods are produced.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194846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Economic Models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C00000"/>
                </a:solidFill>
              </a:rPr>
              <a:t>Model 1: Circular Flow Diagram</a:t>
            </a:r>
          </a:p>
          <a:p>
            <a:r>
              <a:rPr lang="en-US" dirty="0" smtClean="0"/>
              <a:t>This diagram is a schematic representation of the organization of the economy. </a:t>
            </a:r>
          </a:p>
          <a:p>
            <a:r>
              <a:rPr lang="en-US" dirty="0" smtClean="0"/>
              <a:t>Decisions are made by households and firms.</a:t>
            </a:r>
          </a:p>
          <a:p>
            <a:r>
              <a:rPr lang="en-US" dirty="0" smtClean="0"/>
              <a:t>Households and firms market for goods and services and in the markets for factors of production. </a:t>
            </a:r>
          </a:p>
          <a:p>
            <a:r>
              <a:rPr lang="en-US" dirty="0" smtClean="0"/>
              <a:t>The outer set of arrows shows the flow of money/dollars and the inner set of arrows shows the corresponding flow of inputs and outputs.  </a:t>
            </a:r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5556953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248920"/>
            <a:ext cx="9753600" cy="6609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16004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 err="1" smtClean="0"/>
              <a:t>Maruti</a:t>
            </a:r>
            <a:r>
              <a:rPr lang="en-IN" dirty="0" smtClean="0"/>
              <a:t> 3.0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/>
            <a:r>
              <a:rPr lang="en-IN" dirty="0" err="1" smtClean="0"/>
              <a:t>Maruti</a:t>
            </a:r>
            <a:r>
              <a:rPr lang="en-IN" dirty="0" smtClean="0"/>
              <a:t> Suzuki India is kicking off </a:t>
            </a:r>
            <a:r>
              <a:rPr lang="en-IN" dirty="0" err="1" smtClean="0"/>
              <a:t>Maruti</a:t>
            </a:r>
            <a:r>
              <a:rPr lang="en-IN" dirty="0" smtClean="0"/>
              <a:t> 3.0 targeting to add another 20 lakh units production capacity in nine years with about 28 different models. </a:t>
            </a:r>
          </a:p>
          <a:p>
            <a:pPr algn="just"/>
            <a:r>
              <a:rPr lang="en-IN" dirty="0" smtClean="0"/>
              <a:t>It took 40 years to create capacity of 2 million units and Suzuki Motor Corporation helped in this process by establishing Gujarat Facility. </a:t>
            </a:r>
          </a:p>
          <a:p>
            <a:pPr algn="just"/>
            <a:r>
              <a:rPr lang="en-IN" dirty="0" smtClean="0"/>
              <a:t>SUV sales gain momentum in India with limited demand for small entry level cars. </a:t>
            </a:r>
          </a:p>
          <a:p>
            <a:pPr algn="just"/>
            <a:r>
              <a:rPr lang="en-IN" dirty="0" smtClean="0"/>
              <a:t>Steps taken by the company to meet future demand. Possible structural reorganisation </a:t>
            </a:r>
          </a:p>
          <a:p>
            <a:pPr algn="just"/>
            <a:r>
              <a:rPr lang="en-IN" dirty="0" err="1" smtClean="0"/>
              <a:t>Maruti</a:t>
            </a:r>
            <a:r>
              <a:rPr lang="en-IN" dirty="0" smtClean="0"/>
              <a:t> Suzuki expects the demand for exports to continue to grow and export 7.5 lakh to 8 lakhs by FY 2031.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884300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 smtClean="0"/>
              <a:t>Ferrari </a:t>
            </a:r>
            <a:endParaRPr lang="en-IN" sz="4000" b="1" dirty="0"/>
          </a:p>
        </p:txBody>
      </p:sp>
      <p:sp>
        <p:nvSpPr>
          <p:cNvPr id="3" name="Subtitle 2"/>
          <p:cNvSpPr>
            <a:spLocks noGrp="1"/>
          </p:cNvSpPr>
          <p:nvPr>
            <p:ph idx="4294967295"/>
          </p:nvPr>
        </p:nvSpPr>
        <p:spPr>
          <a:xfrm>
            <a:off x="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IN" sz="3600" dirty="0" smtClean="0"/>
              <a:t>A Prancing Horse </a:t>
            </a:r>
          </a:p>
          <a:p>
            <a:r>
              <a:rPr lang="en-US" sz="3200" dirty="0" smtClean="0"/>
              <a:t>2019 was the first year that Ferrari shipped over 10,000 vehicles. </a:t>
            </a:r>
          </a:p>
          <a:p>
            <a:r>
              <a:rPr lang="en-US" sz="3200" dirty="0" smtClean="0"/>
              <a:t>Ferrari’s total production from 1947 – 2019 was approximately 222,000 vehicles.</a:t>
            </a:r>
          </a:p>
          <a:p>
            <a:r>
              <a:rPr lang="en-US" sz="3200" dirty="0" smtClean="0"/>
              <a:t> Ferrari has sold around 4.5% of its cars since 1947, alone in 2019 alone!</a:t>
            </a:r>
            <a:endParaRPr lang="en-IN" sz="3200" dirty="0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5998" y="365125"/>
            <a:ext cx="3259237" cy="1524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68450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Why few Ferrari’s are made every year?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Ferraris are made with exceptional care, and almost entirely by hand.</a:t>
            </a:r>
          </a:p>
          <a:p>
            <a:r>
              <a:rPr lang="en-US" dirty="0" smtClean="0"/>
              <a:t>The only part of the Ferrari manufacturing process that’s automated is the </a:t>
            </a:r>
            <a:r>
              <a:rPr lang="en-US" dirty="0" smtClean="0">
                <a:solidFill>
                  <a:srgbClr val="FFC000"/>
                </a:solidFill>
              </a:rPr>
              <a:t>connection of each vehicle’s valve mechanics.</a:t>
            </a:r>
          </a:p>
          <a:p>
            <a:r>
              <a:rPr lang="en-US" smtClean="0"/>
              <a:t>Engines are assembled by hand every day.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9213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 smtClean="0"/>
              <a:t>Inputs and Outputs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N" b="1" dirty="0" smtClean="0"/>
              <a:t>Inputs</a:t>
            </a:r>
            <a:r>
              <a:rPr lang="en-IN" dirty="0" smtClean="0"/>
              <a:t> are commodities that are used to produce goods and services. </a:t>
            </a:r>
          </a:p>
          <a:p>
            <a:pPr lvl="1" algn="just"/>
            <a:r>
              <a:rPr lang="en-IN" dirty="0" smtClean="0"/>
              <a:t>An economy is using its existing technology to combine inputs to produce outputs. </a:t>
            </a:r>
          </a:p>
          <a:p>
            <a:pPr marL="0" indent="0">
              <a:buNone/>
            </a:pPr>
            <a:endParaRPr lang="en-IN" dirty="0" smtClean="0"/>
          </a:p>
          <a:p>
            <a:pPr algn="just"/>
            <a:r>
              <a:rPr lang="en-IN" b="1" dirty="0" smtClean="0"/>
              <a:t>Outputs</a:t>
            </a:r>
            <a:r>
              <a:rPr lang="en-IN" dirty="0" smtClean="0"/>
              <a:t> are the various useful goods and services that result from the production process and are either consumed or employed in further production. </a:t>
            </a:r>
          </a:p>
          <a:p>
            <a:pPr marL="0" indent="0" algn="just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369275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Inputs and outputs in Pizza making 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Placeholder 4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14547" r="14547"/>
          <a:stretch>
            <a:fillRect/>
          </a:stretch>
        </p:blipFill>
        <p:spPr>
          <a:prstGeom prst="rect">
            <a:avLst/>
          </a:prstGeom>
        </p:spPr>
      </p:pic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IN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Eggs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Flour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Heat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Pizza oven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Chef’s skilled labour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Output-Tasty Pizza 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5387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just"/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Inputs and Outputs in Education System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Placeholder 4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862" r="7862"/>
          <a:stretch>
            <a:fillRect/>
          </a:stretch>
        </p:blipFill>
        <p:spPr>
          <a:prstGeom prst="rect">
            <a:avLst/>
          </a:prstGeom>
        </p:spPr>
      </p:pic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Time of the Faculty and students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laboratories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Classrooms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Textbooks …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Outputs are informed, productive, and well-paid citizens.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34814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 smtClean="0"/>
              <a:t>Factors of Production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N" dirty="0" smtClean="0"/>
              <a:t>Land: Natural resources-represents the gift of nature to our societies. </a:t>
            </a:r>
          </a:p>
          <a:p>
            <a:pPr lvl="1" algn="just"/>
            <a:r>
              <a:rPr lang="en-IN" dirty="0" smtClean="0"/>
              <a:t>Land </a:t>
            </a:r>
          </a:p>
          <a:p>
            <a:pPr lvl="1" algn="just"/>
            <a:r>
              <a:rPr lang="en-IN" dirty="0" smtClean="0"/>
              <a:t>Energy </a:t>
            </a:r>
          </a:p>
          <a:p>
            <a:pPr lvl="1" algn="just"/>
            <a:r>
              <a:rPr lang="en-IN" dirty="0" smtClean="0"/>
              <a:t>Non energy resources like copper and iron ore and sand.</a:t>
            </a:r>
            <a:endParaRPr lang="en-IN" dirty="0"/>
          </a:p>
          <a:p>
            <a:pPr algn="just"/>
            <a:r>
              <a:rPr lang="en-IN" dirty="0" smtClean="0"/>
              <a:t>Labour: consists of human time in production. Working in automobile factories, writing software, teaching school or baking pizzas. </a:t>
            </a:r>
          </a:p>
          <a:p>
            <a:pPr algn="just"/>
            <a:r>
              <a:rPr lang="en-IN" dirty="0" smtClean="0"/>
              <a:t>Capital:  The durable goods of an economy are  produced in order to produce yet other goods. Capital goods include machines and </a:t>
            </a:r>
            <a:r>
              <a:rPr lang="en-IN" dirty="0" err="1" smtClean="0"/>
              <a:t>buildingss</a:t>
            </a:r>
            <a:r>
              <a:rPr lang="en-IN" dirty="0" smtClean="0"/>
              <a:t>, roads, computers, steel mills, washing machines, and  trucks. </a:t>
            </a:r>
          </a:p>
        </p:txBody>
      </p:sp>
    </p:spTree>
    <p:extLst>
      <p:ext uri="{BB962C8B-B14F-4D97-AF65-F5344CB8AC3E}">
        <p14:creationId xmlns:p14="http://schemas.microsoft.com/office/powerpoint/2010/main" val="36315191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Model 2: Production Possibility Frontier (PPF)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 graph shows the combinations of output that the economy can possibly produce given the available factors of production and the available production technology. </a:t>
            </a:r>
          </a:p>
          <a:p>
            <a:r>
              <a:rPr lang="en-US" dirty="0" smtClean="0"/>
              <a:t>PPF shows combinations of output-cars and computers</a:t>
            </a:r>
          </a:p>
          <a:p>
            <a:r>
              <a:rPr lang="en-US" dirty="0" smtClean="0"/>
              <a:t>The economy can produce on or inside the frontier.</a:t>
            </a:r>
          </a:p>
          <a:p>
            <a:r>
              <a:rPr lang="en-US" dirty="0" smtClean="0"/>
              <a:t>Points outside the frontier are not feasible given the economy’s resources.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107263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464820"/>
            <a:ext cx="7627620" cy="5219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41794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Production Possibility Frontier and Principles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r>
              <a:rPr lang="en-US" dirty="0" smtClean="0"/>
              <a:t>Trade off</a:t>
            </a:r>
          </a:p>
          <a:p>
            <a:pPr algn="ctr"/>
            <a:r>
              <a:rPr lang="en-US" dirty="0" smtClean="0"/>
              <a:t>Scarcity </a:t>
            </a:r>
          </a:p>
          <a:p>
            <a:pPr algn="ctr"/>
            <a:r>
              <a:rPr lang="en-US" dirty="0" smtClean="0"/>
              <a:t>Efficiency </a:t>
            </a:r>
          </a:p>
          <a:p>
            <a:pPr algn="ctr"/>
            <a:r>
              <a:rPr lang="en-US" dirty="0" smtClean="0"/>
              <a:t>Opportunity Cost </a:t>
            </a:r>
          </a:p>
          <a:p>
            <a:pPr algn="ctr"/>
            <a:r>
              <a:rPr lang="en-US" dirty="0" smtClean="0"/>
              <a:t>Economic Growth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580102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4060" y="601980"/>
            <a:ext cx="7536180" cy="5021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65249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048000" y="-1057275"/>
            <a:ext cx="18288000" cy="897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28745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 Shift in the Production Possibility Frontier(PPF)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/>
            <a:r>
              <a:rPr lang="en-US" dirty="0" smtClean="0"/>
              <a:t>A technological advance in an industry enables the country to produce more commodities for any given number of another commodity. </a:t>
            </a:r>
          </a:p>
          <a:p>
            <a:pPr algn="just"/>
            <a:r>
              <a:rPr lang="en-US" dirty="0" smtClean="0"/>
              <a:t>Example: System of Rice Intensification </a:t>
            </a:r>
          </a:p>
          <a:p>
            <a:pPr algn="just"/>
            <a:r>
              <a:rPr lang="en-US" dirty="0" smtClean="0"/>
              <a:t>Mr. </a:t>
            </a:r>
            <a:r>
              <a:rPr lang="en-US" dirty="0" err="1" smtClean="0"/>
              <a:t>Solaimalai</a:t>
            </a:r>
            <a:r>
              <a:rPr lang="en-US" dirty="0" smtClean="0"/>
              <a:t>, who owns two hectares of land and had leased another two hectares in Andaman village in Madurai district, had set a record by producing 13,787 kilograms/ha of rice (or 20,680 kilo/ha of paddy) during the 2011-12 </a:t>
            </a:r>
            <a:r>
              <a:rPr lang="en-US" dirty="0" err="1" smtClean="0"/>
              <a:t>kharif</a:t>
            </a:r>
            <a:r>
              <a:rPr lang="en-US" dirty="0" smtClean="0"/>
              <a:t> season.</a:t>
            </a:r>
          </a:p>
          <a:p>
            <a:pPr algn="just"/>
            <a:r>
              <a:rPr lang="en-US" dirty="0" smtClean="0"/>
              <a:t>Techniques such as land levelling, use of bio-</a:t>
            </a:r>
            <a:r>
              <a:rPr lang="en-US" dirty="0" err="1" smtClean="0"/>
              <a:t>fertilisers</a:t>
            </a:r>
            <a:r>
              <a:rPr lang="en-US" dirty="0" smtClean="0"/>
              <a:t> and organic manure in the paddy variety – CR 1009 – had ensured the highest yield for the winner. In the previous season, </a:t>
            </a:r>
          </a:p>
          <a:p>
            <a:pPr algn="just"/>
            <a:r>
              <a:rPr lang="en-US" dirty="0" smtClean="0"/>
              <a:t>Last year yield- harvested 8,125 kilos of paddy per hectare.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994529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Micro Economics Vs Macro Economics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IN" dirty="0" smtClean="0"/>
              <a:t>Micro Economics </a:t>
            </a:r>
          </a:p>
          <a:p>
            <a:pPr algn="just"/>
            <a:r>
              <a:rPr lang="en-IN" dirty="0" smtClean="0"/>
              <a:t>Adam Smith is considered as the founder of field of Micro Economics.</a:t>
            </a:r>
          </a:p>
          <a:p>
            <a:pPr algn="just"/>
            <a:r>
              <a:rPr lang="en-IN" dirty="0" smtClean="0"/>
              <a:t>Branch of Economics concerned with the behaviour of individual entities such  as markets, firms and households. </a:t>
            </a:r>
          </a:p>
          <a:p>
            <a:pPr algn="just"/>
            <a:r>
              <a:rPr lang="en-IN" dirty="0" smtClean="0"/>
              <a:t>Concerned with the decisions made by individual economic units, consumers, workers, investors, owners of resources and business firms. </a:t>
            </a:r>
          </a:p>
          <a:p>
            <a:pPr algn="just"/>
            <a:r>
              <a:rPr lang="en-IN" dirty="0" smtClean="0"/>
              <a:t>It is also concerned with the interaction of consumers and firms to form markets and industries.   </a:t>
            </a:r>
          </a:p>
          <a:p>
            <a:pPr algn="just"/>
            <a:r>
              <a:rPr lang="en-IN" dirty="0" smtClean="0"/>
              <a:t>Effect of Rent Control on Housing in Mumbai City </a:t>
            </a:r>
            <a:endParaRPr lang="en-IN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IN" dirty="0" smtClean="0"/>
              <a:t>Macro Economics </a:t>
            </a:r>
          </a:p>
          <a:p>
            <a:r>
              <a:rPr lang="en-IN" dirty="0" smtClean="0"/>
              <a:t>John Maynard Keynes published his revolutionary book of General Theory of Employment, Interest and Money in 1936. </a:t>
            </a:r>
          </a:p>
          <a:p>
            <a:r>
              <a:rPr lang="en-IN" dirty="0" smtClean="0"/>
              <a:t>Concerned with overall performance of the economy. </a:t>
            </a:r>
          </a:p>
          <a:p>
            <a:r>
              <a:rPr lang="en-IN" dirty="0" smtClean="0"/>
              <a:t>It deals with aggregate economic variables, such as the level and growth rate of national output, interest rates, unemployment and inflation. </a:t>
            </a:r>
          </a:p>
          <a:p>
            <a:r>
              <a:rPr lang="en-IN" dirty="0" smtClean="0"/>
              <a:t>Unemployment Rate in Indian Economy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495957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3608" y="371729"/>
            <a:ext cx="5181600" cy="5805234"/>
          </a:xfrm>
        </p:spPr>
        <p:txBody>
          <a:bodyPr/>
          <a:lstStyle/>
          <a:p>
            <a:r>
              <a:rPr lang="en-IN" dirty="0" smtClean="0"/>
              <a:t>Positive Analysis </a:t>
            </a:r>
          </a:p>
          <a:p>
            <a:r>
              <a:rPr lang="en-IN" dirty="0" smtClean="0"/>
              <a:t>A positive statement can be </a:t>
            </a:r>
            <a:r>
              <a:rPr lang="en-IN" dirty="0" smtClean="0">
                <a:solidFill>
                  <a:srgbClr val="FF0000"/>
                </a:solidFill>
              </a:rPr>
              <a:t>tested and validated. </a:t>
            </a:r>
          </a:p>
          <a:p>
            <a:r>
              <a:rPr lang="en-IN" dirty="0" smtClean="0">
                <a:solidFill>
                  <a:srgbClr val="FF0000"/>
                </a:solidFill>
              </a:rPr>
              <a:t>It explains “What it is”</a:t>
            </a:r>
          </a:p>
          <a:p>
            <a:endParaRPr lang="en-IN" dirty="0">
              <a:solidFill>
                <a:srgbClr val="FF0000"/>
              </a:solidFill>
            </a:endParaRPr>
          </a:p>
          <a:p>
            <a:r>
              <a:rPr lang="en-IN" b="1" dirty="0" smtClean="0"/>
              <a:t> </a:t>
            </a:r>
            <a:r>
              <a:rPr lang="en-IN" dirty="0" smtClean="0"/>
              <a:t>Example: The unemployment rate is 7.0 %</a:t>
            </a:r>
          </a:p>
          <a:p>
            <a:endParaRPr lang="en-IN" dirty="0"/>
          </a:p>
          <a:p>
            <a:r>
              <a:rPr lang="en-IN" dirty="0" smtClean="0"/>
              <a:t>Economics uses Positive Analysis. </a:t>
            </a:r>
            <a:endParaRPr lang="en-IN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371729"/>
            <a:ext cx="5181600" cy="5805234"/>
          </a:xfrm>
        </p:spPr>
        <p:txBody>
          <a:bodyPr/>
          <a:lstStyle/>
          <a:p>
            <a:r>
              <a:rPr lang="en-IN" dirty="0" smtClean="0"/>
              <a:t>Normative Analysis </a:t>
            </a:r>
          </a:p>
          <a:p>
            <a:r>
              <a:rPr lang="en-IN" dirty="0" smtClean="0"/>
              <a:t>A Normative statement is an opinion that </a:t>
            </a:r>
            <a:r>
              <a:rPr lang="en-IN" dirty="0" smtClean="0">
                <a:solidFill>
                  <a:srgbClr val="FF0000"/>
                </a:solidFill>
              </a:rPr>
              <a:t>cannot be tested or validated. </a:t>
            </a:r>
          </a:p>
          <a:p>
            <a:r>
              <a:rPr lang="en-IN" dirty="0" smtClean="0">
                <a:solidFill>
                  <a:srgbClr val="FF0000"/>
                </a:solidFill>
              </a:rPr>
              <a:t>It explains “What ought to be” </a:t>
            </a:r>
          </a:p>
          <a:p>
            <a:endParaRPr lang="en-IN" dirty="0">
              <a:solidFill>
                <a:srgbClr val="FF0000"/>
              </a:solidFill>
            </a:endParaRPr>
          </a:p>
          <a:p>
            <a:r>
              <a:rPr lang="en-IN" dirty="0" smtClean="0"/>
              <a:t>Example: an unemployed worker should receive financial assistance to help make ends meet.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351627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402</TotalTime>
  <Words>1060</Words>
  <Application>Microsoft Office PowerPoint</Application>
  <PresentationFormat>Widescreen</PresentationFormat>
  <Paragraphs>104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Calibri</vt:lpstr>
      <vt:lpstr>Calibri Light</vt:lpstr>
      <vt:lpstr>Times New Roman</vt:lpstr>
      <vt:lpstr>Office Theme</vt:lpstr>
      <vt:lpstr>Thinking Like Economist</vt:lpstr>
      <vt:lpstr>How Do Economists study the Economy?</vt:lpstr>
      <vt:lpstr>Ceteris Paribus</vt:lpstr>
      <vt:lpstr>The Role of Assumptions </vt:lpstr>
      <vt:lpstr>Economic Models </vt:lpstr>
      <vt:lpstr>PowerPoint Presentation</vt:lpstr>
      <vt:lpstr>Maruti 3.0</vt:lpstr>
      <vt:lpstr>Ferrari </vt:lpstr>
      <vt:lpstr>Why few Ferrari’s are made every year?</vt:lpstr>
      <vt:lpstr>Inputs and Outputs </vt:lpstr>
      <vt:lpstr>Inputs and outputs in Pizza making </vt:lpstr>
      <vt:lpstr>Inputs and Outputs in Education System </vt:lpstr>
      <vt:lpstr>Factors of Production </vt:lpstr>
      <vt:lpstr>Model 2: Production Possibility Frontier (PPF)</vt:lpstr>
      <vt:lpstr>PowerPoint Presentation</vt:lpstr>
      <vt:lpstr>Production Possibility Frontier and Principles </vt:lpstr>
      <vt:lpstr>PowerPoint Presentation</vt:lpstr>
      <vt:lpstr>PowerPoint Presentation</vt:lpstr>
      <vt:lpstr>A Shift in the Production Possibility Frontier(PPF)</vt:lpstr>
      <vt:lpstr>Micro Economics Vs Macro Economics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2: Thinking Like Economist</dc:title>
  <dc:creator>Subash S</dc:creator>
  <cp:lastModifiedBy>vaith</cp:lastModifiedBy>
  <cp:revision>33</cp:revision>
  <dcterms:created xsi:type="dcterms:W3CDTF">2020-08-12T16:38:55Z</dcterms:created>
  <dcterms:modified xsi:type="dcterms:W3CDTF">2025-08-07T09:43:11Z</dcterms:modified>
</cp:coreProperties>
</file>