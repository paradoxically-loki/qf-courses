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</p:sldMasterIdLst>
  <p:sldIdLst>
    <p:sldId id="284" r:id="rId4"/>
    <p:sldId id="260" r:id="rId5"/>
    <p:sldId id="285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88" r:id="rId16"/>
    <p:sldId id="270" r:id="rId17"/>
    <p:sldId id="272" r:id="rId18"/>
    <p:sldId id="273" r:id="rId19"/>
    <p:sldId id="274" r:id="rId20"/>
    <p:sldId id="275" r:id="rId21"/>
    <p:sldId id="276" r:id="rId22"/>
    <p:sldId id="290" r:id="rId23"/>
    <p:sldId id="289" r:id="rId24"/>
    <p:sldId id="278" r:id="rId25"/>
    <p:sldId id="279" r:id="rId26"/>
    <p:sldId id="280" r:id="rId27"/>
    <p:sldId id="281" r:id="rId28"/>
    <p:sldId id="286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presProps" Target="presProps.xml"/><Relationship Id="rId8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 smtClean="0"/>
              <a:t>Demand Curve  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Quantity Demanded 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Sheet1!$A$2:$A$10</c:f>
              <c:numCache>
                <c:formatCode>General</c:formatCode>
                <c:ptCount val="9"/>
                <c:pt idx="0">
                  <c:v>20</c:v>
                </c:pt>
                <c:pt idx="1">
                  <c:v>17.5</c:v>
                </c:pt>
                <c:pt idx="2">
                  <c:v>15</c:v>
                </c:pt>
                <c:pt idx="3">
                  <c:v>12.5</c:v>
                </c:pt>
                <c:pt idx="4">
                  <c:v>10</c:v>
                </c:pt>
                <c:pt idx="5">
                  <c:v>7.5</c:v>
                </c:pt>
                <c:pt idx="6">
                  <c:v>5</c:v>
                </c:pt>
                <c:pt idx="7">
                  <c:v>2.5</c:v>
                </c:pt>
                <c:pt idx="8">
                  <c:v>0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5043-4D4E-96AD-57EDCD1DAF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4370144"/>
        <c:axId val="104370536"/>
      </c:scatterChart>
      <c:valAx>
        <c:axId val="1043701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 smtClean="0"/>
                  <a:t>Quantity Demanded </a:t>
                </a:r>
                <a:endParaRPr lang="en-IN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370536"/>
        <c:crosses val="autoZero"/>
        <c:crossBetween val="midCat"/>
      </c:valAx>
      <c:valAx>
        <c:axId val="1043705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 smtClean="0"/>
                  <a:t>Price</a:t>
                </a:r>
                <a:r>
                  <a:rPr lang="en-IN" baseline="0" dirty="0" smtClean="0"/>
                  <a:t> </a:t>
                </a:r>
                <a:endParaRPr lang="en-IN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37014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Supply curve  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</c:v>
                </c:pt>
              </c:strCache>
            </c:strRef>
          </c:tx>
          <c:spPr>
            <a:ln w="25400" cap="rnd">
              <a:noFill/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 cap="rnd">
                <a:solidFill>
                  <a:schemeClr val="accent1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trendline>
            <c:spPr>
              <a:ln w="19050" cap="rnd">
                <a:solidFill>
                  <a:schemeClr val="accent1"/>
                </a:solidFill>
                <a:prstDash val="sysDash"/>
              </a:ln>
              <a:effectLst/>
            </c:spPr>
            <c:trendlineType val="linear"/>
            <c:dispRSqr val="0"/>
            <c:dispEq val="0"/>
          </c:trendline>
          <c:xVal>
            <c:numRef>
              <c:f>Sheet1!$A$2:$A$10</c:f>
              <c:numCache>
                <c:formatCode>General</c:formatCode>
                <c:ptCount val="9"/>
                <c:pt idx="0">
                  <c:v>800</c:v>
                </c:pt>
                <c:pt idx="1">
                  <c:v>700</c:v>
                </c:pt>
                <c:pt idx="2">
                  <c:v>600</c:v>
                </c:pt>
                <c:pt idx="3">
                  <c:v>500</c:v>
                </c:pt>
                <c:pt idx="4">
                  <c:v>400</c:v>
                </c:pt>
                <c:pt idx="5">
                  <c:v>300</c:v>
                </c:pt>
                <c:pt idx="6">
                  <c:v>200</c:v>
                </c:pt>
                <c:pt idx="7">
                  <c:v>100</c:v>
                </c:pt>
                <c:pt idx="8">
                  <c:v>0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20</c:v>
                </c:pt>
                <c:pt idx="1">
                  <c:v>17.5</c:v>
                </c:pt>
                <c:pt idx="2">
                  <c:v>15</c:v>
                </c:pt>
                <c:pt idx="3">
                  <c:v>12.5</c:v>
                </c:pt>
                <c:pt idx="4">
                  <c:v>10</c:v>
                </c:pt>
                <c:pt idx="5">
                  <c:v>7.5</c:v>
                </c:pt>
                <c:pt idx="6">
                  <c:v>5</c:v>
                </c:pt>
                <c:pt idx="7">
                  <c:v>2.5</c:v>
                </c:pt>
                <c:pt idx="8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572-4E26-B834-6C3A2FEB9F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73708032"/>
        <c:axId val="473704504"/>
      </c:scatterChart>
      <c:valAx>
        <c:axId val="4737080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Quantity Supplied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3704504"/>
        <c:crosses val="autoZero"/>
        <c:crossBetween val="midCat"/>
      </c:valAx>
      <c:valAx>
        <c:axId val="4737045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Price 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370803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8">
  <cs:axisTitle>
    <cs:lnRef idx="0"/>
    <cs:fillRef idx="0"/>
    <cs:effectRef idx="0"/>
    <cs:fontRef idx="minor">
      <a:schemeClr val="lt1">
        <a:lumMod val="7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</a:ln>
    </cs:spPr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906" name="Rectangle 2"/>
          <p:cNvSpPr>
            <a:spLocks noChangeArrowheads="1"/>
          </p:cNvSpPr>
          <p:nvPr/>
        </p:nvSpPr>
        <p:spPr bwMode="auto">
          <a:xfrm>
            <a:off x="11480800" y="0"/>
            <a:ext cx="711200" cy="6858000"/>
          </a:xfrm>
          <a:prstGeom prst="rect">
            <a:avLst/>
          </a:prstGeom>
          <a:solidFill>
            <a:srgbClr val="411D7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07907" name="Oval 3"/>
          <p:cNvSpPr>
            <a:spLocks noChangeArrowheads="1"/>
          </p:cNvSpPr>
          <p:nvPr/>
        </p:nvSpPr>
        <p:spPr bwMode="auto">
          <a:xfrm>
            <a:off x="10261600" y="2514600"/>
            <a:ext cx="1422400" cy="182880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079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7620000" y="2895600"/>
            <a:ext cx="4165600" cy="11430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anchorCtr="1"/>
          <a:lstStyle>
            <a:lvl1pPr>
              <a:defRPr sz="15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en-US" altLang="en-US" noProof="0" smtClean="0"/>
              <a:t>Click to editaster title style</a:t>
            </a:r>
          </a:p>
        </p:txBody>
      </p:sp>
      <p:sp>
        <p:nvSpPr>
          <p:cNvPr id="507910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508000" y="3810000"/>
            <a:ext cx="7112000" cy="2590800"/>
          </a:xfrm>
        </p:spPr>
        <p:txBody>
          <a:bodyPr/>
          <a:lstStyle>
            <a:lvl1pPr marL="0" indent="0" algn="ctr">
              <a:buFontTx/>
              <a:buNone/>
              <a:defRPr sz="4000" b="1">
                <a:solidFill>
                  <a:srgbClr val="0094B9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altLang="en-US" noProof="0" smtClean="0"/>
              <a:t>Click to edit Master subtitle style</a:t>
            </a:r>
          </a:p>
        </p:txBody>
      </p:sp>
      <p:sp>
        <p:nvSpPr>
          <p:cNvPr id="507914" name="Text Box 10"/>
          <p:cNvSpPr txBox="1">
            <a:spLocks noChangeArrowheads="1"/>
          </p:cNvSpPr>
          <p:nvPr/>
        </p:nvSpPr>
        <p:spPr bwMode="auto">
          <a:xfrm>
            <a:off x="508000" y="6553201"/>
            <a:ext cx="1986441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b="1">
                <a:solidFill>
                  <a:srgbClr val="411D72"/>
                </a:solidFill>
                <a:latin typeface="Arial" panose="020B0604020202020204" pitchFamily="34" charset="0"/>
              </a:rPr>
              <a:t>Copyright © 2006 Thomson Learning</a:t>
            </a:r>
          </a:p>
        </p:txBody>
      </p:sp>
      <p:pic>
        <p:nvPicPr>
          <p:cNvPr id="507915" name="Picture 11" descr="PO_1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" y="304800"/>
            <a:ext cx="7010400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011436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650616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2664806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47800"/>
            <a:ext cx="5486400" cy="5194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9200" y="1447800"/>
            <a:ext cx="5486400" cy="5194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5790145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1611345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054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220156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45611369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4944610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5376314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152400"/>
            <a:ext cx="2794000" cy="64897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52400"/>
            <a:ext cx="8178800" cy="64897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281502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906" name="Rectangle 2"/>
          <p:cNvSpPr>
            <a:spLocks noChangeArrowheads="1"/>
          </p:cNvSpPr>
          <p:nvPr/>
        </p:nvSpPr>
        <p:spPr bwMode="auto">
          <a:xfrm>
            <a:off x="11480800" y="0"/>
            <a:ext cx="711200" cy="6858000"/>
          </a:xfrm>
          <a:prstGeom prst="rect">
            <a:avLst/>
          </a:prstGeom>
          <a:solidFill>
            <a:srgbClr val="411D7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07907" name="Oval 3"/>
          <p:cNvSpPr>
            <a:spLocks noChangeArrowheads="1"/>
          </p:cNvSpPr>
          <p:nvPr/>
        </p:nvSpPr>
        <p:spPr bwMode="auto">
          <a:xfrm>
            <a:off x="10261600" y="2514600"/>
            <a:ext cx="1422400" cy="182880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079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7620000" y="2895600"/>
            <a:ext cx="4165600" cy="11430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anchorCtr="1"/>
          <a:lstStyle>
            <a:lvl1pPr>
              <a:defRPr sz="15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en-US" altLang="en-US" noProof="0" smtClean="0"/>
              <a:t>Click to editaster title style</a:t>
            </a:r>
          </a:p>
        </p:txBody>
      </p:sp>
      <p:sp>
        <p:nvSpPr>
          <p:cNvPr id="507910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508000" y="3810000"/>
            <a:ext cx="7112000" cy="2590800"/>
          </a:xfrm>
        </p:spPr>
        <p:txBody>
          <a:bodyPr/>
          <a:lstStyle>
            <a:lvl1pPr marL="0" indent="0" algn="ctr">
              <a:buFontTx/>
              <a:buNone/>
              <a:defRPr sz="4000" b="1">
                <a:solidFill>
                  <a:srgbClr val="0094B9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altLang="en-US" noProof="0" smtClean="0"/>
              <a:t>Click to edit Master subtitle style</a:t>
            </a:r>
          </a:p>
        </p:txBody>
      </p:sp>
      <p:sp>
        <p:nvSpPr>
          <p:cNvPr id="507914" name="Text Box 10"/>
          <p:cNvSpPr txBox="1">
            <a:spLocks noChangeArrowheads="1"/>
          </p:cNvSpPr>
          <p:nvPr/>
        </p:nvSpPr>
        <p:spPr bwMode="auto">
          <a:xfrm>
            <a:off x="508000" y="6553201"/>
            <a:ext cx="1986441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b="1" smtClean="0">
                <a:solidFill>
                  <a:srgbClr val="411D72"/>
                </a:solidFill>
                <a:latin typeface="Arial" panose="020B0604020202020204" pitchFamily="34" charset="0"/>
              </a:rPr>
              <a:t>Copyright © 2006 Thomson Learning</a:t>
            </a:r>
          </a:p>
        </p:txBody>
      </p:sp>
      <p:pic>
        <p:nvPicPr>
          <p:cNvPr id="507915" name="Picture 11" descr="PO_1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" y="304800"/>
            <a:ext cx="7010400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5273867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8427829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33888883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47800"/>
            <a:ext cx="5486400" cy="5194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9200" y="1447800"/>
            <a:ext cx="5486400" cy="5194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165110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6608477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0871499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4865471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1514414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5117799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6309431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152400"/>
            <a:ext cx="2794000" cy="64897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52400"/>
            <a:ext cx="8178800" cy="64897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570778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906" name="Rectangle 2"/>
          <p:cNvSpPr>
            <a:spLocks noChangeArrowheads="1"/>
          </p:cNvSpPr>
          <p:nvPr/>
        </p:nvSpPr>
        <p:spPr bwMode="auto">
          <a:xfrm>
            <a:off x="11480800" y="0"/>
            <a:ext cx="711200" cy="6858000"/>
          </a:xfrm>
          <a:prstGeom prst="rect">
            <a:avLst/>
          </a:prstGeom>
          <a:solidFill>
            <a:srgbClr val="411D7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07907" name="Oval 3"/>
          <p:cNvSpPr>
            <a:spLocks noChangeArrowheads="1"/>
          </p:cNvSpPr>
          <p:nvPr/>
        </p:nvSpPr>
        <p:spPr bwMode="auto">
          <a:xfrm>
            <a:off x="10261600" y="2514600"/>
            <a:ext cx="1422400" cy="182880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079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7620000" y="2895600"/>
            <a:ext cx="4165600" cy="11430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anchorCtr="1"/>
          <a:lstStyle>
            <a:lvl1pPr>
              <a:defRPr sz="15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en-US" altLang="en-US" noProof="0" smtClean="0"/>
              <a:t>Click to editaster title style</a:t>
            </a:r>
          </a:p>
        </p:txBody>
      </p:sp>
      <p:sp>
        <p:nvSpPr>
          <p:cNvPr id="507910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508000" y="3810000"/>
            <a:ext cx="7112000" cy="2590800"/>
          </a:xfrm>
        </p:spPr>
        <p:txBody>
          <a:bodyPr/>
          <a:lstStyle>
            <a:lvl1pPr marL="0" indent="0" algn="ctr">
              <a:buFontTx/>
              <a:buNone/>
              <a:defRPr sz="4000" b="1">
                <a:solidFill>
                  <a:srgbClr val="0094B9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altLang="en-US" noProof="0" smtClean="0"/>
              <a:t>Click to edit Master subtitle style</a:t>
            </a:r>
          </a:p>
        </p:txBody>
      </p:sp>
      <p:sp>
        <p:nvSpPr>
          <p:cNvPr id="507914" name="Text Box 10"/>
          <p:cNvSpPr txBox="1">
            <a:spLocks noChangeArrowheads="1"/>
          </p:cNvSpPr>
          <p:nvPr/>
        </p:nvSpPr>
        <p:spPr bwMode="auto">
          <a:xfrm>
            <a:off x="508000" y="6553201"/>
            <a:ext cx="1986441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b="1" smtClean="0">
                <a:solidFill>
                  <a:srgbClr val="411D72"/>
                </a:solidFill>
                <a:latin typeface="Arial" panose="020B0604020202020204" pitchFamily="34" charset="0"/>
              </a:rPr>
              <a:t>Copyright © 2006 Thomson Learning</a:t>
            </a:r>
          </a:p>
        </p:txBody>
      </p:sp>
      <p:pic>
        <p:nvPicPr>
          <p:cNvPr id="507915" name="Picture 11" descr="PO_1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" y="304800"/>
            <a:ext cx="7010400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7473022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336344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5999543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47800"/>
            <a:ext cx="5486400" cy="5194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9200" y="1447800"/>
            <a:ext cx="5486400" cy="5194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3873336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776249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2530388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2029006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81861290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98702223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5595273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152400"/>
            <a:ext cx="2794000" cy="64897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52400"/>
            <a:ext cx="8178800" cy="64897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14637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C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882" name="Picture 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485" y="1455739"/>
            <a:ext cx="11186583" cy="5195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688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52400"/>
            <a:ext cx="111760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506884" name="Text Box 4"/>
          <p:cNvSpPr txBox="1">
            <a:spLocks noChangeArrowheads="1"/>
          </p:cNvSpPr>
          <p:nvPr/>
        </p:nvSpPr>
        <p:spPr bwMode="auto">
          <a:xfrm rot="-21600000">
            <a:off x="8861980" y="6674872"/>
            <a:ext cx="1986441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b="1">
                <a:solidFill>
                  <a:srgbClr val="FFFFFF"/>
                </a:solidFill>
                <a:latin typeface="Arial" panose="020B0604020202020204" pitchFamily="34" charset="0"/>
              </a:rPr>
              <a:t>Copyright © 2006 Thomson Learning</a:t>
            </a:r>
          </a:p>
        </p:txBody>
      </p:sp>
      <p:sp>
        <p:nvSpPr>
          <p:cNvPr id="506885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47800"/>
            <a:ext cx="11176000" cy="519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9219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kern="1200">
          <a:solidFill>
            <a:srgbClr val="FFFFCC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FFFFCC"/>
          </a:solidFill>
          <a:latin typeface="Arial" panose="020B0604020202020204" pitchFamily="34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FFFFCC"/>
          </a:solidFill>
          <a:latin typeface="Arial" panose="020B0604020202020204" pitchFamily="34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FFFFCC"/>
          </a:solidFill>
          <a:latin typeface="Arial" panose="020B0604020202020204" pitchFamily="34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FFFFCC"/>
          </a:solidFill>
          <a:latin typeface="Arial" panose="020B0604020202020204" pitchFamily="34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FFFFCC"/>
          </a:solidFill>
          <a:latin typeface="Arial" panose="020B0604020202020204" pitchFamily="34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FFFFCC"/>
          </a:solidFill>
          <a:latin typeface="Arial" panose="020B0604020202020204" pitchFamily="34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FFFFCC"/>
          </a:solidFill>
          <a:latin typeface="Arial" panose="020B0604020202020204" pitchFamily="34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FFFFCC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C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882" name="Picture 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485" y="1455739"/>
            <a:ext cx="11186583" cy="5195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688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52400"/>
            <a:ext cx="111760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506884" name="Text Box 4"/>
          <p:cNvSpPr txBox="1">
            <a:spLocks noChangeArrowheads="1"/>
          </p:cNvSpPr>
          <p:nvPr/>
        </p:nvSpPr>
        <p:spPr bwMode="auto">
          <a:xfrm rot="-21600000">
            <a:off x="8861980" y="6674872"/>
            <a:ext cx="1986441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b="1" smtClean="0">
                <a:solidFill>
                  <a:srgbClr val="FFFFFF"/>
                </a:solidFill>
                <a:latin typeface="Arial" panose="020B0604020202020204" pitchFamily="34" charset="0"/>
              </a:rPr>
              <a:t>Copyright © 2006 Thomson Learning</a:t>
            </a:r>
          </a:p>
        </p:txBody>
      </p:sp>
      <p:sp>
        <p:nvSpPr>
          <p:cNvPr id="506885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47800"/>
            <a:ext cx="11176000" cy="519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7318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kern="1200">
          <a:solidFill>
            <a:srgbClr val="FFFFCC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FFFFCC"/>
          </a:solidFill>
          <a:latin typeface="Arial" panose="020B0604020202020204" pitchFamily="34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FFFFCC"/>
          </a:solidFill>
          <a:latin typeface="Arial" panose="020B0604020202020204" pitchFamily="34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FFFFCC"/>
          </a:solidFill>
          <a:latin typeface="Arial" panose="020B0604020202020204" pitchFamily="34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FFFFCC"/>
          </a:solidFill>
          <a:latin typeface="Arial" panose="020B0604020202020204" pitchFamily="34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FFFFCC"/>
          </a:solidFill>
          <a:latin typeface="Arial" panose="020B0604020202020204" pitchFamily="34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FFFFCC"/>
          </a:solidFill>
          <a:latin typeface="Arial" panose="020B0604020202020204" pitchFamily="34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FFFFCC"/>
          </a:solidFill>
          <a:latin typeface="Arial" panose="020B0604020202020204" pitchFamily="34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FFFFCC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C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882" name="Picture 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485" y="1455739"/>
            <a:ext cx="11186583" cy="5195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688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52400"/>
            <a:ext cx="111760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506884" name="Text Box 4"/>
          <p:cNvSpPr txBox="1">
            <a:spLocks noChangeArrowheads="1"/>
          </p:cNvSpPr>
          <p:nvPr/>
        </p:nvSpPr>
        <p:spPr bwMode="auto">
          <a:xfrm rot="-21600000">
            <a:off x="8861980" y="6674872"/>
            <a:ext cx="1986441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b="1" smtClean="0">
                <a:solidFill>
                  <a:srgbClr val="FFFFFF"/>
                </a:solidFill>
                <a:latin typeface="Arial" panose="020B0604020202020204" pitchFamily="34" charset="0"/>
              </a:rPr>
              <a:t>Copyright © 2006 Thomson Learning</a:t>
            </a:r>
          </a:p>
        </p:txBody>
      </p:sp>
      <p:sp>
        <p:nvSpPr>
          <p:cNvPr id="506885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47800"/>
            <a:ext cx="11176000" cy="519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95524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kern="1200">
          <a:solidFill>
            <a:srgbClr val="FFFFCC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FFFFCC"/>
          </a:solidFill>
          <a:latin typeface="Arial" panose="020B0604020202020204" pitchFamily="34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FFFFCC"/>
          </a:solidFill>
          <a:latin typeface="Arial" panose="020B0604020202020204" pitchFamily="34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FFFFCC"/>
          </a:solidFill>
          <a:latin typeface="Arial" panose="020B0604020202020204" pitchFamily="34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FFFFCC"/>
          </a:solidFill>
          <a:latin typeface="Arial" panose="020B0604020202020204" pitchFamily="34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FFFFCC"/>
          </a:solidFill>
          <a:latin typeface="Arial" panose="020B0604020202020204" pitchFamily="34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FFFFCC"/>
          </a:solidFill>
          <a:latin typeface="Arial" panose="020B0604020202020204" pitchFamily="34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FFFFCC"/>
          </a:solidFill>
          <a:latin typeface="Arial" panose="020B0604020202020204" pitchFamily="34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FFFFCC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usiness-standard.com/topic/onion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MARKETS </a:t>
            </a:r>
            <a:endParaRPr lang="en-IN" dirty="0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80" b="23680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IN" sz="6600" dirty="0" smtClean="0"/>
              <a:t>Markets </a:t>
            </a:r>
            <a:endParaRPr lang="en-IN" sz="6600" dirty="0"/>
          </a:p>
        </p:txBody>
      </p:sp>
    </p:spTree>
    <p:extLst>
      <p:ext uri="{BB962C8B-B14F-4D97-AF65-F5344CB8AC3E}">
        <p14:creationId xmlns:p14="http://schemas.microsoft.com/office/powerpoint/2010/main" val="176871628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Onion Prices-2019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dirty="0" smtClean="0">
                <a:solidFill>
                  <a:srgbClr val="000000"/>
                </a:solidFill>
              </a:rPr>
              <a:t>Onion prices jumped up to 76% in last one </a:t>
            </a:r>
            <a:r>
              <a:rPr lang="en-US" sz="2800" dirty="0">
                <a:solidFill>
                  <a:srgbClr val="000000"/>
                </a:solidFill>
              </a:rPr>
              <a:t>month due to reduction in arrivals in the agricultural </a:t>
            </a:r>
            <a:r>
              <a:rPr lang="en-US" sz="2800" dirty="0" err="1">
                <a:solidFill>
                  <a:srgbClr val="000000"/>
                </a:solidFill>
              </a:rPr>
              <a:t>mandis</a:t>
            </a:r>
            <a:r>
              <a:rPr lang="en-US" sz="2800" dirty="0">
                <a:solidFill>
                  <a:srgbClr val="000000"/>
                </a:solidFill>
              </a:rPr>
              <a:t> across the country, following floods in major supplying states such as Maharashtra, Karnataka and Madhya Pradesh</a:t>
            </a:r>
            <a:r>
              <a:rPr lang="en-US" sz="2800" dirty="0" smtClean="0">
                <a:solidFill>
                  <a:srgbClr val="000000"/>
                </a:solidFill>
              </a:rPr>
              <a:t>.</a:t>
            </a:r>
          </a:p>
          <a:p>
            <a:pPr algn="just"/>
            <a:r>
              <a:rPr lang="en-US" sz="2800" dirty="0"/>
              <a:t>In the benchmark </a:t>
            </a:r>
            <a:r>
              <a:rPr lang="en-US" sz="2800" dirty="0" err="1"/>
              <a:t>Lasalgaon</a:t>
            </a:r>
            <a:r>
              <a:rPr lang="en-US" sz="2800" dirty="0"/>
              <a:t> </a:t>
            </a:r>
            <a:r>
              <a:rPr lang="en-US" sz="2800" dirty="0" err="1"/>
              <a:t>mandi</a:t>
            </a:r>
            <a:r>
              <a:rPr lang="en-US" sz="2800" dirty="0"/>
              <a:t>, Asia’s largest </a:t>
            </a:r>
            <a:r>
              <a:rPr lang="en-US" sz="2800" dirty="0" smtClean="0"/>
              <a:t>onion selling </a:t>
            </a:r>
            <a:r>
              <a:rPr lang="en-US" sz="2800" dirty="0"/>
              <a:t>wholesale market, </a:t>
            </a:r>
            <a:r>
              <a:rPr lang="en-US" sz="2800" dirty="0" smtClean="0"/>
              <a:t>onion</a:t>
            </a:r>
            <a:r>
              <a:rPr lang="en-US" sz="2800" dirty="0">
                <a:hlinkClick r:id="rId2"/>
              </a:rPr>
              <a:t> </a:t>
            </a:r>
            <a:r>
              <a:rPr lang="en-US" sz="2800" dirty="0"/>
              <a:t>prices shot up by 71 per cent to trade at </a:t>
            </a:r>
            <a:r>
              <a:rPr lang="en-US" sz="2800" dirty="0" err="1"/>
              <a:t>Rs</a:t>
            </a:r>
            <a:r>
              <a:rPr lang="en-US" sz="2800" dirty="0"/>
              <a:t> 20.50 a kg on August 20 from a </a:t>
            </a:r>
            <a:r>
              <a:rPr lang="en-US" sz="2800" dirty="0" err="1"/>
              <a:t>Rs</a:t>
            </a:r>
            <a:r>
              <a:rPr lang="en-US" sz="2800" dirty="0"/>
              <a:t> 12 a month ago.</a:t>
            </a:r>
          </a:p>
          <a:p>
            <a:pPr algn="just"/>
            <a:r>
              <a:rPr lang="en-US" sz="2800" dirty="0"/>
              <a:t>In this market, however, farmers ramped up supply to take advantage of the current price rise, which they say they have seen after several years. Total onion arrivals in </a:t>
            </a:r>
            <a:r>
              <a:rPr lang="en-US" sz="2800" dirty="0" err="1"/>
              <a:t>Lasalgaon</a:t>
            </a:r>
            <a:r>
              <a:rPr lang="en-US" sz="2800" dirty="0"/>
              <a:t> </a:t>
            </a:r>
            <a:r>
              <a:rPr lang="en-US" sz="2800" dirty="0" err="1"/>
              <a:t>mandi</a:t>
            </a:r>
            <a:r>
              <a:rPr lang="en-US" sz="2800" dirty="0"/>
              <a:t> jumped to 2,545 </a:t>
            </a:r>
            <a:r>
              <a:rPr lang="en-US" sz="2800" dirty="0" err="1"/>
              <a:t>tonnes</a:t>
            </a:r>
            <a:r>
              <a:rPr lang="en-US" sz="2800" dirty="0"/>
              <a:t> on August 20 from about 1,500 </a:t>
            </a:r>
            <a:r>
              <a:rPr lang="en-US" sz="2800" dirty="0" err="1"/>
              <a:t>tonnes</a:t>
            </a:r>
            <a:r>
              <a:rPr lang="en-US" sz="2800" dirty="0"/>
              <a:t> a month </a:t>
            </a:r>
            <a:r>
              <a:rPr lang="en-US" sz="2800" dirty="0" smtClean="0"/>
              <a:t>earlier (Business </a:t>
            </a:r>
            <a:r>
              <a:rPr lang="en-US" sz="2800" dirty="0" err="1" smtClean="0"/>
              <a:t>Standard,Aug</a:t>
            </a:r>
            <a:r>
              <a:rPr lang="en-US" sz="2800" dirty="0" smtClean="0"/>
              <a:t> 22,2019) .</a:t>
            </a:r>
            <a:endParaRPr lang="en-US" sz="2800" dirty="0"/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186131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mtClean="0"/>
              <a:t>Mobile Phones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algn="just"/>
            <a:r>
              <a:rPr lang="en-US" sz="2400" dirty="0"/>
              <a:t>“We have been witnessing a sudden increase in demand for refurbished phones in the last two-three days,” said Nakul Kumar, chief operating officer of </a:t>
            </a:r>
            <a:r>
              <a:rPr lang="en-US" sz="2400" dirty="0" err="1"/>
              <a:t>Cashify</a:t>
            </a:r>
            <a:r>
              <a:rPr lang="en-US" sz="2400" dirty="0"/>
              <a:t>. “But fulfilment is becoming an issue since the supply is quickly drying up for us as </a:t>
            </a:r>
            <a:r>
              <a:rPr lang="en-US" sz="2400" dirty="0" smtClean="0"/>
              <a:t>well. </a:t>
            </a:r>
            <a:r>
              <a:rPr lang="en-US" sz="2400" b="1" dirty="0" smtClean="0"/>
              <a:t>The Economic times, June 28-20</a:t>
            </a:r>
            <a:endParaRPr lang="en-US" sz="2400" b="1" dirty="0">
              <a:solidFill>
                <a:srgbClr val="000000"/>
              </a:solidFill>
            </a:endParaRPr>
          </a:p>
          <a:p>
            <a:pPr marL="228600" lvl="0" indent="-228600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sz="28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34094088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Markets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Market is a group of buyers and sellers of a particular good or service. </a:t>
            </a:r>
          </a:p>
          <a:p>
            <a:r>
              <a:rPr lang="en-IN" dirty="0" smtClean="0"/>
              <a:t>Two Types of Market </a:t>
            </a:r>
          </a:p>
          <a:p>
            <a:r>
              <a:rPr lang="en-IN" dirty="0" smtClean="0"/>
              <a:t>1. Competitive Market or Perfect Markets</a:t>
            </a:r>
          </a:p>
          <a:p>
            <a:r>
              <a:rPr lang="en-IN" dirty="0" smtClean="0"/>
              <a:t>2. Non Competitive or Imperfect Markets </a:t>
            </a:r>
          </a:p>
          <a:p>
            <a:pPr marL="3657600" lvl="8" indent="0">
              <a:buNone/>
            </a:pPr>
            <a:endParaRPr lang="en-IN" dirty="0" smtClean="0"/>
          </a:p>
          <a:p>
            <a:pPr marL="114300" indent="0" algn="just">
              <a:buNone/>
            </a:pPr>
            <a:r>
              <a:rPr lang="en-IN" dirty="0" smtClean="0"/>
              <a:t>Competitive Market – </a:t>
            </a:r>
          </a:p>
          <a:p>
            <a:pPr marL="571500" indent="-457200" algn="just"/>
            <a:r>
              <a:rPr lang="en-IN" sz="2800" dirty="0" smtClean="0"/>
              <a:t>Many buyers and Sellers</a:t>
            </a:r>
          </a:p>
          <a:p>
            <a:pPr marL="571500" indent="-457200" algn="just"/>
            <a:r>
              <a:rPr lang="en-IN" sz="2800" dirty="0" smtClean="0"/>
              <a:t>Homogeneous product </a:t>
            </a:r>
          </a:p>
          <a:p>
            <a:pPr marL="571500" indent="-457200" algn="just"/>
            <a:r>
              <a:rPr lang="en-IN" sz="2800" dirty="0" smtClean="0"/>
              <a:t>Price Takers </a:t>
            </a:r>
          </a:p>
          <a:p>
            <a:pPr marL="571500" indent="-457200" algn="just"/>
            <a:endParaRPr lang="en-IN" dirty="0" smtClean="0"/>
          </a:p>
          <a:p>
            <a:pPr marL="3657600" lvl="8" indent="0" algn="just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439785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Non Competitive or Imperfect Markets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 smtClean="0"/>
              <a:t>Is one in which the buyer or seller has influence on the market price. </a:t>
            </a:r>
          </a:p>
          <a:p>
            <a:pPr lvl="1" algn="just"/>
            <a:r>
              <a:rPr lang="en-IN" dirty="0" smtClean="0"/>
              <a:t>Few Sellers</a:t>
            </a:r>
          </a:p>
          <a:p>
            <a:pPr lvl="1" algn="just"/>
            <a:r>
              <a:rPr lang="en-IN" dirty="0" smtClean="0"/>
              <a:t>Unique product or differentiated product</a:t>
            </a:r>
          </a:p>
          <a:p>
            <a:pPr lvl="1" algn="just"/>
            <a:r>
              <a:rPr lang="en-IN" dirty="0" smtClean="0"/>
              <a:t>Price Makers </a:t>
            </a:r>
          </a:p>
          <a:p>
            <a:pPr algn="just"/>
            <a:r>
              <a:rPr lang="en-IN" dirty="0" smtClean="0"/>
              <a:t>Three Different Types </a:t>
            </a:r>
          </a:p>
          <a:p>
            <a:pPr lvl="1" algn="just"/>
            <a:r>
              <a:rPr lang="en-IN" dirty="0" smtClean="0"/>
              <a:t>Monopoly </a:t>
            </a:r>
          </a:p>
          <a:p>
            <a:pPr lvl="1" algn="just"/>
            <a:r>
              <a:rPr lang="en-IN" dirty="0" smtClean="0"/>
              <a:t>Monopolistic Competition </a:t>
            </a:r>
          </a:p>
          <a:p>
            <a:pPr lvl="1" algn="just"/>
            <a:r>
              <a:rPr lang="en-IN" dirty="0" smtClean="0"/>
              <a:t>Oligopoly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49830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Demand and Law of Demand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Demand is </a:t>
            </a:r>
            <a:r>
              <a:rPr lang="en-IN" b="1" dirty="0" smtClean="0"/>
              <a:t>willingness and ability </a:t>
            </a:r>
            <a:r>
              <a:rPr lang="en-IN" dirty="0" smtClean="0"/>
              <a:t>to buy the product. </a:t>
            </a:r>
          </a:p>
          <a:p>
            <a:r>
              <a:rPr lang="en-IN" dirty="0" smtClean="0"/>
              <a:t>According to Law of Demand, all other things equal, quantity demanded falls when price rise, and rises when prices fall. </a:t>
            </a:r>
          </a:p>
          <a:p>
            <a:r>
              <a:rPr lang="en-IN" dirty="0" smtClean="0"/>
              <a:t>Inverse relationship between Price and Quantity Demanded.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6452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mtClean="0"/>
              <a:t>Demand Schedule </a:t>
            </a:r>
            <a:endParaRPr lang="en-IN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806806253"/>
              </p:ext>
            </p:extLst>
          </p:nvPr>
        </p:nvGraphicFramePr>
        <p:xfrm>
          <a:off x="609600" y="1447800"/>
          <a:ext cx="54864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Price of Commodity 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Quantity Demanded</a:t>
                      </a:r>
                      <a:r>
                        <a:rPr lang="en-IN" baseline="0" dirty="0" smtClean="0"/>
                        <a:t>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20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17.50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15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12.50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10.00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7.50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5.00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2.50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0.00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dirty="0" smtClean="0"/>
              <a:t>A demand schedule a table that shows the relationship between the price of a good and the quantity demanded.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911267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Demand Curve </a:t>
            </a:r>
            <a:endParaRPr lang="en-IN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962199508"/>
              </p:ext>
            </p:extLst>
          </p:nvPr>
        </p:nvGraphicFramePr>
        <p:xfrm>
          <a:off x="609600" y="1447800"/>
          <a:ext cx="5486400" cy="5194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dirty="0" smtClean="0"/>
              <a:t>Horizontal axis measures Quantity demanded </a:t>
            </a:r>
          </a:p>
          <a:p>
            <a:r>
              <a:rPr lang="en-IN" dirty="0" smtClean="0"/>
              <a:t>Vertical axis measures price </a:t>
            </a:r>
          </a:p>
          <a:p>
            <a:r>
              <a:rPr lang="en-IN" dirty="0" smtClean="0"/>
              <a:t>Demand Slopes downwards </a:t>
            </a:r>
          </a:p>
          <a:p>
            <a:r>
              <a:rPr lang="en-IN" dirty="0" smtClean="0"/>
              <a:t>Inverse relationship between quantity demanded and Price </a:t>
            </a:r>
          </a:p>
          <a:p>
            <a:r>
              <a:rPr lang="en-IN" b="1" dirty="0" err="1" smtClean="0"/>
              <a:t>Qd</a:t>
            </a:r>
            <a:r>
              <a:rPr lang="en-IN" b="1" dirty="0" smtClean="0"/>
              <a:t> = a – </a:t>
            </a:r>
            <a:r>
              <a:rPr lang="en-IN" b="1" dirty="0" err="1" smtClean="0"/>
              <a:t>bP</a:t>
            </a:r>
            <a:endParaRPr lang="en-IN" b="1" dirty="0" smtClean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4967313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Demand Equation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err="1">
                <a:solidFill>
                  <a:srgbClr val="3A3A3A"/>
                </a:solidFill>
              </a:rPr>
              <a:t>Qd</a:t>
            </a:r>
            <a:r>
              <a:rPr lang="en-US" sz="2400" b="1" dirty="0">
                <a:solidFill>
                  <a:srgbClr val="3A3A3A"/>
                </a:solidFill>
              </a:rPr>
              <a:t> = a – b(P)</a:t>
            </a:r>
            <a:endParaRPr lang="en-US" sz="2400" dirty="0">
              <a:solidFill>
                <a:srgbClr val="3A3A3A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A3A3A"/>
                </a:solidFill>
              </a:rPr>
              <a:t>Q = quantity demand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A3A3A"/>
                </a:solidFill>
              </a:rPr>
              <a:t>a = all factors affecting price other than price (e.g. income, fashion)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A3A3A"/>
                </a:solidFill>
              </a:rPr>
              <a:t>b = slope of the demand curve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A3A3A"/>
                </a:solidFill>
              </a:rPr>
              <a:t>P = Price of the good.</a:t>
            </a:r>
          </a:p>
          <a:p>
            <a:r>
              <a:rPr lang="en-US" sz="2400" b="1" dirty="0" smtClean="0"/>
              <a:t>Inverse </a:t>
            </a:r>
            <a:r>
              <a:rPr lang="en-US" sz="2400" b="1" dirty="0"/>
              <a:t>demand equation</a:t>
            </a:r>
          </a:p>
          <a:p>
            <a:r>
              <a:rPr lang="en-US" sz="2400" dirty="0"/>
              <a:t>The inverse demand equation can also be written as</a:t>
            </a:r>
          </a:p>
          <a:p>
            <a:r>
              <a:rPr lang="en-US" sz="2400" b="1" dirty="0"/>
              <a:t>P = a -b(Q)</a:t>
            </a:r>
            <a:endParaRPr lang="en-US" sz="2400" dirty="0"/>
          </a:p>
          <a:p>
            <a:r>
              <a:rPr lang="en-US" sz="2400" dirty="0"/>
              <a:t>a = intercept where price is 0</a:t>
            </a:r>
          </a:p>
          <a:p>
            <a:r>
              <a:rPr lang="en-US" sz="2400" dirty="0"/>
              <a:t>b = slope of demand </a:t>
            </a:r>
            <a:r>
              <a:rPr lang="en-US" sz="2400" dirty="0" smtClean="0"/>
              <a:t>curve</a:t>
            </a:r>
          </a:p>
          <a:p>
            <a:r>
              <a:rPr lang="en-US" sz="2400" dirty="0" smtClean="0"/>
              <a:t>Q = quantity demanded </a:t>
            </a:r>
            <a:endParaRPr lang="en-US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30436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Market Demand 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9023543"/>
              </p:ext>
            </p:extLst>
          </p:nvPr>
        </p:nvGraphicFramePr>
        <p:xfrm>
          <a:off x="609600" y="1447800"/>
          <a:ext cx="5486432" cy="4082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3397">
                <a:tc>
                  <a:txBody>
                    <a:bodyPr/>
                    <a:lstStyle/>
                    <a:p>
                      <a:r>
                        <a:rPr lang="en-IN" dirty="0" smtClean="0"/>
                        <a:t>Price 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Person A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Person B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Person C</a:t>
                      </a:r>
                      <a:endParaRPr lang="en-IN" dirty="0"/>
                    </a:p>
                  </a:txBody>
                  <a:tcPr marL="45411" marR="4541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814">
                <a:tc>
                  <a:txBody>
                    <a:bodyPr/>
                    <a:lstStyle/>
                    <a:p>
                      <a:r>
                        <a:rPr lang="en-IN" dirty="0" smtClean="0"/>
                        <a:t>20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 marL="45411" marR="4541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814">
                <a:tc>
                  <a:txBody>
                    <a:bodyPr/>
                    <a:lstStyle/>
                    <a:p>
                      <a:r>
                        <a:rPr lang="en-IN" dirty="0" smtClean="0"/>
                        <a:t>17.50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 marL="45411" marR="4541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814">
                <a:tc>
                  <a:txBody>
                    <a:bodyPr/>
                    <a:lstStyle/>
                    <a:p>
                      <a:r>
                        <a:rPr lang="en-IN" dirty="0" smtClean="0"/>
                        <a:t>15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 marL="45411" marR="4541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814">
                <a:tc>
                  <a:txBody>
                    <a:bodyPr/>
                    <a:lstStyle/>
                    <a:p>
                      <a:r>
                        <a:rPr lang="en-IN" dirty="0" smtClean="0"/>
                        <a:t>12.50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 marL="45411" marR="4541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814">
                <a:tc>
                  <a:txBody>
                    <a:bodyPr/>
                    <a:lstStyle/>
                    <a:p>
                      <a:r>
                        <a:rPr lang="en-IN" dirty="0" smtClean="0"/>
                        <a:t>10.00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 marL="45411" marR="4541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814">
                <a:tc>
                  <a:txBody>
                    <a:bodyPr/>
                    <a:lstStyle/>
                    <a:p>
                      <a:r>
                        <a:rPr lang="en-IN" dirty="0" smtClean="0"/>
                        <a:t>7.50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 marL="45411" marR="45411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8814">
                <a:tc>
                  <a:txBody>
                    <a:bodyPr/>
                    <a:lstStyle/>
                    <a:p>
                      <a:r>
                        <a:rPr lang="en-IN" dirty="0" smtClean="0"/>
                        <a:t>5.00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9</a:t>
                      </a:r>
                      <a:endParaRPr lang="en-IN" dirty="0"/>
                    </a:p>
                  </a:txBody>
                  <a:tcPr marL="45411" marR="45411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8814">
                <a:tc>
                  <a:txBody>
                    <a:bodyPr/>
                    <a:lstStyle/>
                    <a:p>
                      <a:r>
                        <a:rPr lang="en-IN" dirty="0" smtClean="0"/>
                        <a:t>2.50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10</a:t>
                      </a:r>
                      <a:endParaRPr lang="en-IN" dirty="0"/>
                    </a:p>
                  </a:txBody>
                  <a:tcPr marL="45411" marR="45411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3397">
                <a:tc>
                  <a:txBody>
                    <a:bodyPr/>
                    <a:lstStyle/>
                    <a:p>
                      <a:r>
                        <a:rPr lang="en-IN" dirty="0" smtClean="0"/>
                        <a:t>0.00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8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12</a:t>
                      </a:r>
                      <a:endParaRPr lang="en-IN" dirty="0"/>
                    </a:p>
                  </a:txBody>
                  <a:tcPr marL="45411" marR="45411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just"/>
            <a:r>
              <a:rPr lang="en-IN" dirty="0" smtClean="0"/>
              <a:t>Market demand is the sum of all individual quantities demanded by each buyer in the market at each price.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072988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mtClean="0"/>
              <a:t>Shift in Demand Curve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Price factor- Movement along the demand curve</a:t>
            </a:r>
          </a:p>
          <a:p>
            <a:r>
              <a:rPr lang="en-IN" dirty="0" smtClean="0"/>
              <a:t>Non Price Factors-Shifts the demand curve</a:t>
            </a:r>
          </a:p>
          <a:p>
            <a:pPr lvl="1"/>
            <a:r>
              <a:rPr lang="en-IN" dirty="0" smtClean="0"/>
              <a:t>Changes in Income </a:t>
            </a:r>
          </a:p>
          <a:p>
            <a:pPr lvl="1"/>
            <a:r>
              <a:rPr lang="en-IN" dirty="0" smtClean="0"/>
              <a:t>The Price of Related goods </a:t>
            </a:r>
          </a:p>
          <a:p>
            <a:pPr lvl="2"/>
            <a:r>
              <a:rPr lang="en-IN" dirty="0" smtClean="0"/>
              <a:t>Substitute goods</a:t>
            </a:r>
          </a:p>
          <a:p>
            <a:pPr lvl="2"/>
            <a:r>
              <a:rPr lang="en-IN" dirty="0" smtClean="0"/>
              <a:t>Complementary Goods</a:t>
            </a:r>
          </a:p>
          <a:p>
            <a:pPr lvl="1"/>
            <a:r>
              <a:rPr lang="en-IN" dirty="0" smtClean="0"/>
              <a:t>Changes in Tastes and Preferences </a:t>
            </a:r>
          </a:p>
          <a:p>
            <a:pPr lvl="1"/>
            <a:r>
              <a:rPr lang="en-IN" dirty="0" smtClean="0"/>
              <a:t>Expectation regarding future prices </a:t>
            </a:r>
          </a:p>
          <a:p>
            <a:pPr lvl="1"/>
            <a:r>
              <a:rPr lang="en-IN" dirty="0" smtClean="0"/>
              <a:t>The Number of Buyers </a:t>
            </a:r>
          </a:p>
          <a:p>
            <a:pPr lvl="2"/>
            <a:r>
              <a:rPr lang="en-IN" dirty="0" smtClean="0"/>
              <a:t>Case of Italy-market for baby equipment, Market for health care.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439334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Substitute and Complementary Goods 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367093"/>
          </a:xfrm>
        </p:spPr>
        <p:txBody>
          <a:bodyPr/>
          <a:lstStyle/>
          <a:p>
            <a:r>
              <a:rPr lang="en-IN" dirty="0" smtClean="0"/>
              <a:t>Substitute Good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048256"/>
            <a:ext cx="5158316" cy="4379976"/>
          </a:xfrm>
        </p:spPr>
        <p:txBody>
          <a:bodyPr/>
          <a:lstStyle/>
          <a:p>
            <a:pPr algn="just"/>
            <a:r>
              <a:rPr lang="en-IN" sz="2400" dirty="0" smtClean="0"/>
              <a:t>Two goods A and B</a:t>
            </a:r>
          </a:p>
          <a:p>
            <a:pPr algn="just"/>
            <a:r>
              <a:rPr lang="en-IN" sz="2400" dirty="0" smtClean="0"/>
              <a:t>When </a:t>
            </a:r>
            <a:r>
              <a:rPr lang="en-IN" sz="2400" b="1" dirty="0" smtClean="0"/>
              <a:t>Price </a:t>
            </a:r>
            <a:r>
              <a:rPr lang="en-IN" sz="2400" dirty="0" smtClean="0"/>
              <a:t>of Good A increases the Quantity demanded for good B increases. </a:t>
            </a:r>
          </a:p>
          <a:p>
            <a:pPr algn="just"/>
            <a:r>
              <a:rPr lang="en-IN" sz="2400" dirty="0" smtClean="0"/>
              <a:t>A and B are substitute goods</a:t>
            </a:r>
          </a:p>
          <a:p>
            <a:r>
              <a:rPr lang="en-US" sz="2400" dirty="0" smtClean="0"/>
              <a:t>Tea </a:t>
            </a:r>
            <a:r>
              <a:rPr lang="en-US" sz="2400" dirty="0"/>
              <a:t>and coffee</a:t>
            </a:r>
          </a:p>
          <a:p>
            <a:r>
              <a:rPr lang="en-US" sz="2400" dirty="0"/>
              <a:t>Smartphone Brands</a:t>
            </a:r>
          </a:p>
          <a:p>
            <a:r>
              <a:rPr lang="en-US" sz="2400" dirty="0"/>
              <a:t>Rival ride sharing apps</a:t>
            </a:r>
          </a:p>
          <a:p>
            <a:r>
              <a:rPr lang="en-US" sz="2400" dirty="0"/>
              <a:t>Competing supermarket chains</a:t>
            </a:r>
          </a:p>
          <a:p>
            <a:r>
              <a:rPr lang="en-US" sz="2400" dirty="0"/>
              <a:t>Online streaming platforms</a:t>
            </a:r>
          </a:p>
          <a:p>
            <a:r>
              <a:rPr lang="en-US" sz="2400" dirty="0"/>
              <a:t>Cereal brands</a:t>
            </a:r>
          </a:p>
          <a:p>
            <a:pPr algn="just"/>
            <a:endParaRPr lang="en-IN" sz="2800" dirty="0" smtClean="0"/>
          </a:p>
          <a:p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367093"/>
          </a:xfrm>
        </p:spPr>
        <p:txBody>
          <a:bodyPr/>
          <a:lstStyle/>
          <a:p>
            <a:r>
              <a:rPr lang="en-IN" dirty="0" smtClean="0"/>
              <a:t>Complementary Goods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048256"/>
            <a:ext cx="5183717" cy="4379976"/>
          </a:xfrm>
        </p:spPr>
        <p:txBody>
          <a:bodyPr/>
          <a:lstStyle/>
          <a:p>
            <a:r>
              <a:rPr lang="en-IN" sz="2400" dirty="0" smtClean="0"/>
              <a:t>When Price of Good A increases the quantity demanded for Good B decreases. A and B are complementary goods.</a:t>
            </a:r>
          </a:p>
          <a:p>
            <a:r>
              <a:rPr lang="en-IN" sz="2400" dirty="0" smtClean="0"/>
              <a:t>Consume together </a:t>
            </a:r>
          </a:p>
          <a:p>
            <a:r>
              <a:rPr lang="en-US" sz="2400" dirty="0"/>
              <a:t>Smartphones and apps</a:t>
            </a:r>
          </a:p>
          <a:p>
            <a:r>
              <a:rPr lang="en-US" sz="2400" dirty="0"/>
              <a:t>Solar panels &amp; batteries</a:t>
            </a:r>
          </a:p>
          <a:p>
            <a:r>
              <a:rPr lang="en-US" sz="2400" dirty="0"/>
              <a:t>Flights and taxi services</a:t>
            </a:r>
          </a:p>
          <a:p>
            <a:r>
              <a:rPr lang="en-US" sz="2400" dirty="0"/>
              <a:t>Shoes and polish</a:t>
            </a:r>
          </a:p>
          <a:p>
            <a:r>
              <a:rPr lang="en-US" sz="2400" dirty="0"/>
              <a:t>Pasta and pasta sauces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590160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55" r="55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4126584"/>
          </a:xfrm>
        </p:spPr>
        <p:txBody>
          <a:bodyPr/>
          <a:lstStyle/>
          <a:p>
            <a:pPr algn="ctr"/>
            <a:r>
              <a:rPr lang="en-IN" sz="2000" dirty="0" smtClean="0"/>
              <a:t>The Price of Fame: President Obama and the Paparazzi</a:t>
            </a:r>
          </a:p>
          <a:p>
            <a:pPr algn="ctr"/>
            <a:endParaRPr lang="en-IN" sz="2000" dirty="0"/>
          </a:p>
          <a:p>
            <a:pPr algn="just"/>
            <a:r>
              <a:rPr lang="en-IN" sz="2000" dirty="0" smtClean="0"/>
              <a:t>Being President of the United States has its perks-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 smtClean="0"/>
              <a:t>You are the most powerful person in the world.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 smtClean="0"/>
              <a:t>People wait on you and foot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 smtClean="0"/>
              <a:t>You get to live in a pretty nice house rent free.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 smtClean="0"/>
              <a:t>But being President has its downsides.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4216414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794" name="Picture 2" descr="narrow aqua button bckgr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8"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5795" name="Rectangle 3"/>
          <p:cNvSpPr>
            <a:spLocks noGrp="1" noChangeArrowheads="1"/>
          </p:cNvSpPr>
          <p:nvPr>
            <p:ph type="title"/>
          </p:nvPr>
        </p:nvSpPr>
        <p:spPr>
          <a:xfrm>
            <a:off x="2133600" y="50800"/>
            <a:ext cx="8229600" cy="685800"/>
          </a:xfrm>
        </p:spPr>
        <p:txBody>
          <a:bodyPr/>
          <a:lstStyle/>
          <a:p>
            <a:pPr algn="l">
              <a:lnSpc>
                <a:spcPct val="80000"/>
              </a:lnSpc>
            </a:pPr>
            <a:r>
              <a:rPr lang="en-US" altLang="en-US" sz="2400">
                <a:solidFill>
                  <a:schemeClr val="bg1"/>
                </a:solidFill>
              </a:rPr>
              <a:t>Figure 3 Shifts in the Demand Curve</a:t>
            </a:r>
          </a:p>
        </p:txBody>
      </p:sp>
      <p:sp>
        <p:nvSpPr>
          <p:cNvPr id="545796" name="Text Box 4"/>
          <p:cNvSpPr txBox="1">
            <a:spLocks noChangeArrowheads="1"/>
          </p:cNvSpPr>
          <p:nvPr/>
        </p:nvSpPr>
        <p:spPr bwMode="auto">
          <a:xfrm rot="-21600000">
            <a:off x="8088313" y="6680201"/>
            <a:ext cx="264160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b="1">
                <a:solidFill>
                  <a:srgbClr val="FFFFFF"/>
                </a:solidFill>
                <a:latin typeface="Arial" panose="020B0604020202020204" pitchFamily="34" charset="0"/>
              </a:rPr>
              <a:t>Copyright©2003  Southwestern/Thomson Learning</a:t>
            </a:r>
          </a:p>
        </p:txBody>
      </p:sp>
      <p:sp>
        <p:nvSpPr>
          <p:cNvPr id="545797" name="Rectangle 5"/>
          <p:cNvSpPr>
            <a:spLocks noChangeArrowheads="1"/>
          </p:cNvSpPr>
          <p:nvPr/>
        </p:nvSpPr>
        <p:spPr bwMode="auto">
          <a:xfrm>
            <a:off x="2973389" y="1285876"/>
            <a:ext cx="7043737" cy="4797425"/>
          </a:xfrm>
          <a:prstGeom prst="rect">
            <a:avLst/>
          </a:prstGeom>
          <a:solidFill>
            <a:srgbClr val="F3F6F9"/>
          </a:solidFill>
          <a:ln w="230188">
            <a:solidFill>
              <a:srgbClr val="F3F6F9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5798" name="Rectangle 6"/>
          <p:cNvSpPr>
            <a:spLocks noChangeArrowheads="1"/>
          </p:cNvSpPr>
          <p:nvPr/>
        </p:nvSpPr>
        <p:spPr bwMode="auto">
          <a:xfrm>
            <a:off x="2973389" y="1285876"/>
            <a:ext cx="7043737" cy="4797425"/>
          </a:xfrm>
          <a:prstGeom prst="rect">
            <a:avLst/>
          </a:prstGeom>
          <a:solidFill>
            <a:srgbClr val="F2F4F8"/>
          </a:solidFill>
          <a:ln w="209550">
            <a:solidFill>
              <a:srgbClr val="F2F4F8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5799" name="Rectangle 7"/>
          <p:cNvSpPr>
            <a:spLocks noChangeArrowheads="1"/>
          </p:cNvSpPr>
          <p:nvPr/>
        </p:nvSpPr>
        <p:spPr bwMode="auto">
          <a:xfrm>
            <a:off x="2973389" y="1285876"/>
            <a:ext cx="7043737" cy="4797425"/>
          </a:xfrm>
          <a:prstGeom prst="rect">
            <a:avLst/>
          </a:prstGeom>
          <a:solidFill>
            <a:srgbClr val="F1F4F7"/>
          </a:solidFill>
          <a:ln w="187325">
            <a:solidFill>
              <a:srgbClr val="F1F4F7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5800" name="Rectangle 8"/>
          <p:cNvSpPr>
            <a:spLocks noChangeArrowheads="1"/>
          </p:cNvSpPr>
          <p:nvPr/>
        </p:nvSpPr>
        <p:spPr bwMode="auto">
          <a:xfrm>
            <a:off x="2973389" y="1285876"/>
            <a:ext cx="7043737" cy="4797425"/>
          </a:xfrm>
          <a:prstGeom prst="rect">
            <a:avLst/>
          </a:prstGeom>
          <a:solidFill>
            <a:srgbClr val="F0F2F5"/>
          </a:solidFill>
          <a:ln w="166688">
            <a:solidFill>
              <a:srgbClr val="F0F2F5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5801" name="Rectangle 9"/>
          <p:cNvSpPr>
            <a:spLocks noChangeArrowheads="1"/>
          </p:cNvSpPr>
          <p:nvPr/>
        </p:nvSpPr>
        <p:spPr bwMode="auto">
          <a:xfrm>
            <a:off x="2973389" y="1285876"/>
            <a:ext cx="7043737" cy="4797425"/>
          </a:xfrm>
          <a:prstGeom prst="rect">
            <a:avLst/>
          </a:prstGeom>
          <a:solidFill>
            <a:srgbClr val="EEF1F4"/>
          </a:solidFill>
          <a:ln w="146050">
            <a:solidFill>
              <a:srgbClr val="EEF1F4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5802" name="Rectangle 10"/>
          <p:cNvSpPr>
            <a:spLocks noChangeArrowheads="1"/>
          </p:cNvSpPr>
          <p:nvPr/>
        </p:nvSpPr>
        <p:spPr bwMode="auto">
          <a:xfrm>
            <a:off x="2973389" y="1285876"/>
            <a:ext cx="7043737" cy="4797425"/>
          </a:xfrm>
          <a:prstGeom prst="rect">
            <a:avLst/>
          </a:prstGeom>
          <a:solidFill>
            <a:srgbClr val="EDEFF3"/>
          </a:solidFill>
          <a:ln w="125413">
            <a:solidFill>
              <a:srgbClr val="EDEFF3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5803" name="Rectangle 11"/>
          <p:cNvSpPr>
            <a:spLocks noChangeArrowheads="1"/>
          </p:cNvSpPr>
          <p:nvPr/>
        </p:nvSpPr>
        <p:spPr bwMode="auto">
          <a:xfrm>
            <a:off x="2973389" y="1285876"/>
            <a:ext cx="7043737" cy="4797425"/>
          </a:xfrm>
          <a:prstGeom prst="rect">
            <a:avLst/>
          </a:prstGeom>
          <a:solidFill>
            <a:srgbClr val="EBEEF2"/>
          </a:solidFill>
          <a:ln w="104775">
            <a:solidFill>
              <a:srgbClr val="EBEEF2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5804" name="Rectangle 12"/>
          <p:cNvSpPr>
            <a:spLocks noChangeArrowheads="1"/>
          </p:cNvSpPr>
          <p:nvPr/>
        </p:nvSpPr>
        <p:spPr bwMode="auto">
          <a:xfrm>
            <a:off x="2973389" y="1285876"/>
            <a:ext cx="7043737" cy="4797425"/>
          </a:xfrm>
          <a:prstGeom prst="rect">
            <a:avLst/>
          </a:prstGeom>
          <a:solidFill>
            <a:srgbClr val="EAECF1"/>
          </a:solidFill>
          <a:ln w="84138">
            <a:solidFill>
              <a:srgbClr val="EAECF1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5805" name="Rectangle 13"/>
          <p:cNvSpPr>
            <a:spLocks noChangeArrowheads="1"/>
          </p:cNvSpPr>
          <p:nvPr/>
        </p:nvSpPr>
        <p:spPr bwMode="auto">
          <a:xfrm>
            <a:off x="2973389" y="1285876"/>
            <a:ext cx="7043737" cy="4797425"/>
          </a:xfrm>
          <a:prstGeom prst="rect">
            <a:avLst/>
          </a:prstGeom>
          <a:solidFill>
            <a:srgbClr val="E9EBF0"/>
          </a:solidFill>
          <a:ln w="61913">
            <a:solidFill>
              <a:srgbClr val="E9EBF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5806" name="Rectangle 14"/>
          <p:cNvSpPr>
            <a:spLocks noChangeArrowheads="1"/>
          </p:cNvSpPr>
          <p:nvPr/>
        </p:nvSpPr>
        <p:spPr bwMode="auto">
          <a:xfrm>
            <a:off x="2973389" y="1285876"/>
            <a:ext cx="7043737" cy="4797425"/>
          </a:xfrm>
          <a:prstGeom prst="rect">
            <a:avLst/>
          </a:prstGeom>
          <a:solidFill>
            <a:srgbClr val="E7EAEF"/>
          </a:solidFill>
          <a:ln w="41275">
            <a:solidFill>
              <a:srgbClr val="E7EAE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5807" name="Rectangle 15"/>
          <p:cNvSpPr>
            <a:spLocks noChangeArrowheads="1"/>
          </p:cNvSpPr>
          <p:nvPr/>
        </p:nvSpPr>
        <p:spPr bwMode="auto">
          <a:xfrm>
            <a:off x="2973389" y="1285876"/>
            <a:ext cx="7043737" cy="4797425"/>
          </a:xfrm>
          <a:prstGeom prst="rect">
            <a:avLst/>
          </a:prstGeom>
          <a:solidFill>
            <a:srgbClr val="E6E9EF"/>
          </a:solidFill>
          <a:ln w="20638">
            <a:solidFill>
              <a:srgbClr val="E6E9E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5808" name="Rectangle 16"/>
          <p:cNvSpPr>
            <a:spLocks noChangeArrowheads="1"/>
          </p:cNvSpPr>
          <p:nvPr/>
        </p:nvSpPr>
        <p:spPr bwMode="auto">
          <a:xfrm>
            <a:off x="2890838" y="1182688"/>
            <a:ext cx="7042150" cy="481806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5809" name="Freeform 17"/>
          <p:cNvSpPr>
            <a:spLocks/>
          </p:cNvSpPr>
          <p:nvPr/>
        </p:nvSpPr>
        <p:spPr bwMode="auto">
          <a:xfrm>
            <a:off x="2871788" y="1182688"/>
            <a:ext cx="7042150" cy="4818062"/>
          </a:xfrm>
          <a:custGeom>
            <a:avLst/>
            <a:gdLst>
              <a:gd name="T0" fmla="*/ 0 w 4436"/>
              <a:gd name="T1" fmla="*/ 0 h 3035"/>
              <a:gd name="T2" fmla="*/ 0 w 4436"/>
              <a:gd name="T3" fmla="*/ 3035 h 3035"/>
              <a:gd name="T4" fmla="*/ 4436 w 4436"/>
              <a:gd name="T5" fmla="*/ 3035 h 30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436" h="3035">
                <a:moveTo>
                  <a:pt x="0" y="0"/>
                </a:moveTo>
                <a:lnTo>
                  <a:pt x="0" y="3035"/>
                </a:lnTo>
                <a:lnTo>
                  <a:pt x="4436" y="3035"/>
                </a:lnTo>
              </a:path>
            </a:pathLst>
          </a:custGeom>
          <a:noFill/>
          <a:ln w="2063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5810" name="Line 18"/>
          <p:cNvSpPr>
            <a:spLocks noChangeShapeType="1"/>
          </p:cNvSpPr>
          <p:nvPr/>
        </p:nvSpPr>
        <p:spPr bwMode="auto">
          <a:xfrm flipH="1" flipV="1">
            <a:off x="4603751" y="1912938"/>
            <a:ext cx="3281363" cy="3149600"/>
          </a:xfrm>
          <a:prstGeom prst="line">
            <a:avLst/>
          </a:prstGeom>
          <a:noFill/>
          <a:ln w="61913">
            <a:solidFill>
              <a:srgbClr val="004C9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5811" name="Line 19"/>
          <p:cNvSpPr>
            <a:spLocks noChangeShapeType="1"/>
          </p:cNvSpPr>
          <p:nvPr/>
        </p:nvSpPr>
        <p:spPr bwMode="auto">
          <a:xfrm flipH="1" flipV="1">
            <a:off x="6172201" y="1390650"/>
            <a:ext cx="3281363" cy="3149600"/>
          </a:xfrm>
          <a:prstGeom prst="line">
            <a:avLst/>
          </a:prstGeom>
          <a:noFill/>
          <a:ln w="61913">
            <a:solidFill>
              <a:srgbClr val="5F161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5812" name="Line 20"/>
          <p:cNvSpPr>
            <a:spLocks noChangeShapeType="1"/>
          </p:cNvSpPr>
          <p:nvPr/>
        </p:nvSpPr>
        <p:spPr bwMode="auto">
          <a:xfrm flipH="1" flipV="1">
            <a:off x="3016250" y="2433639"/>
            <a:ext cx="3302000" cy="3170237"/>
          </a:xfrm>
          <a:prstGeom prst="line">
            <a:avLst/>
          </a:prstGeom>
          <a:noFill/>
          <a:ln w="61913">
            <a:solidFill>
              <a:srgbClr val="6518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5813" name="Line 21"/>
          <p:cNvSpPr>
            <a:spLocks noChangeShapeType="1"/>
          </p:cNvSpPr>
          <p:nvPr/>
        </p:nvSpPr>
        <p:spPr bwMode="auto">
          <a:xfrm>
            <a:off x="5670551" y="2871789"/>
            <a:ext cx="1858963" cy="1587"/>
          </a:xfrm>
          <a:prstGeom prst="line">
            <a:avLst/>
          </a:prstGeom>
          <a:noFill/>
          <a:ln w="20701">
            <a:solidFill>
              <a:srgbClr val="000000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5814" name="Line 22"/>
          <p:cNvSpPr>
            <a:spLocks noChangeShapeType="1"/>
          </p:cNvSpPr>
          <p:nvPr/>
        </p:nvSpPr>
        <p:spPr bwMode="auto">
          <a:xfrm rot="-10800000">
            <a:off x="4749800" y="3935414"/>
            <a:ext cx="1860550" cy="1587"/>
          </a:xfrm>
          <a:prstGeom prst="line">
            <a:avLst/>
          </a:prstGeom>
          <a:noFill/>
          <a:ln w="20701">
            <a:solidFill>
              <a:srgbClr val="000000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5815" name="Rectangle 23"/>
          <p:cNvSpPr>
            <a:spLocks noChangeArrowheads="1"/>
          </p:cNvSpPr>
          <p:nvPr/>
        </p:nvSpPr>
        <p:spPr bwMode="auto">
          <a:xfrm>
            <a:off x="1952625" y="1157289"/>
            <a:ext cx="84638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rgbClr val="000000"/>
                </a:solidFill>
                <a:latin typeface="Arial" panose="020B0604020202020204" pitchFamily="34" charset="0"/>
              </a:rPr>
              <a:t>Price of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545816" name="Rectangle 24"/>
          <p:cNvSpPr>
            <a:spLocks noChangeArrowheads="1"/>
          </p:cNvSpPr>
          <p:nvPr/>
        </p:nvSpPr>
        <p:spPr bwMode="auto">
          <a:xfrm>
            <a:off x="1687513" y="1436689"/>
            <a:ext cx="111569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rgbClr val="000000"/>
                </a:solidFill>
                <a:latin typeface="Arial" panose="020B0604020202020204" pitchFamily="34" charset="0"/>
              </a:rPr>
              <a:t>Ice-Cream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545817" name="Rectangle 25"/>
          <p:cNvSpPr>
            <a:spLocks noChangeArrowheads="1"/>
          </p:cNvSpPr>
          <p:nvPr/>
        </p:nvSpPr>
        <p:spPr bwMode="auto">
          <a:xfrm>
            <a:off x="2211389" y="1716089"/>
            <a:ext cx="57708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rgbClr val="000000"/>
                </a:solidFill>
                <a:latin typeface="Arial" panose="020B0604020202020204" pitchFamily="34" charset="0"/>
              </a:rPr>
              <a:t>Cone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545818" name="Rectangle 26"/>
          <p:cNvSpPr>
            <a:spLocks noChangeArrowheads="1"/>
          </p:cNvSpPr>
          <p:nvPr/>
        </p:nvSpPr>
        <p:spPr bwMode="auto">
          <a:xfrm>
            <a:off x="8739188" y="6102351"/>
            <a:ext cx="12182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rgbClr val="000000"/>
                </a:solidFill>
                <a:latin typeface="Arial" panose="020B0604020202020204" pitchFamily="34" charset="0"/>
              </a:rPr>
              <a:t>Quantity of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545819" name="Rectangle 27"/>
          <p:cNvSpPr>
            <a:spLocks noChangeArrowheads="1"/>
          </p:cNvSpPr>
          <p:nvPr/>
        </p:nvSpPr>
        <p:spPr bwMode="auto">
          <a:xfrm>
            <a:off x="8096251" y="6381751"/>
            <a:ext cx="188513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rgbClr val="000000"/>
                </a:solidFill>
                <a:latin typeface="Arial" panose="020B0604020202020204" pitchFamily="34" charset="0"/>
              </a:rPr>
              <a:t>Ice-Cream Cones</a:t>
            </a:r>
            <a:endParaRPr lang="en-US" altLang="en-US" sz="2400">
              <a:solidFill>
                <a:srgbClr val="000000"/>
              </a:solidFill>
            </a:endParaRPr>
          </a:p>
        </p:txBody>
      </p:sp>
      <p:grpSp>
        <p:nvGrpSpPr>
          <p:cNvPr id="545820" name="Group 28"/>
          <p:cNvGrpSpPr>
            <a:grpSpLocks/>
          </p:cNvGrpSpPr>
          <p:nvPr/>
        </p:nvGrpSpPr>
        <p:grpSpPr bwMode="auto">
          <a:xfrm>
            <a:off x="5748339" y="2225675"/>
            <a:ext cx="1190625" cy="604838"/>
            <a:chOff x="2717" y="1402"/>
            <a:chExt cx="750" cy="381"/>
          </a:xfrm>
        </p:grpSpPr>
        <p:sp>
          <p:nvSpPr>
            <p:cNvPr id="545821" name="Rectangle 29"/>
            <p:cNvSpPr>
              <a:spLocks noChangeArrowheads="1"/>
            </p:cNvSpPr>
            <p:nvPr/>
          </p:nvSpPr>
          <p:spPr bwMode="auto">
            <a:xfrm>
              <a:off x="2717" y="1402"/>
              <a:ext cx="750" cy="381"/>
            </a:xfrm>
            <a:prstGeom prst="rect">
              <a:avLst/>
            </a:prstGeom>
            <a:solidFill>
              <a:srgbClr val="E1E5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800" i="1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45822" name="Rectangle 30"/>
            <p:cNvSpPr>
              <a:spLocks noChangeArrowheads="1"/>
            </p:cNvSpPr>
            <p:nvPr/>
          </p:nvSpPr>
          <p:spPr bwMode="auto">
            <a:xfrm>
              <a:off x="2768" y="1419"/>
              <a:ext cx="55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  <a:latin typeface="Arial" panose="020B0604020202020204" pitchFamily="34" charset="0"/>
                </a:rPr>
                <a:t>Increase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545823" name="Rectangle 31"/>
            <p:cNvSpPr>
              <a:spLocks noChangeArrowheads="1"/>
            </p:cNvSpPr>
            <p:nvPr/>
          </p:nvSpPr>
          <p:spPr bwMode="auto">
            <a:xfrm>
              <a:off x="2768" y="1595"/>
              <a:ext cx="6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  <a:latin typeface="Arial" panose="020B0604020202020204" pitchFamily="34" charset="0"/>
                </a:rPr>
                <a:t>in demand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</p:grpSp>
      <p:grpSp>
        <p:nvGrpSpPr>
          <p:cNvPr id="545824" name="Group 32"/>
          <p:cNvGrpSpPr>
            <a:grpSpLocks/>
          </p:cNvGrpSpPr>
          <p:nvPr/>
        </p:nvGrpSpPr>
        <p:grpSpPr bwMode="auto">
          <a:xfrm>
            <a:off x="5394326" y="4006851"/>
            <a:ext cx="1190625" cy="625475"/>
            <a:chOff x="2362" y="2492"/>
            <a:chExt cx="750" cy="394"/>
          </a:xfrm>
        </p:grpSpPr>
        <p:sp>
          <p:nvSpPr>
            <p:cNvPr id="545825" name="Rectangle 33"/>
            <p:cNvSpPr>
              <a:spLocks noChangeArrowheads="1"/>
            </p:cNvSpPr>
            <p:nvPr/>
          </p:nvSpPr>
          <p:spPr bwMode="auto">
            <a:xfrm>
              <a:off x="2362" y="2492"/>
              <a:ext cx="750" cy="394"/>
            </a:xfrm>
            <a:prstGeom prst="rect">
              <a:avLst/>
            </a:prstGeom>
            <a:solidFill>
              <a:srgbClr val="E1E5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800" i="1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45826" name="Rectangle 34"/>
            <p:cNvSpPr>
              <a:spLocks noChangeArrowheads="1"/>
            </p:cNvSpPr>
            <p:nvPr/>
          </p:nvSpPr>
          <p:spPr bwMode="auto">
            <a:xfrm>
              <a:off x="2412" y="2520"/>
              <a:ext cx="61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  <a:latin typeface="Arial" panose="020B0604020202020204" pitchFamily="34" charset="0"/>
                </a:rPr>
                <a:t>Decrease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545827" name="Rectangle 35"/>
            <p:cNvSpPr>
              <a:spLocks noChangeArrowheads="1"/>
            </p:cNvSpPr>
            <p:nvPr/>
          </p:nvSpPr>
          <p:spPr bwMode="auto">
            <a:xfrm>
              <a:off x="2412" y="2696"/>
              <a:ext cx="6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  <a:latin typeface="Arial" panose="020B0604020202020204" pitchFamily="34" charset="0"/>
                </a:rPr>
                <a:t>in demand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</p:grpSp>
      <p:grpSp>
        <p:nvGrpSpPr>
          <p:cNvPr id="545828" name="Group 36"/>
          <p:cNvGrpSpPr>
            <a:grpSpLocks/>
          </p:cNvGrpSpPr>
          <p:nvPr/>
        </p:nvGrpSpPr>
        <p:grpSpPr bwMode="auto">
          <a:xfrm>
            <a:off x="5373690" y="5689609"/>
            <a:ext cx="1825625" cy="312738"/>
            <a:chOff x="2425" y="3584"/>
            <a:chExt cx="1150" cy="197"/>
          </a:xfrm>
        </p:grpSpPr>
        <p:sp>
          <p:nvSpPr>
            <p:cNvPr id="545829" name="Rectangle 37"/>
            <p:cNvSpPr>
              <a:spLocks noChangeArrowheads="1"/>
            </p:cNvSpPr>
            <p:nvPr/>
          </p:nvSpPr>
          <p:spPr bwMode="auto">
            <a:xfrm>
              <a:off x="2425" y="3584"/>
              <a:ext cx="1026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  <a:latin typeface="Arial" panose="020B0604020202020204" pitchFamily="34" charset="0"/>
                </a:rPr>
                <a:t>Demand curve,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545830" name="Rectangle 38"/>
            <p:cNvSpPr>
              <a:spLocks noChangeArrowheads="1"/>
            </p:cNvSpPr>
            <p:nvPr/>
          </p:nvSpPr>
          <p:spPr bwMode="auto">
            <a:xfrm>
              <a:off x="3415" y="3584"/>
              <a:ext cx="10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i="1">
                  <a:solidFill>
                    <a:srgbClr val="000000"/>
                  </a:solidFill>
                  <a:latin typeface="Arial" panose="020B0604020202020204" pitchFamily="34" charset="0"/>
                </a:rPr>
                <a:t>D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545831" name="Rectangle 39"/>
            <p:cNvSpPr>
              <a:spLocks noChangeArrowheads="1"/>
            </p:cNvSpPr>
            <p:nvPr/>
          </p:nvSpPr>
          <p:spPr bwMode="auto">
            <a:xfrm>
              <a:off x="3516" y="3655"/>
              <a:ext cx="59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300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</p:grpSp>
      <p:grpSp>
        <p:nvGrpSpPr>
          <p:cNvPr id="545832" name="Group 40"/>
          <p:cNvGrpSpPr>
            <a:grpSpLocks/>
          </p:cNvGrpSpPr>
          <p:nvPr/>
        </p:nvGrpSpPr>
        <p:grpSpPr bwMode="auto">
          <a:xfrm>
            <a:off x="7419973" y="5151443"/>
            <a:ext cx="923925" cy="593725"/>
            <a:chOff x="3714" y="3245"/>
            <a:chExt cx="582" cy="374"/>
          </a:xfrm>
        </p:grpSpPr>
        <p:sp>
          <p:nvSpPr>
            <p:cNvPr id="545833" name="Rectangle 41"/>
            <p:cNvSpPr>
              <a:spLocks noChangeArrowheads="1"/>
            </p:cNvSpPr>
            <p:nvPr/>
          </p:nvSpPr>
          <p:spPr bwMode="auto">
            <a:xfrm>
              <a:off x="3740" y="3245"/>
              <a:ext cx="549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  <a:latin typeface="Arial" panose="020B0604020202020204" pitchFamily="34" charset="0"/>
                </a:rPr>
                <a:t>Demand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545834" name="Rectangle 42"/>
            <p:cNvSpPr>
              <a:spLocks noChangeArrowheads="1"/>
            </p:cNvSpPr>
            <p:nvPr/>
          </p:nvSpPr>
          <p:spPr bwMode="auto">
            <a:xfrm>
              <a:off x="3714" y="3421"/>
              <a:ext cx="436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  <a:latin typeface="Arial" panose="020B0604020202020204" pitchFamily="34" charset="0"/>
                </a:rPr>
                <a:t>curve,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545835" name="Rectangle 43"/>
            <p:cNvSpPr>
              <a:spLocks noChangeArrowheads="1"/>
            </p:cNvSpPr>
            <p:nvPr/>
          </p:nvSpPr>
          <p:spPr bwMode="auto">
            <a:xfrm>
              <a:off x="4136" y="3421"/>
              <a:ext cx="10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i="1">
                  <a:solidFill>
                    <a:srgbClr val="000000"/>
                  </a:solidFill>
                  <a:latin typeface="Arial" panose="020B0604020202020204" pitchFamily="34" charset="0"/>
                </a:rPr>
                <a:t>D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545836" name="Rectangle 44"/>
            <p:cNvSpPr>
              <a:spLocks noChangeArrowheads="1"/>
            </p:cNvSpPr>
            <p:nvPr/>
          </p:nvSpPr>
          <p:spPr bwMode="auto">
            <a:xfrm>
              <a:off x="4237" y="3493"/>
              <a:ext cx="59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30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</p:grpSp>
      <p:grpSp>
        <p:nvGrpSpPr>
          <p:cNvPr id="545837" name="Group 45"/>
          <p:cNvGrpSpPr>
            <a:grpSpLocks/>
          </p:cNvGrpSpPr>
          <p:nvPr/>
        </p:nvGrpSpPr>
        <p:grpSpPr bwMode="auto">
          <a:xfrm>
            <a:off x="8969372" y="4613272"/>
            <a:ext cx="923925" cy="593725"/>
            <a:chOff x="4690" y="2906"/>
            <a:chExt cx="582" cy="374"/>
          </a:xfrm>
        </p:grpSpPr>
        <p:sp>
          <p:nvSpPr>
            <p:cNvPr id="545838" name="Rectangle 46"/>
            <p:cNvSpPr>
              <a:spLocks noChangeArrowheads="1"/>
            </p:cNvSpPr>
            <p:nvPr/>
          </p:nvSpPr>
          <p:spPr bwMode="auto">
            <a:xfrm>
              <a:off x="4712" y="2906"/>
              <a:ext cx="549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  <a:latin typeface="Arial" panose="020B0604020202020204" pitchFamily="34" charset="0"/>
                </a:rPr>
                <a:t>Demand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545839" name="Rectangle 47"/>
            <p:cNvSpPr>
              <a:spLocks noChangeArrowheads="1"/>
            </p:cNvSpPr>
            <p:nvPr/>
          </p:nvSpPr>
          <p:spPr bwMode="auto">
            <a:xfrm>
              <a:off x="4690" y="3082"/>
              <a:ext cx="436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  <a:latin typeface="Arial" panose="020B0604020202020204" pitchFamily="34" charset="0"/>
                </a:rPr>
                <a:t>curve,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545840" name="Rectangle 48"/>
            <p:cNvSpPr>
              <a:spLocks noChangeArrowheads="1"/>
            </p:cNvSpPr>
            <p:nvPr/>
          </p:nvSpPr>
          <p:spPr bwMode="auto">
            <a:xfrm>
              <a:off x="5112" y="3082"/>
              <a:ext cx="10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i="1">
                  <a:solidFill>
                    <a:srgbClr val="000000"/>
                  </a:solidFill>
                  <a:latin typeface="Arial" panose="020B0604020202020204" pitchFamily="34" charset="0"/>
                </a:rPr>
                <a:t>D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545841" name="Rectangle 49"/>
            <p:cNvSpPr>
              <a:spLocks noChangeArrowheads="1"/>
            </p:cNvSpPr>
            <p:nvPr/>
          </p:nvSpPr>
          <p:spPr bwMode="auto">
            <a:xfrm>
              <a:off x="5213" y="3154"/>
              <a:ext cx="59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30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</p:grpSp>
      <p:sp>
        <p:nvSpPr>
          <p:cNvPr id="545842" name="Rectangle 50"/>
          <p:cNvSpPr>
            <a:spLocks noChangeArrowheads="1"/>
          </p:cNvSpPr>
          <p:nvPr/>
        </p:nvSpPr>
        <p:spPr bwMode="auto">
          <a:xfrm>
            <a:off x="2825750" y="6116639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  <a:endParaRPr lang="en-US" altLang="en-US" sz="2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1068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45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45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5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45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545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45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545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45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545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545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5810" grpId="0" animBg="1"/>
      <p:bldP spid="545811" grpId="0" animBg="1"/>
      <p:bldP spid="545812" grpId="0" animBg="1"/>
      <p:bldP spid="545813" grpId="0" animBg="1"/>
      <p:bldP spid="5458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Supply and Law of Supply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Supply is </a:t>
            </a:r>
            <a:r>
              <a:rPr lang="en-IN" b="1" dirty="0" smtClean="0"/>
              <a:t>willingness and ability </a:t>
            </a:r>
            <a:r>
              <a:rPr lang="en-IN" dirty="0" smtClean="0"/>
              <a:t>to sell the product. </a:t>
            </a:r>
          </a:p>
          <a:p>
            <a:r>
              <a:rPr lang="en-IN" dirty="0" smtClean="0"/>
              <a:t>According to Law of supply, holding all other factors equal the quantity supplied of a good increases when the price of good rises, and falls when the price of goods falls. </a:t>
            </a:r>
          </a:p>
          <a:p>
            <a:r>
              <a:rPr lang="en-IN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04455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Supply Schedule </a:t>
            </a:r>
            <a:endParaRPr lang="en-IN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865442970"/>
              </p:ext>
            </p:extLst>
          </p:nvPr>
        </p:nvGraphicFramePr>
        <p:xfrm>
          <a:off x="609600" y="1447800"/>
          <a:ext cx="548581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51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0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1709">
                <a:tc>
                  <a:txBody>
                    <a:bodyPr/>
                    <a:lstStyle/>
                    <a:p>
                      <a:r>
                        <a:rPr lang="en-IN" dirty="0" smtClean="0"/>
                        <a:t>Price </a:t>
                      </a:r>
                      <a:endParaRPr lang="en-IN" dirty="0"/>
                    </a:p>
                  </a:txBody>
                  <a:tcPr marL="93138" marR="93138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Quantity supplied </a:t>
                      </a:r>
                      <a:endParaRPr lang="en-IN" dirty="0"/>
                    </a:p>
                  </a:txBody>
                  <a:tcPr marL="93138" marR="9313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709">
                <a:tc>
                  <a:txBody>
                    <a:bodyPr/>
                    <a:lstStyle/>
                    <a:p>
                      <a:r>
                        <a:rPr lang="en-IN" dirty="0" smtClean="0"/>
                        <a:t>20</a:t>
                      </a:r>
                      <a:endParaRPr lang="en-IN" dirty="0"/>
                    </a:p>
                  </a:txBody>
                  <a:tcPr marL="46254" marR="46254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800</a:t>
                      </a:r>
                      <a:endParaRPr lang="en-IN" dirty="0"/>
                    </a:p>
                  </a:txBody>
                  <a:tcPr marL="93138" marR="9313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709">
                <a:tc>
                  <a:txBody>
                    <a:bodyPr/>
                    <a:lstStyle/>
                    <a:p>
                      <a:r>
                        <a:rPr lang="en-IN" dirty="0" smtClean="0"/>
                        <a:t>17.50</a:t>
                      </a:r>
                      <a:endParaRPr lang="en-IN" dirty="0"/>
                    </a:p>
                  </a:txBody>
                  <a:tcPr marL="46254" marR="46254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700</a:t>
                      </a:r>
                      <a:endParaRPr lang="en-IN" dirty="0"/>
                    </a:p>
                  </a:txBody>
                  <a:tcPr marL="93138" marR="9313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709">
                <a:tc>
                  <a:txBody>
                    <a:bodyPr/>
                    <a:lstStyle/>
                    <a:p>
                      <a:r>
                        <a:rPr lang="en-IN" dirty="0" smtClean="0"/>
                        <a:t>15</a:t>
                      </a:r>
                      <a:endParaRPr lang="en-IN" dirty="0"/>
                    </a:p>
                  </a:txBody>
                  <a:tcPr marL="46254" marR="46254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600</a:t>
                      </a:r>
                      <a:endParaRPr lang="en-IN" dirty="0"/>
                    </a:p>
                  </a:txBody>
                  <a:tcPr marL="93138" marR="9313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709">
                <a:tc>
                  <a:txBody>
                    <a:bodyPr/>
                    <a:lstStyle/>
                    <a:p>
                      <a:r>
                        <a:rPr lang="en-IN" dirty="0" smtClean="0"/>
                        <a:t>12.50</a:t>
                      </a:r>
                      <a:endParaRPr lang="en-IN" dirty="0"/>
                    </a:p>
                  </a:txBody>
                  <a:tcPr marL="46254" marR="46254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500</a:t>
                      </a:r>
                      <a:endParaRPr lang="en-IN" dirty="0"/>
                    </a:p>
                  </a:txBody>
                  <a:tcPr marL="93138" marR="9313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709">
                <a:tc>
                  <a:txBody>
                    <a:bodyPr/>
                    <a:lstStyle/>
                    <a:p>
                      <a:r>
                        <a:rPr lang="en-IN" dirty="0" smtClean="0"/>
                        <a:t>10.00</a:t>
                      </a:r>
                      <a:endParaRPr lang="en-IN" dirty="0"/>
                    </a:p>
                  </a:txBody>
                  <a:tcPr marL="46254" marR="46254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400</a:t>
                      </a:r>
                      <a:endParaRPr lang="en-IN" dirty="0"/>
                    </a:p>
                  </a:txBody>
                  <a:tcPr marL="93138" marR="9313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709">
                <a:tc>
                  <a:txBody>
                    <a:bodyPr/>
                    <a:lstStyle/>
                    <a:p>
                      <a:r>
                        <a:rPr lang="en-IN" dirty="0" smtClean="0"/>
                        <a:t>7.50</a:t>
                      </a:r>
                      <a:endParaRPr lang="en-IN" dirty="0"/>
                    </a:p>
                  </a:txBody>
                  <a:tcPr marL="46254" marR="46254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300</a:t>
                      </a:r>
                      <a:endParaRPr lang="en-IN" dirty="0"/>
                    </a:p>
                  </a:txBody>
                  <a:tcPr marL="93138" marR="93138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709">
                <a:tc>
                  <a:txBody>
                    <a:bodyPr/>
                    <a:lstStyle/>
                    <a:p>
                      <a:r>
                        <a:rPr lang="en-IN" dirty="0" smtClean="0"/>
                        <a:t>5.00</a:t>
                      </a:r>
                      <a:endParaRPr lang="en-IN" dirty="0"/>
                    </a:p>
                  </a:txBody>
                  <a:tcPr marL="46254" marR="46254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200</a:t>
                      </a:r>
                      <a:endParaRPr lang="en-IN" dirty="0"/>
                    </a:p>
                  </a:txBody>
                  <a:tcPr marL="93138" marR="93138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709">
                <a:tc>
                  <a:txBody>
                    <a:bodyPr/>
                    <a:lstStyle/>
                    <a:p>
                      <a:r>
                        <a:rPr lang="en-IN" dirty="0" smtClean="0"/>
                        <a:t>2.50</a:t>
                      </a:r>
                      <a:endParaRPr lang="en-IN" dirty="0"/>
                    </a:p>
                  </a:txBody>
                  <a:tcPr marL="46254" marR="46254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100</a:t>
                      </a:r>
                      <a:endParaRPr lang="en-IN" dirty="0"/>
                    </a:p>
                  </a:txBody>
                  <a:tcPr marL="93138" marR="93138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1709">
                <a:tc>
                  <a:txBody>
                    <a:bodyPr/>
                    <a:lstStyle/>
                    <a:p>
                      <a:r>
                        <a:rPr lang="en-IN" dirty="0" smtClean="0"/>
                        <a:t>0.00</a:t>
                      </a:r>
                      <a:endParaRPr lang="en-IN" dirty="0"/>
                    </a:p>
                  </a:txBody>
                  <a:tcPr marL="46254" marR="46254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 marL="93138" marR="93138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just"/>
            <a:r>
              <a:rPr lang="en-IN" dirty="0" smtClean="0"/>
              <a:t>Supply schedule is a table shows the relationship between the price of a good and the quantity supplied.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992047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Supply Curve </a:t>
            </a:r>
            <a:endParaRPr lang="en-IN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037670955"/>
              </p:ext>
            </p:extLst>
          </p:nvPr>
        </p:nvGraphicFramePr>
        <p:xfrm>
          <a:off x="609600" y="1447800"/>
          <a:ext cx="5486400" cy="5194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dirty="0" smtClean="0"/>
              <a:t>Vertical axis measures price and horizontal axis measures quantity supplied. </a:t>
            </a:r>
          </a:p>
          <a:p>
            <a:r>
              <a:rPr lang="en-IN" dirty="0" smtClean="0"/>
              <a:t>Supply curve slopes upwards</a:t>
            </a:r>
          </a:p>
          <a:p>
            <a:r>
              <a:rPr lang="en-IN" dirty="0" smtClean="0"/>
              <a:t>Positive relationship between price and quantity supplied. </a:t>
            </a:r>
          </a:p>
          <a:p>
            <a:r>
              <a:rPr lang="en-IN" dirty="0" smtClean="0"/>
              <a:t>Qs= </a:t>
            </a:r>
            <a:r>
              <a:rPr lang="en-IN" dirty="0" err="1" smtClean="0"/>
              <a:t>c+dP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2849567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Market Supply </a:t>
            </a:r>
            <a:endParaRPr lang="en-IN" dirty="0"/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084213455"/>
              </p:ext>
            </p:extLst>
          </p:nvPr>
        </p:nvGraphicFramePr>
        <p:xfrm>
          <a:off x="609600" y="1447800"/>
          <a:ext cx="54864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Price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Person 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Person 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Person C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20</a:t>
                      </a:r>
                      <a:endParaRPr lang="en-IN" dirty="0"/>
                    </a:p>
                  </a:txBody>
                  <a:tcPr marL="46254" marR="46254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800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1000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17.50</a:t>
                      </a:r>
                      <a:endParaRPr lang="en-IN" dirty="0"/>
                    </a:p>
                  </a:txBody>
                  <a:tcPr marL="46254" marR="46254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175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700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875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15</a:t>
                      </a:r>
                      <a:endParaRPr lang="en-IN" dirty="0"/>
                    </a:p>
                  </a:txBody>
                  <a:tcPr marL="46254" marR="46254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150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750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12.50</a:t>
                      </a:r>
                      <a:endParaRPr lang="en-IN" dirty="0"/>
                    </a:p>
                  </a:txBody>
                  <a:tcPr marL="46254" marR="46254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125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500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625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10.00</a:t>
                      </a:r>
                      <a:endParaRPr lang="en-IN" dirty="0"/>
                    </a:p>
                  </a:txBody>
                  <a:tcPr marL="46254" marR="46254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500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7.50</a:t>
                      </a:r>
                      <a:endParaRPr lang="en-IN" dirty="0"/>
                    </a:p>
                  </a:txBody>
                  <a:tcPr marL="46254" marR="46254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75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375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5.00</a:t>
                      </a:r>
                      <a:endParaRPr lang="en-IN" dirty="0"/>
                    </a:p>
                  </a:txBody>
                  <a:tcPr marL="46254" marR="46254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50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250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2.50</a:t>
                      </a:r>
                      <a:endParaRPr lang="en-IN" dirty="0"/>
                    </a:p>
                  </a:txBody>
                  <a:tcPr marL="46254" marR="46254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125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0.00</a:t>
                      </a:r>
                      <a:endParaRPr lang="en-IN" dirty="0"/>
                    </a:p>
                  </a:txBody>
                  <a:tcPr marL="46254" marR="46254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just"/>
            <a:r>
              <a:rPr lang="en-IN" dirty="0" smtClean="0"/>
              <a:t>Market supply is the sum of the quantities supplied by each seller in the market at each price.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2307412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Shifts in Supply Curve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Price factor-Movement along the supply curve</a:t>
            </a:r>
          </a:p>
          <a:p>
            <a:r>
              <a:rPr lang="en-IN" dirty="0" smtClean="0"/>
              <a:t>Non Price Factor-Shifts the supply curve</a:t>
            </a:r>
          </a:p>
          <a:p>
            <a:pPr lvl="1"/>
            <a:r>
              <a:rPr lang="en-IN" dirty="0" smtClean="0"/>
              <a:t>Cost of inputs</a:t>
            </a:r>
          </a:p>
          <a:p>
            <a:pPr lvl="1"/>
            <a:r>
              <a:rPr lang="en-IN" dirty="0" smtClean="0"/>
              <a:t>Changes in Technology or the production process</a:t>
            </a:r>
          </a:p>
          <a:p>
            <a:pPr lvl="1"/>
            <a:r>
              <a:rPr lang="en-IN" dirty="0" smtClean="0"/>
              <a:t>Taxes and subsidies</a:t>
            </a:r>
          </a:p>
          <a:p>
            <a:pPr lvl="1"/>
            <a:r>
              <a:rPr lang="en-IN" dirty="0" smtClean="0"/>
              <a:t>The Number of Firms in the Industry</a:t>
            </a:r>
          </a:p>
          <a:p>
            <a:pPr lvl="1"/>
            <a:r>
              <a:rPr lang="en-IN" dirty="0" smtClean="0"/>
              <a:t>Price Expectations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9728967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Oil Firms to get </a:t>
            </a:r>
            <a:r>
              <a:rPr lang="en-IN" dirty="0" err="1" smtClean="0"/>
              <a:t>Rs</a:t>
            </a:r>
            <a:r>
              <a:rPr lang="en-IN" dirty="0" smtClean="0"/>
              <a:t>. 30,000 Cr. For Subsidised LPG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 smtClean="0"/>
              <a:t>The Union Cabinet on Aug 9, 2025 approved compensation worth </a:t>
            </a:r>
            <a:r>
              <a:rPr lang="en-IN" dirty="0" err="1" smtClean="0"/>
              <a:t>Rs</a:t>
            </a:r>
            <a:r>
              <a:rPr lang="en-IN" dirty="0" smtClean="0"/>
              <a:t>. 30000 </a:t>
            </a:r>
            <a:r>
              <a:rPr lang="en-IN" dirty="0" err="1" smtClean="0"/>
              <a:t>cr</a:t>
            </a:r>
            <a:r>
              <a:rPr lang="en-IN" dirty="0" smtClean="0"/>
              <a:t> to be paid to three public sector oil marketing companies (OMCs)  for subsidising the sale of cooking gas at a time of soaring global prices. </a:t>
            </a:r>
          </a:p>
          <a:p>
            <a:pPr algn="just"/>
            <a:r>
              <a:rPr lang="en-IN" dirty="0" smtClean="0"/>
              <a:t>Cabinet approved targeted subsidy of </a:t>
            </a:r>
            <a:r>
              <a:rPr lang="en-IN" dirty="0" err="1" smtClean="0"/>
              <a:t>Rs</a:t>
            </a:r>
            <a:r>
              <a:rPr lang="en-IN" dirty="0" smtClean="0"/>
              <a:t>. 300 per 14.2 Kg gas cylinder for up to nine refills per year to the poor households. </a:t>
            </a:r>
          </a:p>
          <a:p>
            <a:pPr algn="just"/>
            <a:r>
              <a:rPr lang="en-IN" dirty="0" smtClean="0"/>
              <a:t>The Bharat Petroleum Corporation Limited, Hindustan Petroleum Corporation Limited and Indian Oil Corporation Limited.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1198680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tx1"/>
                </a:solidFill>
              </a:rPr>
              <a:t>Fuel Breakdown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76973" y="1621410"/>
            <a:ext cx="5571241" cy="4247578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590669"/>
              </p:ext>
            </p:extLst>
          </p:nvPr>
        </p:nvGraphicFramePr>
        <p:xfrm>
          <a:off x="840318" y="2057398"/>
          <a:ext cx="3932766" cy="3811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3261">
                  <a:extLst>
                    <a:ext uri="{9D8B030D-6E8A-4147-A177-3AD203B41FA5}">
                      <a16:colId xmlns:a16="http://schemas.microsoft.com/office/drawing/2014/main" val="3714982590"/>
                    </a:ext>
                  </a:extLst>
                </a:gridCol>
                <a:gridCol w="1218583">
                  <a:extLst>
                    <a:ext uri="{9D8B030D-6E8A-4147-A177-3AD203B41FA5}">
                      <a16:colId xmlns:a16="http://schemas.microsoft.com/office/drawing/2014/main" val="2901956187"/>
                    </a:ext>
                  </a:extLst>
                </a:gridCol>
                <a:gridCol w="655461">
                  <a:extLst>
                    <a:ext uri="{9D8B030D-6E8A-4147-A177-3AD203B41FA5}">
                      <a16:colId xmlns:a16="http://schemas.microsoft.com/office/drawing/2014/main" val="3241292474"/>
                    </a:ext>
                  </a:extLst>
                </a:gridCol>
                <a:gridCol w="655461">
                  <a:extLst>
                    <a:ext uri="{9D8B030D-6E8A-4147-A177-3AD203B41FA5}">
                      <a16:colId xmlns:a16="http://schemas.microsoft.com/office/drawing/2014/main" val="3627985183"/>
                    </a:ext>
                  </a:extLst>
                </a:gridCol>
              </a:tblGrid>
              <a:tr h="952898">
                <a:tc>
                  <a:txBody>
                    <a:bodyPr/>
                    <a:lstStyle/>
                    <a:p>
                      <a:r>
                        <a:rPr lang="en-IN" dirty="0" smtClean="0"/>
                        <a:t>Price Charged to distributors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739.3</a:t>
                      </a:r>
                      <a:endParaRPr lang="en-IN" dirty="0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Retail Price  Rs.853</a:t>
                      </a:r>
                      <a:endParaRPr lang="en-IN" dirty="0"/>
                    </a:p>
                  </a:txBody>
                  <a:tcPr vert="vert270"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Subsidy </a:t>
                      </a:r>
                      <a:r>
                        <a:rPr lang="en-IN" dirty="0" err="1" smtClean="0"/>
                        <a:t>Rs</a:t>
                      </a:r>
                      <a:r>
                        <a:rPr lang="en-IN" dirty="0" smtClean="0"/>
                        <a:t>. 300</a:t>
                      </a:r>
                      <a:endParaRPr lang="en-IN" dirty="0"/>
                    </a:p>
                  </a:txBody>
                  <a:tcPr vert="vert270"/>
                </a:tc>
                <a:extLst>
                  <a:ext uri="{0D108BD9-81ED-4DB2-BD59-A6C34878D82A}">
                    <a16:rowId xmlns:a16="http://schemas.microsoft.com/office/drawing/2014/main" val="4098600670"/>
                  </a:ext>
                </a:extLst>
              </a:tr>
              <a:tr h="952898">
                <a:tc>
                  <a:txBody>
                    <a:bodyPr/>
                    <a:lstStyle/>
                    <a:p>
                      <a:r>
                        <a:rPr lang="en-IN" dirty="0" smtClean="0"/>
                        <a:t>Distributors Commission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73.08</a:t>
                      </a:r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8387376"/>
                  </a:ext>
                </a:extLst>
              </a:tr>
              <a:tr h="952898">
                <a:tc>
                  <a:txBody>
                    <a:bodyPr/>
                    <a:lstStyle/>
                    <a:p>
                      <a:r>
                        <a:rPr lang="en-IN" dirty="0" smtClean="0"/>
                        <a:t>Central GST @ 2.5%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20.31</a:t>
                      </a:r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8503706"/>
                  </a:ext>
                </a:extLst>
              </a:tr>
              <a:tr h="952898">
                <a:tc>
                  <a:txBody>
                    <a:bodyPr/>
                    <a:lstStyle/>
                    <a:p>
                      <a:r>
                        <a:rPr lang="en-IN" dirty="0" smtClean="0"/>
                        <a:t>State</a:t>
                      </a:r>
                      <a:r>
                        <a:rPr lang="en-IN" baseline="0" dirty="0" smtClean="0"/>
                        <a:t> GST @ 2.5%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20.31</a:t>
                      </a:r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4785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0156732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746" name="Picture 2" descr="narrow aqua button bckgr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8"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3747" name="Rectangle 3"/>
          <p:cNvSpPr>
            <a:spLocks noGrp="1" noChangeArrowheads="1"/>
          </p:cNvSpPr>
          <p:nvPr>
            <p:ph type="title"/>
          </p:nvPr>
        </p:nvSpPr>
        <p:spPr>
          <a:xfrm>
            <a:off x="2133600" y="50800"/>
            <a:ext cx="8229600" cy="685800"/>
          </a:xfrm>
        </p:spPr>
        <p:txBody>
          <a:bodyPr/>
          <a:lstStyle/>
          <a:p>
            <a:pPr algn="l">
              <a:lnSpc>
                <a:spcPct val="80000"/>
              </a:lnSpc>
            </a:pPr>
            <a:r>
              <a:rPr lang="en-US" altLang="en-US" sz="2400">
                <a:solidFill>
                  <a:schemeClr val="bg1"/>
                </a:solidFill>
              </a:rPr>
              <a:t>Figure 7 Shifts in the Supply Curve</a:t>
            </a:r>
          </a:p>
        </p:txBody>
      </p:sp>
      <p:sp>
        <p:nvSpPr>
          <p:cNvPr id="543748" name="Text Box 4"/>
          <p:cNvSpPr txBox="1">
            <a:spLocks noChangeArrowheads="1"/>
          </p:cNvSpPr>
          <p:nvPr/>
        </p:nvSpPr>
        <p:spPr bwMode="auto">
          <a:xfrm rot="-21600000">
            <a:off x="8088313" y="6680201"/>
            <a:ext cx="264160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b="1">
                <a:solidFill>
                  <a:srgbClr val="FFFFFF"/>
                </a:solidFill>
                <a:latin typeface="Arial" panose="020B0604020202020204" pitchFamily="34" charset="0"/>
              </a:rPr>
              <a:t>Copyright©2003  Southwestern/Thomson Learning</a:t>
            </a:r>
          </a:p>
        </p:txBody>
      </p:sp>
      <p:sp>
        <p:nvSpPr>
          <p:cNvPr id="543749" name="Rectangle 5"/>
          <p:cNvSpPr>
            <a:spLocks noChangeArrowheads="1"/>
          </p:cNvSpPr>
          <p:nvPr/>
        </p:nvSpPr>
        <p:spPr bwMode="auto">
          <a:xfrm>
            <a:off x="3095626" y="1223963"/>
            <a:ext cx="7007225" cy="4805362"/>
          </a:xfrm>
          <a:prstGeom prst="rect">
            <a:avLst/>
          </a:prstGeom>
          <a:solidFill>
            <a:srgbClr val="F3F6F9"/>
          </a:solidFill>
          <a:ln w="242888">
            <a:solidFill>
              <a:srgbClr val="F3F6F9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3750" name="Rectangle 6"/>
          <p:cNvSpPr>
            <a:spLocks noChangeArrowheads="1"/>
          </p:cNvSpPr>
          <p:nvPr/>
        </p:nvSpPr>
        <p:spPr bwMode="auto">
          <a:xfrm>
            <a:off x="3095626" y="1223963"/>
            <a:ext cx="7007225" cy="4805362"/>
          </a:xfrm>
          <a:prstGeom prst="rect">
            <a:avLst/>
          </a:prstGeom>
          <a:solidFill>
            <a:srgbClr val="F2F4F8"/>
          </a:solidFill>
          <a:ln w="220663">
            <a:solidFill>
              <a:srgbClr val="F2F4F8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3751" name="Rectangle 7"/>
          <p:cNvSpPr>
            <a:spLocks noChangeArrowheads="1"/>
          </p:cNvSpPr>
          <p:nvPr/>
        </p:nvSpPr>
        <p:spPr bwMode="auto">
          <a:xfrm>
            <a:off x="3095626" y="1223963"/>
            <a:ext cx="7007225" cy="4805362"/>
          </a:xfrm>
          <a:prstGeom prst="rect">
            <a:avLst/>
          </a:prstGeom>
          <a:solidFill>
            <a:srgbClr val="F1F4F7"/>
          </a:solidFill>
          <a:ln w="198438">
            <a:solidFill>
              <a:srgbClr val="F1F4F7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3752" name="Rectangle 8"/>
          <p:cNvSpPr>
            <a:spLocks noChangeArrowheads="1"/>
          </p:cNvSpPr>
          <p:nvPr/>
        </p:nvSpPr>
        <p:spPr bwMode="auto">
          <a:xfrm>
            <a:off x="3095626" y="1223963"/>
            <a:ext cx="7007225" cy="4805362"/>
          </a:xfrm>
          <a:prstGeom prst="rect">
            <a:avLst/>
          </a:prstGeom>
          <a:solidFill>
            <a:srgbClr val="F0F2F5"/>
          </a:solidFill>
          <a:ln w="176213">
            <a:solidFill>
              <a:srgbClr val="F0F2F5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3753" name="Rectangle 9"/>
          <p:cNvSpPr>
            <a:spLocks noChangeArrowheads="1"/>
          </p:cNvSpPr>
          <p:nvPr/>
        </p:nvSpPr>
        <p:spPr bwMode="auto">
          <a:xfrm>
            <a:off x="3095626" y="1223963"/>
            <a:ext cx="7007225" cy="4805362"/>
          </a:xfrm>
          <a:prstGeom prst="rect">
            <a:avLst/>
          </a:prstGeom>
          <a:solidFill>
            <a:srgbClr val="EEF1F4"/>
          </a:solidFill>
          <a:ln w="153988">
            <a:solidFill>
              <a:srgbClr val="EEF1F4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3754" name="Rectangle 10"/>
          <p:cNvSpPr>
            <a:spLocks noChangeArrowheads="1"/>
          </p:cNvSpPr>
          <p:nvPr/>
        </p:nvSpPr>
        <p:spPr bwMode="auto">
          <a:xfrm>
            <a:off x="3095626" y="1223963"/>
            <a:ext cx="7007225" cy="4805362"/>
          </a:xfrm>
          <a:prstGeom prst="rect">
            <a:avLst/>
          </a:prstGeom>
          <a:solidFill>
            <a:srgbClr val="EDEFF3"/>
          </a:solidFill>
          <a:ln w="131763">
            <a:solidFill>
              <a:srgbClr val="EDEFF3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3755" name="Rectangle 11"/>
          <p:cNvSpPr>
            <a:spLocks noChangeArrowheads="1"/>
          </p:cNvSpPr>
          <p:nvPr/>
        </p:nvSpPr>
        <p:spPr bwMode="auto">
          <a:xfrm>
            <a:off x="3095626" y="1223963"/>
            <a:ext cx="7007225" cy="4805362"/>
          </a:xfrm>
          <a:prstGeom prst="rect">
            <a:avLst/>
          </a:prstGeom>
          <a:solidFill>
            <a:srgbClr val="EBEEF2"/>
          </a:solidFill>
          <a:ln w="109538">
            <a:solidFill>
              <a:srgbClr val="EBEEF2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3756" name="Rectangle 12"/>
          <p:cNvSpPr>
            <a:spLocks noChangeArrowheads="1"/>
          </p:cNvSpPr>
          <p:nvPr/>
        </p:nvSpPr>
        <p:spPr bwMode="auto">
          <a:xfrm>
            <a:off x="3095626" y="1223963"/>
            <a:ext cx="7007225" cy="4805362"/>
          </a:xfrm>
          <a:prstGeom prst="rect">
            <a:avLst/>
          </a:prstGeom>
          <a:solidFill>
            <a:srgbClr val="EAECF1"/>
          </a:solidFill>
          <a:ln w="88900">
            <a:solidFill>
              <a:srgbClr val="EAECF1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3757" name="Rectangle 13"/>
          <p:cNvSpPr>
            <a:spLocks noChangeArrowheads="1"/>
          </p:cNvSpPr>
          <p:nvPr/>
        </p:nvSpPr>
        <p:spPr bwMode="auto">
          <a:xfrm>
            <a:off x="3095626" y="1223963"/>
            <a:ext cx="7007225" cy="4805362"/>
          </a:xfrm>
          <a:prstGeom prst="rect">
            <a:avLst/>
          </a:prstGeom>
          <a:solidFill>
            <a:srgbClr val="E9EBF0"/>
          </a:solidFill>
          <a:ln w="66675">
            <a:solidFill>
              <a:srgbClr val="E9EBF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3758" name="Rectangle 14"/>
          <p:cNvSpPr>
            <a:spLocks noChangeArrowheads="1"/>
          </p:cNvSpPr>
          <p:nvPr/>
        </p:nvSpPr>
        <p:spPr bwMode="auto">
          <a:xfrm>
            <a:off x="3095626" y="1223963"/>
            <a:ext cx="7007225" cy="4805362"/>
          </a:xfrm>
          <a:prstGeom prst="rect">
            <a:avLst/>
          </a:prstGeom>
          <a:solidFill>
            <a:srgbClr val="E7EAEF"/>
          </a:solidFill>
          <a:ln w="44450">
            <a:solidFill>
              <a:srgbClr val="E7EAE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3759" name="Rectangle 15"/>
          <p:cNvSpPr>
            <a:spLocks noChangeArrowheads="1"/>
          </p:cNvSpPr>
          <p:nvPr/>
        </p:nvSpPr>
        <p:spPr bwMode="auto">
          <a:xfrm>
            <a:off x="3095626" y="1223963"/>
            <a:ext cx="7007225" cy="4805362"/>
          </a:xfrm>
          <a:prstGeom prst="rect">
            <a:avLst/>
          </a:prstGeom>
          <a:solidFill>
            <a:srgbClr val="E6E9EF"/>
          </a:solidFill>
          <a:ln w="22225">
            <a:solidFill>
              <a:srgbClr val="E6E9E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3760" name="Rectangle 16"/>
          <p:cNvSpPr>
            <a:spLocks noChangeArrowheads="1"/>
          </p:cNvSpPr>
          <p:nvPr/>
        </p:nvSpPr>
        <p:spPr bwMode="auto">
          <a:xfrm>
            <a:off x="2986088" y="1112838"/>
            <a:ext cx="7027862" cy="4806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3761" name="Freeform 17"/>
          <p:cNvSpPr>
            <a:spLocks/>
          </p:cNvSpPr>
          <p:nvPr/>
        </p:nvSpPr>
        <p:spPr bwMode="auto">
          <a:xfrm>
            <a:off x="2986088" y="1112838"/>
            <a:ext cx="7027862" cy="4806950"/>
          </a:xfrm>
          <a:custGeom>
            <a:avLst/>
            <a:gdLst>
              <a:gd name="T0" fmla="*/ 0 w 4427"/>
              <a:gd name="T1" fmla="*/ 0 h 3028"/>
              <a:gd name="T2" fmla="*/ 0 w 4427"/>
              <a:gd name="T3" fmla="*/ 3028 h 3028"/>
              <a:gd name="T4" fmla="*/ 4427 w 4427"/>
              <a:gd name="T5" fmla="*/ 3028 h 30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427" h="3028">
                <a:moveTo>
                  <a:pt x="0" y="0"/>
                </a:moveTo>
                <a:lnTo>
                  <a:pt x="0" y="3028"/>
                </a:lnTo>
                <a:lnTo>
                  <a:pt x="4427" y="3028"/>
                </a:lnTo>
              </a:path>
            </a:pathLst>
          </a:custGeom>
          <a:noFill/>
          <a:ln w="222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3762" name="Line 18"/>
          <p:cNvSpPr>
            <a:spLocks noChangeShapeType="1"/>
          </p:cNvSpPr>
          <p:nvPr/>
        </p:nvSpPr>
        <p:spPr bwMode="auto">
          <a:xfrm flipV="1">
            <a:off x="4814888" y="2105026"/>
            <a:ext cx="3282950" cy="3152775"/>
          </a:xfrm>
          <a:prstGeom prst="line">
            <a:avLst/>
          </a:prstGeom>
          <a:noFill/>
          <a:ln w="66675">
            <a:solidFill>
              <a:srgbClr val="004C9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3763" name="Line 19"/>
          <p:cNvSpPr>
            <a:spLocks noChangeShapeType="1"/>
          </p:cNvSpPr>
          <p:nvPr/>
        </p:nvSpPr>
        <p:spPr bwMode="auto">
          <a:xfrm flipH="1">
            <a:off x="5167314" y="3052764"/>
            <a:ext cx="1851025" cy="1587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3764" name="Line 20"/>
          <p:cNvSpPr>
            <a:spLocks noChangeShapeType="1"/>
          </p:cNvSpPr>
          <p:nvPr/>
        </p:nvSpPr>
        <p:spPr bwMode="auto">
          <a:xfrm flipH="1">
            <a:off x="6127751" y="4111625"/>
            <a:ext cx="1871663" cy="1588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3765" name="Rectangle 21"/>
          <p:cNvSpPr>
            <a:spLocks noChangeArrowheads="1"/>
          </p:cNvSpPr>
          <p:nvPr/>
        </p:nvSpPr>
        <p:spPr bwMode="auto">
          <a:xfrm>
            <a:off x="2001838" y="1135063"/>
            <a:ext cx="894476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900" b="1">
                <a:solidFill>
                  <a:srgbClr val="000000"/>
                </a:solidFill>
                <a:latin typeface="Arial" panose="020B0604020202020204" pitchFamily="34" charset="0"/>
              </a:rPr>
              <a:t>Price of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543766" name="Rectangle 22"/>
          <p:cNvSpPr>
            <a:spLocks noChangeArrowheads="1"/>
          </p:cNvSpPr>
          <p:nvPr/>
        </p:nvSpPr>
        <p:spPr bwMode="auto">
          <a:xfrm>
            <a:off x="1728788" y="1430338"/>
            <a:ext cx="118141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900" b="1">
                <a:solidFill>
                  <a:srgbClr val="000000"/>
                </a:solidFill>
                <a:latin typeface="Arial" panose="020B0604020202020204" pitchFamily="34" charset="0"/>
              </a:rPr>
              <a:t>Ice-Cream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543767" name="Rectangle 23"/>
          <p:cNvSpPr>
            <a:spLocks noChangeArrowheads="1"/>
          </p:cNvSpPr>
          <p:nvPr/>
        </p:nvSpPr>
        <p:spPr bwMode="auto">
          <a:xfrm>
            <a:off x="2274889" y="1725613"/>
            <a:ext cx="610745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900" b="1">
                <a:solidFill>
                  <a:srgbClr val="000000"/>
                </a:solidFill>
                <a:latin typeface="Arial" panose="020B0604020202020204" pitchFamily="34" charset="0"/>
              </a:rPr>
              <a:t>Cone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543768" name="Rectangle 24"/>
          <p:cNvSpPr>
            <a:spLocks noChangeArrowheads="1"/>
          </p:cNvSpPr>
          <p:nvPr/>
        </p:nvSpPr>
        <p:spPr bwMode="auto">
          <a:xfrm>
            <a:off x="8789988" y="6005513"/>
            <a:ext cx="128881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900" b="1">
                <a:solidFill>
                  <a:srgbClr val="000000"/>
                </a:solidFill>
                <a:latin typeface="Arial" panose="020B0604020202020204" pitchFamily="34" charset="0"/>
              </a:rPr>
              <a:t>Quantity of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543769" name="Rectangle 25"/>
          <p:cNvSpPr>
            <a:spLocks noChangeArrowheads="1"/>
          </p:cNvSpPr>
          <p:nvPr/>
        </p:nvSpPr>
        <p:spPr bwMode="auto">
          <a:xfrm>
            <a:off x="8104189" y="6300788"/>
            <a:ext cx="1995739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900" b="1">
                <a:solidFill>
                  <a:srgbClr val="000000"/>
                </a:solidFill>
                <a:latin typeface="Arial" panose="020B0604020202020204" pitchFamily="34" charset="0"/>
              </a:rPr>
              <a:t>Ice-Cream Cones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543770" name="Rectangle 26"/>
          <p:cNvSpPr>
            <a:spLocks noChangeArrowheads="1"/>
          </p:cNvSpPr>
          <p:nvPr/>
        </p:nvSpPr>
        <p:spPr bwMode="auto">
          <a:xfrm>
            <a:off x="2938463" y="6011863"/>
            <a:ext cx="136256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9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  <a:endParaRPr lang="en-US" altLang="en-US" sz="2400">
              <a:solidFill>
                <a:srgbClr val="000000"/>
              </a:solidFill>
            </a:endParaRPr>
          </a:p>
        </p:txBody>
      </p:sp>
      <p:grpSp>
        <p:nvGrpSpPr>
          <p:cNvPr id="543771" name="Group 27"/>
          <p:cNvGrpSpPr>
            <a:grpSpLocks/>
          </p:cNvGrpSpPr>
          <p:nvPr/>
        </p:nvGrpSpPr>
        <p:grpSpPr bwMode="auto">
          <a:xfrm>
            <a:off x="6134100" y="4200525"/>
            <a:ext cx="1079500" cy="660400"/>
            <a:chOff x="3016" y="2646"/>
            <a:chExt cx="680" cy="416"/>
          </a:xfrm>
        </p:grpSpPr>
        <p:sp>
          <p:nvSpPr>
            <p:cNvPr id="543772" name="Rectangle 28"/>
            <p:cNvSpPr>
              <a:spLocks noChangeArrowheads="1"/>
            </p:cNvSpPr>
            <p:nvPr/>
          </p:nvSpPr>
          <p:spPr bwMode="auto">
            <a:xfrm>
              <a:off x="3016" y="2646"/>
              <a:ext cx="680" cy="416"/>
            </a:xfrm>
            <a:prstGeom prst="rect">
              <a:avLst/>
            </a:prstGeom>
            <a:solidFill>
              <a:srgbClr val="E1E5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800" i="1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43773" name="Rectangle 29"/>
            <p:cNvSpPr>
              <a:spLocks noChangeArrowheads="1"/>
            </p:cNvSpPr>
            <p:nvPr/>
          </p:nvSpPr>
          <p:spPr bwMode="auto">
            <a:xfrm>
              <a:off x="3062" y="2675"/>
              <a:ext cx="591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900">
                  <a:solidFill>
                    <a:srgbClr val="000000"/>
                  </a:solidFill>
                  <a:latin typeface="Arial" panose="020B0604020202020204" pitchFamily="34" charset="0"/>
                </a:rPr>
                <a:t>Increase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543774" name="Rectangle 30"/>
            <p:cNvSpPr>
              <a:spLocks noChangeArrowheads="1"/>
            </p:cNvSpPr>
            <p:nvPr/>
          </p:nvSpPr>
          <p:spPr bwMode="auto">
            <a:xfrm>
              <a:off x="3058" y="2861"/>
              <a:ext cx="608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900">
                  <a:solidFill>
                    <a:srgbClr val="000000"/>
                  </a:solidFill>
                  <a:latin typeface="Arial" panose="020B0604020202020204" pitchFamily="34" charset="0"/>
                </a:rPr>
                <a:t>in supply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</p:grpSp>
      <p:grpSp>
        <p:nvGrpSpPr>
          <p:cNvPr id="543775" name="Group 31"/>
          <p:cNvGrpSpPr>
            <a:grpSpLocks/>
          </p:cNvGrpSpPr>
          <p:nvPr/>
        </p:nvGrpSpPr>
        <p:grpSpPr bwMode="auto">
          <a:xfrm>
            <a:off x="5851526" y="2335213"/>
            <a:ext cx="1122363" cy="660400"/>
            <a:chOff x="2642" y="1507"/>
            <a:chExt cx="707" cy="416"/>
          </a:xfrm>
        </p:grpSpPr>
        <p:sp>
          <p:nvSpPr>
            <p:cNvPr id="543776" name="Rectangle 32"/>
            <p:cNvSpPr>
              <a:spLocks noChangeArrowheads="1"/>
            </p:cNvSpPr>
            <p:nvPr/>
          </p:nvSpPr>
          <p:spPr bwMode="auto">
            <a:xfrm>
              <a:off x="2642" y="1507"/>
              <a:ext cx="707" cy="416"/>
            </a:xfrm>
            <a:prstGeom prst="rect">
              <a:avLst/>
            </a:prstGeom>
            <a:solidFill>
              <a:srgbClr val="E1E5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800" i="1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43777" name="Rectangle 33"/>
            <p:cNvSpPr>
              <a:spLocks noChangeArrowheads="1"/>
            </p:cNvSpPr>
            <p:nvPr/>
          </p:nvSpPr>
          <p:spPr bwMode="auto">
            <a:xfrm>
              <a:off x="2675" y="1532"/>
              <a:ext cx="659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900">
                  <a:solidFill>
                    <a:srgbClr val="000000"/>
                  </a:solidFill>
                  <a:latin typeface="Arial" panose="020B0604020202020204" pitchFamily="34" charset="0"/>
                </a:rPr>
                <a:t>Decrease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543778" name="Rectangle 34"/>
            <p:cNvSpPr>
              <a:spLocks noChangeArrowheads="1"/>
            </p:cNvSpPr>
            <p:nvPr/>
          </p:nvSpPr>
          <p:spPr bwMode="auto">
            <a:xfrm>
              <a:off x="2699" y="1718"/>
              <a:ext cx="608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900">
                  <a:solidFill>
                    <a:srgbClr val="000000"/>
                  </a:solidFill>
                  <a:latin typeface="Arial" panose="020B0604020202020204" pitchFamily="34" charset="0"/>
                </a:rPr>
                <a:t>in supply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</p:grpSp>
      <p:grpSp>
        <p:nvGrpSpPr>
          <p:cNvPr id="543779" name="Group 35"/>
          <p:cNvGrpSpPr>
            <a:grpSpLocks/>
          </p:cNvGrpSpPr>
          <p:nvPr/>
        </p:nvGrpSpPr>
        <p:grpSpPr bwMode="auto">
          <a:xfrm>
            <a:off x="3249614" y="1317625"/>
            <a:ext cx="4149725" cy="3411538"/>
            <a:chOff x="1087" y="830"/>
            <a:chExt cx="2614" cy="2149"/>
          </a:xfrm>
        </p:grpSpPr>
        <p:sp>
          <p:nvSpPr>
            <p:cNvPr id="543780" name="Line 36"/>
            <p:cNvSpPr>
              <a:spLocks noChangeShapeType="1"/>
            </p:cNvSpPr>
            <p:nvPr/>
          </p:nvSpPr>
          <p:spPr bwMode="auto">
            <a:xfrm flipV="1">
              <a:off x="1087" y="993"/>
              <a:ext cx="2054" cy="1986"/>
            </a:xfrm>
            <a:prstGeom prst="line">
              <a:avLst/>
            </a:prstGeom>
            <a:noFill/>
            <a:ln w="66675">
              <a:solidFill>
                <a:srgbClr val="5F161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800" i="1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543781" name="Group 37"/>
            <p:cNvGrpSpPr>
              <a:grpSpLocks/>
            </p:cNvGrpSpPr>
            <p:nvPr/>
          </p:nvGrpSpPr>
          <p:grpSpPr bwMode="auto">
            <a:xfrm>
              <a:off x="2597" y="830"/>
              <a:ext cx="1104" cy="211"/>
              <a:chOff x="2597" y="830"/>
              <a:chExt cx="1104" cy="211"/>
            </a:xfrm>
          </p:grpSpPr>
          <p:sp>
            <p:nvSpPr>
              <p:cNvPr id="543782" name="Rectangle 38"/>
              <p:cNvSpPr>
                <a:spLocks noChangeArrowheads="1"/>
              </p:cNvSpPr>
              <p:nvPr/>
            </p:nvSpPr>
            <p:spPr bwMode="auto">
              <a:xfrm>
                <a:off x="2597" y="830"/>
                <a:ext cx="974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900">
                    <a:solidFill>
                      <a:srgbClr val="000000"/>
                    </a:solidFill>
                    <a:latin typeface="Arial" panose="020B0604020202020204" pitchFamily="34" charset="0"/>
                  </a:rPr>
                  <a:t>Supply curve, </a:t>
                </a: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543783" name="Rectangle 39"/>
              <p:cNvSpPr>
                <a:spLocks noChangeArrowheads="1"/>
              </p:cNvSpPr>
              <p:nvPr/>
            </p:nvSpPr>
            <p:spPr bwMode="auto">
              <a:xfrm>
                <a:off x="3541" y="830"/>
                <a:ext cx="102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900" i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S</a:t>
                </a: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543784" name="Rectangle 40"/>
              <p:cNvSpPr>
                <a:spLocks noChangeArrowheads="1"/>
              </p:cNvSpPr>
              <p:nvPr/>
            </p:nvSpPr>
            <p:spPr bwMode="auto">
              <a:xfrm>
                <a:off x="3638" y="905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3</a:t>
                </a: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</p:grpSp>
      </p:grpSp>
      <p:grpSp>
        <p:nvGrpSpPr>
          <p:cNvPr id="543785" name="Group 41"/>
          <p:cNvGrpSpPr>
            <a:grpSpLocks/>
          </p:cNvGrpSpPr>
          <p:nvPr/>
        </p:nvGrpSpPr>
        <p:grpSpPr bwMode="auto">
          <a:xfrm>
            <a:off x="7631117" y="1576389"/>
            <a:ext cx="963613" cy="628650"/>
            <a:chOff x="3847" y="993"/>
            <a:chExt cx="607" cy="396"/>
          </a:xfrm>
        </p:grpSpPr>
        <p:sp>
          <p:nvSpPr>
            <p:cNvPr id="543786" name="Rectangle 42"/>
            <p:cNvSpPr>
              <a:spLocks noChangeArrowheads="1"/>
            </p:cNvSpPr>
            <p:nvPr/>
          </p:nvSpPr>
          <p:spPr bwMode="auto">
            <a:xfrm>
              <a:off x="3847" y="1179"/>
              <a:ext cx="461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900">
                  <a:solidFill>
                    <a:srgbClr val="000000"/>
                  </a:solidFill>
                  <a:latin typeface="Arial" panose="020B0604020202020204" pitchFamily="34" charset="0"/>
                </a:rPr>
                <a:t>curve,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grpSp>
          <p:nvGrpSpPr>
            <p:cNvPr id="543787" name="Group 43"/>
            <p:cNvGrpSpPr>
              <a:grpSpLocks/>
            </p:cNvGrpSpPr>
            <p:nvPr/>
          </p:nvGrpSpPr>
          <p:grpSpPr bwMode="auto">
            <a:xfrm>
              <a:off x="3922" y="993"/>
              <a:ext cx="532" cy="396"/>
              <a:chOff x="3922" y="993"/>
              <a:chExt cx="532" cy="396"/>
            </a:xfrm>
          </p:grpSpPr>
          <p:sp>
            <p:nvSpPr>
              <p:cNvPr id="543788" name="Rectangle 44"/>
              <p:cNvSpPr>
                <a:spLocks noChangeArrowheads="1"/>
              </p:cNvSpPr>
              <p:nvPr/>
            </p:nvSpPr>
            <p:spPr bwMode="auto">
              <a:xfrm>
                <a:off x="3922" y="993"/>
                <a:ext cx="471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900">
                    <a:solidFill>
                      <a:srgbClr val="000000"/>
                    </a:solidFill>
                    <a:latin typeface="Arial" panose="020B0604020202020204" pitchFamily="34" charset="0"/>
                  </a:rPr>
                  <a:t>Supply</a:t>
                </a: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543789" name="Rectangle 45"/>
              <p:cNvSpPr>
                <a:spLocks noChangeArrowheads="1"/>
              </p:cNvSpPr>
              <p:nvPr/>
            </p:nvSpPr>
            <p:spPr bwMode="auto">
              <a:xfrm>
                <a:off x="4294" y="1179"/>
                <a:ext cx="102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900" i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S</a:t>
                </a: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543790" name="Rectangle 46"/>
              <p:cNvSpPr>
                <a:spLocks noChangeArrowheads="1"/>
              </p:cNvSpPr>
              <p:nvPr/>
            </p:nvSpPr>
            <p:spPr bwMode="auto">
              <a:xfrm>
                <a:off x="4391" y="1253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1</a:t>
                </a: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</p:grpSp>
      </p:grpSp>
      <p:grpSp>
        <p:nvGrpSpPr>
          <p:cNvPr id="543791" name="Group 47"/>
          <p:cNvGrpSpPr>
            <a:grpSpLocks/>
          </p:cNvGrpSpPr>
          <p:nvPr/>
        </p:nvGrpSpPr>
        <p:grpSpPr bwMode="auto">
          <a:xfrm>
            <a:off x="6378577" y="2108201"/>
            <a:ext cx="3700463" cy="3679825"/>
            <a:chOff x="3058" y="1328"/>
            <a:chExt cx="2331" cy="2318"/>
          </a:xfrm>
        </p:grpSpPr>
        <p:sp>
          <p:nvSpPr>
            <p:cNvPr id="543792" name="Line 48"/>
            <p:cNvSpPr>
              <a:spLocks noChangeShapeType="1"/>
            </p:cNvSpPr>
            <p:nvPr/>
          </p:nvSpPr>
          <p:spPr bwMode="auto">
            <a:xfrm flipV="1">
              <a:off x="3058" y="1660"/>
              <a:ext cx="2068" cy="1986"/>
            </a:xfrm>
            <a:prstGeom prst="line">
              <a:avLst/>
            </a:prstGeom>
            <a:noFill/>
            <a:ln w="66675">
              <a:solidFill>
                <a:srgbClr val="5F161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800" i="1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543793" name="Group 49"/>
            <p:cNvGrpSpPr>
              <a:grpSpLocks/>
            </p:cNvGrpSpPr>
            <p:nvPr/>
          </p:nvGrpSpPr>
          <p:grpSpPr bwMode="auto">
            <a:xfrm>
              <a:off x="4782" y="1328"/>
              <a:ext cx="607" cy="396"/>
              <a:chOff x="4782" y="1328"/>
              <a:chExt cx="607" cy="396"/>
            </a:xfrm>
          </p:grpSpPr>
          <p:sp>
            <p:nvSpPr>
              <p:cNvPr id="543794" name="Rectangle 50"/>
              <p:cNvSpPr>
                <a:spLocks noChangeArrowheads="1"/>
              </p:cNvSpPr>
              <p:nvPr/>
            </p:nvSpPr>
            <p:spPr bwMode="auto">
              <a:xfrm>
                <a:off x="4856" y="1328"/>
                <a:ext cx="471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900">
                    <a:solidFill>
                      <a:srgbClr val="000000"/>
                    </a:solidFill>
                    <a:latin typeface="Arial" panose="020B0604020202020204" pitchFamily="34" charset="0"/>
                  </a:rPr>
                  <a:t>Supply</a:t>
                </a: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543795" name="Rectangle 51"/>
              <p:cNvSpPr>
                <a:spLocks noChangeArrowheads="1"/>
              </p:cNvSpPr>
              <p:nvPr/>
            </p:nvSpPr>
            <p:spPr bwMode="auto">
              <a:xfrm>
                <a:off x="4782" y="1514"/>
                <a:ext cx="461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900">
                    <a:solidFill>
                      <a:srgbClr val="000000"/>
                    </a:solidFill>
                    <a:latin typeface="Arial" panose="020B0604020202020204" pitchFamily="34" charset="0"/>
                  </a:rPr>
                  <a:t>curve, </a:t>
                </a: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543796" name="Rectangle 52"/>
              <p:cNvSpPr>
                <a:spLocks noChangeArrowheads="1"/>
              </p:cNvSpPr>
              <p:nvPr/>
            </p:nvSpPr>
            <p:spPr bwMode="auto">
              <a:xfrm>
                <a:off x="5228" y="1514"/>
                <a:ext cx="102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900" i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S</a:t>
                </a: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543797" name="Rectangle 53"/>
              <p:cNvSpPr>
                <a:spLocks noChangeArrowheads="1"/>
              </p:cNvSpPr>
              <p:nvPr/>
            </p:nvSpPr>
            <p:spPr bwMode="auto">
              <a:xfrm>
                <a:off x="5326" y="1588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2</a:t>
                </a: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027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543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43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3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43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500"/>
                                        <p:tgtEl>
                                          <p:spTgt spid="543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543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43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2" dur="500"/>
                                        <p:tgtEl>
                                          <p:spTgt spid="543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3762" grpId="0" animBg="1"/>
      <p:bldP spid="543763" grpId="0" animBg="1"/>
      <p:bldP spid="54376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How do supply and demand shifts affect a market?</a:t>
            </a:r>
            <a:endParaRPr lang="en-IN" dirty="0"/>
          </a:p>
        </p:txBody>
      </p:sp>
      <p:pic>
        <p:nvPicPr>
          <p:cNvPr id="1026" name="Picture 2" descr="Economics Applied 1: The Equilibrium price of OLA Cab'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6859" y="1447800"/>
            <a:ext cx="5781481" cy="519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6047074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Market </a:t>
            </a:r>
            <a:r>
              <a:rPr lang="en-IN" dirty="0" err="1" smtClean="0"/>
              <a:t>Equlibrium</a:t>
            </a:r>
            <a:r>
              <a:rPr lang="en-IN" dirty="0" smtClean="0"/>
              <a:t>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smtClean="0"/>
              <a:t>Equilibrium occurs </a:t>
            </a:r>
            <a:r>
              <a:rPr lang="en-IN" dirty="0" smtClean="0"/>
              <a:t>at the point where the demand curve and supply curve intersect. </a:t>
            </a:r>
          </a:p>
          <a:p>
            <a:r>
              <a:rPr lang="en-IN" b="1" dirty="0" smtClean="0"/>
              <a:t>Equilibrium price </a:t>
            </a:r>
            <a:r>
              <a:rPr lang="en-IN" dirty="0" smtClean="0"/>
              <a:t>is the price at which the quantity supplied is equal to the quantity demanded. This is also known as market clearing price.</a:t>
            </a:r>
          </a:p>
          <a:p>
            <a:r>
              <a:rPr lang="en-IN" b="1" dirty="0" smtClean="0"/>
              <a:t>Equilibrium quantity </a:t>
            </a:r>
            <a:r>
              <a:rPr lang="en-IN" dirty="0" smtClean="0"/>
              <a:t>is the amount at which the quantity supplied equal to quantity demanded. </a:t>
            </a:r>
          </a:p>
          <a:p>
            <a:r>
              <a:rPr lang="en-IN" b="1" dirty="0" smtClean="0"/>
              <a:t>Law of Demand and Supply </a:t>
            </a:r>
            <a:r>
              <a:rPr lang="en-IN" dirty="0" smtClean="0"/>
              <a:t>states that the market price of any good will adjust to bring the quantity supplied and the quantity demanded into balance.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7642101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Shortages and Surpluses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Shortage occurs whenever the quantity demanded is more than the quantity supplied. </a:t>
            </a:r>
          </a:p>
          <a:p>
            <a:r>
              <a:rPr lang="en-IN" dirty="0" smtClean="0"/>
              <a:t>Surplus occurs whenever the quantity supplied is more than the quantity demanded.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925410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Market </a:t>
            </a:r>
            <a:r>
              <a:rPr lang="en-IN" dirty="0" err="1" smtClean="0"/>
              <a:t>Supply,Market</a:t>
            </a:r>
            <a:r>
              <a:rPr lang="en-IN" dirty="0" smtClean="0"/>
              <a:t> Schedule and </a:t>
            </a:r>
            <a:r>
              <a:rPr lang="en-IN" dirty="0" err="1" smtClean="0"/>
              <a:t>Equlibrium</a:t>
            </a:r>
            <a:r>
              <a:rPr lang="en-IN" dirty="0" smtClean="0"/>
              <a:t> for Brown Bread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9272456"/>
              </p:ext>
            </p:extLst>
          </p:nvPr>
        </p:nvGraphicFramePr>
        <p:xfrm>
          <a:off x="609600" y="1447799"/>
          <a:ext cx="11176000" cy="529236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35200">
                  <a:extLst>
                    <a:ext uri="{9D8B030D-6E8A-4147-A177-3AD203B41FA5}">
                      <a16:colId xmlns:a16="http://schemas.microsoft.com/office/drawing/2014/main" val="1578354863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1754843398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544781884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903833920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3593308317"/>
                    </a:ext>
                  </a:extLst>
                </a:gridCol>
              </a:tblGrid>
              <a:tr h="1539435">
                <a:tc>
                  <a:txBody>
                    <a:bodyPr/>
                    <a:lstStyle/>
                    <a:p>
                      <a:r>
                        <a:rPr lang="en-IN" dirty="0" smtClean="0"/>
                        <a:t>Price per packet of Brown Bread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Quantity Supplied per day( Million packets)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Quantity Demanded per day (million packets)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Surplus or Shortage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Pressure on Price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630423"/>
                  </a:ext>
                </a:extLst>
              </a:tr>
              <a:tr h="750586">
                <a:tc>
                  <a:txBody>
                    <a:bodyPr/>
                    <a:lstStyle/>
                    <a:p>
                      <a:r>
                        <a:rPr lang="en-IN" dirty="0" smtClean="0"/>
                        <a:t>20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Downward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186287"/>
                  </a:ext>
                </a:extLst>
              </a:tr>
              <a:tr h="750586">
                <a:tc>
                  <a:txBody>
                    <a:bodyPr/>
                    <a:lstStyle/>
                    <a:p>
                      <a:r>
                        <a:rPr lang="en-IN" dirty="0" smtClean="0"/>
                        <a:t>15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Downward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145442"/>
                  </a:ext>
                </a:extLst>
              </a:tr>
              <a:tr h="750586">
                <a:tc>
                  <a:txBody>
                    <a:bodyPr/>
                    <a:lstStyle/>
                    <a:p>
                      <a:r>
                        <a:rPr lang="en-IN" dirty="0" smtClean="0"/>
                        <a:t>10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 smtClean="0"/>
                        <a:t>Equlibrium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341794"/>
                  </a:ext>
                </a:extLst>
              </a:tr>
              <a:tr h="750586">
                <a:tc>
                  <a:txBody>
                    <a:bodyPr/>
                    <a:lstStyle/>
                    <a:p>
                      <a:r>
                        <a:rPr lang="en-IN" dirty="0" smtClean="0"/>
                        <a:t>7.5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-3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Upward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176438"/>
                  </a:ext>
                </a:extLst>
              </a:tr>
              <a:tr h="750586">
                <a:tc>
                  <a:txBody>
                    <a:bodyPr/>
                    <a:lstStyle/>
                    <a:p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-6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Upward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6137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567863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3etemplate">
  <a:themeElements>
    <a:clrScheme name="3e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3etemplate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3e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e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e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e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e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e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e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3etemplate">
  <a:themeElements>
    <a:clrScheme name="3e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3etemplate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3e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e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e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e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e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e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e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3etemplate">
  <a:themeElements>
    <a:clrScheme name="3e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3etemplate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3e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e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e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e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e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e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e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1271</Words>
  <Application>Microsoft Office PowerPoint</Application>
  <PresentationFormat>Widescreen</PresentationFormat>
  <Paragraphs>338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Times New Roman</vt:lpstr>
      <vt:lpstr>3etemplate</vt:lpstr>
      <vt:lpstr>1_3etemplate</vt:lpstr>
      <vt:lpstr>2_3etemplate</vt:lpstr>
      <vt:lpstr>MARKETS </vt:lpstr>
      <vt:lpstr>Onion Prices-2019</vt:lpstr>
      <vt:lpstr>Mobile Phones </vt:lpstr>
      <vt:lpstr>Markets</vt:lpstr>
      <vt:lpstr>Non Competitive or Imperfect Markets</vt:lpstr>
      <vt:lpstr>Demand and Law of Demand </vt:lpstr>
      <vt:lpstr>Demand Schedule </vt:lpstr>
      <vt:lpstr>Demand Curve </vt:lpstr>
      <vt:lpstr>Demand Equation </vt:lpstr>
      <vt:lpstr>Market Demand </vt:lpstr>
      <vt:lpstr>Shift in Demand Curve </vt:lpstr>
      <vt:lpstr>Substitute and Complementary Goods </vt:lpstr>
      <vt:lpstr>PowerPoint Presentation</vt:lpstr>
      <vt:lpstr>Figure 3 Shifts in the Demand Curve</vt:lpstr>
      <vt:lpstr>Supply and Law of Supply</vt:lpstr>
      <vt:lpstr>Supply Schedule </vt:lpstr>
      <vt:lpstr>Supply Curve </vt:lpstr>
      <vt:lpstr>Market Supply </vt:lpstr>
      <vt:lpstr>Shifts in Supply Curve </vt:lpstr>
      <vt:lpstr>Oil Firms to get Rs. 30,000 Cr. For Subsidised LPG</vt:lpstr>
      <vt:lpstr>Fuel Breakdown</vt:lpstr>
      <vt:lpstr>Figure 7 Shifts in the Supply Curve</vt:lpstr>
      <vt:lpstr>How do supply and demand shifts affect a market?</vt:lpstr>
      <vt:lpstr>Market Equlibrium </vt:lpstr>
      <vt:lpstr>Shortages and Surpluses</vt:lpstr>
      <vt:lpstr>Market Supply,Market Schedule and Equlibrium for Brown Bread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</dc:title>
  <dc:creator>Windows User</dc:creator>
  <cp:lastModifiedBy>vaith</cp:lastModifiedBy>
  <cp:revision>39</cp:revision>
  <dcterms:created xsi:type="dcterms:W3CDTF">2020-08-17T16:27:15Z</dcterms:created>
  <dcterms:modified xsi:type="dcterms:W3CDTF">2025-08-19T05:35:20Z</dcterms:modified>
</cp:coreProperties>
</file>